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Total bonus semester (Rp juta) menurut nilai deal dalam 6 bulan</a:t>
            </a:r>
          </a:p>
        </c:rich>
      </c:tx>
      <c:layout/>
      <c:overlay val="0"/>
    </c:title>
    <c:autoTitleDeleted val="0"/>
    <c:plotArea>
      <c:barChart>
        <c:barDir val="col"/>
        <c:grouping val="clustered"/>
        <c:ser>
          <c:idx val="0"/>
          <c:order val="0"/>
          <c:tx>
            <c:strRef>
              <c:f>Sheet1!$B$1</c:f>
              <c:strCache>
                <c:ptCount val="1"/>
                <c:pt idx="0">
                  <c:v>Bonus</c:v>
                </c:pt>
              </c:strCache>
            </c:strRef>
          </c:tx>
          <c:invertIfNegative val="0"/>
          <c:dPt>
            <c:idx val="0"/>
            <c:invertIfNegative val="0"/>
            <c:spPr>
              <a:solidFill>
                <a:srgbClr val="C3C9D4"/>
              </a:solidFill>
            </c:spPr>
          </c:dPt>
          <c:dPt>
            <c:idx val="1"/>
            <c:invertIfNegative val="0"/>
            <c:spPr>
              <a:solidFill>
                <a:srgbClr val="B4C2DC"/>
              </a:solidFill>
            </c:spPr>
          </c:dPt>
          <c:dPt>
            <c:idx val="2"/>
            <c:invertIfNegative val="0"/>
            <c:spPr>
              <a:solidFill>
                <a:srgbClr val="576C94"/>
              </a:solidFill>
            </c:spPr>
          </c:dPt>
          <c:dPt>
            <c:idx val="3"/>
            <c:invertIfNegative val="0"/>
            <c:spPr>
              <a:solidFill>
                <a:srgbClr val="9B3809"/>
              </a:solidFill>
            </c:spPr>
          </c:dPt>
          <c:cat>
            <c:strRef>
              <c:f>Sheet1!$A$2:$A$5</c:f>
              <c:strCache>
                <c:ptCount val="4"/>
                <c:pt idx="0">
                  <c:v>Rp50 juta</c:v>
                </c:pt>
                <c:pt idx="1">
                  <c:v>Rp100 juta</c:v>
                </c:pt>
                <c:pt idx="2">
                  <c:v>Rp250 juta</c:v>
                </c:pt>
                <c:pt idx="3">
                  <c:v>Rp400 juta</c:v>
                </c:pt>
              </c:strCache>
            </c:strRef>
          </c:cat>
          <c:val>
            <c:numRef>
              <c:f>Sheet1!$B$2:$B$5</c:f>
              <c:numCache>
                <c:formatCode>General</c:formatCode>
                <c:ptCount val="4"/>
                <c:pt idx="0">
                  <c:v>1.0</c:v>
                </c:pt>
                <c:pt idx="1">
                  <c:v>3.0</c:v>
                </c:pt>
                <c:pt idx="2">
                  <c:v>9.0</c:v>
                </c:pt>
                <c:pt idx="3">
                  <c:v>18.0</c:v>
                </c:pt>
              </c:numCache>
            </c:numRef>
          </c:val>
        </c:ser>
        <c:dLbls>
          <c:numFmt formatCode="&quot;Rp&quot;0&quot; juta&quot;" sourceLinked="0"/>
          <c:txPr>
            <a:bodyPr/>
            <a:lstStyle/>
            <a:p>
              <a:pPr>
                <a:defRPr sz="1300" b="1">
                  <a:solidFill>
                    <a:srgbClr val="1E2A3A"/>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22.5"/>
          <c:min val="0.0"/>
        </c:scaling>
        <c:delete/>
        <c:axPos val="l"/>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Asal penghasilan (Rp juta)</a:t>
            </a:r>
          </a:p>
        </c:rich>
      </c:tx>
      <c:layout/>
      <c:overlay val="0"/>
    </c:title>
    <c:autoTitleDeleted val="0"/>
    <c:plotArea>
      <c:barChart>
        <c:barDir val="col"/>
        <c:grouping val="clustered"/>
        <c:ser>
          <c:idx val="0"/>
          <c:order val="0"/>
          <c:tx>
            <c:strRef>
              <c:f>Sheet1!$B$1</c:f>
              <c:strCache>
                <c:ptCount val="1"/>
                <c:pt idx="0">
                  <c:v>Rp juta</c:v>
                </c:pt>
              </c:strCache>
            </c:strRef>
          </c:tx>
          <c:invertIfNegative val="0"/>
          <c:dPt>
            <c:idx val="0"/>
            <c:invertIfNegative val="0"/>
            <c:spPr>
              <a:solidFill>
                <a:srgbClr val="576C94"/>
              </a:solidFill>
            </c:spPr>
          </c:dPt>
          <c:dPt>
            <c:idx val="1"/>
            <c:invertIfNegative val="0"/>
            <c:spPr>
              <a:solidFill>
                <a:srgbClr val="9B3809"/>
              </a:solidFill>
            </c:spPr>
          </c:dPt>
          <c:cat>
            <c:strRef>
              <c:f>Sheet1!$A$2:$A$3</c:f>
              <c:strCache>
                <c:ptCount val="2"/>
                <c:pt idx="0">
                  <c:v>Komisi</c:v>
                </c:pt>
                <c:pt idx="1">
                  <c:v>Bonus</c:v>
                </c:pt>
              </c:strCache>
            </c:strRef>
          </c:cat>
          <c:val>
            <c:numRef>
              <c:f>Sheet1!$B$2:$B$3</c:f>
              <c:numCache>
                <c:formatCode>General</c:formatCode>
                <c:ptCount val="2"/>
                <c:pt idx="0">
                  <c:v>18.6</c:v>
                </c:pt>
                <c:pt idx="1">
                  <c:v>9.0</c:v>
                </c:pt>
              </c:numCache>
            </c:numRef>
          </c:val>
        </c:ser>
        <c:dLbls>
          <c:numFmt formatCode="0.0" sourceLinked="0"/>
          <c:txPr>
            <a:bodyPr/>
            <a:lstStyle/>
            <a:p>
              <a:pPr>
                <a:defRPr sz="1300" b="1">
                  <a:solidFill>
                    <a:srgbClr val="1E2A3A"/>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23.25"/>
          <c:min val="0.0"/>
        </c:scaling>
        <c:delete/>
        <c:axPos val="l"/>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Deck ini untuk Mitra Strategic Partnership. Isinya sama dengan Perjanjian Kemitraan: Pasal 4 (harga), Pasal 5-8 (komisi, bonus, perpanjangan) dan Lampiran A-C (contoh, biaya standar, daftar harga).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Empat sumber penghasilan Mitra. Komisi non-EAP dan EAP dibayar per deal; bagi hasil di atas harga dibayar bila harga jual lebih tinggi dari Daftar Harga; bonus semester dibayar 14 hari setelah semester berakhir.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Strategi perusahaan: mulai di kantor pusat, sebarkan ke cabang, pertahankan dengan EAP. Mitra membuka klien baru; pendaftaran prospek dikonfirmasi 3 hari kerja dan berlaku 6 bulan.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FFFFFF"/>
                </a:solidFill>
                <a:latin typeface="Arial"/>
              </a:rPr>
              <a:t>1</a:t>
            </a:r>
          </a:p>
        </p:txBody>
      </p:sp>
      <p:sp>
        <p:nvSpPr>
          <p:cNvPr id="3" name="Rounded Rectangle 2"/>
          <p:cNvSpPr/>
          <p:nvPr/>
        </p:nvSpPr>
        <p:spPr>
          <a:xfrm>
            <a:off x="731520" y="777240"/>
            <a:ext cx="4480560" cy="347472"/>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100" b="1" i="0">
                <a:solidFill>
                  <a:srgbClr val="1E2A3A"/>
                </a:solidFill>
                <a:latin typeface="Arial"/>
              </a:rPr>
              <a:t>TEMAN JOURNEY  ·  PROGRAM MITRA  ·  2026-2027</a:t>
            </a:r>
          </a:p>
        </p:txBody>
      </p:sp>
      <p:sp>
        <p:nvSpPr>
          <p:cNvPr id="4" name="TextBox 3"/>
          <p:cNvSpPr txBox="1"/>
          <p:nvPr/>
        </p:nvSpPr>
        <p:spPr>
          <a:xfrm>
            <a:off x="731520" y="1371600"/>
            <a:ext cx="10607040" cy="1737360"/>
          </a:xfrm>
          <a:prstGeom prst="rect">
            <a:avLst/>
          </a:prstGeom>
          <a:noFill/>
        </p:spPr>
        <p:txBody>
          <a:bodyPr wrap="square" anchor="t" lIns="0" rIns="0" tIns="36576" bIns="36576">
            <a:spAutoFit/>
          </a:bodyPr>
          <a:lstStyle/>
          <a:p>
            <a:pPr algn="l">
              <a:spcAft>
                <a:spcPts val="400"/>
              </a:spcAft>
            </a:pPr>
            <a:r>
              <a:rPr sz="4400" b="1" i="0">
                <a:solidFill>
                  <a:srgbClr val="FFFFFF"/>
                </a:solidFill>
                <a:latin typeface="Georgia"/>
              </a:rPr>
              <a:t>Tumbuh bersama: </a:t>
            </a:r>
            <a:r>
              <a:rPr sz="4400" b="1" i="0">
                <a:solidFill>
                  <a:srgbClr val="E8904A"/>
                </a:solidFill>
                <a:latin typeface="Georgia"/>
              </a:rPr>
              <a:t>Anda membuka pintu</a:t>
            </a:r>
            <a:r>
              <a:rPr sz="4400" b="1" i="0">
                <a:solidFill>
                  <a:srgbClr val="FFFFFF"/>
                </a:solidFill>
                <a:latin typeface="Georgia"/>
              </a:rPr>
              <a:t>, kami mengantar layanan</a:t>
            </a:r>
          </a:p>
        </p:txBody>
      </p:sp>
      <p:sp>
        <p:nvSpPr>
          <p:cNvPr id="5" name="TextBox 4"/>
          <p:cNvSpPr txBox="1"/>
          <p:nvPr/>
        </p:nvSpPr>
        <p:spPr>
          <a:xfrm>
            <a:off x="731520" y="3154680"/>
            <a:ext cx="9875520" cy="822960"/>
          </a:xfrm>
          <a:prstGeom prst="rect">
            <a:avLst/>
          </a:prstGeom>
          <a:noFill/>
        </p:spPr>
        <p:txBody>
          <a:bodyPr wrap="square" anchor="t" lIns="0" rIns="0" tIns="36576" bIns="36576">
            <a:spAutoFit/>
          </a:bodyPr>
          <a:lstStyle/>
          <a:p>
            <a:pPr algn="l">
              <a:spcAft>
                <a:spcPts val="400"/>
              </a:spcAft>
            </a:pPr>
            <a:r>
              <a:rPr sz="1800" b="0" i="0">
                <a:solidFill>
                  <a:srgbClr val="C9D2E3"/>
                </a:solidFill>
                <a:latin typeface="Arial"/>
              </a:rPr>
              <a:t>Daftar harga, cara bagi hasil, dan contoh perhitungan untuk Mitra Strategic Partnership Teman Journey.</a:t>
            </a:r>
          </a:p>
        </p:txBody>
      </p:sp>
      <p:sp>
        <p:nvSpPr>
          <p:cNvPr id="6" name="Rounded Rectangle 5"/>
          <p:cNvSpPr/>
          <p:nvPr/>
        </p:nvSpPr>
        <p:spPr>
          <a:xfrm>
            <a:off x="731520" y="4297680"/>
            <a:ext cx="3383280" cy="123444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E8904A"/>
                </a:solidFill>
                <a:latin typeface="Georgia"/>
              </a:rPr>
              <a:t>10% - 12,5%</a:t>
            </a:r>
          </a:p>
          <a:p>
            <a:pPr algn="l">
              <a:spcAft>
                <a:spcPts val="200"/>
              </a:spcAft>
            </a:pPr>
            <a:r>
              <a:rPr sz="1200" b="0" i="0">
                <a:solidFill>
                  <a:srgbClr val="C9D2E3"/>
                </a:solidFill>
                <a:latin typeface="Arial"/>
              </a:rPr>
              <a:t>dari profit setiap deal yang Anda tutup</a:t>
            </a:r>
          </a:p>
        </p:txBody>
      </p:sp>
      <p:sp>
        <p:nvSpPr>
          <p:cNvPr id="7" name="Rounded Rectangle 6"/>
          <p:cNvSpPr/>
          <p:nvPr/>
        </p:nvSpPr>
        <p:spPr>
          <a:xfrm>
            <a:off x="4343400" y="4297680"/>
            <a:ext cx="3383280" cy="123444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E8904A"/>
                </a:solidFill>
                <a:latin typeface="Georgia"/>
              </a:rPr>
              <a:t>30%</a:t>
            </a:r>
          </a:p>
          <a:p>
            <a:pPr algn="l">
              <a:spcAft>
                <a:spcPts val="200"/>
              </a:spcAft>
            </a:pPr>
            <a:r>
              <a:rPr sz="1200" b="0" i="0">
                <a:solidFill>
                  <a:srgbClr val="C9D2E3"/>
                </a:solidFill>
                <a:latin typeface="Arial"/>
              </a:rPr>
              <a:t>dari harga yang Anda jual di atas Daftar Harga</a:t>
            </a:r>
          </a:p>
        </p:txBody>
      </p:sp>
      <p:sp>
        <p:nvSpPr>
          <p:cNvPr id="8" name="Rounded Rectangle 7"/>
          <p:cNvSpPr/>
          <p:nvPr/>
        </p:nvSpPr>
        <p:spPr>
          <a:xfrm>
            <a:off x="7955280" y="4297680"/>
            <a:ext cx="3383280" cy="123444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E8904A"/>
                </a:solidFill>
                <a:latin typeface="Georgia"/>
              </a:rPr>
              <a:t>Rp18 juta</a:t>
            </a:r>
          </a:p>
          <a:p>
            <a:pPr algn="l">
              <a:spcAft>
                <a:spcPts val="200"/>
              </a:spcAft>
            </a:pPr>
            <a:r>
              <a:rPr sz="1200" b="0" i="0">
                <a:solidFill>
                  <a:srgbClr val="C9D2E3"/>
                </a:solidFill>
                <a:latin typeface="Arial"/>
              </a:rPr>
              <a:t>bonus terbesar per semester</a:t>
            </a:r>
          </a:p>
        </p:txBody>
      </p:sp>
      <p:sp>
        <p:nvSpPr>
          <p:cNvPr id="9" name="TextBox 8"/>
          <p:cNvSpPr txBox="1"/>
          <p:nvPr/>
        </p:nvSpPr>
        <p:spPr>
          <a:xfrm>
            <a:off x="731520" y="5852160"/>
            <a:ext cx="10515600" cy="365760"/>
          </a:xfrm>
          <a:prstGeom prst="rect">
            <a:avLst/>
          </a:prstGeom>
          <a:noFill/>
        </p:spPr>
        <p:txBody>
          <a:bodyPr wrap="square" anchor="t" lIns="0" rIns="0" tIns="36576" bIns="36576">
            <a:spAutoFit/>
          </a:bodyPr>
          <a:lstStyle/>
          <a:p>
            <a:pPr algn="l">
              <a:spcAft>
                <a:spcPts val="400"/>
              </a:spcAft>
            </a:pPr>
            <a:r>
              <a:rPr sz="1200" b="0" i="0">
                <a:solidFill>
                  <a:srgbClr val="9FAAC0"/>
                </a:solidFill>
                <a:latin typeface="Arial"/>
              </a:rPr>
              <a:t>Rp juta = Rp1.000.000. Semua harga belum termasuk PPN. Isi deck ini mengikuti Perjanjian Kemitraan.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Mitra mendapat </a:t>
            </a:r>
            <a:r>
              <a:rPr sz="2800" b="1" i="0">
                <a:solidFill>
                  <a:srgbClr val="9B3809"/>
                </a:solidFill>
                <a:latin typeface="Georgia"/>
              </a:rPr>
              <a:t>empat jenis penghasilan</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Semakin banyak dan semakin besar deal yang Anda tutup, semakin besar bagian Anda.</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RINGKASAN</a:t>
            </a:r>
          </a:p>
        </p:txBody>
      </p:sp>
      <p:sp>
        <p:nvSpPr>
          <p:cNvPr id="5"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2</a:t>
            </a:r>
          </a:p>
        </p:txBody>
      </p:sp>
      <p:sp>
        <p:nvSpPr>
          <p:cNvPr id="6" name="Rounded Rectangle 5"/>
          <p:cNvSpPr/>
          <p:nvPr/>
        </p:nvSpPr>
        <p:spPr>
          <a:xfrm>
            <a:off x="457200" y="1417320"/>
            <a:ext cx="2697480" cy="356616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7" name="Oval 6"/>
          <p:cNvSpPr/>
          <p:nvPr/>
        </p:nvSpPr>
        <p:spPr>
          <a:xfrm>
            <a:off x="640080" y="1572768"/>
            <a:ext cx="502920" cy="502920"/>
          </a:xfrm>
          <a:prstGeom prst="ellipse">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800" b="1" i="0">
                <a:solidFill>
                  <a:srgbClr val="FFFFFF"/>
                </a:solidFill>
                <a:latin typeface="Georgia"/>
              </a:rPr>
              <a:t>1</a:t>
            </a:r>
          </a:p>
        </p:txBody>
      </p:sp>
      <p:sp>
        <p:nvSpPr>
          <p:cNvPr id="8" name="TextBox 7"/>
          <p:cNvSpPr txBox="1"/>
          <p:nvPr/>
        </p:nvSpPr>
        <p:spPr>
          <a:xfrm>
            <a:off x="1234440" y="1508760"/>
            <a:ext cx="1874519" cy="640080"/>
          </a:xfrm>
          <a:prstGeom prst="rect">
            <a:avLst/>
          </a:prstGeom>
          <a:noFill/>
        </p:spPr>
        <p:txBody>
          <a:bodyPr wrap="square" anchor="ctr" lIns="18288" rIns="18288" tIns="36576" bIns="36576">
            <a:spAutoFit/>
          </a:bodyPr>
          <a:lstStyle/>
          <a:p>
            <a:pPr algn="l">
              <a:spcAft>
                <a:spcPts val="400"/>
              </a:spcAft>
            </a:pPr>
            <a:r>
              <a:rPr sz="1400" b="1" i="0">
                <a:solidFill>
                  <a:srgbClr val="1E2A3A"/>
                </a:solidFill>
                <a:latin typeface="Georgia"/>
              </a:rPr>
              <a:t>Komisi layanan non-EAP</a:t>
            </a:r>
          </a:p>
        </p:txBody>
      </p:sp>
      <p:sp>
        <p:nvSpPr>
          <p:cNvPr id="9" name="TextBox 8"/>
          <p:cNvSpPr txBox="1"/>
          <p:nvPr/>
        </p:nvSpPr>
        <p:spPr>
          <a:xfrm>
            <a:off x="640080" y="2377440"/>
            <a:ext cx="2377440" cy="2468880"/>
          </a:xfrm>
          <a:prstGeom prst="rect">
            <a:avLst/>
          </a:prstGeom>
          <a:noFill/>
        </p:spPr>
        <p:txBody>
          <a:bodyPr wrap="square" anchor="t" lIns="18288" rIns="18288" tIns="36576" bIns="36576">
            <a:spAutoFit/>
          </a:bodyPr>
          <a:lstStyle/>
          <a:p>
            <a:pPr algn="l">
              <a:spcAft>
                <a:spcPts val="600"/>
              </a:spcAft>
            </a:pPr>
            <a:r>
              <a:rPr sz="2800" b="1" i="0">
                <a:solidFill>
                  <a:srgbClr val="9B3809"/>
                </a:solidFill>
                <a:latin typeface="Georgia"/>
              </a:rPr>
              <a:t>10% - 12,5%</a:t>
            </a:r>
          </a:p>
          <a:p>
            <a:pPr algn="l">
              <a:spcAft>
                <a:spcPts val="600"/>
              </a:spcAft>
            </a:pPr>
            <a:r>
              <a:rPr sz="1200" b="0" i="0">
                <a:solidFill>
                  <a:srgbClr val="3D4F6A"/>
                </a:solidFill>
                <a:latin typeface="Arial"/>
              </a:rPr>
              <a:t>dari profit setiap deal pelatihan, ToT dan program bank yang Anda tutup</a:t>
            </a:r>
          </a:p>
        </p:txBody>
      </p:sp>
      <p:sp>
        <p:nvSpPr>
          <p:cNvPr id="10" name="Rounded Rectangle 9"/>
          <p:cNvSpPr/>
          <p:nvPr/>
        </p:nvSpPr>
        <p:spPr>
          <a:xfrm>
            <a:off x="3291840" y="1417320"/>
            <a:ext cx="2697480" cy="356616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1" name="Oval 10"/>
          <p:cNvSpPr/>
          <p:nvPr/>
        </p:nvSpPr>
        <p:spPr>
          <a:xfrm>
            <a:off x="3474720" y="1572768"/>
            <a:ext cx="502920" cy="502920"/>
          </a:xfrm>
          <a:prstGeom prst="ellipse">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800" b="1" i="0">
                <a:solidFill>
                  <a:srgbClr val="FFFFFF"/>
                </a:solidFill>
                <a:latin typeface="Georgia"/>
              </a:rPr>
              <a:t>2</a:t>
            </a:r>
          </a:p>
        </p:txBody>
      </p:sp>
      <p:sp>
        <p:nvSpPr>
          <p:cNvPr id="12" name="TextBox 11"/>
          <p:cNvSpPr txBox="1"/>
          <p:nvPr/>
        </p:nvSpPr>
        <p:spPr>
          <a:xfrm>
            <a:off x="4069080" y="1508760"/>
            <a:ext cx="1874519" cy="640080"/>
          </a:xfrm>
          <a:prstGeom prst="rect">
            <a:avLst/>
          </a:prstGeom>
          <a:noFill/>
        </p:spPr>
        <p:txBody>
          <a:bodyPr wrap="square" anchor="ctr" lIns="18288" rIns="18288" tIns="36576" bIns="36576">
            <a:spAutoFit/>
          </a:bodyPr>
          <a:lstStyle/>
          <a:p>
            <a:pPr algn="l">
              <a:spcAft>
                <a:spcPts val="400"/>
              </a:spcAft>
            </a:pPr>
            <a:r>
              <a:rPr sz="1400" b="1" i="0">
                <a:solidFill>
                  <a:srgbClr val="1E2A3A"/>
                </a:solidFill>
                <a:latin typeface="Georgia"/>
              </a:rPr>
              <a:t>Komisi EAP</a:t>
            </a:r>
          </a:p>
        </p:txBody>
      </p:sp>
      <p:sp>
        <p:nvSpPr>
          <p:cNvPr id="13" name="TextBox 12"/>
          <p:cNvSpPr txBox="1"/>
          <p:nvPr/>
        </p:nvSpPr>
        <p:spPr>
          <a:xfrm>
            <a:off x="3474720" y="2377440"/>
            <a:ext cx="2377440" cy="2468880"/>
          </a:xfrm>
          <a:prstGeom prst="rect">
            <a:avLst/>
          </a:prstGeom>
          <a:noFill/>
        </p:spPr>
        <p:txBody>
          <a:bodyPr wrap="square" anchor="t" lIns="18288" rIns="18288" tIns="36576" bIns="36576">
            <a:spAutoFit/>
          </a:bodyPr>
          <a:lstStyle/>
          <a:p>
            <a:pPr algn="l">
              <a:spcAft>
                <a:spcPts val="600"/>
              </a:spcAft>
            </a:pPr>
            <a:r>
              <a:rPr sz="2800" b="1" i="0">
                <a:solidFill>
                  <a:srgbClr val="9B3809"/>
                </a:solidFill>
                <a:latin typeface="Georgia"/>
              </a:rPr>
              <a:t>Rp1,5 juta</a:t>
            </a:r>
          </a:p>
          <a:p>
            <a:pPr algn="l">
              <a:spcAft>
                <a:spcPts val="600"/>
              </a:spcAft>
            </a:pPr>
            <a:r>
              <a:rPr sz="1200" b="0" i="0">
                <a:solidFill>
                  <a:srgbClr val="3D4F6A"/>
                </a:solidFill>
                <a:latin typeface="Arial"/>
              </a:rPr>
              <a:t>tetap untuk setiap kontrak EAP tahunan baru (paket 3 bulan Rp500 ribu)</a:t>
            </a:r>
          </a:p>
        </p:txBody>
      </p:sp>
      <p:sp>
        <p:nvSpPr>
          <p:cNvPr id="14" name="Rounded Rectangle 13"/>
          <p:cNvSpPr/>
          <p:nvPr/>
        </p:nvSpPr>
        <p:spPr>
          <a:xfrm>
            <a:off x="6126480" y="1417320"/>
            <a:ext cx="2697480" cy="356616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5" name="Oval 14"/>
          <p:cNvSpPr/>
          <p:nvPr/>
        </p:nvSpPr>
        <p:spPr>
          <a:xfrm>
            <a:off x="6309360" y="1572768"/>
            <a:ext cx="502920" cy="502920"/>
          </a:xfrm>
          <a:prstGeom prst="ellipse">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800" b="1" i="0">
                <a:solidFill>
                  <a:srgbClr val="FFFFFF"/>
                </a:solidFill>
                <a:latin typeface="Georgia"/>
              </a:rPr>
              <a:t>3</a:t>
            </a:r>
          </a:p>
        </p:txBody>
      </p:sp>
      <p:sp>
        <p:nvSpPr>
          <p:cNvPr id="16" name="TextBox 15"/>
          <p:cNvSpPr txBox="1"/>
          <p:nvPr/>
        </p:nvSpPr>
        <p:spPr>
          <a:xfrm>
            <a:off x="6903720" y="1508760"/>
            <a:ext cx="1874519" cy="640080"/>
          </a:xfrm>
          <a:prstGeom prst="rect">
            <a:avLst/>
          </a:prstGeom>
          <a:noFill/>
        </p:spPr>
        <p:txBody>
          <a:bodyPr wrap="square" anchor="ctr" lIns="18288" rIns="18288" tIns="36576" bIns="36576">
            <a:spAutoFit/>
          </a:bodyPr>
          <a:lstStyle/>
          <a:p>
            <a:pPr algn="l">
              <a:spcAft>
                <a:spcPts val="400"/>
              </a:spcAft>
            </a:pPr>
            <a:r>
              <a:rPr sz="1400" b="1" i="0">
                <a:solidFill>
                  <a:srgbClr val="1E2A3A"/>
                </a:solidFill>
                <a:latin typeface="Georgia"/>
              </a:rPr>
              <a:t>Bagi hasil di atas harga</a:t>
            </a:r>
          </a:p>
        </p:txBody>
      </p:sp>
      <p:sp>
        <p:nvSpPr>
          <p:cNvPr id="17" name="TextBox 16"/>
          <p:cNvSpPr txBox="1"/>
          <p:nvPr/>
        </p:nvSpPr>
        <p:spPr>
          <a:xfrm>
            <a:off x="6309360" y="2377440"/>
            <a:ext cx="2377440" cy="2468880"/>
          </a:xfrm>
          <a:prstGeom prst="rect">
            <a:avLst/>
          </a:prstGeom>
          <a:noFill/>
        </p:spPr>
        <p:txBody>
          <a:bodyPr wrap="square" anchor="t" lIns="18288" rIns="18288" tIns="36576" bIns="36576">
            <a:spAutoFit/>
          </a:bodyPr>
          <a:lstStyle/>
          <a:p>
            <a:pPr algn="l">
              <a:spcAft>
                <a:spcPts val="600"/>
              </a:spcAft>
            </a:pPr>
            <a:r>
              <a:rPr sz="2800" b="1" i="0">
                <a:solidFill>
                  <a:srgbClr val="9B3809"/>
                </a:solidFill>
                <a:latin typeface="Georgia"/>
              </a:rPr>
              <a:t>30%</a:t>
            </a:r>
          </a:p>
          <a:p>
            <a:pPr algn="l">
              <a:spcAft>
                <a:spcPts val="600"/>
              </a:spcAft>
            </a:pPr>
            <a:r>
              <a:rPr sz="1200" b="0" i="0">
                <a:solidFill>
                  <a:srgbClr val="3D4F6A"/>
                </a:solidFill>
                <a:latin typeface="Arial"/>
              </a:rPr>
              <a:t>dari selisih bila Anda menjual di atas Daftar Harga</a:t>
            </a:r>
          </a:p>
        </p:txBody>
      </p:sp>
      <p:sp>
        <p:nvSpPr>
          <p:cNvPr id="18" name="Rounded Rectangle 17"/>
          <p:cNvSpPr/>
          <p:nvPr/>
        </p:nvSpPr>
        <p:spPr>
          <a:xfrm>
            <a:off x="8961120" y="1417320"/>
            <a:ext cx="2697480" cy="356616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9" name="Oval 18"/>
          <p:cNvSpPr/>
          <p:nvPr/>
        </p:nvSpPr>
        <p:spPr>
          <a:xfrm>
            <a:off x="9144000" y="1572768"/>
            <a:ext cx="502920" cy="502920"/>
          </a:xfrm>
          <a:prstGeom prst="ellipse">
            <a:avLst/>
          </a:prstGeom>
          <a:solidFill>
            <a:srgbClr val="637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800" b="1" i="0">
                <a:solidFill>
                  <a:srgbClr val="FFFFFF"/>
                </a:solidFill>
                <a:latin typeface="Georgia"/>
              </a:rPr>
              <a:t>4</a:t>
            </a:r>
          </a:p>
        </p:txBody>
      </p:sp>
      <p:sp>
        <p:nvSpPr>
          <p:cNvPr id="20" name="TextBox 19"/>
          <p:cNvSpPr txBox="1"/>
          <p:nvPr/>
        </p:nvSpPr>
        <p:spPr>
          <a:xfrm>
            <a:off x="9738360" y="1508760"/>
            <a:ext cx="1874519" cy="640080"/>
          </a:xfrm>
          <a:prstGeom prst="rect">
            <a:avLst/>
          </a:prstGeom>
          <a:noFill/>
        </p:spPr>
        <p:txBody>
          <a:bodyPr wrap="square" anchor="ctr" lIns="18288" rIns="18288" tIns="36576" bIns="36576">
            <a:spAutoFit/>
          </a:bodyPr>
          <a:lstStyle/>
          <a:p>
            <a:pPr algn="l">
              <a:spcAft>
                <a:spcPts val="400"/>
              </a:spcAft>
            </a:pPr>
            <a:r>
              <a:rPr sz="1400" b="1" i="0">
                <a:solidFill>
                  <a:srgbClr val="1E2A3A"/>
                </a:solidFill>
                <a:latin typeface="Georgia"/>
              </a:rPr>
              <a:t>Bonus semester</a:t>
            </a:r>
          </a:p>
        </p:txBody>
      </p:sp>
      <p:sp>
        <p:nvSpPr>
          <p:cNvPr id="21" name="TextBox 20"/>
          <p:cNvSpPr txBox="1"/>
          <p:nvPr/>
        </p:nvSpPr>
        <p:spPr>
          <a:xfrm>
            <a:off x="9144000" y="2377440"/>
            <a:ext cx="2377440" cy="2468880"/>
          </a:xfrm>
          <a:prstGeom prst="rect">
            <a:avLst/>
          </a:prstGeom>
          <a:noFill/>
        </p:spPr>
        <p:txBody>
          <a:bodyPr wrap="square" anchor="t" lIns="18288" rIns="18288" tIns="36576" bIns="36576">
            <a:spAutoFit/>
          </a:bodyPr>
          <a:lstStyle/>
          <a:p>
            <a:pPr algn="l">
              <a:spcAft>
                <a:spcPts val="600"/>
              </a:spcAft>
            </a:pPr>
            <a:r>
              <a:rPr sz="2800" b="1" i="0">
                <a:solidFill>
                  <a:srgbClr val="9B3809"/>
                </a:solidFill>
                <a:latin typeface="Georgia"/>
              </a:rPr>
              <a:t>Rp18 juta</a:t>
            </a:r>
          </a:p>
          <a:p>
            <a:pPr algn="l">
              <a:spcAft>
                <a:spcPts val="600"/>
              </a:spcAft>
            </a:pPr>
            <a:r>
              <a:rPr sz="1200" b="0" i="0">
                <a:solidFill>
                  <a:srgbClr val="3D4F6A"/>
                </a:solidFill>
                <a:latin typeface="Arial"/>
              </a:rPr>
              <a:t>bonus terbesar per 6 bulan. Mulai Rp1 juta di Rp50 juta: 1 EAP tahunan dan 1 hari pelatihan sudah cukup</a:t>
            </a:r>
          </a:p>
        </p:txBody>
      </p:sp>
      <p:sp>
        <p:nvSpPr>
          <p:cNvPr id="22" name="Rounded Rectangle 21"/>
          <p:cNvSpPr/>
          <p:nvPr/>
        </p:nvSpPr>
        <p:spPr>
          <a:xfrm>
            <a:off x="457200" y="5212080"/>
            <a:ext cx="11247120" cy="105156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300" b="1" i="0">
                <a:solidFill>
                  <a:srgbClr val="1E2A3A"/>
                </a:solidFill>
                <a:latin typeface="Arial"/>
              </a:rPr>
              <a:t>Tiga prinsip: </a:t>
            </a:r>
            <a:r>
              <a:rPr sz="1300" b="0" i="0">
                <a:solidFill>
                  <a:srgbClr val="3D4F6A"/>
                </a:solidFill>
                <a:latin typeface="Arial"/>
              </a:rPr>
              <a:t>(1) buka setiap penawaran dengan Daftar Harga, tidak pernah di bawahnya tanpa persetujuan Direktur; (2) semua dibayar setelah klien membayar; (3) rekap perhitungan dikirim paling lambat 7 hari kerja, komisi ditransfer paling lambat 14 hari.</a:t>
            </a:r>
          </a:p>
        </p:txBody>
      </p:sp>
      <p:sp>
        <p:nvSpPr>
          <p:cNvPr id="23"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Sumber: Perjanjian Kemitraan Strategic Partnership, Lampiran A, B dan C. Semua harga belum termasuk PPN.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Strategi kami, dan di mana </a:t>
            </a:r>
            <a:r>
              <a:rPr sz="2800" b="1" i="0">
                <a:solidFill>
                  <a:srgbClr val="9B3809"/>
                </a:solidFill>
                <a:latin typeface="Georgia"/>
              </a:rPr>
              <a:t>peran Mitra</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Kami tumbuh dari satu kantor pusat ke banyak cabang. Mitra membuka klien baru di luar yang sudah kami tangani.</a:t>
            </a:r>
          </a:p>
        </p:txBody>
      </p:sp>
      <p:sp>
        <p:nvSpPr>
          <p:cNvPr id="4" name="Tag"/>
          <p:cNvSpPr/>
          <p:nvPr/>
        </p:nvSpPr>
        <p:spPr>
          <a:xfrm>
            <a:off x="10469880" y="420624"/>
            <a:ext cx="1280160" cy="310896"/>
          </a:xfrm>
          <a:prstGeom prst="roundRect">
            <a:avLst>
              <a:gd name="adj" fmla="val 5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576C94"/>
                </a:solidFill>
                <a:latin typeface="Arial"/>
              </a:rPr>
              <a:t>STRATEGI</a:t>
            </a:r>
          </a:p>
        </p:txBody>
      </p:sp>
      <p:sp>
        <p:nvSpPr>
          <p:cNvPr id="5"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3</a:t>
            </a:r>
          </a:p>
        </p:txBody>
      </p:sp>
      <p:sp>
        <p:nvSpPr>
          <p:cNvPr id="6" name="Rounded Rectangle 5"/>
          <p:cNvSpPr/>
          <p:nvPr/>
        </p:nvSpPr>
        <p:spPr>
          <a:xfrm>
            <a:off x="457200" y="1417320"/>
            <a:ext cx="3611880" cy="502920"/>
          </a:xfrm>
          <a:prstGeom prst="roundRect">
            <a:avLst>
              <a:gd name="adj" fmla="val 8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600" b="1" i="0">
                <a:solidFill>
                  <a:srgbClr val="FFFFFF"/>
                </a:solidFill>
                <a:latin typeface="Georgia"/>
              </a:rPr>
              <a:t>1  Mulai</a:t>
            </a:r>
          </a:p>
        </p:txBody>
      </p:sp>
      <p:sp>
        <p:nvSpPr>
          <p:cNvPr id="7" name="Rounded Rectangle 6"/>
          <p:cNvSpPr/>
          <p:nvPr/>
        </p:nvSpPr>
        <p:spPr>
          <a:xfrm>
            <a:off x="457200" y="1965960"/>
            <a:ext cx="3611880" cy="9601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200"/>
              </a:spcAft>
            </a:pPr>
            <a:r>
              <a:rPr sz="1200" b="1" i="0">
                <a:solidFill>
                  <a:srgbClr val="1E2A3A"/>
                </a:solidFill>
                <a:latin typeface="Arial"/>
              </a:rPr>
              <a:t>Program pelatih di kantor pusat</a:t>
            </a:r>
          </a:p>
          <a:p>
            <a:pPr algn="l">
              <a:spcAft>
                <a:spcPts val="200"/>
              </a:spcAft>
            </a:pPr>
            <a:r>
              <a:rPr sz="1200" b="0" i="0">
                <a:solidFill>
                  <a:srgbClr val="3D4F6A"/>
                </a:solidFill>
                <a:latin typeface="Arial"/>
              </a:rPr>
              <a:t>Satu kesepakatan tahunan dengan kantor pusat</a:t>
            </a:r>
          </a:p>
        </p:txBody>
      </p:sp>
      <p:sp>
        <p:nvSpPr>
          <p:cNvPr id="8" name="Rounded Rectangle 7"/>
          <p:cNvSpPr/>
          <p:nvPr/>
        </p:nvSpPr>
        <p:spPr>
          <a:xfrm>
            <a:off x="4251960" y="1417320"/>
            <a:ext cx="3611880" cy="502920"/>
          </a:xfrm>
          <a:prstGeom prst="roundRect">
            <a:avLst>
              <a:gd name="adj" fmla="val 8000"/>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600" b="1" i="0">
                <a:solidFill>
                  <a:srgbClr val="FFFFFF"/>
                </a:solidFill>
                <a:latin typeface="Georgia"/>
              </a:rPr>
              <a:t>2  Sebarkan</a:t>
            </a:r>
          </a:p>
        </p:txBody>
      </p:sp>
      <p:sp>
        <p:nvSpPr>
          <p:cNvPr id="9" name="Rounded Rectangle 8"/>
          <p:cNvSpPr/>
          <p:nvPr/>
        </p:nvSpPr>
        <p:spPr>
          <a:xfrm>
            <a:off x="4251960" y="1965960"/>
            <a:ext cx="3611880" cy="9601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200"/>
              </a:spcAft>
            </a:pPr>
            <a:r>
              <a:rPr sz="1200" b="1" i="0">
                <a:solidFill>
                  <a:srgbClr val="1E2A3A"/>
                </a:solidFill>
                <a:latin typeface="Arial"/>
              </a:rPr>
              <a:t>Program di kantor cabang</a:t>
            </a:r>
          </a:p>
          <a:p>
            <a:pPr algn="l">
              <a:spcAft>
                <a:spcPts val="200"/>
              </a:spcAft>
            </a:pPr>
            <a:r>
              <a:rPr sz="1200" b="0" i="0">
                <a:solidFill>
                  <a:srgbClr val="3D4F6A"/>
                </a:solidFill>
                <a:latin typeface="Arial"/>
              </a:rPr>
              <a:t>Pelatihan regional dan program bank per kelompok</a:t>
            </a:r>
          </a:p>
        </p:txBody>
      </p:sp>
      <p:sp>
        <p:nvSpPr>
          <p:cNvPr id="10" name="Rounded Rectangle 9"/>
          <p:cNvSpPr/>
          <p:nvPr/>
        </p:nvSpPr>
        <p:spPr>
          <a:xfrm>
            <a:off x="8046720" y="1417320"/>
            <a:ext cx="3611880" cy="502920"/>
          </a:xfrm>
          <a:prstGeom prst="roundRect">
            <a:avLst>
              <a:gd name="adj" fmla="val 8000"/>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600" b="1" i="0">
                <a:solidFill>
                  <a:srgbClr val="FFFFFF"/>
                </a:solidFill>
                <a:latin typeface="Georgia"/>
              </a:rPr>
              <a:t>3  Pertahankan</a:t>
            </a:r>
          </a:p>
        </p:txBody>
      </p:sp>
      <p:sp>
        <p:nvSpPr>
          <p:cNvPr id="11" name="Rounded Rectangle 10"/>
          <p:cNvSpPr/>
          <p:nvPr/>
        </p:nvSpPr>
        <p:spPr>
          <a:xfrm>
            <a:off x="8046720" y="1965960"/>
            <a:ext cx="3611880" cy="9601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200"/>
              </a:spcAft>
            </a:pPr>
            <a:r>
              <a:rPr sz="1200" b="1" i="0">
                <a:solidFill>
                  <a:srgbClr val="1E2A3A"/>
                </a:solidFill>
                <a:latin typeface="Arial"/>
              </a:rPr>
              <a:t>EAP untuk pegawai klien</a:t>
            </a:r>
          </a:p>
          <a:p>
            <a:pPr algn="l">
              <a:spcAft>
                <a:spcPts val="200"/>
              </a:spcAft>
            </a:pPr>
            <a:r>
              <a:rPr sz="1200" b="0" i="0">
                <a:solidFill>
                  <a:srgbClr val="3D4F6A"/>
                </a:solidFill>
                <a:latin typeface="Arial"/>
              </a:rPr>
              <a:t>Konseling dan check-up setiap kuartal, klien kembali</a:t>
            </a:r>
          </a:p>
        </p:txBody>
      </p:sp>
      <p:sp>
        <p:nvSpPr>
          <p:cNvPr id="12" name="Rounded Rectangle 11"/>
          <p:cNvSpPr/>
          <p:nvPr/>
        </p:nvSpPr>
        <p:spPr>
          <a:xfrm>
            <a:off x="457200" y="3108960"/>
            <a:ext cx="5532120" cy="16002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500" b="1" i="0">
                <a:solidFill>
                  <a:srgbClr val="1E2A3A"/>
                </a:solidFill>
                <a:latin typeface="Georgia"/>
              </a:rPr>
              <a:t>Target Mitra</a:t>
            </a:r>
          </a:p>
          <a:p>
            <a:pPr algn="l">
              <a:spcAft>
                <a:spcPts val="400"/>
              </a:spcAft>
            </a:pPr>
            <a:r>
              <a:rPr sz="1200" b="1" i="0">
                <a:solidFill>
                  <a:srgbClr val="9B3809"/>
                </a:solidFill>
                <a:latin typeface="Arial"/>
              </a:rPr>
              <a:t>•  </a:t>
            </a:r>
            <a:r>
              <a:rPr sz="1200" b="0" i="0">
                <a:solidFill>
                  <a:srgbClr val="3D4F6A"/>
                </a:solidFill>
                <a:latin typeface="Arial"/>
              </a:rPr>
              <a:t>Bank BUMN dan bank swasta, perusahaan, institusi pendidikan, dan instansi</a:t>
            </a:r>
          </a:p>
          <a:p>
            <a:pPr algn="l">
              <a:spcAft>
                <a:spcPts val="400"/>
              </a:spcAft>
            </a:pPr>
            <a:r>
              <a:rPr sz="1200" b="1" i="0">
                <a:solidFill>
                  <a:srgbClr val="9B3809"/>
                </a:solidFill>
                <a:latin typeface="Arial"/>
              </a:rPr>
              <a:t>•  </a:t>
            </a:r>
            <a:r>
              <a:rPr sz="1200" b="0" i="0">
                <a:solidFill>
                  <a:srgbClr val="3D4F6A"/>
                </a:solidFill>
                <a:latin typeface="Arial"/>
              </a:rPr>
              <a:t>Klien yang sudah aktif dengan Teman Journey (termasuk unit lain dari institusi yang sama) tetap ditangani tim kami</a:t>
            </a:r>
          </a:p>
        </p:txBody>
      </p:sp>
      <p:sp>
        <p:nvSpPr>
          <p:cNvPr id="13" name="Rounded Rectangle 12"/>
          <p:cNvSpPr/>
          <p:nvPr/>
        </p:nvSpPr>
        <p:spPr>
          <a:xfrm>
            <a:off x="6172200" y="3108960"/>
            <a:ext cx="5532120" cy="16002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500" b="1" i="0">
                <a:solidFill>
                  <a:srgbClr val="1E2A3A"/>
                </a:solidFill>
                <a:latin typeface="Georgia"/>
              </a:rPr>
              <a:t>Peran masing-masing</a:t>
            </a:r>
          </a:p>
          <a:p>
            <a:pPr algn="l">
              <a:spcAft>
                <a:spcPts val="400"/>
              </a:spcAft>
            </a:pPr>
            <a:r>
              <a:rPr sz="1200" b="1" i="0">
                <a:solidFill>
                  <a:srgbClr val="9B3809"/>
                </a:solidFill>
                <a:latin typeface="Arial"/>
              </a:rPr>
              <a:t>•  </a:t>
            </a:r>
            <a:r>
              <a:rPr sz="1200" b="1" i="0">
                <a:solidFill>
                  <a:srgbClr val="1E2A3A"/>
                </a:solidFill>
                <a:latin typeface="Arial"/>
              </a:rPr>
              <a:t>Mitra: </a:t>
            </a:r>
            <a:r>
              <a:rPr sz="1200" b="0" i="0">
                <a:solidFill>
                  <a:srgbClr val="3D4F6A"/>
                </a:solidFill>
                <a:latin typeface="Arial"/>
              </a:rPr>
              <a:t>membuka pintu, menyampaikan proposal, memimpin negosiasi harga</a:t>
            </a:r>
          </a:p>
          <a:p>
            <a:pPr algn="l">
              <a:spcAft>
                <a:spcPts val="400"/>
              </a:spcAft>
            </a:pPr>
            <a:r>
              <a:rPr sz="1200" b="1" i="0">
                <a:solidFill>
                  <a:srgbClr val="9B3809"/>
                </a:solidFill>
                <a:latin typeface="Arial"/>
              </a:rPr>
              <a:t>•  </a:t>
            </a:r>
            <a:r>
              <a:rPr sz="1200" b="1" i="0">
                <a:solidFill>
                  <a:srgbClr val="1E2A3A"/>
                </a:solidFill>
                <a:latin typeface="Arial"/>
              </a:rPr>
              <a:t>Teman Journey: </a:t>
            </a:r>
            <a:r>
              <a:rPr sz="1200" b="0" i="0">
                <a:solidFill>
                  <a:srgbClr val="3D4F6A"/>
                </a:solidFill>
                <a:latin typeface="Arial"/>
              </a:rPr>
              <a:t>materi, harga, pelaksanaan layanan oleh psikolog, laporan</a:t>
            </a:r>
          </a:p>
        </p:txBody>
      </p:sp>
      <p:sp>
        <p:nvSpPr>
          <p:cNvPr id="14" name="Rounded Rectangle 13"/>
          <p:cNvSpPr/>
          <p:nvPr/>
        </p:nvSpPr>
        <p:spPr>
          <a:xfrm>
            <a:off x="457200" y="4983480"/>
            <a:ext cx="1298448" cy="777240"/>
          </a:xfrm>
          <a:prstGeom prst="roundRect">
            <a:avLst>
              <a:gd name="adj" fmla="val 8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spcAft>
                <a:spcPts val="400"/>
              </a:spcAft>
            </a:pPr>
            <a:r>
              <a:rPr sz="1100" b="1" i="0">
                <a:solidFill>
                  <a:srgbClr val="1E2A3A"/>
                </a:solidFill>
                <a:latin typeface="Arial"/>
              </a:rPr>
              <a:t>Daftar prospek</a:t>
            </a:r>
          </a:p>
        </p:txBody>
      </p:sp>
      <p:sp>
        <p:nvSpPr>
          <p:cNvPr id="15" name="TextBox 14"/>
          <p:cNvSpPr txBox="1"/>
          <p:nvPr/>
        </p:nvSpPr>
        <p:spPr>
          <a:xfrm>
            <a:off x="1737360" y="5166360"/>
            <a:ext cx="155448" cy="411480"/>
          </a:xfrm>
          <a:prstGeom prst="rect">
            <a:avLst/>
          </a:prstGeom>
          <a:noFill/>
        </p:spPr>
        <p:txBody>
          <a:bodyPr wrap="square" anchor="t" lIns="0" rIns="0" tIns="36576" bIns="36576">
            <a:spAutoFit/>
          </a:bodyPr>
          <a:lstStyle/>
          <a:p>
            <a:pPr algn="ctr">
              <a:spcAft>
                <a:spcPts val="400"/>
              </a:spcAft>
            </a:pPr>
            <a:r>
              <a:rPr sz="1600" b="1" i="0">
                <a:solidFill>
                  <a:srgbClr val="6B7A99"/>
                </a:solidFill>
                <a:latin typeface="Arial"/>
              </a:rPr>
              <a:t>›</a:t>
            </a:r>
          </a:p>
        </p:txBody>
      </p:sp>
      <p:sp>
        <p:nvSpPr>
          <p:cNvPr id="16" name="Rounded Rectangle 15"/>
          <p:cNvSpPr/>
          <p:nvPr/>
        </p:nvSpPr>
        <p:spPr>
          <a:xfrm>
            <a:off x="1874519" y="4983480"/>
            <a:ext cx="1298448" cy="777240"/>
          </a:xfrm>
          <a:prstGeom prst="roundRect">
            <a:avLst>
              <a:gd name="adj" fmla="val 8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spcAft>
                <a:spcPts val="400"/>
              </a:spcAft>
            </a:pPr>
            <a:r>
              <a:rPr sz="1100" b="1" i="0">
                <a:solidFill>
                  <a:srgbClr val="1E2A3A"/>
                </a:solidFill>
                <a:latin typeface="Arial"/>
              </a:rPr>
              <a:t>Konfirmasi 3 hari kerja</a:t>
            </a:r>
          </a:p>
        </p:txBody>
      </p:sp>
      <p:sp>
        <p:nvSpPr>
          <p:cNvPr id="17" name="TextBox 16"/>
          <p:cNvSpPr txBox="1"/>
          <p:nvPr/>
        </p:nvSpPr>
        <p:spPr>
          <a:xfrm>
            <a:off x="3154679" y="5166360"/>
            <a:ext cx="155448" cy="411480"/>
          </a:xfrm>
          <a:prstGeom prst="rect">
            <a:avLst/>
          </a:prstGeom>
          <a:noFill/>
        </p:spPr>
        <p:txBody>
          <a:bodyPr wrap="square" anchor="t" lIns="0" rIns="0" tIns="36576" bIns="36576">
            <a:spAutoFit/>
          </a:bodyPr>
          <a:lstStyle/>
          <a:p>
            <a:pPr algn="ctr">
              <a:spcAft>
                <a:spcPts val="400"/>
              </a:spcAft>
            </a:pPr>
            <a:r>
              <a:rPr sz="1600" b="1" i="0">
                <a:solidFill>
                  <a:srgbClr val="6B7A99"/>
                </a:solidFill>
                <a:latin typeface="Arial"/>
              </a:rPr>
              <a:t>›</a:t>
            </a:r>
          </a:p>
        </p:txBody>
      </p:sp>
      <p:sp>
        <p:nvSpPr>
          <p:cNvPr id="18" name="Rounded Rectangle 17"/>
          <p:cNvSpPr/>
          <p:nvPr/>
        </p:nvSpPr>
        <p:spPr>
          <a:xfrm>
            <a:off x="3291840" y="4983480"/>
            <a:ext cx="1298448" cy="777240"/>
          </a:xfrm>
          <a:prstGeom prst="roundRect">
            <a:avLst>
              <a:gd name="adj" fmla="val 8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spcAft>
                <a:spcPts val="400"/>
              </a:spcAft>
            </a:pPr>
            <a:r>
              <a:rPr sz="1100" b="1" i="0">
                <a:solidFill>
                  <a:srgbClr val="1E2A3A"/>
                </a:solidFill>
                <a:latin typeface="Arial"/>
              </a:rPr>
              <a:t>Proposal dengan Daftar Harga</a:t>
            </a:r>
          </a:p>
        </p:txBody>
      </p:sp>
      <p:sp>
        <p:nvSpPr>
          <p:cNvPr id="19" name="TextBox 18"/>
          <p:cNvSpPr txBox="1"/>
          <p:nvPr/>
        </p:nvSpPr>
        <p:spPr>
          <a:xfrm>
            <a:off x="4572000" y="5166360"/>
            <a:ext cx="155448" cy="411480"/>
          </a:xfrm>
          <a:prstGeom prst="rect">
            <a:avLst/>
          </a:prstGeom>
          <a:noFill/>
        </p:spPr>
        <p:txBody>
          <a:bodyPr wrap="square" anchor="t" lIns="0" rIns="0" tIns="36576" bIns="36576">
            <a:spAutoFit/>
          </a:bodyPr>
          <a:lstStyle/>
          <a:p>
            <a:pPr algn="ctr">
              <a:spcAft>
                <a:spcPts val="400"/>
              </a:spcAft>
            </a:pPr>
            <a:r>
              <a:rPr sz="1600" b="1" i="0">
                <a:solidFill>
                  <a:srgbClr val="6B7A99"/>
                </a:solidFill>
                <a:latin typeface="Arial"/>
              </a:rPr>
              <a:t>›</a:t>
            </a:r>
          </a:p>
        </p:txBody>
      </p:sp>
      <p:sp>
        <p:nvSpPr>
          <p:cNvPr id="20" name="Rounded Rectangle 19"/>
          <p:cNvSpPr/>
          <p:nvPr/>
        </p:nvSpPr>
        <p:spPr>
          <a:xfrm>
            <a:off x="4709160" y="4983480"/>
            <a:ext cx="1298448" cy="777240"/>
          </a:xfrm>
          <a:prstGeom prst="roundRect">
            <a:avLst>
              <a:gd name="adj" fmla="val 8000"/>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spcAft>
                <a:spcPts val="400"/>
              </a:spcAft>
            </a:pPr>
            <a:r>
              <a:rPr sz="1100" b="1" i="0">
                <a:solidFill>
                  <a:srgbClr val="FFFFFF"/>
                </a:solidFill>
                <a:latin typeface="Arial"/>
              </a:rPr>
              <a:t>SPK</a:t>
            </a:r>
          </a:p>
        </p:txBody>
      </p:sp>
      <p:sp>
        <p:nvSpPr>
          <p:cNvPr id="21" name="TextBox 20"/>
          <p:cNvSpPr txBox="1"/>
          <p:nvPr/>
        </p:nvSpPr>
        <p:spPr>
          <a:xfrm>
            <a:off x="5989320" y="5166360"/>
            <a:ext cx="155448" cy="411480"/>
          </a:xfrm>
          <a:prstGeom prst="rect">
            <a:avLst/>
          </a:prstGeom>
          <a:noFill/>
        </p:spPr>
        <p:txBody>
          <a:bodyPr wrap="square" anchor="t" lIns="0" rIns="0" tIns="36576" bIns="36576">
            <a:spAutoFit/>
          </a:bodyPr>
          <a:lstStyle/>
          <a:p>
            <a:pPr algn="ctr">
              <a:spcAft>
                <a:spcPts val="400"/>
              </a:spcAft>
            </a:pPr>
            <a:r>
              <a:rPr sz="1600" b="1" i="0">
                <a:solidFill>
                  <a:srgbClr val="6B7A99"/>
                </a:solidFill>
                <a:latin typeface="Arial"/>
              </a:rPr>
              <a:t>›</a:t>
            </a:r>
          </a:p>
        </p:txBody>
      </p:sp>
      <p:sp>
        <p:nvSpPr>
          <p:cNvPr id="22" name="Rounded Rectangle 21"/>
          <p:cNvSpPr/>
          <p:nvPr/>
        </p:nvSpPr>
        <p:spPr>
          <a:xfrm>
            <a:off x="6126480" y="4983480"/>
            <a:ext cx="1298448" cy="777240"/>
          </a:xfrm>
          <a:prstGeom prst="roundRect">
            <a:avLst>
              <a:gd name="adj" fmla="val 8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spcAft>
                <a:spcPts val="400"/>
              </a:spcAft>
            </a:pPr>
            <a:r>
              <a:rPr sz="1100" b="1" i="0">
                <a:solidFill>
                  <a:srgbClr val="1E2A3A"/>
                </a:solidFill>
                <a:latin typeface="Arial"/>
              </a:rPr>
              <a:t>Layanan</a:t>
            </a:r>
          </a:p>
        </p:txBody>
      </p:sp>
      <p:sp>
        <p:nvSpPr>
          <p:cNvPr id="23" name="TextBox 22"/>
          <p:cNvSpPr txBox="1"/>
          <p:nvPr/>
        </p:nvSpPr>
        <p:spPr>
          <a:xfrm>
            <a:off x="7406640" y="5166360"/>
            <a:ext cx="155448" cy="411480"/>
          </a:xfrm>
          <a:prstGeom prst="rect">
            <a:avLst/>
          </a:prstGeom>
          <a:noFill/>
        </p:spPr>
        <p:txBody>
          <a:bodyPr wrap="square" anchor="t" lIns="0" rIns="0" tIns="36576" bIns="36576">
            <a:spAutoFit/>
          </a:bodyPr>
          <a:lstStyle/>
          <a:p>
            <a:pPr algn="ctr">
              <a:spcAft>
                <a:spcPts val="400"/>
              </a:spcAft>
            </a:pPr>
            <a:r>
              <a:rPr sz="1600" b="1" i="0">
                <a:solidFill>
                  <a:srgbClr val="6B7A99"/>
                </a:solidFill>
                <a:latin typeface="Arial"/>
              </a:rPr>
              <a:t>›</a:t>
            </a:r>
          </a:p>
        </p:txBody>
      </p:sp>
      <p:sp>
        <p:nvSpPr>
          <p:cNvPr id="24" name="Rounded Rectangle 23"/>
          <p:cNvSpPr/>
          <p:nvPr/>
        </p:nvSpPr>
        <p:spPr>
          <a:xfrm>
            <a:off x="7543800" y="4983480"/>
            <a:ext cx="1298448" cy="777240"/>
          </a:xfrm>
          <a:prstGeom prst="roundRect">
            <a:avLst>
              <a:gd name="adj" fmla="val 8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spcAft>
                <a:spcPts val="400"/>
              </a:spcAft>
            </a:pPr>
            <a:r>
              <a:rPr sz="1100" b="1" i="0">
                <a:solidFill>
                  <a:srgbClr val="1E2A3A"/>
                </a:solidFill>
                <a:latin typeface="Arial"/>
              </a:rPr>
              <a:t>Klien bayar</a:t>
            </a:r>
          </a:p>
        </p:txBody>
      </p:sp>
      <p:sp>
        <p:nvSpPr>
          <p:cNvPr id="25" name="TextBox 24"/>
          <p:cNvSpPr txBox="1"/>
          <p:nvPr/>
        </p:nvSpPr>
        <p:spPr>
          <a:xfrm>
            <a:off x="8823960" y="5166360"/>
            <a:ext cx="155448" cy="411480"/>
          </a:xfrm>
          <a:prstGeom prst="rect">
            <a:avLst/>
          </a:prstGeom>
          <a:noFill/>
        </p:spPr>
        <p:txBody>
          <a:bodyPr wrap="square" anchor="t" lIns="0" rIns="0" tIns="36576" bIns="36576">
            <a:spAutoFit/>
          </a:bodyPr>
          <a:lstStyle/>
          <a:p>
            <a:pPr algn="ctr">
              <a:spcAft>
                <a:spcPts val="400"/>
              </a:spcAft>
            </a:pPr>
            <a:r>
              <a:rPr sz="1600" b="1" i="0">
                <a:solidFill>
                  <a:srgbClr val="6B7A99"/>
                </a:solidFill>
                <a:latin typeface="Arial"/>
              </a:rPr>
              <a:t>›</a:t>
            </a:r>
          </a:p>
        </p:txBody>
      </p:sp>
      <p:sp>
        <p:nvSpPr>
          <p:cNvPr id="26" name="Rounded Rectangle 25"/>
          <p:cNvSpPr/>
          <p:nvPr/>
        </p:nvSpPr>
        <p:spPr>
          <a:xfrm>
            <a:off x="8961120" y="4983480"/>
            <a:ext cx="1298448" cy="777240"/>
          </a:xfrm>
          <a:prstGeom prst="roundRect">
            <a:avLst>
              <a:gd name="adj" fmla="val 8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spcAft>
                <a:spcPts val="400"/>
              </a:spcAft>
            </a:pPr>
            <a:r>
              <a:rPr sz="1100" b="1" i="0">
                <a:solidFill>
                  <a:srgbClr val="1E2A3A"/>
                </a:solidFill>
                <a:latin typeface="Arial"/>
              </a:rPr>
              <a:t>Rekap 7 hari kerja</a:t>
            </a:r>
          </a:p>
        </p:txBody>
      </p:sp>
      <p:sp>
        <p:nvSpPr>
          <p:cNvPr id="27" name="TextBox 26"/>
          <p:cNvSpPr txBox="1"/>
          <p:nvPr/>
        </p:nvSpPr>
        <p:spPr>
          <a:xfrm>
            <a:off x="10241280" y="5166360"/>
            <a:ext cx="155448" cy="411480"/>
          </a:xfrm>
          <a:prstGeom prst="rect">
            <a:avLst/>
          </a:prstGeom>
          <a:noFill/>
        </p:spPr>
        <p:txBody>
          <a:bodyPr wrap="square" anchor="t" lIns="0" rIns="0" tIns="36576" bIns="36576">
            <a:spAutoFit/>
          </a:bodyPr>
          <a:lstStyle/>
          <a:p>
            <a:pPr algn="ctr">
              <a:spcAft>
                <a:spcPts val="400"/>
              </a:spcAft>
            </a:pPr>
            <a:r>
              <a:rPr sz="1600" b="1" i="0">
                <a:solidFill>
                  <a:srgbClr val="6B7A99"/>
                </a:solidFill>
                <a:latin typeface="Arial"/>
              </a:rPr>
              <a:t>›</a:t>
            </a:r>
          </a:p>
        </p:txBody>
      </p:sp>
      <p:sp>
        <p:nvSpPr>
          <p:cNvPr id="28" name="Rounded Rectangle 27"/>
          <p:cNvSpPr/>
          <p:nvPr/>
        </p:nvSpPr>
        <p:spPr>
          <a:xfrm>
            <a:off x="10378440" y="4983480"/>
            <a:ext cx="1298448" cy="777240"/>
          </a:xfrm>
          <a:prstGeom prst="roundRect">
            <a:avLst>
              <a:gd name="adj" fmla="val 8000"/>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spcAft>
                <a:spcPts val="400"/>
              </a:spcAft>
            </a:pPr>
            <a:r>
              <a:rPr sz="1100" b="1" i="0">
                <a:solidFill>
                  <a:srgbClr val="FFFFFF"/>
                </a:solidFill>
                <a:latin typeface="Arial"/>
              </a:rPr>
              <a:t>Komisi 14 hari</a:t>
            </a:r>
          </a:p>
        </p:txBody>
      </p:sp>
      <p:sp>
        <p:nvSpPr>
          <p:cNvPr id="29" name="TextBox 28"/>
          <p:cNvSpPr txBox="1"/>
          <p:nvPr/>
        </p:nvSpPr>
        <p:spPr>
          <a:xfrm>
            <a:off x="457200" y="5852160"/>
            <a:ext cx="11247120" cy="457200"/>
          </a:xfrm>
          <a:prstGeom prst="rect">
            <a:avLst/>
          </a:prstGeom>
          <a:noFill/>
        </p:spPr>
        <p:txBody>
          <a:bodyPr wrap="square" anchor="t" lIns="18288" rIns="18288" tIns="36576" bIns="36576">
            <a:spAutoFit/>
          </a:bodyPr>
          <a:lstStyle/>
          <a:p>
            <a:pPr algn="l">
              <a:spcAft>
                <a:spcPts val="400"/>
              </a:spcAft>
            </a:pPr>
            <a:r>
              <a:rPr sz="1100" b="0" i="0">
                <a:solidFill>
                  <a:srgbClr val="6B7A99"/>
                </a:solidFill>
                <a:latin typeface="Arial"/>
              </a:rPr>
              <a:t>Alur kerja dari prospek sampai komisi: kotak merah adalah dua titik penting, yaitu SPK ditandatangani dan komisi diterima.</a:t>
            </a:r>
          </a:p>
        </p:txBody>
      </p:sp>
      <p:sp>
        <p:nvSpPr>
          <p:cNvPr id="30"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Sumber: Rencana pertumbuhan Teman Journey 2027 dan Perjanjian Kemitraan Pasal 4 dan Pasal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Daftar Harga: </a:t>
            </a:r>
            <a:r>
              <a:rPr sz="2800" b="1" i="0">
                <a:solidFill>
                  <a:srgbClr val="9B3809"/>
                </a:solidFill>
                <a:latin typeface="Georgia"/>
              </a:rPr>
              <a:t>pelatihan dan program organisasi</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Harga dasar. Buka penawaran dengan harga ini; boleh lebih tinggi hingga 20%, tidak boleh lebih rendah.</a:t>
            </a:r>
          </a:p>
        </p:txBody>
      </p:sp>
      <p:sp>
        <p:nvSpPr>
          <p:cNvPr id="4" name="Tag"/>
          <p:cNvSpPr/>
          <p:nvPr/>
        </p:nvSpPr>
        <p:spPr>
          <a:xfrm>
            <a:off x="10469880" y="420624"/>
            <a:ext cx="1280160" cy="310896"/>
          </a:xfrm>
          <a:prstGeom prst="roundRect">
            <a:avLst>
              <a:gd name="adj" fmla="val 5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DAFTAR HARGA</a:t>
            </a:r>
          </a:p>
        </p:txBody>
      </p:sp>
      <p:sp>
        <p:nvSpPr>
          <p:cNvPr id="5"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4</a:t>
            </a:r>
          </a:p>
        </p:txBody>
      </p:sp>
      <p:graphicFrame>
        <p:nvGraphicFramePr>
          <p:cNvPr id="6" name="Table 5"/>
          <p:cNvGraphicFramePr>
            <a:graphicFrameLocks noGrp="1"/>
          </p:cNvGraphicFramePr>
          <p:nvPr/>
        </p:nvGraphicFramePr>
        <p:xfrm>
          <a:off x="457200" y="1371600"/>
          <a:ext cx="11247120" cy="4096512"/>
        </p:xfrm>
        <a:graphic>
          <a:graphicData uri="http://schemas.openxmlformats.org/drawingml/2006/table">
            <a:tbl>
              <a:tblPr firstRow="1" bandRow="1">
                <a:tableStyleId>{5C22544A-7EE6-4342-B048-85BDC9FD1C3A}</a:tableStyleId>
              </a:tblPr>
              <a:tblGrid>
                <a:gridCol w="2926080"/>
                <a:gridCol w="4754880"/>
                <a:gridCol w="1371600"/>
                <a:gridCol w="2194560"/>
              </a:tblGrid>
              <a:tr h="512064">
                <a:tc>
                  <a:txBody>
                    <a:bodyPr wrap="square"/>
                    <a:lstStyle/>
                    <a:p>
                      <a:r>
                        <a:rPr sz="1200" b="1">
                          <a:solidFill>
                            <a:srgbClr val="FFFFFF"/>
                          </a:solidFill>
                          <a:latin typeface="Arial"/>
                        </a:rPr>
                        <a:t>Layanan</a:t>
                      </a:r>
                    </a:p>
                  </a:txBody>
                  <a:tcPr marL="73152" marR="73152" marT="27432" marB="27432" anchor="ctr">
                    <a:solidFill>
                      <a:srgbClr val="1E2A3A"/>
                    </a:solidFill>
                  </a:tcPr>
                </a:tc>
                <a:tc>
                  <a:txBody>
                    <a:bodyPr wrap="square"/>
                    <a:lstStyle/>
                    <a:p>
                      <a:r>
                        <a:rPr sz="1200" b="1">
                          <a:solidFill>
                            <a:srgbClr val="FFFFFF"/>
                          </a:solidFill>
                          <a:latin typeface="Arial"/>
                        </a:rPr>
                        <a:t>Isi</a:t>
                      </a:r>
                    </a:p>
                  </a:txBody>
                  <a:tcPr marL="73152" marR="73152" marT="27432" marB="27432" anchor="ctr">
                    <a:solidFill>
                      <a:srgbClr val="1E2A3A"/>
                    </a:solidFill>
                  </a:tcPr>
                </a:tc>
                <a:tc>
                  <a:txBody>
                    <a:bodyPr wrap="square"/>
                    <a:lstStyle/>
                    <a:p>
                      <a:r>
                        <a:rPr sz="1200" b="1">
                          <a:solidFill>
                            <a:srgbClr val="FFFFFF"/>
                          </a:solidFill>
                          <a:latin typeface="Arial"/>
                        </a:rPr>
                        <a:t>Satuan</a:t>
                      </a:r>
                    </a:p>
                  </a:txBody>
                  <a:tcPr marL="73152" marR="73152" marT="27432" marB="27432" anchor="ctr">
                    <a:solidFill>
                      <a:srgbClr val="1E2A3A"/>
                    </a:solidFill>
                  </a:tcPr>
                </a:tc>
                <a:tc>
                  <a:txBody>
                    <a:bodyPr wrap="square"/>
                    <a:lstStyle/>
                    <a:p>
                      <a:r>
                        <a:rPr sz="1200" b="1">
                          <a:solidFill>
                            <a:srgbClr val="FFFFFF"/>
                          </a:solidFill>
                          <a:latin typeface="Arial"/>
                        </a:rPr>
                        <a:t>Harga Daftar</a:t>
                      </a:r>
                    </a:p>
                  </a:txBody>
                  <a:tcPr marL="73152" marR="73152" marT="27432" marB="27432" anchor="ctr">
                    <a:solidFill>
                      <a:srgbClr val="1E2A3A"/>
                    </a:solidFill>
                  </a:tcPr>
                </a:tc>
              </a:tr>
              <a:tr h="512064">
                <a:tc>
                  <a:txBody>
                    <a:bodyPr wrap="square"/>
                    <a:lstStyle/>
                    <a:p>
                      <a:r>
                        <a:rPr sz="1200" b="1">
                          <a:solidFill>
                            <a:srgbClr val="1E2A3A"/>
                          </a:solidFill>
                          <a:latin typeface="Arial"/>
                        </a:rPr>
                        <a:t>Program pelatih regional (ToT)</a:t>
                      </a:r>
                    </a:p>
                  </a:txBody>
                  <a:tcPr marL="73152" marR="73152" marT="27432" marB="27432" anchor="ctr">
                    <a:solidFill>
                      <a:srgbClr val="FFFFFF"/>
                    </a:solidFill>
                  </a:tcPr>
                </a:tc>
                <a:tc>
                  <a:txBody>
                    <a:bodyPr wrap="square"/>
                    <a:lstStyle/>
                    <a:p>
                      <a:r>
                        <a:rPr sz="1200" b="0">
                          <a:solidFill>
                            <a:srgbClr val="3D4F6A"/>
                          </a:solidFill>
                          <a:latin typeface="Arial"/>
                        </a:rPr>
                        <a:t>1 hari, hingga 30 peserta, termasuk asesmen dan laporan dampak</a:t>
                      </a:r>
                    </a:p>
                  </a:txBody>
                  <a:tcPr marL="73152" marR="73152" marT="27432" marB="27432" anchor="ctr">
                    <a:solidFill>
                      <a:srgbClr val="FFFFFF"/>
                    </a:solidFill>
                  </a:tcPr>
                </a:tc>
                <a:tc>
                  <a:txBody>
                    <a:bodyPr wrap="square"/>
                    <a:lstStyle/>
                    <a:p>
                      <a:r>
                        <a:rPr sz="1200" b="0">
                          <a:solidFill>
                            <a:srgbClr val="3D4F6A"/>
                          </a:solidFill>
                          <a:latin typeface="Arial"/>
                        </a:rPr>
                        <a:t>per hari</a:t>
                      </a:r>
                    </a:p>
                  </a:txBody>
                  <a:tcPr marL="73152" marR="73152" marT="27432" marB="27432" anchor="ctr">
                    <a:solidFill>
                      <a:srgbClr val="FFFFFF"/>
                    </a:solidFill>
                  </a:tcPr>
                </a:tc>
                <a:tc>
                  <a:txBody>
                    <a:bodyPr wrap="square"/>
                    <a:lstStyle/>
                    <a:p>
                      <a:r>
                        <a:rPr sz="1200" b="0">
                          <a:solidFill>
                            <a:srgbClr val="3D4F6A"/>
                          </a:solidFill>
                          <a:latin typeface="Arial"/>
                        </a:rPr>
                        <a:t>Rp28.500.000</a:t>
                      </a:r>
                    </a:p>
                  </a:txBody>
                  <a:tcPr marL="73152" marR="73152" marT="27432" marB="27432" anchor="ctr">
                    <a:solidFill>
                      <a:srgbClr val="FFFFFF"/>
                    </a:solidFill>
                  </a:tcPr>
                </a:tc>
              </a:tr>
              <a:tr h="512064">
                <a:tc>
                  <a:txBody>
                    <a:bodyPr wrap="square"/>
                    <a:lstStyle/>
                    <a:p>
                      <a:r>
                        <a:rPr sz="1200" b="1">
                          <a:solidFill>
                            <a:srgbClr val="1E2A3A"/>
                          </a:solidFill>
                          <a:latin typeface="Arial"/>
                        </a:rPr>
                        <a:t>Program pelatih kantor pusat</a:t>
                      </a:r>
                    </a:p>
                  </a:txBody>
                  <a:tcPr marL="73152" marR="73152" marT="27432" marB="27432" anchor="ctr">
                    <a:solidFill>
                      <a:srgbClr val="F6F2EA"/>
                    </a:solidFill>
                  </a:tcPr>
                </a:tc>
                <a:tc>
                  <a:txBody>
                    <a:bodyPr wrap="square"/>
                    <a:lstStyle/>
                    <a:p>
                      <a:r>
                        <a:rPr sz="1200" b="0">
                          <a:solidFill>
                            <a:srgbClr val="3D4F6A"/>
                          </a:solidFill>
                          <a:latin typeface="Arial"/>
                        </a:rPr>
                        <a:t>3 hari, hingga 40 peserta, termasuk asesmen dan laporan dampak</a:t>
                      </a:r>
                    </a:p>
                  </a:txBody>
                  <a:tcPr marL="73152" marR="73152" marT="27432" marB="27432" anchor="ctr">
                    <a:solidFill>
                      <a:srgbClr val="F6F2EA"/>
                    </a:solidFill>
                  </a:tcPr>
                </a:tc>
                <a:tc>
                  <a:txBody>
                    <a:bodyPr wrap="square"/>
                    <a:lstStyle/>
                    <a:p>
                      <a:r>
                        <a:rPr sz="1200" b="0">
                          <a:solidFill>
                            <a:srgbClr val="3D4F6A"/>
                          </a:solidFill>
                          <a:latin typeface="Arial"/>
                        </a:rPr>
                        <a:t>per program</a:t>
                      </a:r>
                    </a:p>
                  </a:txBody>
                  <a:tcPr marL="73152" marR="73152" marT="27432" marB="27432" anchor="ctr">
                    <a:solidFill>
                      <a:srgbClr val="F6F2EA"/>
                    </a:solidFill>
                  </a:tcPr>
                </a:tc>
                <a:tc>
                  <a:txBody>
                    <a:bodyPr wrap="square"/>
                    <a:lstStyle/>
                    <a:p>
                      <a:r>
                        <a:rPr sz="1200" b="0">
                          <a:solidFill>
                            <a:srgbClr val="3D4F6A"/>
                          </a:solidFill>
                          <a:latin typeface="Arial"/>
                        </a:rPr>
                        <a:t>Rp100.000.000</a:t>
                      </a:r>
                    </a:p>
                  </a:txBody>
                  <a:tcPr marL="73152" marR="73152" marT="27432" marB="27432" anchor="ctr">
                    <a:solidFill>
                      <a:srgbClr val="F6F2EA"/>
                    </a:solidFill>
                  </a:tcPr>
                </a:tc>
              </a:tr>
              <a:tr h="512064">
                <a:tc>
                  <a:txBody>
                    <a:bodyPr wrap="square"/>
                    <a:lstStyle/>
                    <a:p>
                      <a:r>
                        <a:rPr sz="1200" b="1">
                          <a:solidFill>
                            <a:srgbClr val="1E2A3A"/>
                          </a:solidFill>
                          <a:latin typeface="Arial"/>
                        </a:rPr>
                        <a:t>Program bank BUMN</a:t>
                      </a:r>
                    </a:p>
                  </a:txBody>
                  <a:tcPr marL="73152" marR="73152" marT="27432" marB="27432" anchor="ctr">
                    <a:solidFill>
                      <a:srgbClr val="FFFFFF"/>
                    </a:solidFill>
                  </a:tcPr>
                </a:tc>
                <a:tc>
                  <a:txBody>
                    <a:bodyPr wrap="square"/>
                    <a:lstStyle/>
                    <a:p>
                      <a:r>
                        <a:rPr sz="1200" b="0">
                          <a:solidFill>
                            <a:srgbClr val="3D4F6A"/>
                          </a:solidFill>
                          <a:latin typeface="Arial"/>
                        </a:rPr>
                        <a:t>1 kelompok, 1 hari, hingga 40 peserta, termasuk asesmen dan laporan dampak</a:t>
                      </a:r>
                    </a:p>
                  </a:txBody>
                  <a:tcPr marL="73152" marR="73152" marT="27432" marB="27432" anchor="ctr">
                    <a:solidFill>
                      <a:srgbClr val="FFFFFF"/>
                    </a:solidFill>
                  </a:tcPr>
                </a:tc>
                <a:tc>
                  <a:txBody>
                    <a:bodyPr wrap="square"/>
                    <a:lstStyle/>
                    <a:p>
                      <a:r>
                        <a:rPr sz="1200" b="0">
                          <a:solidFill>
                            <a:srgbClr val="3D4F6A"/>
                          </a:solidFill>
                          <a:latin typeface="Arial"/>
                        </a:rPr>
                        <a:t>per hari</a:t>
                      </a:r>
                    </a:p>
                  </a:txBody>
                  <a:tcPr marL="73152" marR="73152" marT="27432" marB="27432" anchor="ctr">
                    <a:solidFill>
                      <a:srgbClr val="FFFFFF"/>
                    </a:solidFill>
                  </a:tcPr>
                </a:tc>
                <a:tc>
                  <a:txBody>
                    <a:bodyPr wrap="square"/>
                    <a:lstStyle/>
                    <a:p>
                      <a:r>
                        <a:rPr sz="1200" b="0">
                          <a:solidFill>
                            <a:srgbClr val="3D4F6A"/>
                          </a:solidFill>
                          <a:latin typeface="Arial"/>
                        </a:rPr>
                        <a:t>Rp51.000.000</a:t>
                      </a:r>
                    </a:p>
                  </a:txBody>
                  <a:tcPr marL="73152" marR="73152" marT="27432" marB="27432" anchor="ctr">
                    <a:solidFill>
                      <a:srgbClr val="FFFFFF"/>
                    </a:solidFill>
                  </a:tcPr>
                </a:tc>
              </a:tr>
              <a:tr h="512064">
                <a:tc>
                  <a:txBody>
                    <a:bodyPr wrap="square"/>
                    <a:lstStyle/>
                    <a:p>
                      <a:r>
                        <a:rPr sz="1200" b="1">
                          <a:solidFill>
                            <a:srgbClr val="1E2A3A"/>
                          </a:solidFill>
                          <a:latin typeface="Arial"/>
                        </a:rPr>
                        <a:t>Program bank swasta</a:t>
                      </a:r>
                    </a:p>
                  </a:txBody>
                  <a:tcPr marL="73152" marR="73152" marT="27432" marB="27432" anchor="ctr">
                    <a:solidFill>
                      <a:srgbClr val="F6F2EA"/>
                    </a:solidFill>
                  </a:tcPr>
                </a:tc>
                <a:tc>
                  <a:txBody>
                    <a:bodyPr wrap="square"/>
                    <a:lstStyle/>
                    <a:p>
                      <a:r>
                        <a:rPr sz="1200" b="0">
                          <a:solidFill>
                            <a:srgbClr val="3D4F6A"/>
                          </a:solidFill>
                          <a:latin typeface="Arial"/>
                        </a:rPr>
                        <a:t>1 kelompok, 1 hari, hingga 40 peserta, termasuk asesmen dan laporan dampak</a:t>
                      </a:r>
                    </a:p>
                  </a:txBody>
                  <a:tcPr marL="73152" marR="73152" marT="27432" marB="27432" anchor="ctr">
                    <a:solidFill>
                      <a:srgbClr val="F6F2EA"/>
                    </a:solidFill>
                  </a:tcPr>
                </a:tc>
                <a:tc>
                  <a:txBody>
                    <a:bodyPr wrap="square"/>
                    <a:lstStyle/>
                    <a:p>
                      <a:r>
                        <a:rPr sz="1200" b="0">
                          <a:solidFill>
                            <a:srgbClr val="3D4F6A"/>
                          </a:solidFill>
                          <a:latin typeface="Arial"/>
                        </a:rPr>
                        <a:t>per hari</a:t>
                      </a:r>
                    </a:p>
                  </a:txBody>
                  <a:tcPr marL="73152" marR="73152" marT="27432" marB="27432" anchor="ctr">
                    <a:solidFill>
                      <a:srgbClr val="F6F2EA"/>
                    </a:solidFill>
                  </a:tcPr>
                </a:tc>
                <a:tc>
                  <a:txBody>
                    <a:bodyPr wrap="square"/>
                    <a:lstStyle/>
                    <a:p>
                      <a:r>
                        <a:rPr sz="1200" b="0">
                          <a:solidFill>
                            <a:srgbClr val="3D4F6A"/>
                          </a:solidFill>
                          <a:latin typeface="Arial"/>
                        </a:rPr>
                        <a:t>Rp61.000.000</a:t>
                      </a:r>
                    </a:p>
                  </a:txBody>
                  <a:tcPr marL="73152" marR="73152" marT="27432" marB="27432" anchor="ctr">
                    <a:solidFill>
                      <a:srgbClr val="F6F2EA"/>
                    </a:solidFill>
                  </a:tcPr>
                </a:tc>
              </a:tr>
              <a:tr h="512064">
                <a:tc>
                  <a:txBody>
                    <a:bodyPr wrap="square"/>
                    <a:lstStyle/>
                    <a:p>
                      <a:r>
                        <a:rPr sz="1200" b="1">
                          <a:solidFill>
                            <a:srgbClr val="1E2A3A"/>
                          </a:solidFill>
                          <a:latin typeface="Arial"/>
                        </a:rPr>
                        <a:t>Bank Elite</a:t>
                      </a:r>
                    </a:p>
                  </a:txBody>
                  <a:tcPr marL="73152" marR="73152" marT="27432" marB="27432" anchor="ctr">
                    <a:solidFill>
                      <a:srgbClr val="FFFFFF"/>
                    </a:solidFill>
                  </a:tcPr>
                </a:tc>
                <a:tc>
                  <a:txBody>
                    <a:bodyPr wrap="square"/>
                    <a:lstStyle/>
                    <a:p>
                      <a:r>
                        <a:rPr sz="1200" b="0">
                          <a:solidFill>
                            <a:srgbClr val="3D4F6A"/>
                          </a:solidFill>
                          <a:latin typeface="Arial"/>
                        </a:rPr>
                        <a:t>Program bank + lisensi pelatih + pendampingan 3 bulan</a:t>
                      </a:r>
                    </a:p>
                  </a:txBody>
                  <a:tcPr marL="73152" marR="73152" marT="27432" marB="27432" anchor="ctr">
                    <a:solidFill>
                      <a:srgbClr val="FFFFFF"/>
                    </a:solidFill>
                  </a:tcPr>
                </a:tc>
                <a:tc>
                  <a:txBody>
                    <a:bodyPr wrap="square"/>
                    <a:lstStyle/>
                    <a:p>
                      <a:r>
                        <a:rPr sz="1200" b="0">
                          <a:solidFill>
                            <a:srgbClr val="3D4F6A"/>
                          </a:solidFill>
                          <a:latin typeface="Arial"/>
                        </a:rPr>
                        <a:t>per hari</a:t>
                      </a:r>
                    </a:p>
                  </a:txBody>
                  <a:tcPr marL="73152" marR="73152" marT="27432" marB="27432" anchor="ctr">
                    <a:solidFill>
                      <a:srgbClr val="FFFFFF"/>
                    </a:solidFill>
                  </a:tcPr>
                </a:tc>
                <a:tc>
                  <a:txBody>
                    <a:bodyPr wrap="square"/>
                    <a:lstStyle/>
                    <a:p>
                      <a:r>
                        <a:rPr sz="1200" b="0">
                          <a:solidFill>
                            <a:srgbClr val="3D4F6A"/>
                          </a:solidFill>
                          <a:latin typeface="Arial"/>
                        </a:rPr>
                        <a:t>BUMN Rp66.300.000
swasta Rp79.300.000</a:t>
                      </a:r>
                    </a:p>
                  </a:txBody>
                  <a:tcPr marL="73152" marR="73152" marT="27432" marB="27432" anchor="ctr">
                    <a:solidFill>
                      <a:srgbClr val="FFFFFF"/>
                    </a:solidFill>
                  </a:tcPr>
                </a:tc>
              </a:tr>
              <a:tr h="512064">
                <a:tc>
                  <a:txBody>
                    <a:bodyPr wrap="square"/>
                    <a:lstStyle/>
                    <a:p>
                      <a:r>
                        <a:rPr sz="1200" b="1">
                          <a:solidFill>
                            <a:srgbClr val="1E2A3A"/>
                          </a:solidFill>
                          <a:latin typeface="Arial"/>
                        </a:rPr>
                        <a:t>Asesmen dan laporan dampak</a:t>
                      </a:r>
                    </a:p>
                  </a:txBody>
                  <a:tcPr marL="73152" marR="73152" marT="27432" marB="27432" anchor="ctr">
                    <a:solidFill>
                      <a:srgbClr val="F6F2EA"/>
                    </a:solidFill>
                  </a:tcPr>
                </a:tc>
                <a:tc>
                  <a:txBody>
                    <a:bodyPr wrap="square"/>
                    <a:lstStyle/>
                    <a:p>
                      <a:r>
                        <a:rPr sz="1200" b="0">
                          <a:solidFill>
                            <a:srgbClr val="3D4F6A"/>
                          </a:solidFill>
                          <a:latin typeface="Arial"/>
                        </a:rPr>
                        <a:t>Peserta tambahan di luar paket</a:t>
                      </a:r>
                    </a:p>
                  </a:txBody>
                  <a:tcPr marL="73152" marR="73152" marT="27432" marB="27432" anchor="ctr">
                    <a:solidFill>
                      <a:srgbClr val="F6F2EA"/>
                    </a:solidFill>
                  </a:tcPr>
                </a:tc>
                <a:tc>
                  <a:txBody>
                    <a:bodyPr wrap="square"/>
                    <a:lstStyle/>
                    <a:p>
                      <a:r>
                        <a:rPr sz="1200" b="0">
                          <a:solidFill>
                            <a:srgbClr val="3D4F6A"/>
                          </a:solidFill>
                          <a:latin typeface="Arial"/>
                        </a:rPr>
                        <a:t>per peserta</a:t>
                      </a:r>
                    </a:p>
                  </a:txBody>
                  <a:tcPr marL="73152" marR="73152" marT="27432" marB="27432" anchor="ctr">
                    <a:solidFill>
                      <a:srgbClr val="F6F2EA"/>
                    </a:solidFill>
                  </a:tcPr>
                </a:tc>
                <a:tc>
                  <a:txBody>
                    <a:bodyPr wrap="square"/>
                    <a:lstStyle/>
                    <a:p>
                      <a:r>
                        <a:rPr sz="1200" b="0">
                          <a:solidFill>
                            <a:srgbClr val="3D4F6A"/>
                          </a:solidFill>
                          <a:latin typeface="Arial"/>
                        </a:rPr>
                        <a:t>Rp150.000</a:t>
                      </a:r>
                    </a:p>
                  </a:txBody>
                  <a:tcPr marL="73152" marR="73152" marT="27432" marB="27432" anchor="ctr">
                    <a:solidFill>
                      <a:srgbClr val="F6F2EA"/>
                    </a:solidFill>
                  </a:tcPr>
                </a:tc>
              </a:tr>
              <a:tr h="512064">
                <a:tc>
                  <a:txBody>
                    <a:bodyPr wrap="square"/>
                    <a:lstStyle/>
                    <a:p>
                      <a:r>
                        <a:rPr sz="1200" b="1">
                          <a:solidFill>
                            <a:srgbClr val="1E2A3A"/>
                          </a:solidFill>
                          <a:latin typeface="Arial"/>
                        </a:rPr>
                        <a:t>Event publik</a:t>
                      </a:r>
                    </a:p>
                  </a:txBody>
                  <a:tcPr marL="73152" marR="73152" marT="27432" marB="27432" anchor="ctr">
                    <a:solidFill>
                      <a:srgbClr val="FFFFFF"/>
                    </a:solidFill>
                  </a:tcPr>
                </a:tc>
                <a:tc>
                  <a:txBody>
                    <a:bodyPr wrap="square"/>
                    <a:lstStyle/>
                    <a:p>
                      <a:r>
                        <a:rPr sz="1200" b="0">
                          <a:solidFill>
                            <a:srgbClr val="3D4F6A"/>
                          </a:solidFill>
                          <a:latin typeface="Arial"/>
                        </a:rPr>
                        <a:t>Event psikoedukasi untuk umum</a:t>
                      </a:r>
                    </a:p>
                  </a:txBody>
                  <a:tcPr marL="73152" marR="73152" marT="27432" marB="27432" anchor="ctr">
                    <a:solidFill>
                      <a:srgbClr val="FFFFFF"/>
                    </a:solidFill>
                  </a:tcPr>
                </a:tc>
                <a:tc>
                  <a:txBody>
                    <a:bodyPr wrap="square"/>
                    <a:lstStyle/>
                    <a:p>
                      <a:r>
                        <a:rPr sz="1200" b="0">
                          <a:solidFill>
                            <a:srgbClr val="3D4F6A"/>
                          </a:solidFill>
                          <a:latin typeface="Arial"/>
                        </a:rPr>
                        <a:t>per event</a:t>
                      </a:r>
                    </a:p>
                  </a:txBody>
                  <a:tcPr marL="73152" marR="73152" marT="27432" marB="27432" anchor="ctr">
                    <a:solidFill>
                      <a:srgbClr val="FFFFFF"/>
                    </a:solidFill>
                  </a:tcPr>
                </a:tc>
                <a:tc>
                  <a:txBody>
                    <a:bodyPr wrap="square"/>
                    <a:lstStyle/>
                    <a:p>
                      <a:r>
                        <a:rPr sz="1200" b="0">
                          <a:solidFill>
                            <a:srgbClr val="3D4F6A"/>
                          </a:solidFill>
                          <a:latin typeface="Arial"/>
                        </a:rPr>
                        <a:t>Rp24.000.000</a:t>
                      </a:r>
                    </a:p>
                  </a:txBody>
                  <a:tcPr marL="73152" marR="73152" marT="27432" marB="27432" anchor="ctr">
                    <a:solidFill>
                      <a:srgbClr val="FFFFFF"/>
                    </a:solidFill>
                  </a:tcPr>
                </a:tc>
              </a:tr>
            </a:tbl>
          </a:graphicData>
        </a:graphic>
      </p:graphicFrame>
      <p:sp>
        <p:nvSpPr>
          <p:cNvPr id="7" name="Rounded Rectangle 6"/>
          <p:cNvSpPr/>
          <p:nvPr/>
        </p:nvSpPr>
        <p:spPr>
          <a:xfrm>
            <a:off x="457200" y="5623560"/>
            <a:ext cx="11247120" cy="658368"/>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200" b="1" i="0">
                <a:solidFill>
                  <a:srgbClr val="1E2A3A"/>
                </a:solidFill>
                <a:latin typeface="Arial"/>
              </a:rPr>
              <a:t>Di luar Jakarta: </a:t>
            </a:r>
            <a:r>
              <a:rPr sz="1200" b="0" i="0">
                <a:solidFill>
                  <a:srgbClr val="3D4F6A"/>
                </a:solidFill>
                <a:latin typeface="Arial"/>
              </a:rPr>
              <a:t>biaya perjalanan dan akomodasi tim ditagihkan terpisah kepada klien sebesar biaya aktual. Harga belum termasuk PPN.</a:t>
            </a:r>
          </a:p>
        </p:txBody>
      </p:sp>
      <p:sp>
        <p:nvSpPr>
          <p:cNvPr id="8"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Sumber: Perjanjian Kemitraan, Lampiran C bagian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Daftar Harga: </a:t>
            </a:r>
            <a:r>
              <a:rPr sz="2800" b="1" i="0">
                <a:solidFill>
                  <a:srgbClr val="9B3809"/>
                </a:solidFill>
                <a:latin typeface="Georgia"/>
              </a:rPr>
              <a:t>Employee Assistance Program (EAP)</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Paket kesejahteraan pegawai. Kontrak tahunan dibayar per kuartal; paket 3 bulan dibayar sekaligus.</a:t>
            </a:r>
          </a:p>
        </p:txBody>
      </p:sp>
      <p:sp>
        <p:nvSpPr>
          <p:cNvPr id="4" name="Tag"/>
          <p:cNvSpPr/>
          <p:nvPr/>
        </p:nvSpPr>
        <p:spPr>
          <a:xfrm>
            <a:off x="10469880" y="420624"/>
            <a:ext cx="1280160" cy="310896"/>
          </a:xfrm>
          <a:prstGeom prst="roundRect">
            <a:avLst>
              <a:gd name="adj" fmla="val 5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DAFTAR HARGA</a:t>
            </a:r>
          </a:p>
        </p:txBody>
      </p:sp>
      <p:sp>
        <p:nvSpPr>
          <p:cNvPr id="5"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5</a:t>
            </a:r>
          </a:p>
        </p:txBody>
      </p:sp>
      <p:graphicFrame>
        <p:nvGraphicFramePr>
          <p:cNvPr id="6" name="Table 5"/>
          <p:cNvGraphicFramePr>
            <a:graphicFrameLocks noGrp="1"/>
          </p:cNvGraphicFramePr>
          <p:nvPr/>
        </p:nvGraphicFramePr>
        <p:xfrm>
          <a:off x="457200" y="1371600"/>
          <a:ext cx="11247120" cy="3840480"/>
        </p:xfrm>
        <a:graphic>
          <a:graphicData uri="http://schemas.openxmlformats.org/drawingml/2006/table">
            <a:tbl>
              <a:tblPr firstRow="1" bandRow="1">
                <a:tableStyleId>{5C22544A-7EE6-4342-B048-85BDC9FD1C3A}</a:tableStyleId>
              </a:tblPr>
              <a:tblGrid>
                <a:gridCol w="1920240"/>
                <a:gridCol w="6035040"/>
                <a:gridCol w="1188720"/>
                <a:gridCol w="2103120"/>
              </a:tblGrid>
              <a:tr h="640080">
                <a:tc>
                  <a:txBody>
                    <a:bodyPr wrap="square"/>
                    <a:lstStyle/>
                    <a:p>
                      <a:r>
                        <a:rPr sz="1200" b="1">
                          <a:solidFill>
                            <a:srgbClr val="FFFFFF"/>
                          </a:solidFill>
                          <a:latin typeface="Arial"/>
                        </a:rPr>
                        <a:t>Paket</a:t>
                      </a:r>
                    </a:p>
                  </a:txBody>
                  <a:tcPr marL="73152" marR="73152" marT="27432" marB="27432" anchor="ctr">
                    <a:solidFill>
                      <a:srgbClr val="1E2A3A"/>
                    </a:solidFill>
                  </a:tcPr>
                </a:tc>
                <a:tc>
                  <a:txBody>
                    <a:bodyPr wrap="square"/>
                    <a:lstStyle/>
                    <a:p>
                      <a:r>
                        <a:rPr sz="1200" b="1">
                          <a:solidFill>
                            <a:srgbClr val="FFFFFF"/>
                          </a:solidFill>
                          <a:latin typeface="Arial"/>
                        </a:rPr>
                        <a:t>Isi</a:t>
                      </a:r>
                    </a:p>
                  </a:txBody>
                  <a:tcPr marL="73152" marR="73152" marT="27432" marB="27432" anchor="ctr">
                    <a:solidFill>
                      <a:srgbClr val="1E2A3A"/>
                    </a:solidFill>
                  </a:tcPr>
                </a:tc>
                <a:tc>
                  <a:txBody>
                    <a:bodyPr wrap="square"/>
                    <a:lstStyle/>
                    <a:p>
                      <a:r>
                        <a:rPr sz="1200" b="1">
                          <a:solidFill>
                            <a:srgbClr val="FFFFFF"/>
                          </a:solidFill>
                          <a:latin typeface="Arial"/>
                        </a:rPr>
                        <a:t>Masa</a:t>
                      </a:r>
                    </a:p>
                  </a:txBody>
                  <a:tcPr marL="73152" marR="73152" marT="27432" marB="27432" anchor="ctr">
                    <a:solidFill>
                      <a:srgbClr val="1E2A3A"/>
                    </a:solidFill>
                  </a:tcPr>
                </a:tc>
                <a:tc>
                  <a:txBody>
                    <a:bodyPr wrap="square"/>
                    <a:lstStyle/>
                    <a:p>
                      <a:r>
                        <a:rPr sz="1200" b="1">
                          <a:solidFill>
                            <a:srgbClr val="FFFFFF"/>
                          </a:solidFill>
                          <a:latin typeface="Arial"/>
                        </a:rPr>
                        <a:t>Harga Daftar</a:t>
                      </a:r>
                    </a:p>
                  </a:txBody>
                  <a:tcPr marL="73152" marR="73152" marT="27432" marB="27432" anchor="ctr">
                    <a:solidFill>
                      <a:srgbClr val="1E2A3A"/>
                    </a:solidFill>
                  </a:tcPr>
                </a:tc>
              </a:tr>
              <a:tr h="640080">
                <a:tc>
                  <a:txBody>
                    <a:bodyPr wrap="square"/>
                    <a:lstStyle/>
                    <a:p>
                      <a:r>
                        <a:rPr sz="1200" b="1">
                          <a:solidFill>
                            <a:srgbClr val="1E2A3A"/>
                          </a:solidFill>
                          <a:latin typeface="Arial"/>
                        </a:rPr>
                        <a:t>Jeda</a:t>
                      </a:r>
                    </a:p>
                  </a:txBody>
                  <a:tcPr marL="73152" marR="73152" marT="27432" marB="27432" anchor="ctr">
                    <a:solidFill>
                      <a:srgbClr val="FFFFFF"/>
                    </a:solidFill>
                  </a:tcPr>
                </a:tc>
                <a:tc>
                  <a:txBody>
                    <a:bodyPr wrap="square"/>
                    <a:lstStyle/>
                    <a:p>
                      <a:r>
                        <a:rPr sz="1200" b="0">
                          <a:solidFill>
                            <a:srgbClr val="3D4F6A"/>
                          </a:solidFill>
                          <a:latin typeface="Arial"/>
                        </a:rPr>
                        <a:t>15 sesi konseling online, 1 webinar psikoedukasi</a:t>
                      </a:r>
                    </a:p>
                  </a:txBody>
                  <a:tcPr marL="73152" marR="73152" marT="27432" marB="27432" anchor="ctr">
                    <a:solidFill>
                      <a:srgbClr val="FFFFFF"/>
                    </a:solidFill>
                  </a:tcPr>
                </a:tc>
                <a:tc>
                  <a:txBody>
                    <a:bodyPr wrap="square"/>
                    <a:lstStyle/>
                    <a:p>
                      <a:r>
                        <a:rPr sz="1200" b="0">
                          <a:solidFill>
                            <a:srgbClr val="3D4F6A"/>
                          </a:solidFill>
                          <a:latin typeface="Arial"/>
                        </a:rPr>
                        <a:t>3 bulan</a:t>
                      </a:r>
                    </a:p>
                  </a:txBody>
                  <a:tcPr marL="73152" marR="73152" marT="27432" marB="27432" anchor="ctr">
                    <a:solidFill>
                      <a:srgbClr val="FFFFFF"/>
                    </a:solidFill>
                  </a:tcPr>
                </a:tc>
                <a:tc>
                  <a:txBody>
                    <a:bodyPr wrap="square"/>
                    <a:lstStyle/>
                    <a:p>
                      <a:r>
                        <a:rPr sz="1200" b="0">
                          <a:solidFill>
                            <a:srgbClr val="3D4F6A"/>
                          </a:solidFill>
                          <a:latin typeface="Arial"/>
                        </a:rPr>
                        <a:t>Rp12.000.000</a:t>
                      </a:r>
                    </a:p>
                  </a:txBody>
                  <a:tcPr marL="73152" marR="73152" marT="27432" marB="27432" anchor="ctr">
                    <a:solidFill>
                      <a:srgbClr val="FFFFFF"/>
                    </a:solidFill>
                  </a:tcPr>
                </a:tc>
              </a:tr>
              <a:tr h="640080">
                <a:tc>
                  <a:txBody>
                    <a:bodyPr wrap="square"/>
                    <a:lstStyle/>
                    <a:p>
                      <a:r>
                        <a:rPr sz="1200" b="1">
                          <a:solidFill>
                            <a:srgbClr val="1E2A3A"/>
                          </a:solidFill>
                          <a:latin typeface="Arial"/>
                        </a:rPr>
                        <a:t>Jeda Tahunan</a:t>
                      </a:r>
                    </a:p>
                  </a:txBody>
                  <a:tcPr marL="73152" marR="73152" marT="27432" marB="27432" anchor="ctr">
                    <a:solidFill>
                      <a:srgbClr val="F5EDD8"/>
                    </a:solidFill>
                  </a:tcPr>
                </a:tc>
                <a:tc>
                  <a:txBody>
                    <a:bodyPr wrap="square"/>
                    <a:lstStyle/>
                    <a:p>
                      <a:r>
                        <a:rPr sz="1200" b="0">
                          <a:solidFill>
                            <a:srgbClr val="3D4F6A"/>
                          </a:solidFill>
                          <a:latin typeface="Arial"/>
                        </a:rPr>
                        <a:t>Per kuartal: 15 sesi konseling online, 1 putaran Mental Health Check-Up, laporan agregat anonim, 1 webinar</a:t>
                      </a:r>
                    </a:p>
                  </a:txBody>
                  <a:tcPr marL="73152" marR="73152" marT="27432" marB="27432" anchor="ctr">
                    <a:solidFill>
                      <a:srgbClr val="F5EDD8"/>
                    </a:solidFill>
                  </a:tcPr>
                </a:tc>
                <a:tc>
                  <a:txBody>
                    <a:bodyPr wrap="square"/>
                    <a:lstStyle/>
                    <a:p>
                      <a:r>
                        <a:rPr sz="1200" b="0">
                          <a:solidFill>
                            <a:srgbClr val="3D4F6A"/>
                          </a:solidFill>
                          <a:latin typeface="Arial"/>
                        </a:rPr>
                        <a:t>12 bulan</a:t>
                      </a:r>
                    </a:p>
                  </a:txBody>
                  <a:tcPr marL="73152" marR="73152" marT="27432" marB="27432" anchor="ctr">
                    <a:solidFill>
                      <a:srgbClr val="F5EDD8"/>
                    </a:solidFill>
                  </a:tcPr>
                </a:tc>
                <a:tc>
                  <a:txBody>
                    <a:bodyPr wrap="square"/>
                    <a:lstStyle/>
                    <a:p>
                      <a:r>
                        <a:rPr sz="1200" b="0">
                          <a:solidFill>
                            <a:srgbClr val="3D4F6A"/>
                          </a:solidFill>
                          <a:latin typeface="Arial"/>
                        </a:rPr>
                        <a:t>Rp11.000.000 per kuartal
(Rp44.000.000 per tahun)</a:t>
                      </a:r>
                    </a:p>
                  </a:txBody>
                  <a:tcPr marL="73152" marR="73152" marT="27432" marB="27432" anchor="ctr">
                    <a:solidFill>
                      <a:srgbClr val="F5EDD8"/>
                    </a:solidFill>
                  </a:tcPr>
                </a:tc>
              </a:tr>
              <a:tr h="640080">
                <a:tc>
                  <a:txBody>
                    <a:bodyPr wrap="square"/>
                    <a:lstStyle/>
                    <a:p>
                      <a:r>
                        <a:rPr sz="1200" b="1">
                          <a:solidFill>
                            <a:srgbClr val="1E2A3A"/>
                          </a:solidFill>
                          <a:latin typeface="Arial"/>
                        </a:rPr>
                        <a:t>Tumbuh</a:t>
                      </a:r>
                    </a:p>
                  </a:txBody>
                  <a:tcPr marL="73152" marR="73152" marT="27432" marB="27432" anchor="ctr">
                    <a:solidFill>
                      <a:srgbClr val="FFFFFF"/>
                    </a:solidFill>
                  </a:tcPr>
                </a:tc>
                <a:tc>
                  <a:txBody>
                    <a:bodyPr wrap="square"/>
                    <a:lstStyle/>
                    <a:p>
                      <a:r>
                        <a:rPr sz="1200" b="0">
                          <a:solidFill>
                            <a:srgbClr val="3D4F6A"/>
                          </a:solidFill>
                          <a:latin typeface="Arial"/>
                        </a:rPr>
                        <a:t>24 sesi konseling online, 1 putaran Mental Health Check-Up, laporan agregat anonim, 1 webinar</a:t>
                      </a:r>
                    </a:p>
                  </a:txBody>
                  <a:tcPr marL="73152" marR="73152" marT="27432" marB="27432" anchor="ctr">
                    <a:solidFill>
                      <a:srgbClr val="FFFFFF"/>
                    </a:solidFill>
                  </a:tcPr>
                </a:tc>
                <a:tc>
                  <a:txBody>
                    <a:bodyPr wrap="square"/>
                    <a:lstStyle/>
                    <a:p>
                      <a:r>
                        <a:rPr sz="1200" b="0">
                          <a:solidFill>
                            <a:srgbClr val="3D4F6A"/>
                          </a:solidFill>
                          <a:latin typeface="Arial"/>
                        </a:rPr>
                        <a:t>3 bulan</a:t>
                      </a:r>
                    </a:p>
                  </a:txBody>
                  <a:tcPr marL="73152" marR="73152" marT="27432" marB="27432" anchor="ctr">
                    <a:solidFill>
                      <a:srgbClr val="FFFFFF"/>
                    </a:solidFill>
                  </a:tcPr>
                </a:tc>
                <a:tc>
                  <a:txBody>
                    <a:bodyPr wrap="square"/>
                    <a:lstStyle/>
                    <a:p>
                      <a:r>
                        <a:rPr sz="1200" b="0">
                          <a:solidFill>
                            <a:srgbClr val="3D4F6A"/>
                          </a:solidFill>
                          <a:latin typeface="Arial"/>
                        </a:rPr>
                        <a:t>Rp20.000.000</a:t>
                      </a:r>
                    </a:p>
                  </a:txBody>
                  <a:tcPr marL="73152" marR="73152" marT="27432" marB="27432" anchor="ctr">
                    <a:solidFill>
                      <a:srgbClr val="FFFFFF"/>
                    </a:solidFill>
                  </a:tcPr>
                </a:tc>
              </a:tr>
              <a:tr h="640080">
                <a:tc>
                  <a:txBody>
                    <a:bodyPr wrap="square"/>
                    <a:lstStyle/>
                    <a:p>
                      <a:r>
                        <a:rPr sz="1200" b="1">
                          <a:solidFill>
                            <a:srgbClr val="1E2A3A"/>
                          </a:solidFill>
                          <a:latin typeface="Arial"/>
                        </a:rPr>
                        <a:t>Seperjalanan</a:t>
                      </a:r>
                    </a:p>
                  </a:txBody>
                  <a:tcPr marL="73152" marR="73152" marT="27432" marB="27432" anchor="ctr">
                    <a:solidFill>
                      <a:srgbClr val="F6F2EA"/>
                    </a:solidFill>
                  </a:tcPr>
                </a:tc>
                <a:tc>
                  <a:txBody>
                    <a:bodyPr wrap="square"/>
                    <a:lstStyle/>
                    <a:p>
                      <a:r>
                        <a:rPr sz="1200" b="0">
                          <a:solidFill>
                            <a:srgbClr val="3D4F6A"/>
                          </a:solidFill>
                          <a:latin typeface="Arial"/>
                        </a:rPr>
                        <a:t>36 sesi konseling online, Mental Health Check-Up pre dan post, hasil individual untuk pegawai, laporan agregat dengan perbandingan, 1 seminar offline</a:t>
                      </a:r>
                    </a:p>
                  </a:txBody>
                  <a:tcPr marL="73152" marR="73152" marT="27432" marB="27432" anchor="ctr">
                    <a:solidFill>
                      <a:srgbClr val="F6F2EA"/>
                    </a:solidFill>
                  </a:tcPr>
                </a:tc>
                <a:tc>
                  <a:txBody>
                    <a:bodyPr wrap="square"/>
                    <a:lstStyle/>
                    <a:p>
                      <a:r>
                        <a:rPr sz="1200" b="0">
                          <a:solidFill>
                            <a:srgbClr val="3D4F6A"/>
                          </a:solidFill>
                          <a:latin typeface="Arial"/>
                        </a:rPr>
                        <a:t>3 bulan</a:t>
                      </a:r>
                    </a:p>
                  </a:txBody>
                  <a:tcPr marL="73152" marR="73152" marT="27432" marB="27432" anchor="ctr">
                    <a:solidFill>
                      <a:srgbClr val="F6F2EA"/>
                    </a:solidFill>
                  </a:tcPr>
                </a:tc>
                <a:tc>
                  <a:txBody>
                    <a:bodyPr wrap="square"/>
                    <a:lstStyle/>
                    <a:p>
                      <a:r>
                        <a:rPr sz="1200" b="0">
                          <a:solidFill>
                            <a:srgbClr val="3D4F6A"/>
                          </a:solidFill>
                          <a:latin typeface="Arial"/>
                        </a:rPr>
                        <a:t>Rp31.500.000</a:t>
                      </a:r>
                    </a:p>
                  </a:txBody>
                  <a:tcPr marL="73152" marR="73152" marT="27432" marB="27432" anchor="ctr">
                    <a:solidFill>
                      <a:srgbClr val="F6F2EA"/>
                    </a:solidFill>
                  </a:tcPr>
                </a:tc>
              </a:tr>
              <a:tr h="640080">
                <a:tc>
                  <a:txBody>
                    <a:bodyPr wrap="square"/>
                    <a:lstStyle/>
                    <a:p>
                      <a:r>
                        <a:rPr sz="1200" b="1">
                          <a:solidFill>
                            <a:srgbClr val="1E2A3A"/>
                          </a:solidFill>
                          <a:latin typeface="Arial"/>
                        </a:rPr>
                        <a:t>Sesi tambahan</a:t>
                      </a:r>
                    </a:p>
                  </a:txBody>
                  <a:tcPr marL="73152" marR="73152" marT="27432" marB="27432" anchor="ctr">
                    <a:solidFill>
                      <a:srgbClr val="FFFFFF"/>
                    </a:solidFill>
                  </a:tcPr>
                </a:tc>
                <a:tc>
                  <a:txBody>
                    <a:bodyPr wrap="square"/>
                    <a:lstStyle/>
                    <a:p>
                      <a:r>
                        <a:rPr sz="1200" b="0">
                          <a:solidFill>
                            <a:srgbClr val="3D4F6A"/>
                          </a:solidFill>
                          <a:latin typeface="Arial"/>
                        </a:rPr>
                        <a:t>Konseling online 60 menit</a:t>
                      </a:r>
                    </a:p>
                  </a:txBody>
                  <a:tcPr marL="73152" marR="73152" marT="27432" marB="27432" anchor="ctr">
                    <a:solidFill>
                      <a:srgbClr val="FFFFFF"/>
                    </a:solidFill>
                  </a:tcPr>
                </a:tc>
                <a:tc>
                  <a:txBody>
                    <a:bodyPr wrap="square"/>
                    <a:lstStyle/>
                    <a:p>
                      <a:r>
                        <a:rPr sz="1200" b="0">
                          <a:solidFill>
                            <a:srgbClr val="3D4F6A"/>
                          </a:solidFill>
                          <a:latin typeface="Arial"/>
                        </a:rPr>
                        <a:t>per sesi</a:t>
                      </a:r>
                    </a:p>
                  </a:txBody>
                  <a:tcPr marL="73152" marR="73152" marT="27432" marB="27432" anchor="ctr">
                    <a:solidFill>
                      <a:srgbClr val="FFFFFF"/>
                    </a:solidFill>
                  </a:tcPr>
                </a:tc>
                <a:tc>
                  <a:txBody>
                    <a:bodyPr wrap="square"/>
                    <a:lstStyle/>
                    <a:p>
                      <a:r>
                        <a:rPr sz="1200" b="0">
                          <a:solidFill>
                            <a:srgbClr val="3D4F6A"/>
                          </a:solidFill>
                          <a:latin typeface="Arial"/>
                        </a:rPr>
                        <a:t>Rp500.000</a:t>
                      </a:r>
                    </a:p>
                  </a:txBody>
                  <a:tcPr marL="73152" marR="73152" marT="27432" marB="27432" anchor="ctr">
                    <a:solidFill>
                      <a:srgbClr val="FFFFFF"/>
                    </a:solidFill>
                  </a:tcPr>
                </a:tc>
              </a:tr>
            </a:tbl>
          </a:graphicData>
        </a:graphic>
      </p:graphicFrame>
      <p:sp>
        <p:nvSpPr>
          <p:cNvPr id="7" name="Rounded Rectangle 6"/>
          <p:cNvSpPr/>
          <p:nvPr/>
        </p:nvSpPr>
        <p:spPr>
          <a:xfrm>
            <a:off x="457200" y="5486400"/>
            <a:ext cx="11247120" cy="795528"/>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200" b="1" i="0">
                <a:solidFill>
                  <a:srgbClr val="1E2A3A"/>
                </a:solidFill>
                <a:latin typeface="Arial"/>
              </a:rPr>
              <a:t>Kenapa EAP penting: </a:t>
            </a:r>
            <a:r>
              <a:rPr sz="1200" b="0" i="0">
                <a:solidFill>
                  <a:srgbClr val="3D4F6A"/>
                </a:solidFill>
                <a:latin typeface="Arial"/>
              </a:rPr>
              <a:t>EAP membuat klien kembali setiap kuartal dan membuka jalan ke program lain. Kerahasiaan: manajemen klien hanya menerima laporan agregat anonim.</a:t>
            </a:r>
          </a:p>
        </p:txBody>
      </p:sp>
      <p:sp>
        <p:nvSpPr>
          <p:cNvPr id="8"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Sumber: Perjanjian Kemitraan, Lampiran C bagian B. Paket Jeda Tahunan disorot karena menjadi kontrak EAP utama.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Cara bagi hasil: </a:t>
            </a:r>
            <a:r>
              <a:rPr sz="2800" b="1" i="0">
                <a:solidFill>
                  <a:srgbClr val="9B3809"/>
                </a:solidFill>
                <a:latin typeface="Georgia"/>
              </a:rPr>
              <a:t>tiga bagian</a:t>
            </a:r>
            <a:r>
              <a:rPr sz="2800" b="1" i="0">
                <a:solidFill>
                  <a:srgbClr val="1E2A3A"/>
                </a:solidFill>
                <a:latin typeface="Georgia"/>
              </a:rPr>
              <a:t>, satu aturan harga</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Non-EAP dihitung dari profit. EAP memakai komisi tetap. Harga di atas Daftar Harga dibagi 30% untuk Anda.</a:t>
            </a:r>
          </a:p>
        </p:txBody>
      </p:sp>
      <p:sp>
        <p:nvSpPr>
          <p:cNvPr id="4" name="Tag"/>
          <p:cNvSpPr/>
          <p:nvPr/>
        </p:nvSpPr>
        <p:spPr>
          <a:xfrm>
            <a:off x="10469880" y="420624"/>
            <a:ext cx="1280160" cy="310896"/>
          </a:xfrm>
          <a:prstGeom prst="roundRect">
            <a:avLst>
              <a:gd name="adj" fmla="val 50000"/>
            </a:avLst>
          </a:prstGeom>
          <a:solidFill>
            <a:srgbClr val="F7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BAGI HASIL</a:t>
            </a:r>
          </a:p>
        </p:txBody>
      </p:sp>
      <p:sp>
        <p:nvSpPr>
          <p:cNvPr id="5"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6</a:t>
            </a:r>
          </a:p>
        </p:txBody>
      </p:sp>
      <p:sp>
        <p:nvSpPr>
          <p:cNvPr id="6" name="TextBox 5"/>
          <p:cNvSpPr txBox="1"/>
          <p:nvPr/>
        </p:nvSpPr>
        <p:spPr>
          <a:xfrm>
            <a:off x="457200" y="1371600"/>
            <a:ext cx="6035040" cy="365760"/>
          </a:xfrm>
          <a:prstGeom prst="rect">
            <a:avLst/>
          </a:prstGeom>
          <a:noFill/>
        </p:spPr>
        <p:txBody>
          <a:bodyPr wrap="square" anchor="t" lIns="18288" rIns="18288" tIns="36576" bIns="36576">
            <a:spAutoFit/>
          </a:bodyPr>
          <a:lstStyle/>
          <a:p>
            <a:pPr algn="l">
              <a:spcAft>
                <a:spcPts val="400"/>
              </a:spcAft>
            </a:pPr>
            <a:r>
              <a:rPr sz="1500" b="1" i="0">
                <a:solidFill>
                  <a:srgbClr val="1E2A3A"/>
                </a:solidFill>
                <a:latin typeface="Georgia"/>
              </a:rPr>
              <a:t>1. Layanan non-EAP: persen dari profit event</a:t>
            </a:r>
          </a:p>
        </p:txBody>
      </p:sp>
      <p:graphicFrame>
        <p:nvGraphicFramePr>
          <p:cNvPr id="7" name="Table 6"/>
          <p:cNvGraphicFramePr>
            <a:graphicFrameLocks noGrp="1"/>
          </p:cNvGraphicFramePr>
          <p:nvPr/>
        </p:nvGraphicFramePr>
        <p:xfrm>
          <a:off x="457200" y="1783080"/>
          <a:ext cx="6035040" cy="2267712"/>
        </p:xfrm>
        <a:graphic>
          <a:graphicData uri="http://schemas.openxmlformats.org/drawingml/2006/table">
            <a:tbl>
              <a:tblPr firstRow="1" bandRow="1">
                <a:tableStyleId>{5C22544A-7EE6-4342-B048-85BDC9FD1C3A}</a:tableStyleId>
              </a:tblPr>
              <a:tblGrid>
                <a:gridCol w="1783080"/>
                <a:gridCol w="3246120"/>
                <a:gridCol w="1005840"/>
              </a:tblGrid>
              <a:tr h="566928">
                <a:tc>
                  <a:txBody>
                    <a:bodyPr wrap="square"/>
                    <a:lstStyle/>
                    <a:p>
                      <a:r>
                        <a:rPr sz="1100" b="1">
                          <a:solidFill>
                            <a:srgbClr val="FFFFFF"/>
                          </a:solidFill>
                          <a:latin typeface="Arial"/>
                        </a:rPr>
                        <a:t>Tingkat</a:t>
                      </a:r>
                    </a:p>
                  </a:txBody>
                  <a:tcPr marL="73152" marR="73152" marT="27432" marB="27432" anchor="ctr">
                    <a:solidFill>
                      <a:srgbClr val="1E2A3A"/>
                    </a:solidFill>
                  </a:tcPr>
                </a:tc>
                <a:tc>
                  <a:txBody>
                    <a:bodyPr wrap="square"/>
                    <a:lstStyle/>
                    <a:p>
                      <a:r>
                        <a:rPr sz="1100" b="1">
                          <a:solidFill>
                            <a:srgbClr val="FFFFFF"/>
                          </a:solidFill>
                          <a:latin typeface="Arial"/>
                        </a:rPr>
                        <a:t>Kapan berlaku</a:t>
                      </a:r>
                    </a:p>
                  </a:txBody>
                  <a:tcPr marL="73152" marR="73152" marT="27432" marB="27432" anchor="ctr">
                    <a:solidFill>
                      <a:srgbClr val="1E2A3A"/>
                    </a:solidFill>
                  </a:tcPr>
                </a:tc>
                <a:tc>
                  <a:txBody>
                    <a:bodyPr wrap="square"/>
                    <a:lstStyle/>
                    <a:p>
                      <a:r>
                        <a:rPr sz="1100" b="1">
                          <a:solidFill>
                            <a:srgbClr val="FFFFFF"/>
                          </a:solidFill>
                          <a:latin typeface="Arial"/>
                        </a:rPr>
                        <a:t>Komisi</a:t>
                      </a:r>
                    </a:p>
                  </a:txBody>
                  <a:tcPr marL="73152" marR="73152" marT="27432" marB="27432" anchor="ctr">
                    <a:solidFill>
                      <a:srgbClr val="1E2A3A"/>
                    </a:solidFill>
                  </a:tcPr>
                </a:tc>
              </a:tr>
              <a:tr h="566928">
                <a:tc>
                  <a:txBody>
                    <a:bodyPr wrap="square"/>
                    <a:lstStyle/>
                    <a:p>
                      <a:r>
                        <a:rPr sz="1100" b="1">
                          <a:solidFill>
                            <a:srgbClr val="1E2A3A"/>
                          </a:solidFill>
                          <a:latin typeface="Arial"/>
                        </a:rPr>
                        <a:t>Penutupan</a:t>
                      </a:r>
                    </a:p>
                  </a:txBody>
                  <a:tcPr marL="73152" marR="73152" marT="27432" marB="27432" anchor="ctr">
                    <a:solidFill>
                      <a:srgbClr val="FFFFFF"/>
                    </a:solidFill>
                  </a:tcPr>
                </a:tc>
                <a:tc>
                  <a:txBody>
                    <a:bodyPr wrap="square"/>
                    <a:lstStyle/>
                    <a:p>
                      <a:r>
                        <a:rPr sz="1100" b="0">
                          <a:solidFill>
                            <a:srgbClr val="3D4F6A"/>
                          </a:solidFill>
                          <a:latin typeface="Arial"/>
                        </a:rPr>
                        <a:t>Anda menyampaikan proposal, ikut negosiasi harga, SPK ditandatangani. Deal ke-1 s/d ke-4</a:t>
                      </a:r>
                    </a:p>
                  </a:txBody>
                  <a:tcPr marL="73152" marR="73152" marT="27432" marB="27432" anchor="ctr">
                    <a:solidFill>
                      <a:srgbClr val="FFFFFF"/>
                    </a:solidFill>
                  </a:tcPr>
                </a:tc>
                <a:tc>
                  <a:txBody>
                    <a:bodyPr wrap="square"/>
                    <a:lstStyle/>
                    <a:p>
                      <a:r>
                        <a:rPr sz="1100" b="0">
                          <a:solidFill>
                            <a:srgbClr val="3D4F6A"/>
                          </a:solidFill>
                          <a:latin typeface="Arial"/>
                        </a:rPr>
                        <a:t>10%</a:t>
                      </a:r>
                    </a:p>
                  </a:txBody>
                  <a:tcPr marL="73152" marR="73152" marT="27432" marB="27432" anchor="ctr">
                    <a:solidFill>
                      <a:srgbClr val="FFFFFF"/>
                    </a:solidFill>
                  </a:tcPr>
                </a:tc>
              </a:tr>
              <a:tr h="566928">
                <a:tc>
                  <a:txBody>
                    <a:bodyPr wrap="square"/>
                    <a:lstStyle/>
                    <a:p>
                      <a:r>
                        <a:rPr sz="1100" b="1">
                          <a:solidFill>
                            <a:srgbClr val="1E2A3A"/>
                          </a:solidFill>
                          <a:latin typeface="Arial"/>
                        </a:rPr>
                        <a:t>Penutupan Lanjutan</a:t>
                      </a:r>
                    </a:p>
                  </a:txBody>
                  <a:tcPr marL="73152" marR="73152" marT="27432" marB="27432" anchor="ctr">
                    <a:solidFill>
                      <a:srgbClr val="F6F2EA"/>
                    </a:solidFill>
                  </a:tcPr>
                </a:tc>
                <a:tc>
                  <a:txBody>
                    <a:bodyPr wrap="square"/>
                    <a:lstStyle/>
                    <a:p>
                      <a:r>
                        <a:rPr sz="1100" b="0">
                          <a:solidFill>
                            <a:srgbClr val="3D4F6A"/>
                          </a:solidFill>
                          <a:latin typeface="Arial"/>
                        </a:rPr>
                        <a:t>Deal penutupan ke-5 dan seterusnya, dihitung dari semua klien Anda</a:t>
                      </a:r>
                    </a:p>
                  </a:txBody>
                  <a:tcPr marL="73152" marR="73152" marT="27432" marB="27432" anchor="ctr">
                    <a:solidFill>
                      <a:srgbClr val="F6F2EA"/>
                    </a:solidFill>
                  </a:tcPr>
                </a:tc>
                <a:tc>
                  <a:txBody>
                    <a:bodyPr wrap="square"/>
                    <a:lstStyle/>
                    <a:p>
                      <a:r>
                        <a:rPr sz="1100" b="0">
                          <a:solidFill>
                            <a:srgbClr val="3D4F6A"/>
                          </a:solidFill>
                          <a:latin typeface="Arial"/>
                        </a:rPr>
                        <a:t>12,5%</a:t>
                      </a:r>
                    </a:p>
                  </a:txBody>
                  <a:tcPr marL="73152" marR="73152" marT="27432" marB="27432" anchor="ctr">
                    <a:solidFill>
                      <a:srgbClr val="F6F2EA"/>
                    </a:solidFill>
                  </a:tcPr>
                </a:tc>
              </a:tr>
              <a:tr h="566928">
                <a:tc>
                  <a:txBody>
                    <a:bodyPr wrap="square"/>
                    <a:lstStyle/>
                    <a:p>
                      <a:r>
                        <a:rPr sz="1100" b="1">
                          <a:solidFill>
                            <a:srgbClr val="1E2A3A"/>
                          </a:solidFill>
                          <a:latin typeface="Arial"/>
                        </a:rPr>
                        <a:t>Perpanjangan</a:t>
                      </a:r>
                    </a:p>
                  </a:txBody>
                  <a:tcPr marL="73152" marR="73152" marT="27432" marB="27432" anchor="ctr">
                    <a:solidFill>
                      <a:srgbClr val="FFFFFF"/>
                    </a:solidFill>
                  </a:tcPr>
                </a:tc>
                <a:tc>
                  <a:txBody>
                    <a:bodyPr wrap="square"/>
                    <a:lstStyle/>
                    <a:p>
                      <a:r>
                        <a:rPr sz="1100" b="0">
                          <a:solidFill>
                            <a:srgbClr val="3D4F6A"/>
                          </a:solidFill>
                          <a:latin typeface="Arial"/>
                        </a:rPr>
                        <a:t>Klien yang sama memperpanjang, Anda tetap aktif (lihat aturan main)</a:t>
                      </a:r>
                    </a:p>
                  </a:txBody>
                  <a:tcPr marL="73152" marR="73152" marT="27432" marB="27432" anchor="ctr">
                    <a:solidFill>
                      <a:srgbClr val="FFFFFF"/>
                    </a:solidFill>
                  </a:tcPr>
                </a:tc>
                <a:tc>
                  <a:txBody>
                    <a:bodyPr wrap="square"/>
                    <a:lstStyle/>
                    <a:p>
                      <a:r>
                        <a:rPr sz="1100" b="0">
                          <a:solidFill>
                            <a:srgbClr val="3D4F6A"/>
                          </a:solidFill>
                          <a:latin typeface="Arial"/>
                        </a:rPr>
                        <a:t>2,5%</a:t>
                      </a:r>
                    </a:p>
                  </a:txBody>
                  <a:tcPr marL="73152" marR="73152" marT="27432" marB="27432" anchor="ctr">
                    <a:solidFill>
                      <a:srgbClr val="FFFFFF"/>
                    </a:solidFill>
                  </a:tcPr>
                </a:tc>
              </a:tr>
            </a:tbl>
          </a:graphicData>
        </a:graphic>
      </p:graphicFrame>
      <p:sp>
        <p:nvSpPr>
          <p:cNvPr id="8" name="TextBox 7"/>
          <p:cNvSpPr txBox="1"/>
          <p:nvPr/>
        </p:nvSpPr>
        <p:spPr>
          <a:xfrm>
            <a:off x="457200" y="4114800"/>
            <a:ext cx="6035040" cy="1280160"/>
          </a:xfrm>
          <a:prstGeom prst="rect">
            <a:avLst/>
          </a:prstGeom>
          <a:noFill/>
        </p:spPr>
        <p:txBody>
          <a:bodyPr wrap="square" anchor="t" lIns="18288" rIns="18288" tIns="36576" bIns="36576">
            <a:spAutoFit/>
          </a:bodyPr>
          <a:lstStyle/>
          <a:p>
            <a:pPr algn="l">
              <a:spcAft>
                <a:spcPts val="600"/>
              </a:spcAft>
            </a:pPr>
            <a:r>
              <a:rPr sz="1100" b="1" i="0">
                <a:solidFill>
                  <a:srgbClr val="1E2A3A"/>
                </a:solidFill>
                <a:latin typeface="Arial"/>
              </a:rPr>
              <a:t>Hanya memperkenalkan, tanpa ikut menutup: </a:t>
            </a:r>
            <a:r>
              <a:rPr sz="1100" b="0" i="0">
                <a:solidFill>
                  <a:srgbClr val="3D4F6A"/>
                </a:solidFill>
                <a:latin typeface="Arial"/>
              </a:rPr>
              <a:t>tidak ada komisi. Komisi dasar adalah untuk menutup deal.</a:t>
            </a:r>
          </a:p>
          <a:p>
            <a:pPr algn="l">
              <a:spcAft>
                <a:spcPts val="600"/>
              </a:spcAft>
            </a:pPr>
            <a:r>
              <a:rPr sz="1100" b="0" i="0">
                <a:solidFill>
                  <a:srgbClr val="6B7A99"/>
                </a:solidFill>
                <a:latin typeface="Arial"/>
              </a:rPr>
              <a:t>Profit event = Harga Daftar - biaya standar (Lampiran B) - PPh yang dipotong klien. Deal dihitung bila nilai SPK paling sedikit Rp10 juta.</a:t>
            </a:r>
          </a:p>
        </p:txBody>
      </p:sp>
      <p:sp>
        <p:nvSpPr>
          <p:cNvPr id="9" name="TextBox 8"/>
          <p:cNvSpPr txBox="1"/>
          <p:nvPr/>
        </p:nvSpPr>
        <p:spPr>
          <a:xfrm>
            <a:off x="6766560" y="1371600"/>
            <a:ext cx="4937760" cy="365760"/>
          </a:xfrm>
          <a:prstGeom prst="rect">
            <a:avLst/>
          </a:prstGeom>
          <a:noFill/>
        </p:spPr>
        <p:txBody>
          <a:bodyPr wrap="square" anchor="t" lIns="18288" rIns="18288" tIns="36576" bIns="36576">
            <a:spAutoFit/>
          </a:bodyPr>
          <a:lstStyle/>
          <a:p>
            <a:pPr algn="l">
              <a:spcAft>
                <a:spcPts val="400"/>
              </a:spcAft>
            </a:pPr>
            <a:r>
              <a:rPr sz="1500" b="1" i="0">
                <a:solidFill>
                  <a:srgbClr val="1E2A3A"/>
                </a:solidFill>
                <a:latin typeface="Georgia"/>
              </a:rPr>
              <a:t>2. EAP: komisi tetap</a:t>
            </a:r>
          </a:p>
        </p:txBody>
      </p:sp>
      <p:graphicFrame>
        <p:nvGraphicFramePr>
          <p:cNvPr id="10" name="Table 9"/>
          <p:cNvGraphicFramePr>
            <a:graphicFrameLocks noGrp="1"/>
          </p:cNvGraphicFramePr>
          <p:nvPr/>
        </p:nvGraphicFramePr>
        <p:xfrm>
          <a:off x="6766560" y="1783080"/>
          <a:ext cx="4937760" cy="1828800"/>
        </p:xfrm>
        <a:graphic>
          <a:graphicData uri="http://schemas.openxmlformats.org/drawingml/2006/table">
            <a:tbl>
              <a:tblPr firstRow="1" bandRow="1">
                <a:tableStyleId>{5C22544A-7EE6-4342-B048-85BDC9FD1C3A}</a:tableStyleId>
              </a:tblPr>
              <a:tblGrid>
                <a:gridCol w="3291840"/>
                <a:gridCol w="1645920"/>
              </a:tblGrid>
              <a:tr h="457200">
                <a:tc>
                  <a:txBody>
                    <a:bodyPr wrap="square"/>
                    <a:lstStyle/>
                    <a:p>
                      <a:r>
                        <a:rPr sz="1100" b="1">
                          <a:solidFill>
                            <a:srgbClr val="FFFFFF"/>
                          </a:solidFill>
                          <a:latin typeface="Arial"/>
                        </a:rPr>
                        <a:t>Situasi</a:t>
                      </a:r>
                    </a:p>
                  </a:txBody>
                  <a:tcPr marL="73152" marR="73152" marT="27432" marB="27432" anchor="ctr">
                    <a:solidFill>
                      <a:srgbClr val="1E2A3A"/>
                    </a:solidFill>
                  </a:tcPr>
                </a:tc>
                <a:tc>
                  <a:txBody>
                    <a:bodyPr wrap="square"/>
                    <a:lstStyle/>
                    <a:p>
                      <a:r>
                        <a:rPr sz="1100" b="1">
                          <a:solidFill>
                            <a:srgbClr val="FFFFFF"/>
                          </a:solidFill>
                          <a:latin typeface="Arial"/>
                        </a:rPr>
                        <a:t>Komisi</a:t>
                      </a:r>
                    </a:p>
                  </a:txBody>
                  <a:tcPr marL="73152" marR="73152" marT="27432" marB="27432" anchor="ctr">
                    <a:solidFill>
                      <a:srgbClr val="1E2A3A"/>
                    </a:solidFill>
                  </a:tcPr>
                </a:tc>
              </a:tr>
              <a:tr h="457200">
                <a:tc>
                  <a:txBody>
                    <a:bodyPr wrap="square"/>
                    <a:lstStyle/>
                    <a:p>
                      <a:r>
                        <a:rPr sz="1100" b="1">
                          <a:solidFill>
                            <a:srgbClr val="1E2A3A"/>
                          </a:solidFill>
                          <a:latin typeface="Arial"/>
                        </a:rPr>
                        <a:t>Menutup EAP tahunan baru</a:t>
                      </a:r>
                    </a:p>
                  </a:txBody>
                  <a:tcPr marL="73152" marR="73152" marT="27432" marB="27432" anchor="ctr">
                    <a:solidFill>
                      <a:srgbClr val="FFFFFF"/>
                    </a:solidFill>
                  </a:tcPr>
                </a:tc>
                <a:tc>
                  <a:txBody>
                    <a:bodyPr wrap="square"/>
                    <a:lstStyle/>
                    <a:p>
                      <a:r>
                        <a:rPr sz="1100" b="0">
                          <a:solidFill>
                            <a:srgbClr val="3D4F6A"/>
                          </a:solidFill>
                          <a:latin typeface="Arial"/>
                        </a:rPr>
                        <a:t>Rp1.500.000</a:t>
                      </a:r>
                    </a:p>
                  </a:txBody>
                  <a:tcPr marL="73152" marR="73152" marT="27432" marB="27432" anchor="ctr">
                    <a:solidFill>
                      <a:srgbClr val="FFFFFF"/>
                    </a:solidFill>
                  </a:tcPr>
                </a:tc>
              </a:tr>
              <a:tr h="457200">
                <a:tc>
                  <a:txBody>
                    <a:bodyPr wrap="square"/>
                    <a:lstStyle/>
                    <a:p>
                      <a:r>
                        <a:rPr sz="1100" b="1">
                          <a:solidFill>
                            <a:srgbClr val="1E2A3A"/>
                          </a:solidFill>
                          <a:latin typeface="Arial"/>
                        </a:rPr>
                        <a:t>Menutup paket EAP 3 bulan</a:t>
                      </a:r>
                    </a:p>
                  </a:txBody>
                  <a:tcPr marL="73152" marR="73152" marT="27432" marB="27432" anchor="ctr">
                    <a:solidFill>
                      <a:srgbClr val="F6F2EA"/>
                    </a:solidFill>
                  </a:tcPr>
                </a:tc>
                <a:tc>
                  <a:txBody>
                    <a:bodyPr wrap="square"/>
                    <a:lstStyle/>
                    <a:p>
                      <a:r>
                        <a:rPr sz="1100" b="0">
                          <a:solidFill>
                            <a:srgbClr val="3D4F6A"/>
                          </a:solidFill>
                          <a:latin typeface="Arial"/>
                        </a:rPr>
                        <a:t>Rp500.000</a:t>
                      </a:r>
                    </a:p>
                  </a:txBody>
                  <a:tcPr marL="73152" marR="73152" marT="27432" marB="27432" anchor="ctr">
                    <a:solidFill>
                      <a:srgbClr val="F6F2EA"/>
                    </a:solidFill>
                  </a:tcPr>
                </a:tc>
              </a:tr>
              <a:tr h="457200">
                <a:tc>
                  <a:txBody>
                    <a:bodyPr wrap="square"/>
                    <a:lstStyle/>
                    <a:p>
                      <a:r>
                        <a:rPr sz="1100" b="1">
                          <a:solidFill>
                            <a:srgbClr val="1E2A3A"/>
                          </a:solidFill>
                          <a:latin typeface="Arial"/>
                        </a:rPr>
                        <a:t>Perpanjangan 1 tahun</a:t>
                      </a:r>
                    </a:p>
                  </a:txBody>
                  <a:tcPr marL="73152" marR="73152" marT="27432" marB="27432" anchor="ctr">
                    <a:solidFill>
                      <a:srgbClr val="FFFFFF"/>
                    </a:solidFill>
                  </a:tcPr>
                </a:tc>
                <a:tc>
                  <a:txBody>
                    <a:bodyPr wrap="square"/>
                    <a:lstStyle/>
                    <a:p>
                      <a:r>
                        <a:rPr sz="1100" b="0">
                          <a:solidFill>
                            <a:srgbClr val="3D4F6A"/>
                          </a:solidFill>
                          <a:latin typeface="Arial"/>
                        </a:rPr>
                        <a:t>Rp1.000.000</a:t>
                      </a:r>
                    </a:p>
                  </a:txBody>
                  <a:tcPr marL="73152" marR="73152" marT="27432" marB="27432" anchor="ctr">
                    <a:solidFill>
                      <a:srgbClr val="FFFFFF"/>
                    </a:solidFill>
                  </a:tcPr>
                </a:tc>
              </a:tr>
            </a:tbl>
          </a:graphicData>
        </a:graphic>
      </p:graphicFrame>
      <p:sp>
        <p:nvSpPr>
          <p:cNvPr id="11" name="Rounded Rectangle 10"/>
          <p:cNvSpPr/>
          <p:nvPr/>
        </p:nvSpPr>
        <p:spPr>
          <a:xfrm>
            <a:off x="6766560" y="4069080"/>
            <a:ext cx="4937760" cy="1325880"/>
          </a:xfrm>
          <a:prstGeom prst="roundRect">
            <a:avLst>
              <a:gd name="adj" fmla="val 6000"/>
            </a:avLst>
          </a:prstGeom>
          <a:solidFill>
            <a:srgbClr val="F7DDD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500" b="1" i="0">
                <a:solidFill>
                  <a:srgbClr val="1E2A3A"/>
                </a:solidFill>
                <a:latin typeface="Georgia"/>
              </a:rPr>
              <a:t>3. Di atas Daftar Harga</a:t>
            </a:r>
          </a:p>
          <a:p>
            <a:pPr algn="l">
              <a:spcAft>
                <a:spcPts val="400"/>
              </a:spcAft>
            </a:pPr>
            <a:r>
              <a:rPr sz="1200" b="0" i="0">
                <a:solidFill>
                  <a:srgbClr val="3D4F6A"/>
                </a:solidFill>
                <a:latin typeface="Arial"/>
              </a:rPr>
              <a:t>Anda menerima </a:t>
            </a:r>
            <a:r>
              <a:rPr sz="1200" b="1" i="0">
                <a:solidFill>
                  <a:srgbClr val="1E2A3A"/>
                </a:solidFill>
                <a:latin typeface="Arial"/>
              </a:rPr>
              <a:t>30% dari selisih</a:t>
            </a:r>
            <a:r>
              <a:rPr sz="1200" b="0" i="0">
                <a:solidFill>
                  <a:srgbClr val="3D4F6A"/>
                </a:solidFill>
                <a:latin typeface="Arial"/>
              </a:rPr>
              <a:t> di atas Daftar Harga, untuk non-EAP maupun EAP. Batas atas tanpa persetujuan: +20%.</a:t>
            </a:r>
          </a:p>
        </p:txBody>
      </p:sp>
      <p:sp>
        <p:nvSpPr>
          <p:cNvPr id="12" name="Rounded Rectangle 11"/>
          <p:cNvSpPr/>
          <p:nvPr/>
        </p:nvSpPr>
        <p:spPr>
          <a:xfrm>
            <a:off x="457200" y="5577840"/>
            <a:ext cx="11247120" cy="68580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200" b="1" i="0">
                <a:solidFill>
                  <a:srgbClr val="1E2A3A"/>
                </a:solidFill>
                <a:latin typeface="Arial"/>
              </a:rPr>
              <a:t>Pengaman: </a:t>
            </a:r>
            <a:r>
              <a:rPr sz="1200" b="0" i="0">
                <a:solidFill>
                  <a:srgbClr val="3D4F6A"/>
                </a:solidFill>
                <a:latin typeface="Arial"/>
              </a:rPr>
              <a:t>setiap deal tetap memberi Teman Journey margin paling sedikit 15% setelah komisi. Bila tidak, komisi otomatis dikurangi sampai batas itu.</a:t>
            </a:r>
          </a:p>
        </p:txBody>
      </p:sp>
      <p:sp>
        <p:nvSpPr>
          <p:cNvPr id="13"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Sumber: Perjanjian Kemitraan, Pasal 5, 6 dan 7 ayat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Bonus semester: </a:t>
            </a:r>
            <a:r>
              <a:rPr sz="2800" b="1" i="0">
                <a:solidFill>
                  <a:srgbClr val="9B3809"/>
                </a:solidFill>
                <a:latin typeface="Georgia"/>
              </a:rPr>
              <a:t>mulai Rp50 juta</a:t>
            </a:r>
            <a:r>
              <a:rPr sz="2800" b="1" i="0">
                <a:solidFill>
                  <a:srgbClr val="1E2A3A"/>
                </a:solidFill>
                <a:latin typeface="Georgia"/>
              </a:rPr>
              <a:t>, sampai Rp18 juta</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Paket kami bernilai besar, jadi satu atau dua deal sudah mencapai ambang pertama.</a:t>
            </a:r>
          </a:p>
        </p:txBody>
      </p:sp>
      <p:sp>
        <p:nvSpPr>
          <p:cNvPr id="4" name="Tag"/>
          <p:cNvSpPr/>
          <p:nvPr/>
        </p:nvSpPr>
        <p:spPr>
          <a:xfrm>
            <a:off x="10469880" y="420624"/>
            <a:ext cx="1280160" cy="310896"/>
          </a:xfrm>
          <a:prstGeom prst="roundRect">
            <a:avLst>
              <a:gd name="adj" fmla="val 50000"/>
            </a:avLst>
          </a:prstGeom>
          <a:solidFill>
            <a:srgbClr val="F7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BAGI HASIL</a:t>
            </a:r>
          </a:p>
        </p:txBody>
      </p:sp>
      <p:sp>
        <p:nvSpPr>
          <p:cNvPr id="5"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7</a:t>
            </a:r>
          </a:p>
        </p:txBody>
      </p:sp>
      <p:graphicFrame>
        <p:nvGraphicFramePr>
          <p:cNvPr id="6" name="Chart 5"/>
          <p:cNvGraphicFramePr>
            <a:graphicFrameLocks noGrp="1"/>
          </p:cNvGraphicFramePr>
          <p:nvPr/>
        </p:nvGraphicFramePr>
        <p:xfrm>
          <a:off x="457200" y="1325880"/>
          <a:ext cx="5120640" cy="4069080"/>
        </p:xfrm>
        <a:graphic>
          <a:graphicData uri="http://schemas.openxmlformats.org/drawingml/2006/chart">
            <c:chart xmlns:c="http://schemas.openxmlformats.org/drawingml/2006/chart" r:id="rId2"/>
          </a:graphicData>
        </a:graphic>
      </p:graphicFrame>
      <p:sp>
        <p:nvSpPr>
          <p:cNvPr id="7" name="TextBox 6"/>
          <p:cNvSpPr txBox="1"/>
          <p:nvPr/>
        </p:nvSpPr>
        <p:spPr>
          <a:xfrm>
            <a:off x="5852160" y="1371600"/>
            <a:ext cx="5852160" cy="365760"/>
          </a:xfrm>
          <a:prstGeom prst="rect">
            <a:avLst/>
          </a:prstGeom>
          <a:noFill/>
        </p:spPr>
        <p:txBody>
          <a:bodyPr wrap="square" anchor="t" lIns="18288" rIns="18288" tIns="36576" bIns="36576">
            <a:spAutoFit/>
          </a:bodyPr>
          <a:lstStyle/>
          <a:p>
            <a:pPr algn="l">
              <a:spcAft>
                <a:spcPts val="400"/>
              </a:spcAft>
            </a:pPr>
            <a:r>
              <a:rPr sz="1400" b="1" i="0">
                <a:solidFill>
                  <a:srgbClr val="1E2A3A"/>
                </a:solidFill>
                <a:latin typeface="Georgia"/>
              </a:rPr>
              <a:t>Seberapa dekat? Contoh deal yang mencapai setiap ambang</a:t>
            </a:r>
          </a:p>
        </p:txBody>
      </p:sp>
      <p:graphicFrame>
        <p:nvGraphicFramePr>
          <p:cNvPr id="8" name="Table 7"/>
          <p:cNvGraphicFramePr>
            <a:graphicFrameLocks noGrp="1"/>
          </p:cNvGraphicFramePr>
          <p:nvPr/>
        </p:nvGraphicFramePr>
        <p:xfrm>
          <a:off x="5852160" y="1783080"/>
          <a:ext cx="5852160" cy="3291840"/>
        </p:xfrm>
        <a:graphic>
          <a:graphicData uri="http://schemas.openxmlformats.org/drawingml/2006/table">
            <a:tbl>
              <a:tblPr firstRow="1" bandRow="1">
                <a:tableStyleId>{5C22544A-7EE6-4342-B048-85BDC9FD1C3A}</a:tableStyleId>
              </a:tblPr>
              <a:tblGrid>
                <a:gridCol w="1143000"/>
                <a:gridCol w="3520440"/>
                <a:gridCol w="1188720"/>
              </a:tblGrid>
              <a:tr h="658368">
                <a:tc>
                  <a:txBody>
                    <a:bodyPr wrap="square"/>
                    <a:lstStyle/>
                    <a:p>
                      <a:r>
                        <a:rPr sz="1100" b="1">
                          <a:solidFill>
                            <a:srgbClr val="FFFFFF"/>
                          </a:solidFill>
                          <a:latin typeface="Arial"/>
                        </a:rPr>
                        <a:t>Ambang</a:t>
                      </a:r>
                    </a:p>
                  </a:txBody>
                  <a:tcPr marL="73152" marR="73152" marT="27432" marB="27432" anchor="ctr">
                    <a:solidFill>
                      <a:srgbClr val="1E2A3A"/>
                    </a:solidFill>
                  </a:tcPr>
                </a:tc>
                <a:tc>
                  <a:txBody>
                    <a:bodyPr wrap="square"/>
                    <a:lstStyle/>
                    <a:p>
                      <a:r>
                        <a:rPr sz="1100" b="1">
                          <a:solidFill>
                            <a:srgbClr val="FFFFFF"/>
                          </a:solidFill>
                          <a:latin typeface="Arial"/>
                        </a:rPr>
                        <a:t>Contoh deal dalam 6 bulan</a:t>
                      </a:r>
                    </a:p>
                  </a:txBody>
                  <a:tcPr marL="73152" marR="73152" marT="27432" marB="27432" anchor="ctr">
                    <a:solidFill>
                      <a:srgbClr val="1E2A3A"/>
                    </a:solidFill>
                  </a:tcPr>
                </a:tc>
                <a:tc>
                  <a:txBody>
                    <a:bodyPr wrap="square"/>
                    <a:lstStyle/>
                    <a:p>
                      <a:r>
                        <a:rPr sz="1100" b="1">
                          <a:solidFill>
                            <a:srgbClr val="FFFFFF"/>
                          </a:solidFill>
                          <a:latin typeface="Arial"/>
                        </a:rPr>
                        <a:t>Bonus</a:t>
                      </a:r>
                    </a:p>
                  </a:txBody>
                  <a:tcPr marL="73152" marR="73152" marT="27432" marB="27432" anchor="ctr">
                    <a:solidFill>
                      <a:srgbClr val="1E2A3A"/>
                    </a:solidFill>
                  </a:tcPr>
                </a:tc>
              </a:tr>
              <a:tr h="658368">
                <a:tc>
                  <a:txBody>
                    <a:bodyPr wrap="square"/>
                    <a:lstStyle/>
                    <a:p>
                      <a:r>
                        <a:rPr sz="1100" b="1">
                          <a:solidFill>
                            <a:srgbClr val="1E2A3A"/>
                          </a:solidFill>
                          <a:latin typeface="Arial"/>
                        </a:rPr>
                        <a:t>Rp50 juta</a:t>
                      </a:r>
                    </a:p>
                  </a:txBody>
                  <a:tcPr marL="73152" marR="73152" marT="27432" marB="27432" anchor="ctr">
                    <a:solidFill>
                      <a:srgbClr val="F5EDD8"/>
                    </a:solidFill>
                  </a:tcPr>
                </a:tc>
                <a:tc>
                  <a:txBody>
                    <a:bodyPr wrap="square"/>
                    <a:lstStyle/>
                    <a:p>
                      <a:r>
                        <a:rPr sz="1100" b="0">
                          <a:solidFill>
                            <a:srgbClr val="3D4F6A"/>
                          </a:solidFill>
                          <a:latin typeface="Arial"/>
                        </a:rPr>
                        <a:t>1 EAP tahunan (Rp44 juta) + 1 hari pelatihan regional (Rp28,5 juta) = Rp72,5 juta</a:t>
                      </a:r>
                    </a:p>
                  </a:txBody>
                  <a:tcPr marL="73152" marR="73152" marT="27432" marB="27432" anchor="ctr">
                    <a:solidFill>
                      <a:srgbClr val="F5EDD8"/>
                    </a:solidFill>
                  </a:tcPr>
                </a:tc>
                <a:tc>
                  <a:txBody>
                    <a:bodyPr wrap="square"/>
                    <a:lstStyle/>
                    <a:p>
                      <a:r>
                        <a:rPr sz="1100" b="0">
                          <a:solidFill>
                            <a:srgbClr val="3D4F6A"/>
                          </a:solidFill>
                          <a:latin typeface="Arial"/>
                        </a:rPr>
                        <a:t>Rp1 juta</a:t>
                      </a:r>
                    </a:p>
                  </a:txBody>
                  <a:tcPr marL="73152" marR="73152" marT="27432" marB="27432" anchor="ctr">
                    <a:solidFill>
                      <a:srgbClr val="F5EDD8"/>
                    </a:solidFill>
                  </a:tcPr>
                </a:tc>
              </a:tr>
              <a:tr h="658368">
                <a:tc>
                  <a:txBody>
                    <a:bodyPr wrap="square"/>
                    <a:lstStyle/>
                    <a:p>
                      <a:r>
                        <a:rPr sz="1100" b="1">
                          <a:solidFill>
                            <a:srgbClr val="1E2A3A"/>
                          </a:solidFill>
                          <a:latin typeface="Arial"/>
                        </a:rPr>
                        <a:t>Rp100 juta</a:t>
                      </a:r>
                    </a:p>
                  </a:txBody>
                  <a:tcPr marL="73152" marR="73152" marT="27432" marB="27432" anchor="ctr">
                    <a:solidFill>
                      <a:srgbClr val="F6F2EA"/>
                    </a:solidFill>
                  </a:tcPr>
                </a:tc>
                <a:tc>
                  <a:txBody>
                    <a:bodyPr wrap="square"/>
                    <a:lstStyle/>
                    <a:p>
                      <a:r>
                        <a:rPr sz="1100" b="0">
                          <a:solidFill>
                            <a:srgbClr val="3D4F6A"/>
                          </a:solidFill>
                          <a:latin typeface="Arial"/>
                        </a:rPr>
                        <a:t>1 program kantor pusat (Rp100 juta), atau 1 program bank BUMN 2 hari (Rp102 juta)</a:t>
                      </a:r>
                    </a:p>
                  </a:txBody>
                  <a:tcPr marL="73152" marR="73152" marT="27432" marB="27432" anchor="ctr">
                    <a:solidFill>
                      <a:srgbClr val="F6F2EA"/>
                    </a:solidFill>
                  </a:tcPr>
                </a:tc>
                <a:tc>
                  <a:txBody>
                    <a:bodyPr wrap="square"/>
                    <a:lstStyle/>
                    <a:p>
                      <a:r>
                        <a:rPr sz="1100" b="0">
                          <a:solidFill>
                            <a:srgbClr val="3D4F6A"/>
                          </a:solidFill>
                          <a:latin typeface="Arial"/>
                        </a:rPr>
                        <a:t>Rp3 juta</a:t>
                      </a:r>
                    </a:p>
                  </a:txBody>
                  <a:tcPr marL="73152" marR="73152" marT="27432" marB="27432" anchor="ctr">
                    <a:solidFill>
                      <a:srgbClr val="F6F2EA"/>
                    </a:solidFill>
                  </a:tcPr>
                </a:tc>
              </a:tr>
              <a:tr h="658368">
                <a:tc>
                  <a:txBody>
                    <a:bodyPr wrap="square"/>
                    <a:lstStyle/>
                    <a:p>
                      <a:r>
                        <a:rPr sz="1100" b="1">
                          <a:solidFill>
                            <a:srgbClr val="1E2A3A"/>
                          </a:solidFill>
                          <a:latin typeface="Arial"/>
                        </a:rPr>
                        <a:t>Rp250 juta</a:t>
                      </a:r>
                    </a:p>
                  </a:txBody>
                  <a:tcPr marL="73152" marR="73152" marT="27432" marB="27432" anchor="ctr">
                    <a:solidFill>
                      <a:srgbClr val="FFFFFF"/>
                    </a:solidFill>
                  </a:tcPr>
                </a:tc>
                <a:tc>
                  <a:txBody>
                    <a:bodyPr wrap="square"/>
                    <a:lstStyle/>
                    <a:p>
                      <a:r>
                        <a:rPr sz="1100" b="0">
                          <a:solidFill>
                            <a:srgbClr val="3D4F6A"/>
                          </a:solidFill>
                          <a:latin typeface="Arial"/>
                        </a:rPr>
                        <a:t>1 program kantor pusat + 1 program bank swasta 2 hari + 1 EAP tahunan = Rp266 juta</a:t>
                      </a:r>
                    </a:p>
                  </a:txBody>
                  <a:tcPr marL="73152" marR="73152" marT="27432" marB="27432" anchor="ctr">
                    <a:solidFill>
                      <a:srgbClr val="FFFFFF"/>
                    </a:solidFill>
                  </a:tcPr>
                </a:tc>
                <a:tc>
                  <a:txBody>
                    <a:bodyPr wrap="square"/>
                    <a:lstStyle/>
                    <a:p>
                      <a:r>
                        <a:rPr sz="1100" b="0">
                          <a:solidFill>
                            <a:srgbClr val="3D4F6A"/>
                          </a:solidFill>
                          <a:latin typeface="Arial"/>
                        </a:rPr>
                        <a:t>Rp9 juta</a:t>
                      </a:r>
                    </a:p>
                  </a:txBody>
                  <a:tcPr marL="73152" marR="73152" marT="27432" marB="27432" anchor="ctr">
                    <a:solidFill>
                      <a:srgbClr val="FFFFFF"/>
                    </a:solidFill>
                  </a:tcPr>
                </a:tc>
              </a:tr>
              <a:tr h="658368">
                <a:tc>
                  <a:txBody>
                    <a:bodyPr wrap="square"/>
                    <a:lstStyle/>
                    <a:p>
                      <a:r>
                        <a:rPr sz="1100" b="1">
                          <a:solidFill>
                            <a:srgbClr val="1E2A3A"/>
                          </a:solidFill>
                          <a:latin typeface="Arial"/>
                        </a:rPr>
                        <a:t>Rp400 juta</a:t>
                      </a:r>
                    </a:p>
                  </a:txBody>
                  <a:tcPr marL="73152" marR="73152" marT="27432" marB="27432" anchor="ctr">
                    <a:solidFill>
                      <a:srgbClr val="F6F2EA"/>
                    </a:solidFill>
                  </a:tcPr>
                </a:tc>
                <a:tc>
                  <a:txBody>
                    <a:bodyPr wrap="square"/>
                    <a:lstStyle/>
                    <a:p>
                      <a:r>
                        <a:rPr sz="1100" b="0">
                          <a:solidFill>
                            <a:srgbClr val="3D4F6A"/>
                          </a:solidFill>
                          <a:latin typeface="Arial"/>
                        </a:rPr>
                        <a:t>2 program kantor pusat + 2 program bank BUMN 2 hari = Rp404 juta</a:t>
                      </a:r>
                    </a:p>
                  </a:txBody>
                  <a:tcPr marL="73152" marR="73152" marT="27432" marB="27432" anchor="ctr">
                    <a:solidFill>
                      <a:srgbClr val="F6F2EA"/>
                    </a:solidFill>
                  </a:tcPr>
                </a:tc>
                <a:tc>
                  <a:txBody>
                    <a:bodyPr wrap="square"/>
                    <a:lstStyle/>
                    <a:p>
                      <a:r>
                        <a:rPr sz="1100" b="0">
                          <a:solidFill>
                            <a:srgbClr val="3D4F6A"/>
                          </a:solidFill>
                          <a:latin typeface="Arial"/>
                        </a:rPr>
                        <a:t>Rp18 juta</a:t>
                      </a:r>
                    </a:p>
                  </a:txBody>
                  <a:tcPr marL="73152" marR="73152" marT="27432" marB="27432" anchor="ctr">
                    <a:solidFill>
                      <a:srgbClr val="F6F2EA"/>
                    </a:solidFill>
                  </a:tcPr>
                </a:tc>
              </a:tr>
            </a:tbl>
          </a:graphicData>
        </a:graphic>
      </p:graphicFrame>
      <p:sp>
        <p:nvSpPr>
          <p:cNvPr id="9" name="Rounded Rectangle 8"/>
          <p:cNvSpPr/>
          <p:nvPr/>
        </p:nvSpPr>
        <p:spPr>
          <a:xfrm>
            <a:off x="457200" y="5486400"/>
            <a:ext cx="11247120" cy="795528"/>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200" b="1" i="0">
                <a:solidFill>
                  <a:srgbClr val="1E2A3A"/>
                </a:solidFill>
                <a:latin typeface="Arial"/>
              </a:rPr>
              <a:t>Cara menghitung: </a:t>
            </a:r>
            <a:r>
              <a:rPr sz="1200" b="0" i="0">
                <a:solidFill>
                  <a:srgbClr val="3D4F6A"/>
                </a:solidFill>
                <a:latin typeface="Arial"/>
              </a:rPr>
              <a:t>hanya deal yang Anda tutup (bukan perpanjangan), nilai SPK minimal Rp10 juta, masuk ke semester saat klien membayar pertama kali. EAP tahunan dihitung nilai penuh. Bonus satu angka sesuai ambang tertinggi, dibayar 14 hari setelah semester berakhir.</a:t>
            </a:r>
          </a:p>
        </p:txBody>
      </p:sp>
      <p:sp>
        <p:nvSpPr>
          <p:cNvPr id="10"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Sumber: Perjanjian Kemitraan, Pasal 7 ayat (2) sampai (5), dan Daftar Harga (Lampiran 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
            </a:r>
            <a:r>
              <a:rPr sz="2800" b="1" i="0">
                <a:solidFill>
                  <a:srgbClr val="9B3809"/>
                </a:solidFill>
                <a:latin typeface="Georgia"/>
              </a:rPr>
              <a:t>Contoh per deal</a:t>
            </a:r>
            <a:r>
              <a:rPr sz="2800" b="1" i="0">
                <a:solidFill>
                  <a:srgbClr val="1E2A3A"/>
                </a:solidFill>
                <a:latin typeface="Georgia"/>
              </a:rPr>
              <a:t>: harga daftar, di atas harga, dan EAP</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Tiga contoh paling umum, memakai Daftar Harga dan biaya standar dalam perjanjian.</a:t>
            </a:r>
          </a:p>
        </p:txBody>
      </p:sp>
      <p:sp>
        <p:nvSpPr>
          <p:cNvPr id="4" name="Tag"/>
          <p:cNvSpPr/>
          <p:nvPr/>
        </p:nvSpPr>
        <p:spPr>
          <a:xfrm>
            <a:off x="10469880" y="420624"/>
            <a:ext cx="1280160" cy="310896"/>
          </a:xfrm>
          <a:prstGeom prst="roundRect">
            <a:avLst>
              <a:gd name="adj" fmla="val 5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576C94"/>
                </a:solidFill>
                <a:latin typeface="Arial"/>
              </a:rPr>
              <a:t>CONTOH</a:t>
            </a:r>
          </a:p>
        </p:txBody>
      </p:sp>
      <p:sp>
        <p:nvSpPr>
          <p:cNvPr id="5"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8</a:t>
            </a:r>
          </a:p>
        </p:txBody>
      </p:sp>
      <p:sp>
        <p:nvSpPr>
          <p:cNvPr id="6" name="Rounded Rectangle 5"/>
          <p:cNvSpPr/>
          <p:nvPr/>
        </p:nvSpPr>
        <p:spPr>
          <a:xfrm>
            <a:off x="457200" y="1417320"/>
            <a:ext cx="3611880" cy="502920"/>
          </a:xfrm>
          <a:prstGeom prst="roundRect">
            <a:avLst>
              <a:gd name="adj" fmla="val 8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400"/>
              </a:spcAft>
            </a:pPr>
            <a:r>
              <a:rPr sz="1400" b="1" i="0">
                <a:solidFill>
                  <a:srgbClr val="FFFFFF"/>
                </a:solidFill>
                <a:latin typeface="Georgia"/>
              </a:rPr>
              <a:t>A. Pelatihan regional, harga daftar</a:t>
            </a:r>
          </a:p>
        </p:txBody>
      </p:sp>
      <p:graphicFrame>
        <p:nvGraphicFramePr>
          <p:cNvPr id="7" name="Table 6"/>
          <p:cNvGraphicFramePr>
            <a:graphicFrameLocks noGrp="1"/>
          </p:cNvGraphicFramePr>
          <p:nvPr/>
        </p:nvGraphicFramePr>
        <p:xfrm>
          <a:off x="457200" y="2011680"/>
          <a:ext cx="3611880" cy="2743200"/>
        </p:xfrm>
        <a:graphic>
          <a:graphicData uri="http://schemas.openxmlformats.org/drawingml/2006/table">
            <a:tbl>
              <a:tblPr firstRow="1" bandRow="1">
                <a:tableStyleId>{5C22544A-7EE6-4342-B048-85BDC9FD1C3A}</a:tableStyleId>
              </a:tblPr>
              <a:tblGrid>
                <a:gridCol w="2148840"/>
                <a:gridCol w="1463040"/>
              </a:tblGrid>
              <a:tr h="457200">
                <a:tc>
                  <a:txBody>
                    <a:bodyPr wrap="square"/>
                    <a:lstStyle/>
                    <a:p>
                      <a:r>
                        <a:rPr sz="1100" b="1">
                          <a:solidFill>
                            <a:srgbClr val="FFFFFF"/>
                          </a:solidFill>
                          <a:latin typeface="Arial"/>
                        </a:rPr>
                        <a:t>Komponen</a:t>
                      </a:r>
                    </a:p>
                  </a:txBody>
                  <a:tcPr marL="73152" marR="73152" marT="27432" marB="27432" anchor="ctr">
                    <a:solidFill>
                      <a:srgbClr val="1E2A3A"/>
                    </a:solidFill>
                  </a:tcPr>
                </a:tc>
                <a:tc>
                  <a:txBody>
                    <a:bodyPr wrap="square"/>
                    <a:lstStyle/>
                    <a:p>
                      <a:r>
                        <a:rPr sz="1100" b="1">
                          <a:solidFill>
                            <a:srgbClr val="FFFFFF"/>
                          </a:solidFill>
                          <a:latin typeface="Arial"/>
                        </a:rPr>
                        <a:t>Nilai</a:t>
                      </a:r>
                    </a:p>
                  </a:txBody>
                  <a:tcPr marL="73152" marR="73152" marT="27432" marB="27432" anchor="ctr">
                    <a:solidFill>
                      <a:srgbClr val="1E2A3A"/>
                    </a:solidFill>
                  </a:tcPr>
                </a:tc>
              </a:tr>
              <a:tr h="457200">
                <a:tc>
                  <a:txBody>
                    <a:bodyPr wrap="square"/>
                    <a:lstStyle/>
                    <a:p>
                      <a:r>
                        <a:rPr sz="1100" b="0">
                          <a:solidFill>
                            <a:srgbClr val="3D4F6A"/>
                          </a:solidFill>
                          <a:latin typeface="Arial"/>
                        </a:rPr>
                        <a:t>Harga</a:t>
                      </a:r>
                    </a:p>
                  </a:txBody>
                  <a:tcPr marL="73152" marR="73152" marT="27432" marB="27432" anchor="ctr">
                    <a:solidFill>
                      <a:srgbClr val="FFFFFF"/>
                    </a:solidFill>
                  </a:tcPr>
                </a:tc>
                <a:tc>
                  <a:txBody>
                    <a:bodyPr wrap="square"/>
                    <a:lstStyle/>
                    <a:p>
                      <a:r>
                        <a:rPr sz="1100" b="0">
                          <a:solidFill>
                            <a:srgbClr val="3D4F6A"/>
                          </a:solidFill>
                          <a:latin typeface="Arial"/>
                        </a:rPr>
                        <a:t>Rp28.500.000</a:t>
                      </a:r>
                    </a:p>
                  </a:txBody>
                  <a:tcPr marL="73152" marR="73152" marT="27432" marB="27432" anchor="ctr">
                    <a:solidFill>
                      <a:srgbClr val="FFFFFF"/>
                    </a:solidFill>
                  </a:tcPr>
                </a:tc>
              </a:tr>
              <a:tr h="457200">
                <a:tc>
                  <a:txBody>
                    <a:bodyPr wrap="square"/>
                    <a:lstStyle/>
                    <a:p>
                      <a:r>
                        <a:rPr sz="1100" b="0">
                          <a:solidFill>
                            <a:srgbClr val="3D4F6A"/>
                          </a:solidFill>
                          <a:latin typeface="Arial"/>
                        </a:rPr>
                        <a:t>Biaya standar</a:t>
                      </a:r>
                    </a:p>
                  </a:txBody>
                  <a:tcPr marL="73152" marR="73152" marT="27432" marB="27432" anchor="ctr">
                    <a:solidFill>
                      <a:srgbClr val="F6F2EA"/>
                    </a:solidFill>
                  </a:tcPr>
                </a:tc>
                <a:tc>
                  <a:txBody>
                    <a:bodyPr wrap="square"/>
                    <a:lstStyle/>
                    <a:p>
                      <a:r>
                        <a:rPr sz="1100" b="0">
                          <a:solidFill>
                            <a:srgbClr val="3D4F6A"/>
                          </a:solidFill>
                          <a:latin typeface="Arial"/>
                        </a:rPr>
                        <a:t>- Rp8.000.000</a:t>
                      </a:r>
                    </a:p>
                  </a:txBody>
                  <a:tcPr marL="73152" marR="73152" marT="27432" marB="27432" anchor="ctr">
                    <a:solidFill>
                      <a:srgbClr val="F6F2EA"/>
                    </a:solidFill>
                  </a:tcPr>
                </a:tc>
              </a:tr>
              <a:tr h="457200">
                <a:tc>
                  <a:txBody>
                    <a:bodyPr wrap="square"/>
                    <a:lstStyle/>
                    <a:p>
                      <a:r>
                        <a:rPr sz="1100" b="0">
                          <a:solidFill>
                            <a:srgbClr val="3D4F6A"/>
                          </a:solidFill>
                          <a:latin typeface="Arial"/>
                        </a:rPr>
                        <a:t>PPh dipotong klien (2%)</a:t>
                      </a:r>
                    </a:p>
                  </a:txBody>
                  <a:tcPr marL="73152" marR="73152" marT="27432" marB="27432" anchor="ctr">
                    <a:solidFill>
                      <a:srgbClr val="FFFFFF"/>
                    </a:solidFill>
                  </a:tcPr>
                </a:tc>
                <a:tc>
                  <a:txBody>
                    <a:bodyPr wrap="square"/>
                    <a:lstStyle/>
                    <a:p>
                      <a:r>
                        <a:rPr sz="1100" b="0">
                          <a:solidFill>
                            <a:srgbClr val="3D4F6A"/>
                          </a:solidFill>
                          <a:latin typeface="Arial"/>
                        </a:rPr>
                        <a:t>- Rp570.000</a:t>
                      </a:r>
                    </a:p>
                  </a:txBody>
                  <a:tcPr marL="73152" marR="73152" marT="27432" marB="27432" anchor="ctr">
                    <a:solidFill>
                      <a:srgbClr val="FFFFFF"/>
                    </a:solidFill>
                  </a:tcPr>
                </a:tc>
              </a:tr>
              <a:tr h="457200">
                <a:tc>
                  <a:txBody>
                    <a:bodyPr wrap="square"/>
                    <a:lstStyle/>
                    <a:p>
                      <a:r>
                        <a:rPr sz="1100" b="0">
                          <a:solidFill>
                            <a:srgbClr val="3D4F6A"/>
                          </a:solidFill>
                          <a:latin typeface="Arial"/>
                        </a:rPr>
                        <a:t>Profit event</a:t>
                      </a:r>
                    </a:p>
                  </a:txBody>
                  <a:tcPr marL="73152" marR="73152" marT="27432" marB="27432" anchor="ctr">
                    <a:solidFill>
                      <a:srgbClr val="F6F2EA"/>
                    </a:solidFill>
                  </a:tcPr>
                </a:tc>
                <a:tc>
                  <a:txBody>
                    <a:bodyPr wrap="square"/>
                    <a:lstStyle/>
                    <a:p>
                      <a:r>
                        <a:rPr sz="1100" b="0">
                          <a:solidFill>
                            <a:srgbClr val="3D4F6A"/>
                          </a:solidFill>
                          <a:latin typeface="Arial"/>
                        </a:rPr>
                        <a:t>Rp19.930.000</a:t>
                      </a:r>
                    </a:p>
                  </a:txBody>
                  <a:tcPr marL="73152" marR="73152" marT="27432" marB="27432" anchor="ctr">
                    <a:solidFill>
                      <a:srgbClr val="F6F2EA"/>
                    </a:solidFill>
                  </a:tcPr>
                </a:tc>
              </a:tr>
              <a:tr h="457200">
                <a:tc>
                  <a:txBody>
                    <a:bodyPr wrap="square"/>
                    <a:lstStyle/>
                    <a:p>
                      <a:r>
                        <a:rPr sz="1100" b="0">
                          <a:solidFill>
                            <a:srgbClr val="3D4F6A"/>
                          </a:solidFill>
                          <a:latin typeface="Arial"/>
                        </a:rPr>
                        <a:t>Komisi penutupan 10%</a:t>
                      </a:r>
                    </a:p>
                  </a:txBody>
                  <a:tcPr marL="73152" marR="73152" marT="27432" marB="27432" anchor="ctr">
                    <a:solidFill>
                      <a:srgbClr val="FFFFFF"/>
                    </a:solidFill>
                  </a:tcPr>
                </a:tc>
                <a:tc>
                  <a:txBody>
                    <a:bodyPr wrap="square"/>
                    <a:lstStyle/>
                    <a:p>
                      <a:r>
                        <a:rPr sz="1100" b="0">
                          <a:solidFill>
                            <a:srgbClr val="3D4F6A"/>
                          </a:solidFill>
                          <a:latin typeface="Arial"/>
                        </a:rPr>
                        <a:t>Rp1.993.000</a:t>
                      </a:r>
                    </a:p>
                  </a:txBody>
                  <a:tcPr marL="73152" marR="73152" marT="27432" marB="27432" anchor="ctr">
                    <a:solidFill>
                      <a:srgbClr val="FFFFFF"/>
                    </a:solidFill>
                  </a:tcPr>
                </a:tc>
              </a:tr>
            </a:tbl>
          </a:graphicData>
        </a:graphic>
      </p:graphicFrame>
      <p:sp>
        <p:nvSpPr>
          <p:cNvPr id="8" name="Rounded Rectangle 7"/>
          <p:cNvSpPr/>
          <p:nvPr/>
        </p:nvSpPr>
        <p:spPr>
          <a:xfrm>
            <a:off x="457200" y="4754880"/>
            <a:ext cx="3611880" cy="7772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9B3809"/>
                </a:solidFill>
                <a:latin typeface="Georgia"/>
              </a:rPr>
              <a:t>Rp1.993.000</a:t>
            </a:r>
          </a:p>
          <a:p>
            <a:pPr algn="l">
              <a:spcAft>
                <a:spcPts val="200"/>
              </a:spcAft>
            </a:pPr>
            <a:r>
              <a:rPr sz="1100" b="0" i="0">
                <a:solidFill>
                  <a:srgbClr val="3D4F6A"/>
                </a:solidFill>
                <a:latin typeface="Arial"/>
              </a:rPr>
              <a:t>diterima Mitra</a:t>
            </a:r>
          </a:p>
        </p:txBody>
      </p:sp>
      <p:sp>
        <p:nvSpPr>
          <p:cNvPr id="9" name="Rounded Rectangle 8"/>
          <p:cNvSpPr/>
          <p:nvPr/>
        </p:nvSpPr>
        <p:spPr>
          <a:xfrm>
            <a:off x="4251960" y="1417320"/>
            <a:ext cx="3611880" cy="502920"/>
          </a:xfrm>
          <a:prstGeom prst="roundRect">
            <a:avLst>
              <a:gd name="adj" fmla="val 8000"/>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400"/>
              </a:spcAft>
            </a:pPr>
            <a:r>
              <a:rPr sz="1400" b="1" i="0">
                <a:solidFill>
                  <a:srgbClr val="FFFFFF"/>
                </a:solidFill>
                <a:latin typeface="Georgia"/>
              </a:rPr>
              <a:t>B. Dijual di atas harga: Rp32 juta</a:t>
            </a:r>
          </a:p>
        </p:txBody>
      </p:sp>
      <p:graphicFrame>
        <p:nvGraphicFramePr>
          <p:cNvPr id="10" name="Table 9"/>
          <p:cNvGraphicFramePr>
            <a:graphicFrameLocks noGrp="1"/>
          </p:cNvGraphicFramePr>
          <p:nvPr/>
        </p:nvGraphicFramePr>
        <p:xfrm>
          <a:off x="4251960" y="2011680"/>
          <a:ext cx="3611880" cy="2286000"/>
        </p:xfrm>
        <a:graphic>
          <a:graphicData uri="http://schemas.openxmlformats.org/drawingml/2006/table">
            <a:tbl>
              <a:tblPr firstRow="1" bandRow="1">
                <a:tableStyleId>{5C22544A-7EE6-4342-B048-85BDC9FD1C3A}</a:tableStyleId>
              </a:tblPr>
              <a:tblGrid>
                <a:gridCol w="2148840"/>
                <a:gridCol w="1463040"/>
              </a:tblGrid>
              <a:tr h="457200">
                <a:tc>
                  <a:txBody>
                    <a:bodyPr wrap="square"/>
                    <a:lstStyle/>
                    <a:p>
                      <a:r>
                        <a:rPr sz="1100" b="1">
                          <a:solidFill>
                            <a:srgbClr val="FFFFFF"/>
                          </a:solidFill>
                          <a:latin typeface="Arial"/>
                        </a:rPr>
                        <a:t>Komponen</a:t>
                      </a:r>
                    </a:p>
                  </a:txBody>
                  <a:tcPr marL="73152" marR="73152" marT="27432" marB="27432" anchor="ctr">
                    <a:solidFill>
                      <a:srgbClr val="1E2A3A"/>
                    </a:solidFill>
                  </a:tcPr>
                </a:tc>
                <a:tc>
                  <a:txBody>
                    <a:bodyPr wrap="square"/>
                    <a:lstStyle/>
                    <a:p>
                      <a:r>
                        <a:rPr sz="1100" b="1">
                          <a:solidFill>
                            <a:srgbClr val="FFFFFF"/>
                          </a:solidFill>
                          <a:latin typeface="Arial"/>
                        </a:rPr>
                        <a:t>Nilai</a:t>
                      </a:r>
                    </a:p>
                  </a:txBody>
                  <a:tcPr marL="73152" marR="73152" marT="27432" marB="27432" anchor="ctr">
                    <a:solidFill>
                      <a:srgbClr val="1E2A3A"/>
                    </a:solidFill>
                  </a:tcPr>
                </a:tc>
              </a:tr>
              <a:tr h="457200">
                <a:tc>
                  <a:txBody>
                    <a:bodyPr wrap="square"/>
                    <a:lstStyle/>
                    <a:p>
                      <a:r>
                        <a:rPr sz="1100" b="0">
                          <a:solidFill>
                            <a:srgbClr val="3D4F6A"/>
                          </a:solidFill>
                          <a:latin typeface="Arial"/>
                        </a:rPr>
                        <a:t>Komisi penutupan 10%</a:t>
                      </a:r>
                    </a:p>
                  </a:txBody>
                  <a:tcPr marL="73152" marR="73152" marT="27432" marB="27432" anchor="ctr">
                    <a:solidFill>
                      <a:srgbClr val="FFFFFF"/>
                    </a:solidFill>
                  </a:tcPr>
                </a:tc>
                <a:tc>
                  <a:txBody>
                    <a:bodyPr wrap="square"/>
                    <a:lstStyle/>
                    <a:p>
                      <a:r>
                        <a:rPr sz="1100" b="0">
                          <a:solidFill>
                            <a:srgbClr val="3D4F6A"/>
                          </a:solidFill>
                          <a:latin typeface="Arial"/>
                        </a:rPr>
                        <a:t>Rp1.993.000</a:t>
                      </a:r>
                    </a:p>
                  </a:txBody>
                  <a:tcPr marL="73152" marR="73152" marT="27432" marB="27432" anchor="ctr">
                    <a:solidFill>
                      <a:srgbClr val="FFFFFF"/>
                    </a:solidFill>
                  </a:tcPr>
                </a:tc>
              </a:tr>
              <a:tr h="457200">
                <a:tc>
                  <a:txBody>
                    <a:bodyPr wrap="square"/>
                    <a:lstStyle/>
                    <a:p>
                      <a:r>
                        <a:rPr sz="1100" b="0">
                          <a:solidFill>
                            <a:srgbClr val="3D4F6A"/>
                          </a:solidFill>
                          <a:latin typeface="Arial"/>
                        </a:rPr>
                        <a:t>Selisih di atas harga</a:t>
                      </a:r>
                    </a:p>
                  </a:txBody>
                  <a:tcPr marL="73152" marR="73152" marT="27432" marB="27432" anchor="ctr">
                    <a:solidFill>
                      <a:srgbClr val="F6F2EA"/>
                    </a:solidFill>
                  </a:tcPr>
                </a:tc>
                <a:tc>
                  <a:txBody>
                    <a:bodyPr wrap="square"/>
                    <a:lstStyle/>
                    <a:p>
                      <a:r>
                        <a:rPr sz="1100" b="0">
                          <a:solidFill>
                            <a:srgbClr val="3D4F6A"/>
                          </a:solidFill>
                          <a:latin typeface="Arial"/>
                        </a:rPr>
                        <a:t>Rp3.500.000</a:t>
                      </a:r>
                    </a:p>
                  </a:txBody>
                  <a:tcPr marL="73152" marR="73152" marT="27432" marB="27432" anchor="ctr">
                    <a:solidFill>
                      <a:srgbClr val="F6F2EA"/>
                    </a:solidFill>
                  </a:tcPr>
                </a:tc>
              </a:tr>
              <a:tr h="457200">
                <a:tc>
                  <a:txBody>
                    <a:bodyPr wrap="square"/>
                    <a:lstStyle/>
                    <a:p>
                      <a:r>
                        <a:rPr sz="1100" b="0">
                          <a:solidFill>
                            <a:srgbClr val="3D4F6A"/>
                          </a:solidFill>
                          <a:latin typeface="Arial"/>
                        </a:rPr>
                        <a:t>Bagi hasil 30% dari selisih</a:t>
                      </a:r>
                    </a:p>
                  </a:txBody>
                  <a:tcPr marL="73152" marR="73152" marT="27432" marB="27432" anchor="ctr">
                    <a:solidFill>
                      <a:srgbClr val="FFFFFF"/>
                    </a:solidFill>
                  </a:tcPr>
                </a:tc>
                <a:tc>
                  <a:txBody>
                    <a:bodyPr wrap="square"/>
                    <a:lstStyle/>
                    <a:p>
                      <a:r>
                        <a:rPr sz="1100" b="0">
                          <a:solidFill>
                            <a:srgbClr val="3D4F6A"/>
                          </a:solidFill>
                          <a:latin typeface="Arial"/>
                        </a:rPr>
                        <a:t>Rp1.050.000</a:t>
                      </a:r>
                    </a:p>
                  </a:txBody>
                  <a:tcPr marL="73152" marR="73152" marT="27432" marB="27432" anchor="ctr">
                    <a:solidFill>
                      <a:srgbClr val="FFFFFF"/>
                    </a:solidFill>
                  </a:tcPr>
                </a:tc>
              </a:tr>
              <a:tr h="457200">
                <a:tc>
                  <a:txBody>
                    <a:bodyPr wrap="square"/>
                    <a:lstStyle/>
                    <a:p>
                      <a:r>
                        <a:rPr sz="1100" b="0">
                          <a:solidFill>
                            <a:srgbClr val="3D4F6A"/>
                          </a:solidFill>
                          <a:latin typeface="Arial"/>
                        </a:rPr>
                        <a:t>Nilai untuk bonus</a:t>
                      </a:r>
                    </a:p>
                  </a:txBody>
                  <a:tcPr marL="73152" marR="73152" marT="27432" marB="27432" anchor="ctr">
                    <a:solidFill>
                      <a:srgbClr val="F6F2EA"/>
                    </a:solidFill>
                  </a:tcPr>
                </a:tc>
                <a:tc>
                  <a:txBody>
                    <a:bodyPr wrap="square"/>
                    <a:lstStyle/>
                    <a:p>
                      <a:r>
                        <a:rPr sz="1100" b="0">
                          <a:solidFill>
                            <a:srgbClr val="3D4F6A"/>
                          </a:solidFill>
                          <a:latin typeface="Arial"/>
                        </a:rPr>
                        <a:t>Rp32.000.000</a:t>
                      </a:r>
                    </a:p>
                  </a:txBody>
                  <a:tcPr marL="73152" marR="73152" marT="27432" marB="27432" anchor="ctr">
                    <a:solidFill>
                      <a:srgbClr val="F6F2EA"/>
                    </a:solidFill>
                  </a:tcPr>
                </a:tc>
              </a:tr>
            </a:tbl>
          </a:graphicData>
        </a:graphic>
      </p:graphicFrame>
      <p:sp>
        <p:nvSpPr>
          <p:cNvPr id="11" name="Rounded Rectangle 10"/>
          <p:cNvSpPr/>
          <p:nvPr/>
        </p:nvSpPr>
        <p:spPr>
          <a:xfrm>
            <a:off x="4251960" y="4754880"/>
            <a:ext cx="3611880" cy="7772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9B3809"/>
                </a:solidFill>
                <a:latin typeface="Georgia"/>
              </a:rPr>
              <a:t>Rp3.043.000</a:t>
            </a:r>
          </a:p>
          <a:p>
            <a:pPr algn="l">
              <a:spcAft>
                <a:spcPts val="200"/>
              </a:spcAft>
            </a:pPr>
            <a:r>
              <a:rPr sz="1100" b="0" i="0">
                <a:solidFill>
                  <a:srgbClr val="3D4F6A"/>
                </a:solidFill>
                <a:latin typeface="Arial"/>
              </a:rPr>
              <a:t>diterima Mitra</a:t>
            </a:r>
          </a:p>
        </p:txBody>
      </p:sp>
      <p:sp>
        <p:nvSpPr>
          <p:cNvPr id="12" name="Rounded Rectangle 11"/>
          <p:cNvSpPr/>
          <p:nvPr/>
        </p:nvSpPr>
        <p:spPr>
          <a:xfrm>
            <a:off x="8046720" y="1417320"/>
            <a:ext cx="3611880" cy="502920"/>
          </a:xfrm>
          <a:prstGeom prst="roundRect">
            <a:avLst>
              <a:gd name="adj" fmla="val 8000"/>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400"/>
              </a:spcAft>
            </a:pPr>
            <a:r>
              <a:rPr sz="1400" b="1" i="0">
                <a:solidFill>
                  <a:srgbClr val="FFFFFF"/>
                </a:solidFill>
                <a:latin typeface="Georgia"/>
              </a:rPr>
              <a:t>C. EAP tahunan, dibayar per kuartal</a:t>
            </a:r>
          </a:p>
        </p:txBody>
      </p:sp>
      <p:graphicFrame>
        <p:nvGraphicFramePr>
          <p:cNvPr id="13" name="Table 12"/>
          <p:cNvGraphicFramePr>
            <a:graphicFrameLocks noGrp="1"/>
          </p:cNvGraphicFramePr>
          <p:nvPr/>
        </p:nvGraphicFramePr>
        <p:xfrm>
          <a:off x="8046720" y="2011680"/>
          <a:ext cx="3611880" cy="2743200"/>
        </p:xfrm>
        <a:graphic>
          <a:graphicData uri="http://schemas.openxmlformats.org/drawingml/2006/table">
            <a:tbl>
              <a:tblPr firstRow="1" bandRow="1">
                <a:tableStyleId>{5C22544A-7EE6-4342-B048-85BDC9FD1C3A}</a:tableStyleId>
              </a:tblPr>
              <a:tblGrid>
                <a:gridCol w="2148840"/>
                <a:gridCol w="1463040"/>
              </a:tblGrid>
              <a:tr h="457200">
                <a:tc>
                  <a:txBody>
                    <a:bodyPr wrap="square"/>
                    <a:lstStyle/>
                    <a:p>
                      <a:r>
                        <a:rPr sz="1100" b="1">
                          <a:solidFill>
                            <a:srgbClr val="FFFFFF"/>
                          </a:solidFill>
                          <a:latin typeface="Arial"/>
                        </a:rPr>
                        <a:t>Komponen</a:t>
                      </a:r>
                    </a:p>
                  </a:txBody>
                  <a:tcPr marL="73152" marR="73152" marT="27432" marB="27432" anchor="ctr">
                    <a:solidFill>
                      <a:srgbClr val="1E2A3A"/>
                    </a:solidFill>
                  </a:tcPr>
                </a:tc>
                <a:tc>
                  <a:txBody>
                    <a:bodyPr wrap="square"/>
                    <a:lstStyle/>
                    <a:p>
                      <a:r>
                        <a:rPr sz="1100" b="1">
                          <a:solidFill>
                            <a:srgbClr val="FFFFFF"/>
                          </a:solidFill>
                          <a:latin typeface="Arial"/>
                        </a:rPr>
                        <a:t>Nilai</a:t>
                      </a:r>
                    </a:p>
                  </a:txBody>
                  <a:tcPr marL="73152" marR="73152" marT="27432" marB="27432" anchor="ctr">
                    <a:solidFill>
                      <a:srgbClr val="1E2A3A"/>
                    </a:solidFill>
                  </a:tcPr>
                </a:tc>
              </a:tr>
              <a:tr h="457200">
                <a:tc>
                  <a:txBody>
                    <a:bodyPr wrap="square"/>
                    <a:lstStyle/>
                    <a:p>
                      <a:r>
                        <a:rPr sz="1100" b="0">
                          <a:solidFill>
                            <a:srgbClr val="3D4F6A"/>
                          </a:solidFill>
                          <a:latin typeface="Arial"/>
                        </a:rPr>
                        <a:t>Nilai kontrak</a:t>
                      </a:r>
                    </a:p>
                  </a:txBody>
                  <a:tcPr marL="73152" marR="73152" marT="27432" marB="27432" anchor="ctr">
                    <a:solidFill>
                      <a:srgbClr val="FFFFFF"/>
                    </a:solidFill>
                  </a:tcPr>
                </a:tc>
                <a:tc>
                  <a:txBody>
                    <a:bodyPr wrap="square"/>
                    <a:lstStyle/>
                    <a:p>
                      <a:r>
                        <a:rPr sz="1100" b="0">
                          <a:solidFill>
                            <a:srgbClr val="3D4F6A"/>
                          </a:solidFill>
                          <a:latin typeface="Arial"/>
                        </a:rPr>
                        <a:t>Rp44.000.000</a:t>
                      </a:r>
                    </a:p>
                  </a:txBody>
                  <a:tcPr marL="73152" marR="73152" marT="27432" marB="27432" anchor="ctr">
                    <a:solidFill>
                      <a:srgbClr val="FFFFFF"/>
                    </a:solidFill>
                  </a:tcPr>
                </a:tc>
              </a:tr>
              <a:tr h="457200">
                <a:tc>
                  <a:txBody>
                    <a:bodyPr wrap="square"/>
                    <a:lstStyle/>
                    <a:p>
                      <a:r>
                        <a:rPr sz="1100" b="0">
                          <a:solidFill>
                            <a:srgbClr val="3D4F6A"/>
                          </a:solidFill>
                          <a:latin typeface="Arial"/>
                        </a:rPr>
                        <a:t>Dibayar</a:t>
                      </a:r>
                    </a:p>
                  </a:txBody>
                  <a:tcPr marL="73152" marR="73152" marT="27432" marB="27432" anchor="ctr">
                    <a:solidFill>
                      <a:srgbClr val="F6F2EA"/>
                    </a:solidFill>
                  </a:tcPr>
                </a:tc>
                <a:tc>
                  <a:txBody>
                    <a:bodyPr wrap="square"/>
                    <a:lstStyle/>
                    <a:p>
                      <a:r>
                        <a:rPr sz="1100" b="0">
                          <a:solidFill>
                            <a:srgbClr val="3D4F6A"/>
                          </a:solidFill>
                          <a:latin typeface="Arial"/>
                        </a:rPr>
                        <a:t>4 x Rp11.000.000</a:t>
                      </a:r>
                    </a:p>
                  </a:txBody>
                  <a:tcPr marL="73152" marR="73152" marT="27432" marB="27432" anchor="ctr">
                    <a:solidFill>
                      <a:srgbClr val="F6F2EA"/>
                    </a:solidFill>
                  </a:tcPr>
                </a:tc>
              </a:tr>
              <a:tr h="457200">
                <a:tc>
                  <a:txBody>
                    <a:bodyPr wrap="square"/>
                    <a:lstStyle/>
                    <a:p>
                      <a:r>
                        <a:rPr sz="1100" b="0">
                          <a:solidFill>
                            <a:srgbClr val="3D4F6A"/>
                          </a:solidFill>
                          <a:latin typeface="Arial"/>
                        </a:rPr>
                        <a:t>Komisi tetap, kontrak baru</a:t>
                      </a:r>
                    </a:p>
                  </a:txBody>
                  <a:tcPr marL="73152" marR="73152" marT="27432" marB="27432" anchor="ctr">
                    <a:solidFill>
                      <a:srgbClr val="FFFFFF"/>
                    </a:solidFill>
                  </a:tcPr>
                </a:tc>
                <a:tc>
                  <a:txBody>
                    <a:bodyPr wrap="square"/>
                    <a:lstStyle/>
                    <a:p>
                      <a:r>
                        <a:rPr sz="1100" b="0">
                          <a:solidFill>
                            <a:srgbClr val="3D4F6A"/>
                          </a:solidFill>
                          <a:latin typeface="Arial"/>
                        </a:rPr>
                        <a:t>Rp1.500.000</a:t>
                      </a:r>
                    </a:p>
                  </a:txBody>
                  <a:tcPr marL="73152" marR="73152" marT="27432" marB="27432" anchor="ctr">
                    <a:solidFill>
                      <a:srgbClr val="FFFFFF"/>
                    </a:solidFill>
                  </a:tcPr>
                </a:tc>
              </a:tr>
              <a:tr h="457200">
                <a:tc>
                  <a:txBody>
                    <a:bodyPr wrap="square"/>
                    <a:lstStyle/>
                    <a:p>
                      <a:r>
                        <a:rPr sz="1100" b="0">
                          <a:solidFill>
                            <a:srgbClr val="3D4F6A"/>
                          </a:solidFill>
                          <a:latin typeface="Arial"/>
                        </a:rPr>
                        <a:t>Perpanjangan tahun berikutnya</a:t>
                      </a:r>
                    </a:p>
                  </a:txBody>
                  <a:tcPr marL="73152" marR="73152" marT="27432" marB="27432" anchor="ctr">
                    <a:solidFill>
                      <a:srgbClr val="F6F2EA"/>
                    </a:solidFill>
                  </a:tcPr>
                </a:tc>
                <a:tc>
                  <a:txBody>
                    <a:bodyPr wrap="square"/>
                    <a:lstStyle/>
                    <a:p>
                      <a:r>
                        <a:rPr sz="1100" b="0">
                          <a:solidFill>
                            <a:srgbClr val="3D4F6A"/>
                          </a:solidFill>
                          <a:latin typeface="Arial"/>
                        </a:rPr>
                        <a:t>Rp1.000.000</a:t>
                      </a:r>
                    </a:p>
                  </a:txBody>
                  <a:tcPr marL="73152" marR="73152" marT="27432" marB="27432" anchor="ctr">
                    <a:solidFill>
                      <a:srgbClr val="F6F2EA"/>
                    </a:solidFill>
                  </a:tcPr>
                </a:tc>
              </a:tr>
              <a:tr h="457200">
                <a:tc>
                  <a:txBody>
                    <a:bodyPr wrap="square"/>
                    <a:lstStyle/>
                    <a:p>
                      <a:r>
                        <a:rPr sz="1100" b="0">
                          <a:solidFill>
                            <a:srgbClr val="3D4F6A"/>
                          </a:solidFill>
                          <a:latin typeface="Arial"/>
                        </a:rPr>
                        <a:t>Nilai untuk bonus</a:t>
                      </a:r>
                    </a:p>
                  </a:txBody>
                  <a:tcPr marL="73152" marR="73152" marT="27432" marB="27432" anchor="ctr">
                    <a:solidFill>
                      <a:srgbClr val="FFFFFF"/>
                    </a:solidFill>
                  </a:tcPr>
                </a:tc>
                <a:tc>
                  <a:txBody>
                    <a:bodyPr wrap="square"/>
                    <a:lstStyle/>
                    <a:p>
                      <a:r>
                        <a:rPr sz="1100" b="0">
                          <a:solidFill>
                            <a:srgbClr val="3D4F6A"/>
                          </a:solidFill>
                          <a:latin typeface="Arial"/>
                        </a:rPr>
                        <a:t>Rp44.000.000</a:t>
                      </a:r>
                    </a:p>
                  </a:txBody>
                  <a:tcPr marL="73152" marR="73152" marT="27432" marB="27432" anchor="ctr">
                    <a:solidFill>
                      <a:srgbClr val="FFFFFF"/>
                    </a:solidFill>
                  </a:tcPr>
                </a:tc>
              </a:tr>
            </a:tbl>
          </a:graphicData>
        </a:graphic>
      </p:graphicFrame>
      <p:sp>
        <p:nvSpPr>
          <p:cNvPr id="14" name="Rounded Rectangle 13"/>
          <p:cNvSpPr/>
          <p:nvPr/>
        </p:nvSpPr>
        <p:spPr>
          <a:xfrm>
            <a:off x="8046720" y="4754880"/>
            <a:ext cx="3611880" cy="7772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9B3809"/>
                </a:solidFill>
                <a:latin typeface="Georgia"/>
              </a:rPr>
              <a:t>Rp1.500.000</a:t>
            </a:r>
          </a:p>
          <a:p>
            <a:pPr algn="l">
              <a:spcAft>
                <a:spcPts val="200"/>
              </a:spcAft>
            </a:pPr>
            <a:r>
              <a:rPr sz="1100" b="0" i="0">
                <a:solidFill>
                  <a:srgbClr val="3D4F6A"/>
                </a:solidFill>
                <a:latin typeface="Arial"/>
              </a:rPr>
              <a:t>diterima Mitra</a:t>
            </a:r>
          </a:p>
        </p:txBody>
      </p:sp>
      <p:sp>
        <p:nvSpPr>
          <p:cNvPr id="15" name="Rounded Rectangle 14"/>
          <p:cNvSpPr/>
          <p:nvPr/>
        </p:nvSpPr>
        <p:spPr>
          <a:xfrm>
            <a:off x="457200" y="5669280"/>
            <a:ext cx="11247120" cy="621792"/>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200" b="1" i="0">
                <a:solidFill>
                  <a:srgbClr val="1E2A3A"/>
                </a:solidFill>
                <a:latin typeface="Arial"/>
              </a:rPr>
              <a:t>Deal ke-5 dan seterusnya: </a:t>
            </a:r>
            <a:r>
              <a:rPr sz="1200" b="0" i="0">
                <a:solidFill>
                  <a:srgbClr val="3D4F6A"/>
                </a:solidFill>
                <a:latin typeface="Arial"/>
              </a:rPr>
              <a:t>komisi penutupan naik menjadi 12,5%. Untuk contoh A: Rp2.491.250.</a:t>
            </a:r>
          </a:p>
        </p:txBody>
      </p:sp>
      <p:sp>
        <p:nvSpPr>
          <p:cNvPr id="16"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Sumber: Perjanjian Kemitraan, Lampiran A Contoh 1, 2 dan 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Contoh satu semester: Anda menerima </a:t>
            </a:r>
            <a:r>
              <a:rPr sz="2800" b="1" i="0">
                <a:solidFill>
                  <a:srgbClr val="9B3809"/>
                </a:solidFill>
                <a:latin typeface="Georgia"/>
              </a:rPr>
              <a:t>Rp27.568.000</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Tiga deal dalam 6 bulan. Komisi per deal ditambah bonus semester.</a:t>
            </a:r>
          </a:p>
        </p:txBody>
      </p:sp>
      <p:sp>
        <p:nvSpPr>
          <p:cNvPr id="4" name="Tag"/>
          <p:cNvSpPr/>
          <p:nvPr/>
        </p:nvSpPr>
        <p:spPr>
          <a:xfrm>
            <a:off x="10469880" y="420624"/>
            <a:ext cx="1280160" cy="310896"/>
          </a:xfrm>
          <a:prstGeom prst="roundRect">
            <a:avLst>
              <a:gd name="adj" fmla="val 5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576C94"/>
                </a:solidFill>
                <a:latin typeface="Arial"/>
              </a:rPr>
              <a:t>CONTOH</a:t>
            </a:r>
          </a:p>
        </p:txBody>
      </p:sp>
      <p:sp>
        <p:nvSpPr>
          <p:cNvPr id="5"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9</a:t>
            </a:r>
          </a:p>
        </p:txBody>
      </p:sp>
      <p:graphicFrame>
        <p:nvGraphicFramePr>
          <p:cNvPr id="6" name="Table 5"/>
          <p:cNvGraphicFramePr>
            <a:graphicFrameLocks noGrp="1"/>
          </p:cNvGraphicFramePr>
          <p:nvPr/>
        </p:nvGraphicFramePr>
        <p:xfrm>
          <a:off x="457200" y="1371600"/>
          <a:ext cx="7315200" cy="3840480"/>
        </p:xfrm>
        <a:graphic>
          <a:graphicData uri="http://schemas.openxmlformats.org/drawingml/2006/table">
            <a:tbl>
              <a:tblPr firstRow="1" bandRow="1">
                <a:tableStyleId>{5C22544A-7EE6-4342-B048-85BDC9FD1C3A}</a:tableStyleId>
              </a:tblPr>
              <a:tblGrid>
                <a:gridCol w="2560320"/>
                <a:gridCol w="1600200"/>
                <a:gridCol w="1463040"/>
                <a:gridCol w="1691640"/>
              </a:tblGrid>
              <a:tr h="548640">
                <a:tc>
                  <a:txBody>
                    <a:bodyPr wrap="square"/>
                    <a:lstStyle/>
                    <a:p>
                      <a:r>
                        <a:rPr sz="1200" b="1">
                          <a:solidFill>
                            <a:srgbClr val="FFFFFF"/>
                          </a:solidFill>
                          <a:latin typeface="Arial"/>
                        </a:rPr>
                        <a:t>Deal dalam semester</a:t>
                      </a:r>
                    </a:p>
                  </a:txBody>
                  <a:tcPr marL="73152" marR="73152" marT="27432" marB="27432" anchor="ctr">
                    <a:solidFill>
                      <a:srgbClr val="1E2A3A"/>
                    </a:solidFill>
                  </a:tcPr>
                </a:tc>
                <a:tc>
                  <a:txBody>
                    <a:bodyPr wrap="square"/>
                    <a:lstStyle/>
                    <a:p>
                      <a:r>
                        <a:rPr sz="1200" b="1">
                          <a:solidFill>
                            <a:srgbClr val="FFFFFF"/>
                          </a:solidFill>
                          <a:latin typeface="Arial"/>
                        </a:rPr>
                        <a:t>Nilai SPK</a:t>
                      </a:r>
                    </a:p>
                  </a:txBody>
                  <a:tcPr marL="73152" marR="73152" marT="27432" marB="27432" anchor="ctr">
                    <a:solidFill>
                      <a:srgbClr val="1E2A3A"/>
                    </a:solidFill>
                  </a:tcPr>
                </a:tc>
                <a:tc>
                  <a:txBody>
                    <a:bodyPr wrap="square"/>
                    <a:lstStyle/>
                    <a:p>
                      <a:r>
                        <a:rPr sz="1200" b="1">
                          <a:solidFill>
                            <a:srgbClr val="FFFFFF"/>
                          </a:solidFill>
                          <a:latin typeface="Arial"/>
                        </a:rPr>
                        <a:t>Komisi</a:t>
                      </a:r>
                    </a:p>
                  </a:txBody>
                  <a:tcPr marL="73152" marR="73152" marT="27432" marB="27432" anchor="ctr">
                    <a:solidFill>
                      <a:srgbClr val="1E2A3A"/>
                    </a:solidFill>
                  </a:tcPr>
                </a:tc>
                <a:tc>
                  <a:txBody>
                    <a:bodyPr wrap="square"/>
                    <a:lstStyle/>
                    <a:p>
                      <a:r>
                        <a:rPr sz="1200" b="1">
                          <a:solidFill>
                            <a:srgbClr val="FFFFFF"/>
                          </a:solidFill>
                          <a:latin typeface="Arial"/>
                        </a:rPr>
                        <a:t>Dasar</a:t>
                      </a:r>
                    </a:p>
                  </a:txBody>
                  <a:tcPr marL="73152" marR="73152" marT="27432" marB="27432" anchor="ctr">
                    <a:solidFill>
                      <a:srgbClr val="1E2A3A"/>
                    </a:solidFill>
                  </a:tcPr>
                </a:tc>
              </a:tr>
              <a:tr h="548640">
                <a:tc>
                  <a:txBody>
                    <a:bodyPr wrap="square"/>
                    <a:lstStyle/>
                    <a:p>
                      <a:r>
                        <a:rPr sz="1200" b="1">
                          <a:solidFill>
                            <a:srgbClr val="1E2A3A"/>
                          </a:solidFill>
                          <a:latin typeface="Arial"/>
                        </a:rPr>
                        <a:t>Program bank BUMN, 2 hari</a:t>
                      </a:r>
                    </a:p>
                  </a:txBody>
                  <a:tcPr marL="73152" marR="73152" marT="27432" marB="27432" anchor="ctr">
                    <a:solidFill>
                      <a:srgbClr val="FFFFFF"/>
                    </a:solidFill>
                  </a:tcPr>
                </a:tc>
                <a:tc>
                  <a:txBody>
                    <a:bodyPr wrap="square"/>
                    <a:lstStyle/>
                    <a:p>
                      <a:r>
                        <a:rPr sz="1200" b="0">
                          <a:solidFill>
                            <a:srgbClr val="3D4F6A"/>
                          </a:solidFill>
                          <a:latin typeface="Arial"/>
                        </a:rPr>
                        <a:t>Rp102.000.000</a:t>
                      </a:r>
                    </a:p>
                  </a:txBody>
                  <a:tcPr marL="73152" marR="73152" marT="27432" marB="27432" anchor="ctr">
                    <a:solidFill>
                      <a:srgbClr val="FFFFFF"/>
                    </a:solidFill>
                  </a:tcPr>
                </a:tc>
                <a:tc>
                  <a:txBody>
                    <a:bodyPr wrap="square"/>
                    <a:lstStyle/>
                    <a:p>
                      <a:r>
                        <a:rPr sz="1200" b="0">
                          <a:solidFill>
                            <a:srgbClr val="3D4F6A"/>
                          </a:solidFill>
                          <a:latin typeface="Arial"/>
                        </a:rPr>
                        <a:t>Rp7.596.000</a:t>
                      </a:r>
                    </a:p>
                  </a:txBody>
                  <a:tcPr marL="73152" marR="73152" marT="27432" marB="27432" anchor="ctr">
                    <a:solidFill>
                      <a:srgbClr val="FFFFFF"/>
                    </a:solidFill>
                  </a:tcPr>
                </a:tc>
                <a:tc>
                  <a:txBody>
                    <a:bodyPr wrap="square"/>
                    <a:lstStyle/>
                    <a:p>
                      <a:r>
                        <a:rPr sz="1200" b="0">
                          <a:solidFill>
                            <a:srgbClr val="3D4F6A"/>
                          </a:solidFill>
                          <a:latin typeface="Arial"/>
                        </a:rPr>
                        <a:t>10% dari profit Rp75,96 juta</a:t>
                      </a:r>
                    </a:p>
                  </a:txBody>
                  <a:tcPr marL="73152" marR="73152" marT="27432" marB="27432" anchor="ctr">
                    <a:solidFill>
                      <a:srgbClr val="FFFFFF"/>
                    </a:solidFill>
                  </a:tcPr>
                </a:tc>
              </a:tr>
              <a:tr h="548640">
                <a:tc>
                  <a:txBody>
                    <a:bodyPr wrap="square"/>
                    <a:lstStyle/>
                    <a:p>
                      <a:r>
                        <a:rPr sz="1200" b="1">
                          <a:solidFill>
                            <a:srgbClr val="1E2A3A"/>
                          </a:solidFill>
                          <a:latin typeface="Arial"/>
                        </a:rPr>
                        <a:t>Pelatihan regional, 4 hari</a:t>
                      </a:r>
                    </a:p>
                  </a:txBody>
                  <a:tcPr marL="73152" marR="73152" marT="27432" marB="27432" anchor="ctr">
                    <a:solidFill>
                      <a:srgbClr val="F6F2EA"/>
                    </a:solidFill>
                  </a:tcPr>
                </a:tc>
                <a:tc>
                  <a:txBody>
                    <a:bodyPr wrap="square"/>
                    <a:lstStyle/>
                    <a:p>
                      <a:r>
                        <a:rPr sz="1200" b="0">
                          <a:solidFill>
                            <a:srgbClr val="3D4F6A"/>
                          </a:solidFill>
                          <a:latin typeface="Arial"/>
                        </a:rPr>
                        <a:t>Rp114.000.000</a:t>
                      </a:r>
                    </a:p>
                  </a:txBody>
                  <a:tcPr marL="73152" marR="73152" marT="27432" marB="27432" anchor="ctr">
                    <a:solidFill>
                      <a:srgbClr val="F6F2EA"/>
                    </a:solidFill>
                  </a:tcPr>
                </a:tc>
                <a:tc>
                  <a:txBody>
                    <a:bodyPr wrap="square"/>
                    <a:lstStyle/>
                    <a:p>
                      <a:r>
                        <a:rPr sz="1200" b="0">
                          <a:solidFill>
                            <a:srgbClr val="3D4F6A"/>
                          </a:solidFill>
                          <a:latin typeface="Arial"/>
                        </a:rPr>
                        <a:t>Rp7.972.000</a:t>
                      </a:r>
                    </a:p>
                  </a:txBody>
                  <a:tcPr marL="73152" marR="73152" marT="27432" marB="27432" anchor="ctr">
                    <a:solidFill>
                      <a:srgbClr val="F6F2EA"/>
                    </a:solidFill>
                  </a:tcPr>
                </a:tc>
                <a:tc>
                  <a:txBody>
                    <a:bodyPr wrap="square"/>
                    <a:lstStyle/>
                    <a:p>
                      <a:r>
                        <a:rPr sz="1200" b="0">
                          <a:solidFill>
                            <a:srgbClr val="3D4F6A"/>
                          </a:solidFill>
                          <a:latin typeface="Arial"/>
                        </a:rPr>
                        <a:t>10% dari profit Rp79,72 juta</a:t>
                      </a:r>
                    </a:p>
                  </a:txBody>
                  <a:tcPr marL="73152" marR="73152" marT="27432" marB="27432" anchor="ctr">
                    <a:solidFill>
                      <a:srgbClr val="F6F2EA"/>
                    </a:solidFill>
                  </a:tcPr>
                </a:tc>
              </a:tr>
              <a:tr h="548640">
                <a:tc>
                  <a:txBody>
                    <a:bodyPr wrap="square"/>
                    <a:lstStyle/>
                    <a:p>
                      <a:r>
                        <a:rPr sz="1200" b="1">
                          <a:solidFill>
                            <a:srgbClr val="1E2A3A"/>
                          </a:solidFill>
                          <a:latin typeface="Arial"/>
                        </a:rPr>
                        <a:t>2 EAP Tahunan</a:t>
                      </a:r>
                    </a:p>
                  </a:txBody>
                  <a:tcPr marL="73152" marR="73152" marT="27432" marB="27432" anchor="ctr">
                    <a:solidFill>
                      <a:srgbClr val="FFFFFF"/>
                    </a:solidFill>
                  </a:tcPr>
                </a:tc>
                <a:tc>
                  <a:txBody>
                    <a:bodyPr wrap="square"/>
                    <a:lstStyle/>
                    <a:p>
                      <a:r>
                        <a:rPr sz="1200" b="0">
                          <a:solidFill>
                            <a:srgbClr val="3D4F6A"/>
                          </a:solidFill>
                          <a:latin typeface="Arial"/>
                        </a:rPr>
                        <a:t>Rp88.000.000</a:t>
                      </a:r>
                    </a:p>
                  </a:txBody>
                  <a:tcPr marL="73152" marR="73152" marT="27432" marB="27432" anchor="ctr">
                    <a:solidFill>
                      <a:srgbClr val="FFFFFF"/>
                    </a:solidFill>
                  </a:tcPr>
                </a:tc>
                <a:tc>
                  <a:txBody>
                    <a:bodyPr wrap="square"/>
                    <a:lstStyle/>
                    <a:p>
                      <a:r>
                        <a:rPr sz="1200" b="0">
                          <a:solidFill>
                            <a:srgbClr val="3D4F6A"/>
                          </a:solidFill>
                          <a:latin typeface="Arial"/>
                        </a:rPr>
                        <a:t>Rp3.000.000</a:t>
                      </a:r>
                    </a:p>
                  </a:txBody>
                  <a:tcPr marL="73152" marR="73152" marT="27432" marB="27432" anchor="ctr">
                    <a:solidFill>
                      <a:srgbClr val="FFFFFF"/>
                    </a:solidFill>
                  </a:tcPr>
                </a:tc>
                <a:tc>
                  <a:txBody>
                    <a:bodyPr wrap="square"/>
                    <a:lstStyle/>
                    <a:p>
                      <a:r>
                        <a:rPr sz="1200" b="0">
                          <a:solidFill>
                            <a:srgbClr val="3D4F6A"/>
                          </a:solidFill>
                          <a:latin typeface="Arial"/>
                        </a:rPr>
                        <a:t>tetap 2 x Rp1,5 juta</a:t>
                      </a:r>
                    </a:p>
                  </a:txBody>
                  <a:tcPr marL="73152" marR="73152" marT="27432" marB="27432" anchor="ctr">
                    <a:solidFill>
                      <a:srgbClr val="FFFFFF"/>
                    </a:solidFill>
                  </a:tcPr>
                </a:tc>
              </a:tr>
              <a:tr h="548640">
                <a:tc>
                  <a:txBody>
                    <a:bodyPr wrap="square"/>
                    <a:lstStyle/>
                    <a:p>
                      <a:r>
                        <a:rPr sz="1200" b="1">
                          <a:solidFill>
                            <a:srgbClr val="1E2A3A"/>
                          </a:solidFill>
                          <a:latin typeface="Arial"/>
                        </a:rPr>
                        <a:t>Jumlah nilai deal</a:t>
                      </a:r>
                    </a:p>
                  </a:txBody>
                  <a:tcPr marL="73152" marR="73152" marT="27432" marB="27432" anchor="ctr">
                    <a:solidFill>
                      <a:srgbClr val="F6F2EA"/>
                    </a:solidFill>
                  </a:tcPr>
                </a:tc>
                <a:tc>
                  <a:txBody>
                    <a:bodyPr wrap="square"/>
                    <a:lstStyle/>
                    <a:p>
                      <a:r>
                        <a:rPr sz="1200" b="0">
                          <a:solidFill>
                            <a:srgbClr val="3D4F6A"/>
                          </a:solidFill>
                          <a:latin typeface="Arial"/>
                        </a:rPr>
                        <a:t>Rp304.000.000</a:t>
                      </a:r>
                    </a:p>
                  </a:txBody>
                  <a:tcPr marL="73152" marR="73152" marT="27432" marB="27432" anchor="ctr">
                    <a:solidFill>
                      <a:srgbClr val="F6F2EA"/>
                    </a:solidFill>
                  </a:tcPr>
                </a:tc>
                <a:tc>
                  <a:txBody>
                    <a:bodyPr wrap="square"/>
                    <a:lstStyle/>
                    <a:p>
                      <a:r>
                        <a:rPr sz="1200" b="0">
                          <a:solidFill>
                            <a:srgbClr val="3D4F6A"/>
                          </a:solidFill>
                          <a:latin typeface="Arial"/>
                        </a:rPr>
                        <a:t/>
                      </a:r>
                    </a:p>
                  </a:txBody>
                  <a:tcPr marL="73152" marR="73152" marT="27432" marB="27432" anchor="ctr">
                    <a:solidFill>
                      <a:srgbClr val="F6F2EA"/>
                    </a:solidFill>
                  </a:tcPr>
                </a:tc>
                <a:tc>
                  <a:txBody>
                    <a:bodyPr wrap="square"/>
                    <a:lstStyle/>
                    <a:p>
                      <a:r>
                        <a:rPr sz="1200" b="0">
                          <a:solidFill>
                            <a:srgbClr val="3D4F6A"/>
                          </a:solidFill>
                          <a:latin typeface="Arial"/>
                        </a:rPr>
                        <a:t/>
                      </a:r>
                    </a:p>
                  </a:txBody>
                  <a:tcPr marL="73152" marR="73152" marT="27432" marB="27432" anchor="ctr">
                    <a:solidFill>
                      <a:srgbClr val="F6F2EA"/>
                    </a:solidFill>
                  </a:tcPr>
                </a:tc>
              </a:tr>
              <a:tr h="548640">
                <a:tc>
                  <a:txBody>
                    <a:bodyPr wrap="square"/>
                    <a:lstStyle/>
                    <a:p>
                      <a:r>
                        <a:rPr sz="1200" b="1">
                          <a:solidFill>
                            <a:srgbClr val="1E2A3A"/>
                          </a:solidFill>
                          <a:latin typeface="Arial"/>
                        </a:rPr>
                        <a:t>Bonus semester</a:t>
                      </a:r>
                    </a:p>
                  </a:txBody>
                  <a:tcPr marL="73152" marR="73152" marT="27432" marB="27432" anchor="ctr">
                    <a:solidFill>
                      <a:srgbClr val="FFFFFF"/>
                    </a:solidFill>
                  </a:tcPr>
                </a:tc>
                <a:tc>
                  <a:txBody>
                    <a:bodyPr wrap="square"/>
                    <a:lstStyle/>
                    <a:p>
                      <a:r>
                        <a:rPr sz="1200" b="0">
                          <a:solidFill>
                            <a:srgbClr val="3D4F6A"/>
                          </a:solidFill>
                          <a:latin typeface="Arial"/>
                        </a:rPr>
                        <a:t/>
                      </a:r>
                    </a:p>
                  </a:txBody>
                  <a:tcPr marL="73152" marR="73152" marT="27432" marB="27432" anchor="ctr">
                    <a:solidFill>
                      <a:srgbClr val="FFFFFF"/>
                    </a:solidFill>
                  </a:tcPr>
                </a:tc>
                <a:tc>
                  <a:txBody>
                    <a:bodyPr wrap="square"/>
                    <a:lstStyle/>
                    <a:p>
                      <a:r>
                        <a:rPr sz="1200" b="0">
                          <a:solidFill>
                            <a:srgbClr val="3D4F6A"/>
                          </a:solidFill>
                          <a:latin typeface="Arial"/>
                        </a:rPr>
                        <a:t>Rp9.000.000</a:t>
                      </a:r>
                    </a:p>
                  </a:txBody>
                  <a:tcPr marL="73152" marR="73152" marT="27432" marB="27432" anchor="ctr">
                    <a:solidFill>
                      <a:srgbClr val="FFFFFF"/>
                    </a:solidFill>
                  </a:tcPr>
                </a:tc>
                <a:tc>
                  <a:txBody>
                    <a:bodyPr wrap="square"/>
                    <a:lstStyle/>
                    <a:p>
                      <a:r>
                        <a:rPr sz="1200" b="0">
                          <a:solidFill>
                            <a:srgbClr val="3D4F6A"/>
                          </a:solidFill>
                          <a:latin typeface="Arial"/>
                        </a:rPr>
                        <a:t>melewati ambang Rp250 juta</a:t>
                      </a:r>
                    </a:p>
                  </a:txBody>
                  <a:tcPr marL="73152" marR="73152" marT="27432" marB="27432" anchor="ctr">
                    <a:solidFill>
                      <a:srgbClr val="FFFFFF"/>
                    </a:solidFill>
                  </a:tcPr>
                </a:tc>
              </a:tr>
              <a:tr h="548640">
                <a:tc>
                  <a:txBody>
                    <a:bodyPr wrap="square"/>
                    <a:lstStyle/>
                    <a:p>
                      <a:r>
                        <a:rPr sz="1200" b="1">
                          <a:solidFill>
                            <a:srgbClr val="1E2A3A"/>
                          </a:solidFill>
                          <a:latin typeface="Arial"/>
                        </a:rPr>
                        <a:t>Total diterima Mitra</a:t>
                      </a:r>
                    </a:p>
                  </a:txBody>
                  <a:tcPr marL="73152" marR="73152" marT="27432" marB="27432" anchor="ctr">
                    <a:solidFill>
                      <a:srgbClr val="F5EDD8"/>
                    </a:solidFill>
                  </a:tcPr>
                </a:tc>
                <a:tc>
                  <a:txBody>
                    <a:bodyPr wrap="square"/>
                    <a:lstStyle/>
                    <a:p>
                      <a:r>
                        <a:rPr sz="1200" b="0">
                          <a:solidFill>
                            <a:srgbClr val="3D4F6A"/>
                          </a:solidFill>
                          <a:latin typeface="Arial"/>
                        </a:rPr>
                        <a:t/>
                      </a:r>
                    </a:p>
                  </a:txBody>
                  <a:tcPr marL="73152" marR="73152" marT="27432" marB="27432" anchor="ctr">
                    <a:solidFill>
                      <a:srgbClr val="F5EDD8"/>
                    </a:solidFill>
                  </a:tcPr>
                </a:tc>
                <a:tc>
                  <a:txBody>
                    <a:bodyPr wrap="square"/>
                    <a:lstStyle/>
                    <a:p>
                      <a:r>
                        <a:rPr sz="1200" b="0">
                          <a:solidFill>
                            <a:srgbClr val="3D4F6A"/>
                          </a:solidFill>
                          <a:latin typeface="Arial"/>
                        </a:rPr>
                        <a:t>Rp27.568.000</a:t>
                      </a:r>
                    </a:p>
                  </a:txBody>
                  <a:tcPr marL="73152" marR="73152" marT="27432" marB="27432" anchor="ctr">
                    <a:solidFill>
                      <a:srgbClr val="F5EDD8"/>
                    </a:solidFill>
                  </a:tcPr>
                </a:tc>
                <a:tc>
                  <a:txBody>
                    <a:bodyPr wrap="square"/>
                    <a:lstStyle/>
                    <a:p>
                      <a:r>
                        <a:rPr sz="1200" b="0">
                          <a:solidFill>
                            <a:srgbClr val="3D4F6A"/>
                          </a:solidFill>
                          <a:latin typeface="Arial"/>
                        </a:rPr>
                        <a:t>sekitar Rp4,6 juta per bulan</a:t>
                      </a:r>
                    </a:p>
                  </a:txBody>
                  <a:tcPr marL="73152" marR="73152" marT="27432" marB="27432" anchor="ctr">
                    <a:solidFill>
                      <a:srgbClr val="F5EDD8"/>
                    </a:solidFill>
                  </a:tcPr>
                </a:tc>
              </a:tr>
            </a:tbl>
          </a:graphicData>
        </a:graphic>
      </p:graphicFrame>
      <p:graphicFrame>
        <p:nvGraphicFramePr>
          <p:cNvPr id="7" name="Chart 6"/>
          <p:cNvGraphicFramePr>
            <a:graphicFrameLocks noGrp="1"/>
          </p:cNvGraphicFramePr>
          <p:nvPr/>
        </p:nvGraphicFramePr>
        <p:xfrm>
          <a:off x="8046720" y="1325880"/>
          <a:ext cx="3657600" cy="4023360"/>
        </p:xfrm>
        <a:graphic>
          <a:graphicData uri="http://schemas.openxmlformats.org/drawingml/2006/chart">
            <c:chart xmlns:c="http://schemas.openxmlformats.org/drawingml/2006/chart" r:id="rId2"/>
          </a:graphicData>
        </a:graphic>
      </p:graphicFrame>
      <p:sp>
        <p:nvSpPr>
          <p:cNvPr id="8" name="Rounded Rectangle 7"/>
          <p:cNvSpPr/>
          <p:nvPr/>
        </p:nvSpPr>
        <p:spPr>
          <a:xfrm>
            <a:off x="457200" y="5486400"/>
            <a:ext cx="11247120" cy="795528"/>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200" b="1" i="0">
                <a:solidFill>
                  <a:srgbClr val="1E2A3A"/>
                </a:solidFill>
                <a:latin typeface="Arial"/>
              </a:rPr>
              <a:t>Agar lebih besar: </a:t>
            </a:r>
            <a:r>
              <a:rPr sz="1200" b="0" i="0">
                <a:solidFill>
                  <a:srgbClr val="3D4F6A"/>
                </a:solidFill>
                <a:latin typeface="Arial"/>
              </a:rPr>
              <a:t>jual di atas Daftar Harga (bagian 30%), capai ambang Rp400 juta (bonus Rp18 juta), dan tutup deal ke-5 agar komisi naik ke 12,5%.</a:t>
            </a:r>
          </a:p>
        </p:txBody>
      </p:sp>
      <p:sp>
        <p:nvSpPr>
          <p:cNvPr id="9"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Sumber: Perjanjian Kemitraan, Lampiran A Contoh 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Aturan main yang </a:t>
            </a:r>
            <a:r>
              <a:rPr sz="2800" b="1" i="0">
                <a:solidFill>
                  <a:srgbClr val="9B3809"/>
                </a:solidFill>
                <a:latin typeface="Georgia"/>
              </a:rPr>
              <a:t>menjaga kita berdua</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Aturan ini ada di perjanjian. Tujuannya: harga terjaga, perhitungan jelas, dan tidak ada salah paham.</a:t>
            </a:r>
          </a:p>
        </p:txBody>
      </p:sp>
      <p:sp>
        <p:nvSpPr>
          <p:cNvPr id="4" name="Tag"/>
          <p:cNvSpPr/>
          <p:nvPr/>
        </p:nvSpPr>
        <p:spPr>
          <a:xfrm>
            <a:off x="10469880" y="420624"/>
            <a:ext cx="1280160" cy="310896"/>
          </a:xfrm>
          <a:prstGeom prst="roundRect">
            <a:avLst>
              <a:gd name="adj" fmla="val 50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6B7A99"/>
                </a:solidFill>
                <a:latin typeface="Arial"/>
              </a:rPr>
              <a:t>ATURAN MAIN</a:t>
            </a:r>
          </a:p>
        </p:txBody>
      </p:sp>
      <p:sp>
        <p:nvSpPr>
          <p:cNvPr id="5"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10</a:t>
            </a:r>
          </a:p>
        </p:txBody>
      </p:sp>
      <p:sp>
        <p:nvSpPr>
          <p:cNvPr id="6" name="Rounded Rectangle 5"/>
          <p:cNvSpPr/>
          <p:nvPr/>
        </p:nvSpPr>
        <p:spPr>
          <a:xfrm>
            <a:off x="457200" y="1417320"/>
            <a:ext cx="3611880" cy="502920"/>
          </a:xfrm>
          <a:prstGeom prst="roundRect">
            <a:avLst>
              <a:gd name="adj" fmla="val 8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600" b="1" i="0">
                <a:solidFill>
                  <a:srgbClr val="FFFFFF"/>
                </a:solidFill>
                <a:latin typeface="Georgia"/>
              </a:rPr>
              <a:t>Harga</a:t>
            </a:r>
          </a:p>
        </p:txBody>
      </p:sp>
      <p:sp>
        <p:nvSpPr>
          <p:cNvPr id="7" name="Rounded Rectangle 6"/>
          <p:cNvSpPr/>
          <p:nvPr/>
        </p:nvSpPr>
        <p:spPr>
          <a:xfrm>
            <a:off x="457200" y="1965960"/>
            <a:ext cx="3611880" cy="338328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1000"/>
              </a:spcAft>
            </a:pPr>
            <a:r>
              <a:rPr sz="1300" b="1" i="0">
                <a:solidFill>
                  <a:srgbClr val="9B3809"/>
                </a:solidFill>
                <a:latin typeface="Arial"/>
              </a:rPr>
              <a:t>•  </a:t>
            </a:r>
            <a:r>
              <a:rPr sz="1300" b="0" i="0">
                <a:solidFill>
                  <a:srgbClr val="3D4F6A"/>
                </a:solidFill>
                <a:latin typeface="Arial"/>
              </a:rPr>
              <a:t>Buka penawaran dengan Daftar Harga</a:t>
            </a:r>
          </a:p>
          <a:p>
            <a:pPr algn="l">
              <a:spcAft>
                <a:spcPts val="1000"/>
              </a:spcAft>
            </a:pPr>
            <a:r>
              <a:rPr sz="1300" b="1" i="0">
                <a:solidFill>
                  <a:srgbClr val="9B3809"/>
                </a:solidFill>
                <a:latin typeface="Arial"/>
              </a:rPr>
              <a:t>•  </a:t>
            </a:r>
            <a:r>
              <a:rPr sz="1300" b="0" i="0">
                <a:solidFill>
                  <a:srgbClr val="3D4F6A"/>
                </a:solidFill>
                <a:latin typeface="Arial"/>
              </a:rPr>
              <a:t>Tidak boleh di bawah Daftar Harga tanpa persetujuan tertulis Direktur</a:t>
            </a:r>
          </a:p>
          <a:p>
            <a:pPr algn="l">
              <a:spcAft>
                <a:spcPts val="1000"/>
              </a:spcAft>
            </a:pPr>
            <a:r>
              <a:rPr sz="1300" b="1" i="0">
                <a:solidFill>
                  <a:srgbClr val="9B3809"/>
                </a:solidFill>
                <a:latin typeface="Arial"/>
              </a:rPr>
              <a:t>•  </a:t>
            </a:r>
            <a:r>
              <a:rPr sz="1300" b="0" i="0">
                <a:solidFill>
                  <a:srgbClr val="3D4F6A"/>
                </a:solidFill>
                <a:latin typeface="Arial"/>
              </a:rPr>
              <a:t>Di atas Daftar Harga boleh sampai +20%; lebih dari itu perlu persetujuan</a:t>
            </a:r>
          </a:p>
        </p:txBody>
      </p:sp>
      <p:sp>
        <p:nvSpPr>
          <p:cNvPr id="8" name="Rounded Rectangle 7"/>
          <p:cNvSpPr/>
          <p:nvPr/>
        </p:nvSpPr>
        <p:spPr>
          <a:xfrm>
            <a:off x="4251960" y="1417320"/>
            <a:ext cx="3611880" cy="502920"/>
          </a:xfrm>
          <a:prstGeom prst="roundRect">
            <a:avLst>
              <a:gd name="adj" fmla="val 8000"/>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600" b="1" i="0">
                <a:solidFill>
                  <a:srgbClr val="FFFFFF"/>
                </a:solidFill>
                <a:latin typeface="Georgia"/>
              </a:rPr>
              <a:t>Perpanjangan</a:t>
            </a:r>
          </a:p>
        </p:txBody>
      </p:sp>
      <p:sp>
        <p:nvSpPr>
          <p:cNvPr id="9" name="Rounded Rectangle 8"/>
          <p:cNvSpPr/>
          <p:nvPr/>
        </p:nvSpPr>
        <p:spPr>
          <a:xfrm>
            <a:off x="4251960" y="1965960"/>
            <a:ext cx="3611880" cy="338328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1000"/>
              </a:spcAft>
            </a:pPr>
            <a:r>
              <a:rPr sz="1300" b="1" i="0">
                <a:solidFill>
                  <a:srgbClr val="9B3809"/>
                </a:solidFill>
                <a:latin typeface="Arial"/>
              </a:rPr>
              <a:t>•  </a:t>
            </a:r>
            <a:r>
              <a:rPr sz="1300" b="0" i="0">
                <a:solidFill>
                  <a:srgbClr val="3D4F6A"/>
                </a:solidFill>
                <a:latin typeface="Arial"/>
              </a:rPr>
              <a:t>Minimal 1 pertemuan atau panggilan dengan PIC klien per kuartal, dikonfirmasi tim kami</a:t>
            </a:r>
          </a:p>
          <a:p>
            <a:pPr algn="l">
              <a:spcAft>
                <a:spcPts val="1000"/>
              </a:spcAft>
            </a:pPr>
            <a:r>
              <a:rPr sz="1300" b="1" i="0">
                <a:solidFill>
                  <a:srgbClr val="9B3809"/>
                </a:solidFill>
                <a:latin typeface="Arial"/>
              </a:rPr>
              <a:t>•  </a:t>
            </a:r>
            <a:r>
              <a:rPr sz="1300" b="0" i="0">
                <a:solidFill>
                  <a:srgbClr val="3D4F6A"/>
                </a:solidFill>
                <a:latin typeface="Arial"/>
              </a:rPr>
              <a:t>Ikut dalam proses perpanjangan; tingkat komisi ditulis saat SPK</a:t>
            </a:r>
          </a:p>
          <a:p>
            <a:pPr algn="l">
              <a:spcAft>
                <a:spcPts val="1000"/>
              </a:spcAft>
            </a:pPr>
            <a:r>
              <a:rPr sz="1300" b="1" i="0">
                <a:solidFill>
                  <a:srgbClr val="9B3809"/>
                </a:solidFill>
                <a:latin typeface="Arial"/>
              </a:rPr>
              <a:t>•  </a:t>
            </a:r>
            <a:r>
              <a:rPr sz="1300" b="0" i="0">
                <a:solidFill>
                  <a:srgbClr val="3D4F6A"/>
                </a:solidFill>
                <a:latin typeface="Arial"/>
              </a:rPr>
              <a:t>Berakhir 24 bulan setelah deal terakhir Anda dengan klien itu; tidak dihitung untuk bonus</a:t>
            </a:r>
          </a:p>
        </p:txBody>
      </p:sp>
      <p:sp>
        <p:nvSpPr>
          <p:cNvPr id="10" name="Rounded Rectangle 9"/>
          <p:cNvSpPr/>
          <p:nvPr/>
        </p:nvSpPr>
        <p:spPr>
          <a:xfrm>
            <a:off x="8046720" y="1417320"/>
            <a:ext cx="3611880" cy="502920"/>
          </a:xfrm>
          <a:prstGeom prst="roundRect">
            <a:avLst>
              <a:gd name="adj" fmla="val 8000"/>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600" b="1" i="0">
                <a:solidFill>
                  <a:srgbClr val="FFFFFF"/>
                </a:solidFill>
                <a:latin typeface="Georgia"/>
              </a:rPr>
              <a:t>Pembayaran dan pajak</a:t>
            </a:r>
          </a:p>
        </p:txBody>
      </p:sp>
      <p:sp>
        <p:nvSpPr>
          <p:cNvPr id="11" name="Rounded Rectangle 10"/>
          <p:cNvSpPr/>
          <p:nvPr/>
        </p:nvSpPr>
        <p:spPr>
          <a:xfrm>
            <a:off x="8046720" y="1965960"/>
            <a:ext cx="3611880" cy="338328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1000"/>
              </a:spcAft>
            </a:pPr>
            <a:r>
              <a:rPr sz="1300" b="1" i="0">
                <a:solidFill>
                  <a:srgbClr val="9B3809"/>
                </a:solidFill>
                <a:latin typeface="Arial"/>
              </a:rPr>
              <a:t>•  </a:t>
            </a:r>
            <a:r>
              <a:rPr sz="1300" b="0" i="0">
                <a:solidFill>
                  <a:srgbClr val="3D4F6A"/>
                </a:solidFill>
                <a:latin typeface="Arial"/>
              </a:rPr>
              <a:t>Rekap 7 hari kerja setelah klien membayar; komisi paling lambat 14 hari</a:t>
            </a:r>
          </a:p>
          <a:p>
            <a:pPr algn="l">
              <a:spcAft>
                <a:spcPts val="1000"/>
              </a:spcAft>
            </a:pPr>
            <a:r>
              <a:rPr sz="1300" b="1" i="0">
                <a:solidFill>
                  <a:srgbClr val="9B3809"/>
                </a:solidFill>
                <a:latin typeface="Arial"/>
              </a:rPr>
              <a:t>•  </a:t>
            </a:r>
            <a:r>
              <a:rPr sz="1300" b="0" i="0">
                <a:solidFill>
                  <a:srgbClr val="3D4F6A"/>
                </a:solidFill>
                <a:latin typeface="Arial"/>
              </a:rPr>
              <a:t>Klien bayar bertahap: komisi persen ikut bertahap; komisi EAP setelah pembayaran pertama</a:t>
            </a:r>
          </a:p>
          <a:p>
            <a:pPr algn="l">
              <a:spcAft>
                <a:spcPts val="1000"/>
              </a:spcAft>
            </a:pPr>
            <a:r>
              <a:rPr sz="1300" b="1" i="0">
                <a:solidFill>
                  <a:srgbClr val="9B3809"/>
                </a:solidFill>
                <a:latin typeface="Arial"/>
              </a:rPr>
              <a:t>•  </a:t>
            </a:r>
            <a:r>
              <a:rPr sz="1300" b="0" i="0">
                <a:solidFill>
                  <a:srgbClr val="3D4F6A"/>
                </a:solidFill>
                <a:latin typeface="Arial"/>
              </a:rPr>
              <a:t>Dipotong PPh 21 (bukan pegawai), bukti potong diberikan</a:t>
            </a:r>
          </a:p>
        </p:txBody>
      </p:sp>
      <p:sp>
        <p:nvSpPr>
          <p:cNvPr id="12" name="Rounded Rectangle 11"/>
          <p:cNvSpPr/>
          <p:nvPr/>
        </p:nvSpPr>
        <p:spPr>
          <a:xfrm>
            <a:off x="457200" y="5532120"/>
            <a:ext cx="11247120" cy="749808"/>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200" b="1" i="0">
                <a:solidFill>
                  <a:srgbClr val="1E2A3A"/>
                </a:solidFill>
                <a:latin typeface="Arial"/>
              </a:rPr>
              <a:t>Denda dan keadaan kahar: </a:t>
            </a:r>
            <a:r>
              <a:rPr sz="1200" b="0" i="0">
                <a:solidFill>
                  <a:srgbClr val="3D4F6A"/>
                </a:solidFill>
                <a:latin typeface="Arial"/>
              </a:rPr>
              <a:t>pelanggaran kerahasiaan, pengalihan klien, atau harga di bawah Daftar Harga dikenai denda, ditambah ganti rugi bila kerugian lebih besar. Keadaan kahar diberitahukan paling lambat 2 hari; bila 21 hari tetap tidak bisa dipenuhi, dibatalkan bersama.</a:t>
            </a:r>
          </a:p>
        </p:txBody>
      </p:sp>
      <p:sp>
        <p:nvSpPr>
          <p:cNvPr id="13"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Sumber: Perjanjian Kemitraan, Pasal 4, 8, 9, 10, 12, 15 dan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