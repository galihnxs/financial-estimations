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Sheet1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374151"/>
                </a:solidFill>
                <a:latin typeface="Arial"/>
              </a:rPr>
              <a:t>Net profit each month in 2027 (Rp M)</a:t>
            </a:r>
          </a:p>
        </c:rich>
      </c:tx>
      <c:layout/>
      <c:overlay val="0"/>
    </c:title>
    <c:autoTitleDeleted val="0"/>
    <c:plotArea>
      <c:barChart>
        <c:barDir val="col"/>
        <c:grouping val="clustered"/>
        <c:ser>
          <c:idx val="0"/>
          <c:order val="0"/>
          <c:tx>
            <c:strRef>
              <c:f>Sheet1!$B$1</c:f>
              <c:strCache>
                <c:ptCount val="1"/>
                <c:pt idx="0">
                  <c:v>Net profit</c:v>
                </c:pt>
              </c:strCache>
            </c:strRef>
          </c:tx>
          <c:invertIfNegative val="0"/>
          <c:dPt>
            <c:idx val="0"/>
            <c:invertIfNegative val="0"/>
            <c:spPr>
              <a:solidFill>
                <a:srgbClr val="9B3809"/>
              </a:solidFill>
            </c:spPr>
          </c:dPt>
          <c:dPt>
            <c:idx val="1"/>
            <c:invertIfNegative val="0"/>
            <c:spPr>
              <a:solidFill>
                <a:srgbClr val="9B3809"/>
              </a:solidFill>
            </c:spPr>
          </c:dPt>
          <c:dPt>
            <c:idx val="2"/>
            <c:invertIfNegative val="0"/>
            <c:spPr>
              <a:solidFill>
                <a:srgbClr val="576C94"/>
              </a:solidFill>
            </c:spPr>
          </c:dPt>
          <c:dPt>
            <c:idx val="3"/>
            <c:invertIfNegative val="0"/>
            <c:spPr>
              <a:solidFill>
                <a:srgbClr val="576C94"/>
              </a:solidFill>
            </c:spPr>
          </c:dPt>
          <c:dPt>
            <c:idx val="4"/>
            <c:invertIfNegative val="0"/>
            <c:spPr>
              <a:solidFill>
                <a:srgbClr val="576C94"/>
              </a:solidFill>
            </c:spPr>
          </c:dPt>
          <c:dPt>
            <c:idx val="5"/>
            <c:invertIfNegative val="0"/>
            <c:spPr>
              <a:solidFill>
                <a:srgbClr val="9B3809"/>
              </a:solidFill>
            </c:spPr>
          </c:dPt>
          <c:dPt>
            <c:idx val="6"/>
            <c:invertIfNegative val="0"/>
            <c:spPr>
              <a:solidFill>
                <a:srgbClr val="576C94"/>
              </a:solidFill>
            </c:spPr>
          </c:dPt>
          <c:dPt>
            <c:idx val="7"/>
            <c:invertIfNegative val="0"/>
            <c:spPr>
              <a:solidFill>
                <a:srgbClr val="9B3809"/>
              </a:solidFill>
            </c:spPr>
          </c:dPt>
          <c:dPt>
            <c:idx val="8"/>
            <c:invertIfNegative val="0"/>
            <c:spPr>
              <a:solidFill>
                <a:srgbClr val="576C94"/>
              </a:solidFill>
            </c:spPr>
          </c:dPt>
          <c:dPt>
            <c:idx val="9"/>
            <c:invertIfNegative val="0"/>
            <c:spPr>
              <a:solidFill>
                <a:srgbClr val="576C94"/>
              </a:solidFill>
            </c:spPr>
          </c:dPt>
          <c:dPt>
            <c:idx val="10"/>
            <c:invertIfNegative val="0"/>
            <c:spPr>
              <a:solidFill>
                <a:srgbClr val="576C94"/>
              </a:solidFill>
            </c:spPr>
          </c:dPt>
          <c:dPt>
            <c:idx val="11"/>
            <c:invertIfNegative val="0"/>
            <c:spPr>
              <a:solidFill>
                <a:srgbClr val="576C94"/>
              </a:solidFill>
            </c:spPr>
          </c:dPt>
          <c:cat>
            <c:strRef>
              <c:f>Sheet1!$A$2:$A$13</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Sheet1!$B$2:$B$13</c:f>
              <c:numCache>
                <c:formatCode>General</c:formatCode>
                <c:ptCount val="12"/>
                <c:pt idx="0">
                  <c:v>-28.8</c:v>
                </c:pt>
                <c:pt idx="1">
                  <c:v>-29.3</c:v>
                </c:pt>
                <c:pt idx="2">
                  <c:v>57.2</c:v>
                </c:pt>
                <c:pt idx="3">
                  <c:v>9.9</c:v>
                </c:pt>
                <c:pt idx="4">
                  <c:v>35.7</c:v>
                </c:pt>
                <c:pt idx="5">
                  <c:v>-34.6</c:v>
                </c:pt>
                <c:pt idx="6">
                  <c:v>73.9</c:v>
                </c:pt>
                <c:pt idx="7">
                  <c:v>-32.1</c:v>
                </c:pt>
                <c:pt idx="8">
                  <c:v>58.1</c:v>
                </c:pt>
                <c:pt idx="9">
                  <c:v>71.3</c:v>
                </c:pt>
                <c:pt idx="10">
                  <c:v>155.9</c:v>
                </c:pt>
                <c:pt idx="11">
                  <c:v>84.9</c:v>
                </c:pt>
              </c:numCache>
            </c:numRef>
          </c:val>
        </c:ser>
        <c:dLbls>
          <c:numFmt formatCode="#,##0" sourceLinked="0"/>
          <c:txPr>
            <a:bodyPr/>
            <a:lstStyle/>
            <a:p>
              <a:pPr>
                <a:defRPr sz="1300" b="1">
                  <a:solidFill>
                    <a:srgbClr val="374151"/>
                  </a:solidFill>
                  <a:latin typeface="Arial"/>
                </a:defRPr>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inMax"/>
        </c:scaling>
        <c:delete val="0"/>
        <c:axPos val="b"/>
        <c:majorTickMark val="out"/>
        <c:minorTickMark val="none"/>
        <c:tickLblPos val="low"/>
        <c:spPr>
          <a:ln>
            <a:solidFill>
              <a:srgbClr val="E5E7EB"/>
            </a:solidFill>
          </a:ln>
        </c:spPr>
        <c:txPr>
          <a:bodyPr/>
          <a:lstStyle/>
          <a:p>
            <a:pPr>
              <a:defRPr sz="1200">
                <a:solidFill>
                  <a:srgbClr val="6B7280"/>
                </a:solidFill>
                <a:latin typeface="Arial"/>
              </a:defRPr>
            </a:pPr>
          </a:p>
        </c:txPr>
        <c:crossAx val="-2113994440"/>
        <c:crosses val="autoZero"/>
        <c:auto val="1"/>
        <c:lblAlgn val="ctr"/>
        <c:lblOffset val="100"/>
        <c:noMultiLvlLbl val="0"/>
      </c:catAx>
      <c:valAx>
        <c:axId val="-2113994440"/>
        <c:scaling>
          <c:max val="194.875"/>
          <c:min val="-46.71000000000001"/>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374151"/>
                </a:solidFill>
                <a:latin typeface="Arial"/>
              </a:rPr>
              <a:t>Net margin in a normal full year (blue = 15% or more)</a:t>
            </a:r>
          </a:p>
        </c:rich>
      </c:tx>
      <c:layout/>
      <c:overlay val="0"/>
    </c:title>
    <c:autoTitleDeleted val="0"/>
    <c:plotArea>
      <c:barChart>
        <c:barDir val="col"/>
        <c:grouping val="clustered"/>
        <c:ser>
          <c:idx val="0"/>
          <c:order val="0"/>
          <c:tx>
            <c:strRef>
              <c:f>Sheet1!$B$1</c:f>
              <c:strCache>
                <c:ptCount val="1"/>
                <c:pt idx="0">
                  <c:v>Net margin</c:v>
                </c:pt>
              </c:strCache>
            </c:strRef>
          </c:tx>
          <c:invertIfNegative val="0"/>
          <c:dPt>
            <c:idx val="0"/>
            <c:invertIfNegative val="0"/>
            <c:spPr>
              <a:solidFill>
                <a:srgbClr val="9B3809"/>
              </a:solidFill>
            </c:spPr>
          </c:dPt>
          <c:dPt>
            <c:idx val="1"/>
            <c:invertIfNegative val="0"/>
            <c:spPr>
              <a:solidFill>
                <a:srgbClr val="576C94"/>
              </a:solidFill>
            </c:spPr>
          </c:dPt>
          <c:dPt>
            <c:idx val="2"/>
            <c:invertIfNegative val="0"/>
            <c:spPr>
              <a:solidFill>
                <a:srgbClr val="9B3809"/>
              </a:solidFill>
            </c:spPr>
          </c:dPt>
          <c:dPt>
            <c:idx val="3"/>
            <c:invertIfNegative val="0"/>
            <c:spPr>
              <a:solidFill>
                <a:srgbClr val="576C94"/>
              </a:solidFill>
            </c:spPr>
          </c:dPt>
          <c:dPt>
            <c:idx val="4"/>
            <c:invertIfNegative val="0"/>
            <c:spPr>
              <a:solidFill>
                <a:srgbClr val="576C94"/>
              </a:solidFill>
            </c:spPr>
          </c:dPt>
          <c:cat>
            <c:strRef>
              <c:f>Sheet1!$A$2:$A$6</c:f>
              <c:strCache>
                <c:ptCount val="5"/>
                <c:pt idx="0">
                  <c:v>Old prices</c:v>
                </c:pt>
                <c:pt idx="1">
                  <c:v>New prices</c:v>
                </c:pt>
                <c:pt idx="2">
                  <c:v>+ fair pay</c:v>
                </c:pt>
                <c:pt idx="3">
                  <c:v>+ 2 EAP</c:v>
                </c:pt>
                <c:pt idx="4">
                  <c:v>+ co-founder and bank deal</c:v>
                </c:pt>
              </c:strCache>
            </c:strRef>
          </c:cat>
          <c:val>
            <c:numRef>
              <c:f>Sheet1!$B$2:$B$6</c:f>
              <c:numCache>
                <c:formatCode>General</c:formatCode>
                <c:ptCount val="5"/>
                <c:pt idx="0">
                  <c:v>0.12549668874172185</c:v>
                </c:pt>
                <c:pt idx="1">
                  <c:v>0.25200366300366267</c:v>
                </c:pt>
                <c:pt idx="2">
                  <c:v>0.043389876789876526</c:v>
                </c:pt>
                <c:pt idx="3">
                  <c:v>0.16295992479183433</c:v>
                </c:pt>
                <c:pt idx="4">
                  <c:v>0.2276196078431371</c:v>
                </c:pt>
              </c:numCache>
            </c:numRef>
          </c:val>
        </c:ser>
        <c:dLbls>
          <c:numFmt formatCode="0%" sourceLinked="0"/>
          <c:txPr>
            <a:bodyPr/>
            <a:lstStyle/>
            <a:p>
              <a:pPr>
                <a:defRPr sz="1300" b="1">
                  <a:solidFill>
                    <a:srgbClr val="374151"/>
                  </a:solidFill>
                  <a:latin typeface="Aria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E5E7EB"/>
            </a:solidFill>
          </a:ln>
        </c:spPr>
        <c:txPr>
          <a:bodyPr/>
          <a:lstStyle/>
          <a:p>
            <a:pPr>
              <a:defRPr sz="1200">
                <a:solidFill>
                  <a:srgbClr val="6B7280"/>
                </a:solidFill>
                <a:latin typeface="Arial"/>
              </a:defRPr>
            </a:pPr>
          </a:p>
        </c:txPr>
        <c:crossAx val="-2113994440"/>
        <c:crosses val="autoZero"/>
        <c:auto val="1"/>
        <c:lblAlgn val="ctr"/>
        <c:lblOffset val="100"/>
        <c:noMultiLvlLbl val="0"/>
      </c:catAx>
      <c:valAx>
        <c:axId val="-2113994440"/>
        <c:scaling>
          <c:max val="0.3150045787545783"/>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374151"/>
                </a:solidFill>
                <a:latin typeface="Arial"/>
              </a:rPr>
              <a:t>Fixed cost per month (Rp M)</a:t>
            </a:r>
          </a:p>
        </c:rich>
      </c:tx>
      <c:layout/>
      <c:overlay val="0"/>
    </c:title>
    <c:autoTitleDeleted val="0"/>
    <c:plotArea>
      <c:barChart>
        <c:barDir val="col"/>
        <c:grouping val="stacked"/>
        <c:ser>
          <c:idx val="0"/>
          <c:order val="0"/>
          <c:tx>
            <c:strRef>
              <c:f>Sheet1!$B$1</c:f>
              <c:strCache>
                <c:ptCount val="1"/>
                <c:pt idx="0">
                  <c:v>Founders</c:v>
                </c:pt>
              </c:strCache>
            </c:strRef>
          </c:tx>
          <c:spPr>
            <a:solidFill>
              <a:srgbClr val="475571"/>
            </a:solidFill>
          </c:spPr>
          <c:invertIfNegative val="0"/>
          <c:dLbls>
            <c:dLbl>
              <c:idx val="0"/>
              <c:tx>
                <c:rich>
                  <a:bodyPr/>
                  <a:lstStyle/>
                  <a:p>
                    <a:r>
                      <a:rPr sz="1200" b="1">
                        <a:solidFill>
                          <a:srgbClr val="FFFFFF"/>
                        </a:solidFill>
                        <a:latin typeface="Arial"/>
                      </a:rPr>
                      <a:t>25.0</a:t>
                    </a:r>
                  </a:p>
                </c:rich>
              </c:tx>
              <c:showLegendKey val="0"/>
              <c:showVal val="1"/>
              <c:showCatName val="0"/>
              <c:showSerName val="0"/>
              <c:showPercent val="0"/>
              <c:showBubbleSize val="0"/>
            </c:dLbl>
            <c:dLbl>
              <c:idx val="1"/>
              <c:tx>
                <c:rich>
                  <a:bodyPr/>
                  <a:lstStyle/>
                  <a:p>
                    <a:r>
                      <a:rPr sz="1200" b="1">
                        <a:solidFill>
                          <a:srgbClr val="FFFFFF"/>
                        </a:solidFill>
                        <a:latin typeface="Arial"/>
                      </a:rPr>
                      <a:t>25.0</a:t>
                    </a:r>
                  </a:p>
                </c:rich>
              </c:tx>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Today (2027 budget)</c:v>
                </c:pt>
                <c:pt idx="1">
                  <c:v>With fair pay</c:v>
                </c:pt>
              </c:strCache>
            </c:strRef>
          </c:cat>
          <c:val>
            <c:numRef>
              <c:f>Sheet1!$B$2:$B$3</c:f>
              <c:numCache>
                <c:formatCode>General</c:formatCode>
                <c:ptCount val="2"/>
                <c:pt idx="0">
                  <c:v>25.0</c:v>
                </c:pt>
                <c:pt idx="1">
                  <c:v>25.0</c:v>
                </c:pt>
              </c:numCache>
            </c:numRef>
          </c:val>
        </c:ser>
        <c:ser>
          <c:idx val="1"/>
          <c:order val="1"/>
          <c:tx>
            <c:strRef>
              <c:f>Sheet1!$C$1</c:f>
              <c:strCache>
                <c:ptCount val="1"/>
                <c:pt idx="0">
                  <c:v>Staff</c:v>
                </c:pt>
              </c:strCache>
            </c:strRef>
          </c:tx>
          <c:spPr>
            <a:solidFill>
              <a:srgbClr val="9B3809"/>
            </a:solidFill>
          </c:spPr>
          <c:invertIfNegative val="0"/>
          <c:dLbls>
            <c:dLbl>
              <c:idx val="0"/>
              <c:tx>
                <c:rich>
                  <a:bodyPr/>
                  <a:lstStyle/>
                  <a:p>
                    <a:r>
                      <a:rPr sz="1200" b="1">
                        <a:solidFill>
                          <a:srgbClr val="FFFFFF"/>
                        </a:solidFill>
                        <a:latin typeface="Arial"/>
                      </a:rPr>
                      <a:t>11.3</a:t>
                    </a:r>
                  </a:p>
                </c:rich>
              </c:tx>
              <c:showLegendKey val="0"/>
              <c:showVal val="1"/>
              <c:showCatName val="0"/>
              <c:showSerName val="0"/>
              <c:showPercent val="0"/>
              <c:showBubbleSize val="0"/>
            </c:dLbl>
            <c:dLbl>
              <c:idx val="1"/>
              <c:tx>
                <c:rich>
                  <a:bodyPr/>
                  <a:lstStyle/>
                  <a:p>
                    <a:r>
                      <a:rPr sz="1200" b="1">
                        <a:solidFill>
                          <a:srgbClr val="FFFFFF"/>
                        </a:solidFill>
                        <a:latin typeface="Arial"/>
                      </a:rPr>
                      <a:t>34.4</a:t>
                    </a:r>
                  </a:p>
                </c:rich>
              </c:tx>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Today (2027 budget)</c:v>
                </c:pt>
                <c:pt idx="1">
                  <c:v>With fair pay</c:v>
                </c:pt>
              </c:strCache>
            </c:strRef>
          </c:cat>
          <c:val>
            <c:numRef>
              <c:f>Sheet1!$C$2:$C$3</c:f>
              <c:numCache>
                <c:formatCode>General</c:formatCode>
                <c:ptCount val="2"/>
                <c:pt idx="0">
                  <c:v>11.3</c:v>
                </c:pt>
                <c:pt idx="1">
                  <c:v>34.4028</c:v>
                </c:pt>
              </c:numCache>
            </c:numRef>
          </c:val>
        </c:ser>
        <c:ser>
          <c:idx val="2"/>
          <c:order val="2"/>
          <c:tx>
            <c:strRef>
              <c:f>Sheet1!$D$1</c:f>
              <c:strCache>
                <c:ptCount val="1"/>
                <c:pt idx="0">
                  <c:v>Project manager</c:v>
                </c:pt>
              </c:strCache>
            </c:strRef>
          </c:tx>
          <c:spPr>
            <a:solidFill>
              <a:srgbClr val="6379A1"/>
            </a:solidFill>
          </c:spPr>
          <c:invertIfNegative val="0"/>
          <c:dLbls>
            <c:dLbl>
              <c:idx val="0"/>
              <c:tx>
                <c:rich>
                  <a:bodyPr/>
                  <a:lstStyle/>
                  <a:p>
                    <a:r>
                      <a:rPr sz="1200" b="1">
                        <a:solidFill>
                          <a:srgbClr val="FFFFFF"/>
                        </a:solidFill>
                        <a:latin typeface="Arial"/>
                      </a:rPr>
                      <a:t>5.0</a:t>
                    </a:r>
                  </a:p>
                </c:rich>
              </c:tx>
              <c:showLegendKey val="0"/>
              <c:showVal val="1"/>
              <c:showCatName val="0"/>
              <c:showSerName val="0"/>
              <c:showPercent val="0"/>
              <c:showBubbleSize val="0"/>
            </c:dLbl>
            <c:dLbl>
              <c:idx val="1"/>
              <c:tx>
                <c:rich>
                  <a:bodyPr/>
                  <a:lstStyle/>
                  <a:p>
                    <a:r>
                      <a:rPr sz="1200" b="1">
                        <a:solidFill>
                          <a:srgbClr val="FFFFFF"/>
                        </a:solidFill>
                        <a:latin typeface="Arial"/>
                      </a:rPr>
                      <a:t>5.0</a:t>
                    </a:r>
                  </a:p>
                </c:rich>
              </c:tx>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Today (2027 budget)</c:v>
                </c:pt>
                <c:pt idx="1">
                  <c:v>With fair pay</c:v>
                </c:pt>
              </c:strCache>
            </c:strRef>
          </c:cat>
          <c:val>
            <c:numRef>
              <c:f>Sheet1!$D$2:$D$3</c:f>
              <c:numCache>
                <c:formatCode>General</c:formatCode>
                <c:ptCount val="2"/>
                <c:pt idx="0">
                  <c:v>5.0</c:v>
                </c:pt>
                <c:pt idx="1">
                  <c:v>5.0</c:v>
                </c:pt>
              </c:numCache>
            </c:numRef>
          </c:val>
        </c:ser>
        <c:ser>
          <c:idx val="3"/>
          <c:order val="3"/>
          <c:tx>
            <c:strRef>
              <c:f>Sheet1!$E$1</c:f>
              <c:strCache>
                <c:ptCount val="1"/>
                <c:pt idx="0">
                  <c:v>Office</c:v>
                </c:pt>
              </c:strCache>
            </c:strRef>
          </c:tx>
          <c:spPr>
            <a:solidFill>
              <a:srgbClr val="576C94"/>
            </a:solidFill>
          </c:spPr>
          <c:invertIfNegative val="0"/>
          <c:dLbls>
            <c:dLbl>
              <c:idx val="0"/>
              <c:tx>
                <c:rich>
                  <a:bodyPr/>
                  <a:lstStyle/>
                  <a:p>
                    <a:r>
                      <a:rPr sz="1200" b="1">
                        <a:solidFill>
                          <a:srgbClr val="FFFFFF"/>
                        </a:solidFill>
                        <a:latin typeface="Arial"/>
                      </a:rPr>
                      <a:t>5.8</a:t>
                    </a:r>
                  </a:p>
                </c:rich>
              </c:tx>
              <c:showLegendKey val="0"/>
              <c:showVal val="1"/>
              <c:showCatName val="0"/>
              <c:showSerName val="0"/>
              <c:showPercent val="0"/>
              <c:showBubbleSize val="0"/>
            </c:dLbl>
            <c:dLbl>
              <c:idx val="1"/>
              <c:tx>
                <c:rich>
                  <a:bodyPr/>
                  <a:lstStyle/>
                  <a:p>
                    <a:r>
                      <a:rPr sz="1200" b="1">
                        <a:solidFill>
                          <a:srgbClr val="FFFFFF"/>
                        </a:solidFill>
                        <a:latin typeface="Arial"/>
                      </a:rPr>
                      <a:t>5.8</a:t>
                    </a:r>
                  </a:p>
                </c:rich>
              </c:tx>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Today (2027 budget)</c:v>
                </c:pt>
                <c:pt idx="1">
                  <c:v>With fair pay</c:v>
                </c:pt>
              </c:strCache>
            </c:strRef>
          </c:cat>
          <c:val>
            <c:numRef>
              <c:f>Sheet1!$E$2:$E$3</c:f>
              <c:numCache>
                <c:formatCode>General</c:formatCode>
                <c:ptCount val="2"/>
                <c:pt idx="0">
                  <c:v>5.8</c:v>
                </c:pt>
                <c:pt idx="1">
                  <c:v>5.8</c:v>
                </c:pt>
              </c:numCache>
            </c:numRef>
          </c:val>
        </c:ser>
        <c:ser>
          <c:idx val="4"/>
          <c:order val="4"/>
          <c:tx>
            <c:strRef>
              <c:f>Sheet1!$F$1</c:f>
              <c:strCache>
                <c:ptCount val="1"/>
                <c:pt idx="0">
                  <c:v>Software and ads</c:v>
                </c:pt>
              </c:strCache>
            </c:strRef>
          </c:tx>
          <c:spPr>
            <a:solidFill>
              <a:srgbClr val="B3A37C"/>
            </a:solidFill>
          </c:spPr>
          <c:invertIfNegative val="0"/>
          <c:dLbls>
            <c:dLbl>
              <c:idx val="0"/>
              <c:tx>
                <c:rich>
                  <a:bodyPr/>
                  <a:lstStyle/>
                  <a:p/>
                </c:rich>
              </c:tx>
              <c:showLegendKey val="0"/>
              <c:showVal val="1"/>
              <c:showCatName val="0"/>
              <c:showSerName val="0"/>
              <c:showPercent val="0"/>
              <c:showBubbleSize val="0"/>
            </c:dLbl>
            <c:dLbl>
              <c:idx val="1"/>
              <c:tx>
                <c:rich>
                  <a:bodyPr/>
                  <a:lstStyle/>
                  <a:p>
                    <a:r>
                      <a:rPr sz="1200" b="1">
                        <a:solidFill>
                          <a:srgbClr val="FFFFFF"/>
                        </a:solidFill>
                        <a:latin typeface="Arial"/>
                      </a:rPr>
                      <a:t>5.1</a:t>
                    </a:r>
                  </a:p>
                </c:rich>
              </c:tx>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Today (2027 budget)</c:v>
                </c:pt>
                <c:pt idx="1">
                  <c:v>With fair pay</c:v>
                </c:pt>
              </c:strCache>
            </c:strRef>
          </c:cat>
          <c:val>
            <c:numRef>
              <c:f>Sheet1!$F$2:$F$3</c:f>
              <c:numCache>
                <c:formatCode>General</c:formatCode>
                <c:ptCount val="2"/>
                <c:pt idx="0">
                  <c:v>2.08</c:v>
                </c:pt>
                <c:pt idx="1">
                  <c:v>5.08</c:v>
                </c:pt>
              </c:numCache>
            </c:numRef>
          </c:val>
        </c:ser>
        <c:ser>
          <c:idx val="5"/>
          <c:order val="5"/>
          <c:tx>
            <c:strRef>
              <c:f>Sheet1!$G$1</c:f>
              <c:strCache>
                <c:ptCount val="1"/>
                <c:pt idx="0">
                  <c:v>Accountant and sales travel</c:v>
                </c:pt>
              </c:strCache>
            </c:strRef>
          </c:tx>
          <c:spPr>
            <a:solidFill>
              <a:srgbClr val="B8BEC9"/>
            </a:solidFill>
          </c:spPr>
          <c:invertIfNegative val="0"/>
          <c:dLbls>
            <c:dLbl>
              <c:idx val="0"/>
              <c:tx>
                <c:rich>
                  <a:bodyPr/>
                  <a:lstStyle/>
                  <a:p/>
                </c:rich>
              </c:tx>
              <c:showLegendKey val="0"/>
              <c:showVal val="1"/>
              <c:showCatName val="0"/>
              <c:showSerName val="0"/>
              <c:showPercent val="0"/>
              <c:showBubbleSize val="0"/>
            </c:dLbl>
            <c:dLbl>
              <c:idx val="1"/>
              <c:tx>
                <c:rich>
                  <a:bodyPr/>
                  <a:lstStyle/>
                  <a:p/>
                </c:rich>
              </c:tx>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Today (2027 budget)</c:v>
                </c:pt>
                <c:pt idx="1">
                  <c:v>With fair pay</c:v>
                </c:pt>
              </c:strCache>
            </c:strRef>
          </c:cat>
          <c:val>
            <c:numRef>
              <c:f>Sheet1!$G$2:$G$3</c:f>
              <c:numCache>
                <c:formatCode>General</c:formatCode>
                <c:ptCount val="2"/>
                <c:pt idx="0">
                  <c:v>3.5</c:v>
                </c:pt>
                <c:pt idx="1">
                  <c:v>3.5</c:v>
                </c:pt>
              </c:numCache>
            </c:numRef>
          </c:val>
        </c:ser>
        <c:dLbls>
          <c:numFmt formatCode="#,##0.0" sourceLinked="0"/>
          <c:txPr>
            <a:bodyPr/>
            <a:lstStyle/>
            <a:p>
              <a:pPr>
                <a:defRPr sz="1200" b="1">
                  <a:solidFill>
                    <a:srgbClr val="FFFFFF"/>
                  </a:solidFill>
                  <a:latin typeface="Arial"/>
                </a:defRPr>
              </a:pPr>
            </a:p>
          </c:txPr>
          <c:dLblPos val="ctr"/>
          <c:showLegendKey val="0"/>
          <c:showVal val="1"/>
          <c:showCatName val="0"/>
          <c:showSerName val="0"/>
          <c:showPercent val="0"/>
          <c:showBubbleSize val="0"/>
          <c:showLeaderLines val="1"/>
        </c:dLbls>
        <c:gapWidth val="80"/>
        <c:overlap val="100"/>
        <c:axId val="-2068027336"/>
        <c:axId val="-2113994440"/>
      </c:barChart>
      <c:catAx>
        <c:axId val="-2068027336"/>
        <c:scaling>
          <c:orientation val="minMax"/>
        </c:scaling>
        <c:delete val="0"/>
        <c:axPos val="b"/>
        <c:majorTickMark val="out"/>
        <c:minorTickMark val="none"/>
        <c:tickLblPos val="nextTo"/>
        <c:spPr>
          <a:ln>
            <a:solidFill>
              <a:srgbClr val="E5E7EB"/>
            </a:solidFill>
          </a:ln>
        </c:spPr>
        <c:txPr>
          <a:bodyPr/>
          <a:lstStyle/>
          <a:p>
            <a:pPr>
              <a:defRPr sz="1200">
                <a:solidFill>
                  <a:srgbClr val="6B7280"/>
                </a:solidFill>
                <a:latin typeface="Arial"/>
              </a:defRPr>
            </a:pPr>
          </a:p>
        </c:txPr>
        <c:crossAx val="-2113994440"/>
        <c:crosses val="autoZero"/>
        <c:auto val="1"/>
        <c:lblAlgn val="ctr"/>
        <c:lblOffset val="100"/>
        <c:noMultiLvlLbl val="0"/>
      </c:catAx>
      <c:valAx>
        <c:axId val="-2113994440"/>
        <c:scaling>
          <c:max val="98.4785"/>
          <c:min val="0.0"/>
        </c:scaling>
        <c:delete/>
        <c:axPos val="l"/>
        <c:majorTickMark val="out"/>
        <c:minorTickMark val="none"/>
        <c:tickLblPos val="nextTo"/>
        <c:crossAx val="-2068027336"/>
        <c:crosses val="autoZero"/>
      </c:valAx>
    </c:plotArea>
    <c:legend>
      <c:legendPos val="b"/>
      <c:overlay val="0"/>
      <c:txPr>
        <a:bodyPr/>
        <a:lstStyle/>
        <a:p>
          <a:pPr>
            <a:defRPr sz="1200">
              <a:solidFill>
                <a:srgbClr val="374151"/>
              </a:solidFill>
              <a:latin typeface="Arial"/>
            </a:defRPr>
          </a:pPr>
        </a:p>
      </c:txPr>
    </c:legend>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374151"/>
                </a:solidFill>
                <a:latin typeface="Arial"/>
              </a:rPr>
              <a:t>Each month, Rp M: sales and costs (bars), cash (lines)</a:t>
            </a:r>
          </a:p>
        </c:rich>
      </c:tx>
      <c:layout/>
      <c:overlay val="0"/>
    </c:title>
    <c:autoTitleDeleted val="0"/>
    <c:plotArea>
      <c:barChart>
        <c:barDir val="col"/>
        <c:grouping val="clustered"/>
        <c:ser>
          <c:idx val="0"/>
          <c:order val="0"/>
          <c:tx>
            <c:strRef>
              <c:f>Sheet1!$B$1</c:f>
              <c:strCache>
                <c:ptCount val="1"/>
                <c:pt idx="0">
                  <c:v>Sales</c:v>
                </c:pt>
              </c:strCache>
            </c:strRef>
          </c:tx>
          <c:spPr>
            <a:solidFill>
              <a:srgbClr val="576C94"/>
            </a:solidFill>
          </c:spPr>
          <c:invertIfNegative val="0"/>
          <c:cat>
            <c:strRef>
              <c:f>Sheet1!$A$2:$A$16</c:f>
              <c:strCache>
                <c:ptCount val="15"/>
                <c:pt idx="0">
                  <c:v>Oct 26</c:v>
                </c:pt>
                <c:pt idx="1">
                  <c:v>Nov 26</c:v>
                </c:pt>
                <c:pt idx="2">
                  <c:v>Dec 26</c:v>
                </c:pt>
                <c:pt idx="3">
                  <c:v>Jan 27</c:v>
                </c:pt>
                <c:pt idx="4">
                  <c:v>Feb 27</c:v>
                </c:pt>
                <c:pt idx="5">
                  <c:v>Mar 27</c:v>
                </c:pt>
                <c:pt idx="6">
                  <c:v>Apr 27</c:v>
                </c:pt>
                <c:pt idx="7">
                  <c:v>May 27</c:v>
                </c:pt>
                <c:pt idx="8">
                  <c:v>Jun 27</c:v>
                </c:pt>
                <c:pt idx="9">
                  <c:v>Jul 27</c:v>
                </c:pt>
                <c:pt idx="10">
                  <c:v>Aug 27</c:v>
                </c:pt>
                <c:pt idx="11">
                  <c:v>Sep 27</c:v>
                </c:pt>
                <c:pt idx="12">
                  <c:v>Oct 27</c:v>
                </c:pt>
                <c:pt idx="13">
                  <c:v>Nov 27</c:v>
                </c:pt>
                <c:pt idx="14">
                  <c:v>Dec 27</c:v>
                </c:pt>
              </c:strCache>
            </c:strRef>
          </c:cat>
          <c:val>
            <c:numRef>
              <c:f>Sheet1!$B$2:$B$16</c:f>
              <c:numCache>
                <c:formatCode>General</c:formatCode>
                <c:ptCount val="15"/>
                <c:pt idx="0">
                  <c:v>17</c:v>
                </c:pt>
                <c:pt idx="1">
                  <c:v>17</c:v>
                </c:pt>
                <c:pt idx="2">
                  <c:v>17</c:v>
                </c:pt>
                <c:pt idx="3">
                  <c:v>18</c:v>
                </c:pt>
                <c:pt idx="4">
                  <c:v>17</c:v>
                </c:pt>
                <c:pt idx="5">
                  <c:v>144</c:v>
                </c:pt>
                <c:pt idx="6">
                  <c:v>84</c:v>
                </c:pt>
                <c:pt idx="7">
                  <c:v>158</c:v>
                </c:pt>
                <c:pt idx="8">
                  <c:v>60</c:v>
                </c:pt>
                <c:pt idx="9">
                  <c:v>228</c:v>
                </c:pt>
                <c:pt idx="10">
                  <c:v>76</c:v>
                </c:pt>
                <c:pt idx="11">
                  <c:v>206</c:v>
                </c:pt>
                <c:pt idx="12">
                  <c:v>231</c:v>
                </c:pt>
                <c:pt idx="13">
                  <c:v>360</c:v>
                </c:pt>
                <c:pt idx="14">
                  <c:v>263</c:v>
                </c:pt>
              </c:numCache>
            </c:numRef>
          </c:val>
        </c:ser>
        <c:ser>
          <c:idx val="1"/>
          <c:order val="1"/>
          <c:tx>
            <c:strRef>
              <c:f>Sheet1!$C$1</c:f>
              <c:strCache>
                <c:ptCount val="1"/>
                <c:pt idx="0">
                  <c:v>All costs</c:v>
                </c:pt>
              </c:strCache>
            </c:strRef>
          </c:tx>
          <c:spPr>
            <a:solidFill>
              <a:srgbClr val="B8BEC9"/>
            </a:solidFill>
          </c:spPr>
          <c:invertIfNegative val="0"/>
          <c:cat>
            <c:strRef>
              <c:f>Sheet1!$A$2:$A$16</c:f>
              <c:strCache>
                <c:ptCount val="15"/>
                <c:pt idx="0">
                  <c:v>Oct 26</c:v>
                </c:pt>
                <c:pt idx="1">
                  <c:v>Nov 26</c:v>
                </c:pt>
                <c:pt idx="2">
                  <c:v>Dec 26</c:v>
                </c:pt>
                <c:pt idx="3">
                  <c:v>Jan 27</c:v>
                </c:pt>
                <c:pt idx="4">
                  <c:v>Feb 27</c:v>
                </c:pt>
                <c:pt idx="5">
                  <c:v>Mar 27</c:v>
                </c:pt>
                <c:pt idx="6">
                  <c:v>Apr 27</c:v>
                </c:pt>
                <c:pt idx="7">
                  <c:v>May 27</c:v>
                </c:pt>
                <c:pt idx="8">
                  <c:v>Jun 27</c:v>
                </c:pt>
                <c:pt idx="9">
                  <c:v>Jul 27</c:v>
                </c:pt>
                <c:pt idx="10">
                  <c:v>Aug 27</c:v>
                </c:pt>
                <c:pt idx="11">
                  <c:v>Sep 27</c:v>
                </c:pt>
                <c:pt idx="12">
                  <c:v>Oct 27</c:v>
                </c:pt>
                <c:pt idx="13">
                  <c:v>Nov 27</c:v>
                </c:pt>
                <c:pt idx="14">
                  <c:v>Dec 27</c:v>
                </c:pt>
              </c:strCache>
            </c:strRef>
          </c:cat>
          <c:val>
            <c:numRef>
              <c:f>Sheet1!$C$2:$C$16</c:f>
              <c:numCache>
                <c:formatCode>General</c:formatCode>
                <c:ptCount val="15"/>
                <c:pt idx="0">
                  <c:v>27</c:v>
                </c:pt>
                <c:pt idx="1">
                  <c:v>27</c:v>
                </c:pt>
                <c:pt idx="2">
                  <c:v>27</c:v>
                </c:pt>
                <c:pt idx="3">
                  <c:v>47</c:v>
                </c:pt>
                <c:pt idx="4">
                  <c:v>46</c:v>
                </c:pt>
                <c:pt idx="5">
                  <c:v>87</c:v>
                </c:pt>
                <c:pt idx="6">
                  <c:v>75</c:v>
                </c:pt>
                <c:pt idx="7">
                  <c:v>123</c:v>
                </c:pt>
                <c:pt idx="8">
                  <c:v>95</c:v>
                </c:pt>
                <c:pt idx="9">
                  <c:v>154</c:v>
                </c:pt>
                <c:pt idx="10">
                  <c:v>109</c:v>
                </c:pt>
                <c:pt idx="11">
                  <c:v>148</c:v>
                </c:pt>
                <c:pt idx="12">
                  <c:v>160</c:v>
                </c:pt>
                <c:pt idx="13">
                  <c:v>204</c:v>
                </c:pt>
                <c:pt idx="14">
                  <c:v>178</c:v>
                </c:pt>
              </c:numCache>
            </c:numRef>
          </c:val>
        </c:ser>
        <c:gapWidth val="60"/>
        <c:overlap val="-10"/>
        <c:axId val="-2068027336"/>
        <c:axId val="-2113994440"/>
      </c:barChart>
      <c:lineChart>
        <c:grouping val="standard"/>
        <c:varyColors val="0"/>
        <c:ser>
          <c:idx val="2"/>
          <c:order val="2"/>
          <c:tx>
            <c:strRef>
              <c:f>Sheet1!$D$1</c:f>
              <c:strCache>
                <c:ptCount val="1"/>
                <c:pt idx="0">
                  <c:v>Cash in the bank</c:v>
                </c:pt>
              </c:strCache>
            </c:strRef>
          </c:tx>
          <c:spPr>
            <a:ln w="34925" cap="rnd">
              <a:solidFill>
                <a:srgbClr val="475571"/>
              </a:solidFill>
              <a:round/>
            </a:ln>
          </c:spPr>
          <c:marker>
            <c:symbol val="none"/>
          </c:marker>
          <c:cat>
            <c:strRef>
              <c:f>Sheet1!$A$2:$A$16</c:f>
              <c:strCache>
                <c:ptCount val="15"/>
                <c:pt idx="0">
                  <c:v>Oct 26</c:v>
                </c:pt>
                <c:pt idx="1">
                  <c:v>Nov 26</c:v>
                </c:pt>
                <c:pt idx="2">
                  <c:v>Dec 26</c:v>
                </c:pt>
                <c:pt idx="3">
                  <c:v>Jan 27</c:v>
                </c:pt>
                <c:pt idx="4">
                  <c:v>Feb 27</c:v>
                </c:pt>
                <c:pt idx="5">
                  <c:v>Mar 27</c:v>
                </c:pt>
                <c:pt idx="6">
                  <c:v>Apr 27</c:v>
                </c:pt>
                <c:pt idx="7">
                  <c:v>May 27</c:v>
                </c:pt>
                <c:pt idx="8">
                  <c:v>Jun 27</c:v>
                </c:pt>
                <c:pt idx="9">
                  <c:v>Jul 27</c:v>
                </c:pt>
                <c:pt idx="10">
                  <c:v>Aug 27</c:v>
                </c:pt>
                <c:pt idx="11">
                  <c:v>Sep 27</c:v>
                </c:pt>
                <c:pt idx="12">
                  <c:v>Oct 27</c:v>
                </c:pt>
                <c:pt idx="13">
                  <c:v>Nov 27</c:v>
                </c:pt>
                <c:pt idx="14">
                  <c:v>Dec 27</c:v>
                </c:pt>
              </c:strCache>
            </c:strRef>
          </c:cat>
          <c:val>
            <c:numRef>
              <c:f>Sheet1!$D$2:$D$16</c:f>
              <c:numCache>
                <c:formatCode>General</c:formatCode>
                <c:ptCount val="15"/>
                <c:pt idx="0">
                  <c:v>186</c:v>
                </c:pt>
                <c:pt idx="1">
                  <c:v>176</c:v>
                </c:pt>
                <c:pt idx="2">
                  <c:v>166</c:v>
                </c:pt>
                <c:pt idx="3">
                  <c:v>138</c:v>
                </c:pt>
                <c:pt idx="4">
                  <c:v>108</c:v>
                </c:pt>
                <c:pt idx="5">
                  <c:v>120</c:v>
                </c:pt>
                <c:pt idx="6">
                  <c:v>108</c:v>
                </c:pt>
                <c:pt idx="7">
                  <c:v>135</c:v>
                </c:pt>
                <c:pt idx="8">
                  <c:v>146</c:v>
                </c:pt>
                <c:pt idx="9">
                  <c:v>133</c:v>
                </c:pt>
                <c:pt idx="10">
                  <c:v>157</c:v>
                </c:pt>
                <c:pt idx="11">
                  <c:v>196</c:v>
                </c:pt>
                <c:pt idx="12">
                  <c:v>212</c:v>
                </c:pt>
                <c:pt idx="13">
                  <c:v>300</c:v>
                </c:pt>
                <c:pt idx="14">
                  <c:v>446</c:v>
                </c:pt>
              </c:numCache>
            </c:numRef>
          </c:val>
          <c:smooth val="0"/>
        </c:ser>
        <c:ser>
          <c:idx val="3"/>
          <c:order val="3"/>
          <c:tx>
            <c:strRef>
              <c:f>Sheet1!$E$1</c:f>
              <c:strCache>
                <c:ptCount val="1"/>
                <c:pt idx="0">
                  <c:v>Safety floor (1 month of costs)</c:v>
                </c:pt>
              </c:strCache>
            </c:strRef>
          </c:tx>
          <c:spPr>
            <a:ln w="34925" cap="rnd">
              <a:solidFill>
                <a:srgbClr val="9B3809"/>
              </a:solidFill>
              <a:prstDash val="dash"/>
              <a:round/>
            </a:ln>
          </c:spPr>
          <c:marker>
            <c:symbol val="none"/>
          </c:marker>
          <c:cat>
            <c:strRef>
              <c:f>Sheet1!$A$2:$A$16</c:f>
              <c:strCache>
                <c:ptCount val="15"/>
                <c:pt idx="0">
                  <c:v>Oct 26</c:v>
                </c:pt>
                <c:pt idx="1">
                  <c:v>Nov 26</c:v>
                </c:pt>
                <c:pt idx="2">
                  <c:v>Dec 26</c:v>
                </c:pt>
                <c:pt idx="3">
                  <c:v>Jan 27</c:v>
                </c:pt>
                <c:pt idx="4">
                  <c:v>Feb 27</c:v>
                </c:pt>
                <c:pt idx="5">
                  <c:v>Mar 27</c:v>
                </c:pt>
                <c:pt idx="6">
                  <c:v>Apr 27</c:v>
                </c:pt>
                <c:pt idx="7">
                  <c:v>May 27</c:v>
                </c:pt>
                <c:pt idx="8">
                  <c:v>Jun 27</c:v>
                </c:pt>
                <c:pt idx="9">
                  <c:v>Jul 27</c:v>
                </c:pt>
                <c:pt idx="10">
                  <c:v>Aug 27</c:v>
                </c:pt>
                <c:pt idx="11">
                  <c:v>Sep 27</c:v>
                </c:pt>
                <c:pt idx="12">
                  <c:v>Oct 27</c:v>
                </c:pt>
                <c:pt idx="13">
                  <c:v>Nov 27</c:v>
                </c:pt>
                <c:pt idx="14">
                  <c:v>Dec 27</c:v>
                </c:pt>
              </c:strCache>
            </c:strRef>
          </c:cat>
          <c:val>
            <c:numRef>
              <c:f>Sheet1!$E$2:$E$16</c:f>
              <c:numCache>
                <c:formatCode>General</c:formatCode>
                <c:ptCount val="15"/>
                <c:pt idx="0">
                  <c:v>26</c:v>
                </c:pt>
                <c:pt idx="1">
                  <c:v>26</c:v>
                </c:pt>
                <c:pt idx="2">
                  <c:v>26</c:v>
                </c:pt>
                <c:pt idx="3">
                  <c:v>47</c:v>
                </c:pt>
                <c:pt idx="4">
                  <c:v>46</c:v>
                </c:pt>
                <c:pt idx="5">
                  <c:v>87</c:v>
                </c:pt>
                <c:pt idx="6">
                  <c:v>74</c:v>
                </c:pt>
                <c:pt idx="7">
                  <c:v>122</c:v>
                </c:pt>
                <c:pt idx="8">
                  <c:v>95</c:v>
                </c:pt>
                <c:pt idx="9">
                  <c:v>153</c:v>
                </c:pt>
                <c:pt idx="10">
                  <c:v>108</c:v>
                </c:pt>
                <c:pt idx="11">
                  <c:v>147</c:v>
                </c:pt>
                <c:pt idx="12">
                  <c:v>159</c:v>
                </c:pt>
                <c:pt idx="13">
                  <c:v>202</c:v>
                </c:pt>
                <c:pt idx="14">
                  <c:v>177</c:v>
                </c:pt>
              </c:numCache>
            </c:numRef>
          </c:val>
          <c:smooth val="0"/>
        </c:ser>
        <c:marker val="1"/>
        <c:axId val="-2068027336"/>
        <c:axId val="-2113994440"/>
      </c:lineChart>
      <c:catAx>
        <c:axId val="-2068027336"/>
        <c:scaling>
          <c:orientation val="minMax"/>
        </c:scaling>
        <c:delete val="0"/>
        <c:axPos val="b"/>
        <c:majorTickMark val="out"/>
        <c:minorTickMark val="none"/>
        <c:tickLblPos val="nextTo"/>
        <c:spPr>
          <a:ln>
            <a:solidFill>
              <a:srgbClr val="E5E7EB"/>
            </a:solidFill>
          </a:ln>
        </c:spPr>
        <c:txPr>
          <a:bodyPr/>
          <a:lstStyle/>
          <a:p>
            <a:pPr>
              <a:defRPr sz="1000">
                <a:solidFill>
                  <a:srgbClr val="6B7280"/>
                </a:solidFill>
                <a:latin typeface="Arial"/>
              </a:defRPr>
            </a:pPr>
          </a:p>
        </c:txPr>
        <c:crossAx val="-2113994440"/>
        <c:crosses val="autoZero"/>
        <c:auto val="1"/>
        <c:lblAlgn val="ctr"/>
        <c:lblOffset val="100"/>
        <c:noMultiLvlLbl val="0"/>
      </c:catAx>
      <c:valAx>
        <c:axId val="-2113994440"/>
        <c:scaling>
          <c:min val="0.0"/>
        </c:scaling>
        <c:delete val="0"/>
        <c:axPos val="l"/>
        <c:majorGridlines>
          <c:spPr>
            <a:ln>
              <a:solidFill>
                <a:srgbClr val="E5E7EB"/>
              </a:solidFill>
            </a:ln>
          </c:spPr>
        </c:majorGridlines>
        <c:numFmt formatCode="#,##0" sourceLinked="0"/>
        <c:majorTickMark val="out"/>
        <c:minorTickMark val="none"/>
        <c:tickLblPos val="nextTo"/>
        <c:spPr>
          <a:ln>
            <a:noFill/>
          </a:ln>
        </c:spPr>
        <c:txPr>
          <a:bodyPr/>
          <a:lstStyle/>
          <a:p>
            <a:pPr>
              <a:defRPr sz="1000">
                <a:solidFill>
                  <a:srgbClr val="6B7280"/>
                </a:solidFill>
                <a:latin typeface="Arial"/>
              </a:defRPr>
            </a:pPr>
          </a:p>
        </c:txPr>
        <c:crossAx val="-2068027336"/>
        <c:crosses val="autoZero"/>
      </c:valAx>
    </c:plotArea>
    <c:legend>
      <c:legendPos val="t"/>
      <c:overlay val="0"/>
      <c:txPr>
        <a:bodyPr/>
        <a:lstStyle/>
        <a:p>
          <a:pPr>
            <a:defRPr sz="1100">
              <a:latin typeface="Arial"/>
            </a:defRPr>
          </a:pPr>
        </a:p>
      </c:txPr>
    </c:legend>
    <c:dispBlanksAs val="gap"/>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374151"/>
                </a:solidFill>
                <a:latin typeface="Arial"/>
              </a:rPr>
              <a:t>Lowest cash in the bank (Rp M)</a:t>
            </a:r>
          </a:p>
        </c:rich>
      </c:tx>
      <c:layout/>
      <c:overlay val="0"/>
    </c:title>
    <c:autoTitleDeleted val="0"/>
    <c:plotArea>
      <c:barChart>
        <c:barDir val="col"/>
        <c:grouping val="clustered"/>
        <c:ser>
          <c:idx val="0"/>
          <c:order val="0"/>
          <c:tx>
            <c:strRef>
              <c:f>Sheet1!$B$1</c:f>
              <c:strCache>
                <c:ptCount val="1"/>
                <c:pt idx="0">
                  <c:v>Lowest cash</c:v>
                </c:pt>
              </c:strCache>
            </c:strRef>
          </c:tx>
          <c:invertIfNegative val="0"/>
          <c:dPt>
            <c:idx val="0"/>
            <c:invertIfNegative val="0"/>
            <c:spPr>
              <a:solidFill>
                <a:srgbClr val="9B3809"/>
              </a:solidFill>
            </c:spPr>
          </c:dPt>
          <c:dPt>
            <c:idx val="1"/>
            <c:invertIfNegative val="0"/>
            <c:spPr>
              <a:solidFill>
                <a:srgbClr val="9B3809"/>
              </a:solidFill>
            </c:spPr>
          </c:dPt>
          <c:dPt>
            <c:idx val="2"/>
            <c:invertIfNegative val="0"/>
            <c:spPr>
              <a:solidFill>
                <a:srgbClr val="576C94"/>
              </a:solidFill>
            </c:spPr>
          </c:dPt>
          <c:dPt>
            <c:idx val="3"/>
            <c:invertIfNegative val="0"/>
            <c:spPr>
              <a:solidFill>
                <a:srgbClr val="576C94"/>
              </a:solidFill>
            </c:spPr>
          </c:dPt>
          <c:dLbls>
            <c:dLbl>
              <c:idx val="0"/>
              <c:tx>
                <c:rich>
                  <a:bodyPr/>
                  <a:lstStyle/>
                  <a:p>
                    <a:r>
                      <a:rPr sz="1300" b="1">
                        <a:solidFill>
                          <a:srgbClr val="374151"/>
                        </a:solidFill>
                        <a:latin typeface="Arial"/>
                      </a:rPr>
                      <a:t>Rp8M</a:t>
                    </a:r>
                  </a:p>
                </c:rich>
              </c:tx>
              <c:showLegendKey val="0"/>
              <c:showVal val="1"/>
              <c:showCatName val="0"/>
              <c:showSerName val="0"/>
              <c:showPercent val="0"/>
              <c:showBubbleSize val="0"/>
            </c:dLbl>
            <c:dLbl>
              <c:idx val="1"/>
              <c:tx>
                <c:rich>
                  <a:bodyPr/>
                  <a:lstStyle/>
                  <a:p>
                    <a:r>
                      <a:rPr sz="1300" b="1">
                        <a:solidFill>
                          <a:srgbClr val="374151"/>
                        </a:solidFill>
                        <a:latin typeface="Arial"/>
                      </a:rPr>
                      <a:t>Rp58M</a:t>
                    </a:r>
                  </a:p>
                </c:rich>
              </c:tx>
              <c:showLegendKey val="0"/>
              <c:showVal val="1"/>
              <c:showCatName val="0"/>
              <c:showSerName val="0"/>
              <c:showPercent val="0"/>
              <c:showBubbleSize val="0"/>
            </c:dLbl>
            <c:dLbl>
              <c:idx val="2"/>
              <c:tx>
                <c:rich>
                  <a:bodyPr/>
                  <a:lstStyle/>
                  <a:p>
                    <a:r>
                      <a:rPr sz="1300" b="1">
                        <a:solidFill>
                          <a:srgbClr val="374151"/>
                        </a:solidFill>
                        <a:latin typeface="Arial"/>
                      </a:rPr>
                      <a:t>Rp108M</a:t>
                    </a:r>
                  </a:p>
                </c:rich>
              </c:tx>
              <c:showLegendKey val="0"/>
              <c:showVal val="1"/>
              <c:showCatName val="0"/>
              <c:showSerName val="0"/>
              <c:showPercent val="0"/>
              <c:showBubbleSize val="0"/>
            </c:dLbl>
            <c:dLbl>
              <c:idx val="3"/>
              <c:tx>
                <c:rich>
                  <a:bodyPr/>
                  <a:lstStyle/>
                  <a:p>
                    <a:r>
                      <a:rPr sz="1300" b="1">
                        <a:solidFill>
                          <a:srgbClr val="374151"/>
                        </a:solidFill>
                        <a:latin typeface="Arial"/>
                      </a:rPr>
                      <a:t>Rp108M</a:t>
                    </a:r>
                  </a:p>
                </c:rich>
              </c:tx>
              <c:showLegendKey val="0"/>
              <c:showVal val="1"/>
              <c:showCatName val="0"/>
              <c:showSerName val="0"/>
              <c:showPercent val="0"/>
              <c:showBubbleSize val="0"/>
            </c:dLbl>
            <c:showLegendKey val="0"/>
            <c:showVal val="0"/>
            <c:showCatName val="0"/>
            <c:showSerName val="0"/>
            <c:showPercent val="0"/>
            <c:showBubbleSize val="0"/>
            <c:showLeaderLines val="1"/>
          </c:dLbls>
          <c:cat>
            <c:strRef>
              <c:f>Sheet1!$A$2:$A$5</c:f>
              <c:strCache>
                <c:ptCount val="4"/>
                <c:pt idx="0">
                  <c:v>Jan 2027</c:v>
                </c:pt>
                <c:pt idx="1">
                  <c:v>Mar 2027</c:v>
                </c:pt>
                <c:pt idx="2">
                  <c:v>May 2027</c:v>
                </c:pt>
                <c:pt idx="3">
                  <c:v>Jul 2027</c:v>
                </c:pt>
              </c:strCache>
            </c:strRef>
          </c:cat>
          <c:val>
            <c:numRef>
              <c:f>Sheet1!$B$2:$B$5</c:f>
              <c:numCache>
                <c:formatCode>General</c:formatCode>
                <c:ptCount val="4"/>
                <c:pt idx="0">
                  <c:v>7.886883333333</c:v>
                </c:pt>
                <c:pt idx="1">
                  <c:v>57.886883333333</c:v>
                </c:pt>
                <c:pt idx="2">
                  <c:v>107.886883333333</c:v>
                </c:pt>
                <c:pt idx="3">
                  <c:v>107.886883333333</c:v>
                </c:pt>
              </c:numCache>
            </c:numRef>
          </c:val>
        </c:ser>
        <c:dLbls>
          <c:numFmt formatCode="#,##0" sourceLinked="0"/>
          <c:txPr>
            <a:bodyPr/>
            <a:lstStyle/>
            <a:p>
              <a:pPr>
                <a:defRPr sz="1300" b="1">
                  <a:solidFill>
                    <a:srgbClr val="374151"/>
                  </a:solidFill>
                  <a:latin typeface="Aria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E5E7EB"/>
            </a:solidFill>
          </a:ln>
        </c:spPr>
        <c:txPr>
          <a:bodyPr/>
          <a:lstStyle/>
          <a:p>
            <a:pPr>
              <a:defRPr sz="1200">
                <a:solidFill>
                  <a:srgbClr val="6B7280"/>
                </a:solidFill>
                <a:latin typeface="Arial"/>
              </a:defRPr>
            </a:pPr>
          </a:p>
        </c:txPr>
        <c:crossAx val="-2113994440"/>
        <c:crosses val="autoZero"/>
        <c:auto val="1"/>
        <c:lblAlgn val="ctr"/>
        <c:lblOffset val="100"/>
        <c:noMultiLvlLbl val="0"/>
      </c:catAx>
      <c:valAx>
        <c:axId val="-2113994440"/>
        <c:scaling>
          <c:max val="134.85860416666625"/>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374151"/>
                </a:solidFill>
                <a:latin typeface="Arial"/>
              </a:rPr>
              <a:t>Months below the safety floor (Oct 2026 to Dec 2027)</a:t>
            </a:r>
          </a:p>
        </c:rich>
      </c:tx>
      <c:layout/>
      <c:overlay val="0"/>
    </c:title>
    <c:autoTitleDeleted val="0"/>
    <c:plotArea>
      <c:barChart>
        <c:barDir val="col"/>
        <c:grouping val="clustered"/>
        <c:ser>
          <c:idx val="0"/>
          <c:order val="0"/>
          <c:tx>
            <c:strRef>
              <c:f>Sheet1!$B$1</c:f>
              <c:strCache>
                <c:ptCount val="1"/>
                <c:pt idx="0">
                  <c:v>Months</c:v>
                </c:pt>
              </c:strCache>
            </c:strRef>
          </c:tx>
          <c:invertIfNegative val="0"/>
          <c:dPt>
            <c:idx val="0"/>
            <c:invertIfNegative val="0"/>
            <c:spPr>
              <a:solidFill>
                <a:srgbClr val="9B3809"/>
              </a:solidFill>
            </c:spPr>
          </c:dPt>
          <c:dPt>
            <c:idx val="1"/>
            <c:invertIfNegative val="0"/>
            <c:spPr>
              <a:solidFill>
                <a:srgbClr val="9B3809"/>
              </a:solidFill>
            </c:spPr>
          </c:dPt>
          <c:dPt>
            <c:idx val="2"/>
            <c:invertIfNegative val="0"/>
            <c:spPr>
              <a:solidFill>
                <a:srgbClr val="576C94"/>
              </a:solidFill>
            </c:spPr>
          </c:dPt>
          <c:dPt>
            <c:idx val="3"/>
            <c:invertIfNegative val="0"/>
            <c:spPr>
              <a:solidFill>
                <a:srgbClr val="576C94"/>
              </a:solidFill>
            </c:spPr>
          </c:dPt>
          <c:dLbls>
            <c:dLbl>
              <c:idx val="0"/>
              <c:tx>
                <c:rich>
                  <a:bodyPr/>
                  <a:lstStyle/>
                  <a:p>
                    <a:r>
                      <a:rPr sz="1300" b="1">
                        <a:solidFill>
                          <a:srgbClr val="374151"/>
                        </a:solidFill>
                        <a:latin typeface="Arial"/>
                      </a:rPr>
                      <a:t>10</a:t>
                    </a:r>
                  </a:p>
                </c:rich>
              </c:tx>
              <c:showLegendKey val="0"/>
              <c:showVal val="1"/>
              <c:showCatName val="0"/>
              <c:showSerName val="0"/>
              <c:showPercent val="0"/>
              <c:showBubbleSize val="0"/>
            </c:dLbl>
            <c:dLbl>
              <c:idx val="1"/>
              <c:tx>
                <c:rich>
                  <a:bodyPr/>
                  <a:lstStyle/>
                  <a:p>
                    <a:r>
                      <a:rPr sz="1300" b="1">
                        <a:solidFill>
                          <a:srgbClr val="374151"/>
                        </a:solidFill>
                        <a:latin typeface="Arial"/>
                      </a:rPr>
                      <a:t>6</a:t>
                    </a:r>
                  </a:p>
                </c:rich>
              </c:tx>
              <c:showLegendKey val="0"/>
              <c:showVal val="1"/>
              <c:showCatName val="0"/>
              <c:showSerName val="0"/>
              <c:showPercent val="0"/>
              <c:showBubbleSize val="0"/>
            </c:dLbl>
            <c:dLbl>
              <c:idx val="2"/>
              <c:tx>
                <c:rich>
                  <a:bodyPr/>
                  <a:lstStyle/>
                  <a:p>
                    <a:r>
                      <a:rPr sz="1300" b="1">
                        <a:solidFill>
                          <a:srgbClr val="374151"/>
                        </a:solidFill>
                        <a:latin typeface="Arial"/>
                      </a:rPr>
                      <a:t>1</a:t>
                    </a:r>
                  </a:p>
                </c:rich>
              </c:tx>
              <c:showLegendKey val="0"/>
              <c:showVal val="1"/>
              <c:showCatName val="0"/>
              <c:showSerName val="0"/>
              <c:showPercent val="0"/>
              <c:showBubbleSize val="0"/>
            </c:dLbl>
            <c:dLbl>
              <c:idx val="3"/>
              <c:tx>
                <c:rich>
                  <a:bodyPr/>
                  <a:lstStyle/>
                  <a:p>
                    <a:r>
                      <a:rPr sz="1300" b="1">
                        <a:solidFill>
                          <a:srgbClr val="374151"/>
                        </a:solidFill>
                        <a:latin typeface="Arial"/>
                      </a:rPr>
                      <a:t>0</a:t>
                    </a:r>
                  </a:p>
                </c:rich>
              </c:tx>
              <c:showLegendKey val="0"/>
              <c:showVal val="1"/>
              <c:showCatName val="0"/>
              <c:showSerName val="0"/>
              <c:showPercent val="0"/>
              <c:showBubbleSize val="0"/>
            </c:dLbl>
            <c:showLegendKey val="0"/>
            <c:showVal val="0"/>
            <c:showCatName val="0"/>
            <c:showSerName val="0"/>
            <c:showPercent val="0"/>
            <c:showBubbleSize val="0"/>
            <c:showLeaderLines val="1"/>
          </c:dLbls>
          <c:cat>
            <c:strRef>
              <c:f>Sheet1!$A$2:$A$5</c:f>
              <c:strCache>
                <c:ptCount val="4"/>
                <c:pt idx="0">
                  <c:v>Jan 2027</c:v>
                </c:pt>
                <c:pt idx="1">
                  <c:v>Mar 2027</c:v>
                </c:pt>
                <c:pt idx="2">
                  <c:v>May 2027</c:v>
                </c:pt>
                <c:pt idx="3">
                  <c:v>Jul 2027</c:v>
                </c:pt>
              </c:strCache>
            </c:strRef>
          </c:cat>
          <c:val>
            <c:numRef>
              <c:f>Sheet1!$B$2:$B$5</c:f>
              <c:numCache>
                <c:formatCode>General</c:formatCode>
                <c:ptCount val="4"/>
                <c:pt idx="0">
                  <c:v>10</c:v>
                </c:pt>
                <c:pt idx="1">
                  <c:v>6</c:v>
                </c:pt>
                <c:pt idx="2">
                  <c:v>1</c:v>
                </c:pt>
                <c:pt idx="3">
                  <c:v>0</c:v>
                </c:pt>
              </c:numCache>
            </c:numRef>
          </c:val>
        </c:ser>
        <c:dLbls>
          <c:numFmt formatCode="0" sourceLinked="0"/>
          <c:txPr>
            <a:bodyPr/>
            <a:lstStyle/>
            <a:p>
              <a:pPr>
                <a:defRPr sz="1300" b="1">
                  <a:solidFill>
                    <a:srgbClr val="374151"/>
                  </a:solidFill>
                  <a:latin typeface="Aria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E5E7EB"/>
            </a:solidFill>
          </a:ln>
        </c:spPr>
        <c:txPr>
          <a:bodyPr/>
          <a:lstStyle/>
          <a:p>
            <a:pPr>
              <a:defRPr sz="1200">
                <a:solidFill>
                  <a:srgbClr val="6B7280"/>
                </a:solidFill>
                <a:latin typeface="Arial"/>
              </a:defRPr>
            </a:pPr>
          </a:p>
        </c:txPr>
        <c:crossAx val="-2113994440"/>
        <c:crosses val="autoZero"/>
        <c:auto val="1"/>
        <c:lblAlgn val="ctr"/>
        <c:lblOffset val="100"/>
        <c:noMultiLvlLbl val="0"/>
      </c:catAx>
      <c:valAx>
        <c:axId val="-2113994440"/>
        <c:scaling>
          <c:max val="12.5"/>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374151"/>
                </a:solidFill>
                <a:latin typeface="Arial"/>
              </a:rPr>
              <a:t>Price for one training day (Rp M)</a:t>
            </a:r>
          </a:p>
        </c:rich>
      </c:tx>
      <c:layout/>
      <c:overlay val="0"/>
    </c:title>
    <c:autoTitleDeleted val="0"/>
    <c:plotArea>
      <c:barChart>
        <c:barDir val="bar"/>
        <c:grouping val="clustered"/>
        <c:ser>
          <c:idx val="0"/>
          <c:order val="0"/>
          <c:tx>
            <c:strRef>
              <c:f>Sheet1!$B$1</c:f>
              <c:strCache>
                <c:ptCount val="1"/>
                <c:pt idx="0">
                  <c:v>Rp M per day</c:v>
                </c:pt>
              </c:strCache>
            </c:strRef>
          </c:tx>
          <c:invertIfNegative val="0"/>
          <c:dPt>
            <c:idx val="0"/>
            <c:invertIfNegative val="0"/>
            <c:spPr>
              <a:solidFill>
                <a:srgbClr val="B8BEC9"/>
              </a:solidFill>
            </c:spPr>
          </c:dPt>
          <c:dPt>
            <c:idx val="1"/>
            <c:invertIfNegative val="0"/>
            <c:spPr>
              <a:solidFill>
                <a:srgbClr val="576C94"/>
              </a:solidFill>
            </c:spPr>
          </c:dPt>
          <c:dPt>
            <c:idx val="2"/>
            <c:invertIfNegative val="0"/>
            <c:spPr>
              <a:solidFill>
                <a:srgbClr val="576C94"/>
              </a:solidFill>
            </c:spPr>
          </c:dPt>
          <c:dPt>
            <c:idx val="3"/>
            <c:invertIfNegative val="0"/>
            <c:spPr>
              <a:solidFill>
                <a:srgbClr val="576C94"/>
              </a:solidFill>
            </c:spPr>
          </c:dPt>
          <c:dPt>
            <c:idx val="4"/>
            <c:invertIfNegative val="0"/>
            <c:spPr>
              <a:solidFill>
                <a:srgbClr val="576C94"/>
              </a:solidFill>
            </c:spPr>
          </c:dPt>
          <c:dPt>
            <c:idx val="5"/>
            <c:invertIfNegative val="0"/>
            <c:spPr>
              <a:solidFill>
                <a:srgbClr val="B8BEC9"/>
              </a:solidFill>
            </c:spPr>
          </c:dPt>
          <c:dLbls>
            <c:dLbl>
              <c:idx val="0"/>
              <c:tx>
                <c:rich>
                  <a:bodyPr/>
                  <a:lstStyle/>
                  <a:p>
                    <a:r>
                      <a:rPr sz="1300" b="1">
                        <a:solidFill>
                          <a:srgbClr val="374151"/>
                        </a:solidFill>
                        <a:latin typeface="Arial"/>
                      </a:rPr>
                      <a:t>12.6</a:t>
                    </a:r>
                  </a:p>
                </c:rich>
              </c:tx>
              <c:showLegendKey val="0"/>
              <c:showVal val="1"/>
              <c:showCatName val="0"/>
              <c:showSerName val="0"/>
              <c:showPercent val="0"/>
              <c:showBubbleSize val="0"/>
            </c:dLbl>
            <c:dLbl>
              <c:idx val="1"/>
              <c:tx>
                <c:rich>
                  <a:bodyPr/>
                  <a:lstStyle/>
                  <a:p>
                    <a:r>
                      <a:rPr sz="1300" b="1">
                        <a:solidFill>
                          <a:srgbClr val="374151"/>
                        </a:solidFill>
                        <a:latin typeface="Arial"/>
                      </a:rPr>
                      <a:t>28.5</a:t>
                    </a:r>
                  </a:p>
                </c:rich>
              </c:tx>
              <c:showLegendKey val="0"/>
              <c:showVal val="1"/>
              <c:showCatName val="0"/>
              <c:showSerName val="0"/>
              <c:showPercent val="0"/>
              <c:showBubbleSize val="0"/>
            </c:dLbl>
            <c:dLbl>
              <c:idx val="2"/>
              <c:tx>
                <c:rich>
                  <a:bodyPr/>
                  <a:lstStyle/>
                  <a:p>
                    <a:r>
                      <a:rPr sz="1300" b="1">
                        <a:solidFill>
                          <a:srgbClr val="374151"/>
                        </a:solidFill>
                        <a:latin typeface="Arial"/>
                      </a:rPr>
                      <a:t>33.3</a:t>
                    </a:r>
                  </a:p>
                </c:rich>
              </c:tx>
              <c:showLegendKey val="0"/>
              <c:showVal val="1"/>
              <c:showCatName val="0"/>
              <c:showSerName val="0"/>
              <c:showPercent val="0"/>
              <c:showBubbleSize val="0"/>
            </c:dLbl>
            <c:dLbl>
              <c:idx val="3"/>
              <c:tx>
                <c:rich>
                  <a:bodyPr/>
                  <a:lstStyle/>
                  <a:p>
                    <a:r>
                      <a:rPr sz="1300" b="1">
                        <a:solidFill>
                          <a:srgbClr val="374151"/>
                        </a:solidFill>
                        <a:latin typeface="Arial"/>
                      </a:rPr>
                      <a:t>51.0</a:t>
                    </a:r>
                  </a:p>
                </c:rich>
              </c:tx>
              <c:showLegendKey val="0"/>
              <c:showVal val="1"/>
              <c:showCatName val="0"/>
              <c:showSerName val="0"/>
              <c:showPercent val="0"/>
              <c:showBubbleSize val="0"/>
            </c:dLbl>
            <c:dLbl>
              <c:idx val="4"/>
              <c:tx>
                <c:rich>
                  <a:bodyPr/>
                  <a:lstStyle/>
                  <a:p>
                    <a:r>
                      <a:rPr sz="1300" b="1">
                        <a:solidFill>
                          <a:srgbClr val="374151"/>
                        </a:solidFill>
                        <a:latin typeface="Arial"/>
                      </a:rPr>
                      <a:t>61.0</a:t>
                    </a:r>
                  </a:p>
                </c:rich>
              </c:tx>
              <c:showLegendKey val="0"/>
              <c:showVal val="1"/>
              <c:showCatName val="0"/>
              <c:showSerName val="0"/>
              <c:showPercent val="0"/>
              <c:showBubbleSize val="0"/>
            </c:dLbl>
            <c:dLbl>
              <c:idx val="5"/>
              <c:tx>
                <c:rich>
                  <a:bodyPr/>
                  <a:lstStyle/>
                  <a:p>
                    <a:r>
                      <a:rPr sz="1300" b="1">
                        <a:solidFill>
                          <a:srgbClr val="374151"/>
                        </a:solidFill>
                        <a:latin typeface="Arial"/>
                      </a:rPr>
                      <a:t>87.5</a:t>
                    </a:r>
                  </a:p>
                </c:rich>
              </c:tx>
              <c:showLegendKey val="0"/>
              <c:showVal val="1"/>
              <c:showCatName val="0"/>
              <c:showSerName val="0"/>
              <c:showPercent val="0"/>
              <c:showBubbleSize val="0"/>
            </c:dLbl>
            <c:showLegendKey val="0"/>
            <c:showVal val="0"/>
            <c:showCatName val="0"/>
            <c:showSerName val="0"/>
            <c:showPercent val="0"/>
            <c:showBubbleSize val="0"/>
            <c:showLeaderLines val="1"/>
          </c:dLbls>
          <c:cat>
            <c:strRef>
              <c:f>Sheet1!$A$2:$A$7</c:f>
              <c:strCache>
                <c:ptCount val="6"/>
                <c:pt idx="0">
                  <c:v>Government fee guide, 1 day</c:v>
                </c:pt>
                <c:pt idx="1">
                  <c:v>Our regional program</c:v>
                </c:pt>
                <c:pt idx="2">
                  <c:v>Our 3-day program, per day</c:v>
                </c:pt>
                <c:pt idx="3">
                  <c:v>Our state bank price</c:v>
                </c:pt>
                <c:pt idx="4">
                  <c:v>Our private bank price</c:v>
                </c:pt>
                <c:pt idx="5">
                  <c:v>Big training firms (banks)</c:v>
                </c:pt>
              </c:strCache>
            </c:strRef>
          </c:cat>
          <c:val>
            <c:numRef>
              <c:f>Sheet1!$B$2:$B$7</c:f>
              <c:numCache>
                <c:formatCode>General</c:formatCode>
                <c:ptCount val="6"/>
                <c:pt idx="0">
                  <c:v>12.6</c:v>
                </c:pt>
                <c:pt idx="1">
                  <c:v>28.5</c:v>
                </c:pt>
                <c:pt idx="2">
                  <c:v>33.3</c:v>
                </c:pt>
                <c:pt idx="3">
                  <c:v>51.0</c:v>
                </c:pt>
                <c:pt idx="4">
                  <c:v>61.0</c:v>
                </c:pt>
                <c:pt idx="5">
                  <c:v>87.5</c:v>
                </c:pt>
              </c:numCache>
            </c:numRef>
          </c:val>
        </c:ser>
        <c:dLbls>
          <c:numFmt formatCode="#,##0.0" sourceLinked="0"/>
          <c:txPr>
            <a:bodyPr/>
            <a:lstStyle/>
            <a:p>
              <a:pPr>
                <a:defRPr sz="1300" b="1">
                  <a:solidFill>
                    <a:srgbClr val="374151"/>
                  </a:solidFill>
                  <a:latin typeface="Aria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axMin"/>
        </c:scaling>
        <c:delete val="0"/>
        <c:axPos val="l"/>
        <c:majorTickMark val="out"/>
        <c:minorTickMark val="none"/>
        <c:tickLblPos val="nextTo"/>
        <c:spPr>
          <a:ln>
            <a:solidFill>
              <a:srgbClr val="E5E7EB"/>
            </a:solidFill>
          </a:ln>
        </c:spPr>
        <c:txPr>
          <a:bodyPr/>
          <a:lstStyle/>
          <a:p>
            <a:pPr>
              <a:defRPr sz="1200">
                <a:solidFill>
                  <a:srgbClr val="6B7280"/>
                </a:solidFill>
                <a:latin typeface="Arial"/>
              </a:defRPr>
            </a:pPr>
          </a:p>
        </c:txPr>
        <c:crossAx val="-2113994440"/>
        <c:crosses val="autoZero"/>
        <c:auto val="1"/>
        <c:lblAlgn val="ctr"/>
        <c:lblOffset val="100"/>
        <c:noMultiLvlLbl val="0"/>
      </c:catAx>
      <c:valAx>
        <c:axId val="-2113994440"/>
        <c:scaling>
          <c:max val="109.375"/>
          <c:min val="0.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374151"/>
                </a:solidFill>
                <a:latin typeface="Arial"/>
              </a:rPr>
              <a:t>Price divided by our cost (rule: 3 or more)</a:t>
            </a:r>
          </a:p>
        </c:rich>
      </c:tx>
      <c:layout/>
      <c:overlay val="0"/>
    </c:title>
    <c:autoTitleDeleted val="0"/>
    <c:plotArea>
      <c:barChart>
        <c:barDir val="bar"/>
        <c:grouping val="clustered"/>
        <c:ser>
          <c:idx val="0"/>
          <c:order val="0"/>
          <c:tx>
            <c:strRef>
              <c:f>Sheet1!$B$1</c:f>
              <c:strCache>
                <c:ptCount val="1"/>
                <c:pt idx="0">
                  <c:v>Times our cost</c:v>
                </c:pt>
              </c:strCache>
            </c:strRef>
          </c:tx>
          <c:invertIfNegative val="0"/>
          <c:dPt>
            <c:idx val="0"/>
            <c:invertIfNegative val="0"/>
            <c:spPr>
              <a:solidFill>
                <a:srgbClr val="576C94"/>
              </a:solidFill>
            </c:spPr>
          </c:dPt>
          <c:dPt>
            <c:idx val="1"/>
            <c:invertIfNegative val="0"/>
            <c:spPr>
              <a:solidFill>
                <a:srgbClr val="576C94"/>
              </a:solidFill>
            </c:spPr>
          </c:dPt>
          <c:dPt>
            <c:idx val="2"/>
            <c:invertIfNegative val="0"/>
            <c:spPr>
              <a:solidFill>
                <a:srgbClr val="576C94"/>
              </a:solidFill>
            </c:spPr>
          </c:dPt>
          <c:dPt>
            <c:idx val="3"/>
            <c:invertIfNegative val="0"/>
            <c:spPr>
              <a:solidFill>
                <a:srgbClr val="576C94"/>
              </a:solidFill>
            </c:spPr>
          </c:dPt>
          <c:dPt>
            <c:idx val="4"/>
            <c:invertIfNegative val="0"/>
            <c:spPr>
              <a:solidFill>
                <a:srgbClr val="576C94"/>
              </a:solidFill>
            </c:spPr>
          </c:dPt>
          <c:dPt>
            <c:idx val="5"/>
            <c:invertIfNegative val="0"/>
            <c:spPr>
              <a:solidFill>
                <a:srgbClr val="9B3809"/>
              </a:solidFill>
            </c:spPr>
          </c:dPt>
          <c:dPt>
            <c:idx val="6"/>
            <c:invertIfNegative val="0"/>
            <c:spPr>
              <a:solidFill>
                <a:srgbClr val="9B3809"/>
              </a:solidFill>
            </c:spPr>
          </c:dPt>
          <c:dLbls>
            <c:dLbl>
              <c:idx val="0"/>
              <c:tx>
                <c:rich>
                  <a:bodyPr/>
                  <a:lstStyle/>
                  <a:p>
                    <a:r>
                      <a:rPr sz="1300" b="1">
                        <a:solidFill>
                          <a:srgbClr val="374151"/>
                        </a:solidFill>
                        <a:latin typeface="Arial"/>
                      </a:rPr>
                      <a:t>4.0x</a:t>
                    </a:r>
                  </a:p>
                </c:rich>
              </c:tx>
              <c:showLegendKey val="0"/>
              <c:showVal val="1"/>
              <c:showCatName val="0"/>
              <c:showSerName val="0"/>
              <c:showPercent val="0"/>
              <c:showBubbleSize val="0"/>
            </c:dLbl>
            <c:dLbl>
              <c:idx val="1"/>
              <c:tx>
                <c:rich>
                  <a:bodyPr/>
                  <a:lstStyle/>
                  <a:p>
                    <a:r>
                      <a:rPr sz="1300" b="1">
                        <a:solidFill>
                          <a:srgbClr val="374151"/>
                        </a:solidFill>
                        <a:latin typeface="Arial"/>
                      </a:rPr>
                      <a:t>3.6x</a:t>
                    </a:r>
                  </a:p>
                </c:rich>
              </c:tx>
              <c:showLegendKey val="0"/>
              <c:showVal val="1"/>
              <c:showCatName val="0"/>
              <c:showSerName val="0"/>
              <c:showPercent val="0"/>
              <c:showBubbleSize val="0"/>
            </c:dLbl>
            <c:dLbl>
              <c:idx val="2"/>
              <c:tx>
                <c:rich>
                  <a:bodyPr/>
                  <a:lstStyle/>
                  <a:p>
                    <a:r>
                      <a:rPr sz="1300" b="1">
                        <a:solidFill>
                          <a:srgbClr val="374151"/>
                        </a:solidFill>
                        <a:latin typeface="Arial"/>
                      </a:rPr>
                      <a:t>4.2x</a:t>
                    </a:r>
                  </a:p>
                </c:rich>
              </c:tx>
              <c:showLegendKey val="0"/>
              <c:showVal val="1"/>
              <c:showCatName val="0"/>
              <c:showSerName val="0"/>
              <c:showPercent val="0"/>
              <c:showBubbleSize val="0"/>
            </c:dLbl>
            <c:dLbl>
              <c:idx val="3"/>
              <c:tx>
                <c:rich>
                  <a:bodyPr/>
                  <a:lstStyle/>
                  <a:p>
                    <a:r>
                      <a:rPr sz="1300" b="1">
                        <a:solidFill>
                          <a:srgbClr val="374151"/>
                        </a:solidFill>
                        <a:latin typeface="Arial"/>
                      </a:rPr>
                      <a:t>5.1x</a:t>
                    </a:r>
                  </a:p>
                </c:rich>
              </c:tx>
              <c:showLegendKey val="0"/>
              <c:showVal val="1"/>
              <c:showCatName val="0"/>
              <c:showSerName val="0"/>
              <c:showPercent val="0"/>
              <c:showBubbleSize val="0"/>
            </c:dLbl>
            <c:dLbl>
              <c:idx val="4"/>
              <c:tx>
                <c:rich>
                  <a:bodyPr/>
                  <a:lstStyle/>
                  <a:p>
                    <a:r>
                      <a:rPr sz="1300" b="1">
                        <a:solidFill>
                          <a:srgbClr val="374151"/>
                        </a:solidFill>
                        <a:latin typeface="Arial"/>
                      </a:rPr>
                      <a:t>3.0x</a:t>
                    </a:r>
                  </a:p>
                </c:rich>
              </c:tx>
              <c:showLegendKey val="0"/>
              <c:showVal val="1"/>
              <c:showCatName val="0"/>
              <c:showSerName val="0"/>
              <c:showPercent val="0"/>
              <c:showBubbleSize val="0"/>
            </c:dLbl>
            <c:dLbl>
              <c:idx val="5"/>
              <c:tx>
                <c:rich>
                  <a:bodyPr/>
                  <a:lstStyle/>
                  <a:p>
                    <a:r>
                      <a:rPr sz="1300" b="1">
                        <a:solidFill>
                          <a:srgbClr val="374151"/>
                        </a:solidFill>
                        <a:latin typeface="Arial"/>
                      </a:rPr>
                      <a:t>2.5x</a:t>
                    </a:r>
                  </a:p>
                </c:rich>
              </c:tx>
              <c:showLegendKey val="0"/>
              <c:showVal val="1"/>
              <c:showCatName val="0"/>
              <c:showSerName val="0"/>
              <c:showPercent val="0"/>
              <c:showBubbleSize val="0"/>
            </c:dLbl>
            <c:dLbl>
              <c:idx val="6"/>
              <c:tx>
                <c:rich>
                  <a:bodyPr/>
                  <a:lstStyle/>
                  <a:p>
                    <a:r>
                      <a:rPr sz="1300" b="1">
                        <a:solidFill>
                          <a:srgbClr val="374151"/>
                        </a:solidFill>
                        <a:latin typeface="Arial"/>
                      </a:rPr>
                      <a:t>2.5x</a:t>
                    </a:r>
                  </a:p>
                </c:rich>
              </c:tx>
              <c:showLegendKey val="0"/>
              <c:showVal val="1"/>
              <c:showCatName val="0"/>
              <c:showSerName val="0"/>
              <c:showPercent val="0"/>
              <c:showBubbleSize val="0"/>
            </c:dLbl>
            <c:showLegendKey val="0"/>
            <c:showVal val="0"/>
            <c:showCatName val="0"/>
            <c:showSerName val="0"/>
            <c:showPercent val="0"/>
            <c:showBubbleSize val="0"/>
            <c:showLeaderLines val="1"/>
          </c:dLbls>
          <c:cat>
            <c:strRef>
              <c:f>Sheet1!$A$2:$A$8</c:f>
              <c:strCache>
                <c:ptCount val="7"/>
                <c:pt idx="0">
                  <c:v>3-day program</c:v>
                </c:pt>
                <c:pt idx="1">
                  <c:v>Regional program</c:v>
                </c:pt>
                <c:pt idx="2">
                  <c:v>State bank</c:v>
                </c:pt>
                <c:pt idx="3">
                  <c:v>Private bank</c:v>
                </c:pt>
                <c:pt idx="4">
                  <c:v>EAP</c:v>
                </c:pt>
                <c:pt idx="5">
                  <c:v>Public event</c:v>
                </c:pt>
                <c:pt idx="6">
                  <c:v>Counseling</c:v>
                </c:pt>
              </c:strCache>
            </c:strRef>
          </c:cat>
          <c:val>
            <c:numRef>
              <c:f>Sheet1!$B$2:$B$8</c:f>
              <c:numCache>
                <c:formatCode>General</c:formatCode>
                <c:ptCount val="7"/>
                <c:pt idx="0">
                  <c:v>4.0</c:v>
                </c:pt>
                <c:pt idx="1">
                  <c:v>3.56</c:v>
                </c:pt>
                <c:pt idx="2">
                  <c:v>4.25</c:v>
                </c:pt>
                <c:pt idx="3">
                  <c:v>5.08</c:v>
                </c:pt>
                <c:pt idx="4">
                  <c:v>3.0</c:v>
                </c:pt>
                <c:pt idx="5">
                  <c:v>2.5</c:v>
                </c:pt>
                <c:pt idx="6">
                  <c:v>2.5</c:v>
                </c:pt>
              </c:numCache>
            </c:numRef>
          </c:val>
        </c:ser>
        <c:dLbls>
          <c:numFmt formatCode="0.0&quot;x&quot;" sourceLinked="0"/>
          <c:txPr>
            <a:bodyPr/>
            <a:lstStyle/>
            <a:p>
              <a:pPr>
                <a:defRPr sz="1300" b="1">
                  <a:solidFill>
                    <a:srgbClr val="374151"/>
                  </a:solidFill>
                  <a:latin typeface="Aria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axMin"/>
        </c:scaling>
        <c:delete val="0"/>
        <c:axPos val="l"/>
        <c:majorTickMark val="out"/>
        <c:minorTickMark val="none"/>
        <c:tickLblPos val="nextTo"/>
        <c:spPr>
          <a:ln>
            <a:solidFill>
              <a:srgbClr val="E5E7EB"/>
            </a:solidFill>
          </a:ln>
        </c:spPr>
        <c:txPr>
          <a:bodyPr/>
          <a:lstStyle/>
          <a:p>
            <a:pPr>
              <a:defRPr sz="1200">
                <a:solidFill>
                  <a:srgbClr val="6B7280"/>
                </a:solidFill>
                <a:latin typeface="Arial"/>
              </a:defRPr>
            </a:pPr>
          </a:p>
        </c:txPr>
        <c:crossAx val="-2113994440"/>
        <c:crosses val="autoZero"/>
        <c:auto val="1"/>
        <c:lblAlgn val="ctr"/>
        <c:lblOffset val="100"/>
        <c:noMultiLvlLbl val="0"/>
      </c:catAx>
      <c:valAx>
        <c:axId val="-2113994440"/>
        <c:scaling>
          <c:max val="6.35"/>
          <c:min val="0.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374151"/>
                </a:solidFill>
                <a:latin typeface="Arial"/>
              </a:rPr>
              <a:t>Net margin after each hiring step</a:t>
            </a:r>
          </a:p>
        </c:rich>
      </c:tx>
      <c:layout/>
      <c:overlay val="0"/>
    </c:title>
    <c:autoTitleDeleted val="0"/>
    <c:plotArea>
      <c:barChart>
        <c:barDir val="col"/>
        <c:grouping val="clustered"/>
        <c:ser>
          <c:idx val="0"/>
          <c:order val="0"/>
          <c:tx>
            <c:strRef>
              <c:f>Sheet1!$B$1</c:f>
              <c:strCache>
                <c:ptCount val="1"/>
                <c:pt idx="0">
                  <c:v>Net margin</c:v>
                </c:pt>
              </c:strCache>
            </c:strRef>
          </c:tx>
          <c:invertIfNegative val="0"/>
          <c:dPt>
            <c:idx val="0"/>
            <c:invertIfNegative val="0"/>
            <c:spPr>
              <a:solidFill>
                <a:srgbClr val="576C94"/>
              </a:solidFill>
            </c:spPr>
          </c:dPt>
          <c:dPt>
            <c:idx val="1"/>
            <c:invertIfNegative val="0"/>
            <c:spPr>
              <a:solidFill>
                <a:srgbClr val="9B3809"/>
              </a:solidFill>
            </c:spPr>
          </c:dPt>
          <c:dPt>
            <c:idx val="2"/>
            <c:invertIfNegative val="0"/>
            <c:spPr>
              <a:solidFill>
                <a:srgbClr val="576C94"/>
              </a:solidFill>
            </c:spPr>
          </c:dPt>
          <c:dPt>
            <c:idx val="3"/>
            <c:invertIfNegative val="0"/>
            <c:spPr>
              <a:solidFill>
                <a:srgbClr val="576C94"/>
              </a:solidFill>
            </c:spPr>
          </c:dPt>
          <c:dPt>
            <c:idx val="4"/>
            <c:invertIfNegative val="0"/>
            <c:spPr>
              <a:solidFill>
                <a:srgbClr val="576C94"/>
              </a:solidFill>
            </c:spPr>
          </c:dPt>
          <c:dPt>
            <c:idx val="5"/>
            <c:invertIfNegative val="0"/>
            <c:spPr>
              <a:solidFill>
                <a:srgbClr val="9B3809"/>
              </a:solidFill>
            </c:spPr>
          </c:dPt>
          <c:cat>
            <c:strRef>
              <c:f>Sheet1!$A$2:$A$7</c:f>
              <c:strCache>
                <c:ptCount val="6"/>
                <c:pt idx="0">
                  <c:v>New prices, today's pay</c:v>
                </c:pt>
                <c:pt idx="1">
                  <c:v>1. Fair pay for staff</c:v>
                </c:pt>
                <c:pt idx="2">
                  <c:v>2. + psychologist and 2 EAP</c:v>
                </c:pt>
                <c:pt idx="3">
                  <c:v>3. + co-founder and bank deal</c:v>
                </c:pt>
                <c:pt idx="4">
                  <c:v>4 to 6. Full team, Theta pays CTO</c:v>
                </c:pt>
                <c:pt idx="5">
                  <c:v>If we paid the CTO</c:v>
                </c:pt>
              </c:strCache>
            </c:strRef>
          </c:cat>
          <c:val>
            <c:numRef>
              <c:f>Sheet1!$B$2:$B$7</c:f>
              <c:numCache>
                <c:formatCode>General</c:formatCode>
                <c:ptCount val="6"/>
                <c:pt idx="0">
                  <c:v>0.25200366300366267</c:v>
                </c:pt>
                <c:pt idx="1">
                  <c:v>0.10988338328338297</c:v>
                </c:pt>
                <c:pt idx="2">
                  <c:v>0.16295992479183433</c:v>
                </c:pt>
                <c:pt idx="3">
                  <c:v>0.2276196078431371</c:v>
                </c:pt>
                <c:pt idx="4">
                  <c:v>0.19340632511068925</c:v>
                </c:pt>
                <c:pt idx="5">
                  <c:v>0.14280543959519273</c:v>
                </c:pt>
              </c:numCache>
            </c:numRef>
          </c:val>
        </c:ser>
        <c:dLbls>
          <c:numFmt formatCode="0%" sourceLinked="0"/>
          <c:txPr>
            <a:bodyPr/>
            <a:lstStyle/>
            <a:p>
              <a:pPr>
                <a:defRPr sz="1300" b="1">
                  <a:solidFill>
                    <a:srgbClr val="374151"/>
                  </a:solidFill>
                  <a:latin typeface="Aria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out"/>
        <c:minorTickMark val="none"/>
        <c:tickLblPos val="nextTo"/>
        <c:spPr>
          <a:ln>
            <a:solidFill>
              <a:srgbClr val="E5E7EB"/>
            </a:solidFill>
          </a:ln>
        </c:spPr>
        <c:txPr>
          <a:bodyPr/>
          <a:lstStyle/>
          <a:p>
            <a:pPr>
              <a:defRPr sz="1200">
                <a:solidFill>
                  <a:srgbClr val="6B7280"/>
                </a:solidFill>
                <a:latin typeface="Arial"/>
              </a:defRPr>
            </a:pPr>
          </a:p>
        </c:txPr>
        <c:crossAx val="-2113994440"/>
        <c:crosses val="autoZero"/>
        <c:auto val="1"/>
        <c:lblAlgn val="ctr"/>
        <c:lblOffset val="100"/>
        <c:noMultiLvlLbl val="0"/>
      </c:catAx>
      <c:valAx>
        <c:axId val="-2113994440"/>
        <c:scaling>
          <c:max val="0.3150045787545783"/>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374151"/>
                </a:solidFill>
                <a:latin typeface="Arial"/>
              </a:rPr>
              <a:t>Business events per month (project manager can run 2)</a:t>
            </a:r>
          </a:p>
        </c:rich>
      </c:tx>
      <c:layout/>
      <c:overlay val="0"/>
    </c:title>
    <c:autoTitleDeleted val="0"/>
    <c:plotArea>
      <c:barChart>
        <c:barDir val="col"/>
        <c:grouping val="clustered"/>
        <c:ser>
          <c:idx val="0"/>
          <c:order val="0"/>
          <c:tx>
            <c:strRef>
              <c:f>Sheet1!$B$1</c:f>
              <c:strCache>
                <c:ptCount val="1"/>
                <c:pt idx="0">
                  <c:v>Business events</c:v>
                </c:pt>
              </c:strCache>
            </c:strRef>
          </c:tx>
          <c:invertIfNegative val="0"/>
          <c:dPt>
            <c:idx val="0"/>
            <c:invertIfNegative val="0"/>
            <c:spPr>
              <a:solidFill>
                <a:srgbClr val="9B3809"/>
              </a:solidFill>
            </c:spPr>
          </c:dPt>
          <c:dPt>
            <c:idx val="1"/>
            <c:invertIfNegative val="0"/>
            <c:spPr>
              <a:solidFill>
                <a:srgbClr val="9B3809"/>
              </a:solidFill>
            </c:spPr>
          </c:dPt>
          <c:dPt>
            <c:idx val="2"/>
            <c:invertIfNegative val="0"/>
            <c:spPr>
              <a:solidFill>
                <a:srgbClr val="9B3809"/>
              </a:solidFill>
            </c:spPr>
          </c:dPt>
          <c:dPt>
            <c:idx val="3"/>
            <c:invertIfNegative val="0"/>
            <c:spPr>
              <a:solidFill>
                <a:srgbClr val="576C94"/>
              </a:solidFill>
            </c:spPr>
          </c:dPt>
          <c:dPt>
            <c:idx val="4"/>
            <c:invertIfNegative val="0"/>
            <c:spPr>
              <a:solidFill>
                <a:srgbClr val="576C94"/>
              </a:solidFill>
            </c:spPr>
          </c:dPt>
          <c:dPt>
            <c:idx val="5"/>
            <c:invertIfNegative val="0"/>
            <c:spPr>
              <a:solidFill>
                <a:srgbClr val="576C94"/>
              </a:solidFill>
            </c:spPr>
          </c:dPt>
          <c:dPt>
            <c:idx val="6"/>
            <c:invertIfNegative val="0"/>
            <c:spPr>
              <a:solidFill>
                <a:srgbClr val="576C94"/>
              </a:solidFill>
            </c:spPr>
          </c:dPt>
          <c:dPt>
            <c:idx val="7"/>
            <c:invertIfNegative val="0"/>
            <c:spPr>
              <a:solidFill>
                <a:srgbClr val="576C94"/>
              </a:solidFill>
            </c:spPr>
          </c:dPt>
          <c:dPt>
            <c:idx val="8"/>
            <c:invertIfNegative val="0"/>
            <c:spPr>
              <a:solidFill>
                <a:srgbClr val="576C94"/>
              </a:solidFill>
            </c:spPr>
          </c:dPt>
          <c:dPt>
            <c:idx val="9"/>
            <c:invertIfNegative val="0"/>
            <c:spPr>
              <a:solidFill>
                <a:srgbClr val="9B3809"/>
              </a:solidFill>
            </c:spPr>
          </c:dPt>
          <c:dPt>
            <c:idx val="10"/>
            <c:invertIfNegative val="0"/>
            <c:spPr>
              <a:solidFill>
                <a:srgbClr val="576C94"/>
              </a:solidFill>
            </c:spPr>
          </c:dPt>
          <c:dPt>
            <c:idx val="11"/>
            <c:invertIfNegative val="0"/>
            <c:spPr>
              <a:solidFill>
                <a:srgbClr val="9B3809"/>
              </a:solidFill>
            </c:spPr>
          </c:dPt>
          <c:dPt>
            <c:idx val="12"/>
            <c:invertIfNegative val="0"/>
            <c:spPr>
              <a:solidFill>
                <a:srgbClr val="9B3809"/>
              </a:solidFill>
            </c:spPr>
          </c:dPt>
          <c:dPt>
            <c:idx val="13"/>
            <c:invertIfNegative val="0"/>
            <c:spPr>
              <a:solidFill>
                <a:srgbClr val="9B3809"/>
              </a:solidFill>
            </c:spPr>
          </c:dPt>
          <c:dPt>
            <c:idx val="14"/>
            <c:invertIfNegative val="0"/>
            <c:spPr>
              <a:solidFill>
                <a:srgbClr val="9B3809"/>
              </a:solidFill>
            </c:spPr>
          </c:dPt>
          <c:cat>
            <c:strRef>
              <c:f>Sheet1!$A$2:$A$16</c:f>
              <c:strCache>
                <c:ptCount val="15"/>
                <c:pt idx="0">
                  <c:v>Oct 26</c:v>
                </c:pt>
                <c:pt idx="1">
                  <c:v>Nov 26</c:v>
                </c:pt>
                <c:pt idx="2">
                  <c:v>Dec 26</c:v>
                </c:pt>
                <c:pt idx="3">
                  <c:v>Jan 27</c:v>
                </c:pt>
                <c:pt idx="4">
                  <c:v>Feb 27</c:v>
                </c:pt>
                <c:pt idx="5">
                  <c:v>Mar 27</c:v>
                </c:pt>
                <c:pt idx="6">
                  <c:v>Apr 27</c:v>
                </c:pt>
                <c:pt idx="7">
                  <c:v>May 27</c:v>
                </c:pt>
                <c:pt idx="8">
                  <c:v>Jun 27</c:v>
                </c:pt>
                <c:pt idx="9">
                  <c:v>Jul 27</c:v>
                </c:pt>
                <c:pt idx="10">
                  <c:v>Aug 27</c:v>
                </c:pt>
                <c:pt idx="11">
                  <c:v>Sep 27</c:v>
                </c:pt>
                <c:pt idx="12">
                  <c:v>Oct 27</c:v>
                </c:pt>
                <c:pt idx="13">
                  <c:v>Nov 27</c:v>
                </c:pt>
                <c:pt idx="14">
                  <c:v>Dec 27</c:v>
                </c:pt>
              </c:strCache>
            </c:strRef>
          </c:cat>
          <c:val>
            <c:numRef>
              <c:f>Sheet1!$B$2:$B$16</c:f>
              <c:numCache>
                <c:formatCode>General</c:formatCode>
                <c:ptCount val="15"/>
                <c:pt idx="0">
                  <c:v>3</c:v>
                </c:pt>
                <c:pt idx="1">
                  <c:v>5</c:v>
                </c:pt>
                <c:pt idx="2">
                  <c:v>5</c:v>
                </c:pt>
                <c:pt idx="3">
                  <c:v>0</c:v>
                </c:pt>
                <c:pt idx="4">
                  <c:v>0</c:v>
                </c:pt>
                <c:pt idx="5">
                  <c:v>2</c:v>
                </c:pt>
                <c:pt idx="6">
                  <c:v>1</c:v>
                </c:pt>
                <c:pt idx="7">
                  <c:v>2</c:v>
                </c:pt>
                <c:pt idx="8">
                  <c:v>1</c:v>
                </c:pt>
                <c:pt idx="9">
                  <c:v>3</c:v>
                </c:pt>
                <c:pt idx="10">
                  <c:v>1</c:v>
                </c:pt>
                <c:pt idx="11">
                  <c:v>3</c:v>
                </c:pt>
                <c:pt idx="12">
                  <c:v>3</c:v>
                </c:pt>
                <c:pt idx="13">
                  <c:v>5</c:v>
                </c:pt>
                <c:pt idx="14">
                  <c:v>5</c:v>
                </c:pt>
              </c:numCache>
            </c:numRef>
          </c:val>
        </c:ser>
        <c:dLbls>
          <c:numFmt formatCode="0" sourceLinked="0"/>
          <c:txPr>
            <a:bodyPr/>
            <a:lstStyle/>
            <a:p>
              <a:pPr>
                <a:defRPr sz="1100" b="1">
                  <a:solidFill>
                    <a:srgbClr val="374151"/>
                  </a:solidFill>
                  <a:latin typeface="Arial"/>
                </a:defRPr>
              </a:pPr>
            </a:p>
          </c:txPr>
          <c:dLblPos val="outEnd"/>
          <c:showLegendKey val="0"/>
          <c:showVal val="1"/>
          <c:showCatName val="0"/>
          <c:showSerName val="0"/>
          <c:showPercent val="0"/>
          <c:showBubbleSize val="0"/>
          <c:showLeaderLines val="1"/>
        </c:dLbls>
        <c:gapWidth val="35"/>
        <c:axId val="-2068027336"/>
        <c:axId val="-2113994440"/>
      </c:barChart>
      <c:catAx>
        <c:axId val="-2068027336"/>
        <c:scaling>
          <c:orientation val="minMax"/>
        </c:scaling>
        <c:delete val="0"/>
        <c:axPos val="b"/>
        <c:majorTickMark val="out"/>
        <c:minorTickMark val="none"/>
        <c:tickLblPos val="nextTo"/>
        <c:spPr>
          <a:ln>
            <a:solidFill>
              <a:srgbClr val="E5E7EB"/>
            </a:solidFill>
          </a:ln>
        </c:spPr>
        <c:txPr>
          <a:bodyPr/>
          <a:lstStyle/>
          <a:p>
            <a:pPr>
              <a:defRPr sz="1000">
                <a:solidFill>
                  <a:srgbClr val="6B7280"/>
                </a:solidFill>
                <a:latin typeface="Arial"/>
              </a:defRPr>
            </a:pPr>
          </a:p>
        </c:txPr>
        <c:crossAx val="-2113994440"/>
        <c:crosses val="autoZero"/>
        <c:auto val="1"/>
        <c:lblAlgn val="ctr"/>
        <c:lblOffset val="100"/>
        <c:noMultiLvlLbl val="0"/>
      </c:catAx>
      <c:valAx>
        <c:axId val="-2113994440"/>
        <c:scaling>
          <c:max val="6.25"/>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374151"/>
                </a:solidFill>
                <a:latin typeface="Arial"/>
              </a:rPr>
              <a:t>Trainers needed per month (we have 2 today)</a:t>
            </a:r>
          </a:p>
        </c:rich>
      </c:tx>
      <c:layout/>
      <c:overlay val="0"/>
    </c:title>
    <c:autoTitleDeleted val="0"/>
    <c:plotArea>
      <c:barChart>
        <c:barDir val="col"/>
        <c:grouping val="clustered"/>
        <c:ser>
          <c:idx val="0"/>
          <c:order val="0"/>
          <c:tx>
            <c:strRef>
              <c:f>Sheet1!$B$1</c:f>
              <c:strCache>
                <c:ptCount val="1"/>
                <c:pt idx="0">
                  <c:v>Trainers needed</c:v>
                </c:pt>
              </c:strCache>
            </c:strRef>
          </c:tx>
          <c:invertIfNegative val="0"/>
          <c:dPt>
            <c:idx val="0"/>
            <c:invertIfNegative val="0"/>
            <c:spPr>
              <a:solidFill>
                <a:srgbClr val="9B3809"/>
              </a:solidFill>
            </c:spPr>
          </c:dPt>
          <c:dPt>
            <c:idx val="1"/>
            <c:invertIfNegative val="0"/>
            <c:spPr>
              <a:solidFill>
                <a:srgbClr val="9B3809"/>
              </a:solidFill>
            </c:spPr>
          </c:dPt>
          <c:dPt>
            <c:idx val="2"/>
            <c:invertIfNegative val="0"/>
            <c:spPr>
              <a:solidFill>
                <a:srgbClr val="9B3809"/>
              </a:solidFill>
            </c:spPr>
          </c:dPt>
          <c:dPt>
            <c:idx val="3"/>
            <c:invertIfNegative val="0"/>
            <c:spPr>
              <a:solidFill>
                <a:srgbClr val="576C94"/>
              </a:solidFill>
            </c:spPr>
          </c:dPt>
          <c:dPt>
            <c:idx val="4"/>
            <c:invertIfNegative val="0"/>
            <c:spPr>
              <a:solidFill>
                <a:srgbClr val="576C94"/>
              </a:solidFill>
            </c:spPr>
          </c:dPt>
          <c:dPt>
            <c:idx val="5"/>
            <c:invertIfNegative val="0"/>
            <c:spPr>
              <a:solidFill>
                <a:srgbClr val="9B3809"/>
              </a:solidFill>
            </c:spPr>
          </c:dPt>
          <c:dPt>
            <c:idx val="6"/>
            <c:invertIfNegative val="0"/>
            <c:spPr>
              <a:solidFill>
                <a:srgbClr val="576C94"/>
              </a:solidFill>
            </c:spPr>
          </c:dPt>
          <c:dPt>
            <c:idx val="7"/>
            <c:invertIfNegative val="0"/>
            <c:spPr>
              <a:solidFill>
                <a:srgbClr val="9B3809"/>
              </a:solidFill>
            </c:spPr>
          </c:dPt>
          <c:dPt>
            <c:idx val="8"/>
            <c:invertIfNegative val="0"/>
            <c:spPr>
              <a:solidFill>
                <a:srgbClr val="576C94"/>
              </a:solidFill>
            </c:spPr>
          </c:dPt>
          <c:dPt>
            <c:idx val="9"/>
            <c:invertIfNegative val="0"/>
            <c:spPr>
              <a:solidFill>
                <a:srgbClr val="9B3809"/>
              </a:solidFill>
            </c:spPr>
          </c:dPt>
          <c:dPt>
            <c:idx val="10"/>
            <c:invertIfNegative val="0"/>
            <c:spPr>
              <a:solidFill>
                <a:srgbClr val="576C94"/>
              </a:solidFill>
            </c:spPr>
          </c:dPt>
          <c:dPt>
            <c:idx val="11"/>
            <c:invertIfNegative val="0"/>
            <c:spPr>
              <a:solidFill>
                <a:srgbClr val="9B3809"/>
              </a:solidFill>
            </c:spPr>
          </c:dPt>
          <c:dPt>
            <c:idx val="12"/>
            <c:invertIfNegative val="0"/>
            <c:spPr>
              <a:solidFill>
                <a:srgbClr val="9B3809"/>
              </a:solidFill>
            </c:spPr>
          </c:dPt>
          <c:dPt>
            <c:idx val="13"/>
            <c:invertIfNegative val="0"/>
            <c:spPr>
              <a:solidFill>
                <a:srgbClr val="9B3809"/>
              </a:solidFill>
            </c:spPr>
          </c:dPt>
          <c:dPt>
            <c:idx val="14"/>
            <c:invertIfNegative val="0"/>
            <c:spPr>
              <a:solidFill>
                <a:srgbClr val="9B3809"/>
              </a:solidFill>
            </c:spPr>
          </c:dPt>
          <c:cat>
            <c:strRef>
              <c:f>Sheet1!$A$2:$A$16</c:f>
              <c:strCache>
                <c:ptCount val="15"/>
                <c:pt idx="0">
                  <c:v>Oct 26</c:v>
                </c:pt>
                <c:pt idx="1">
                  <c:v>Nov 26</c:v>
                </c:pt>
                <c:pt idx="2">
                  <c:v>Dec 26</c:v>
                </c:pt>
                <c:pt idx="3">
                  <c:v>Jan 27</c:v>
                </c:pt>
                <c:pt idx="4">
                  <c:v>Feb 27</c:v>
                </c:pt>
                <c:pt idx="5">
                  <c:v>Mar 27</c:v>
                </c:pt>
                <c:pt idx="6">
                  <c:v>Apr 27</c:v>
                </c:pt>
                <c:pt idx="7">
                  <c:v>May 27</c:v>
                </c:pt>
                <c:pt idx="8">
                  <c:v>Jun 27</c:v>
                </c:pt>
                <c:pt idx="9">
                  <c:v>Jul 27</c:v>
                </c:pt>
                <c:pt idx="10">
                  <c:v>Aug 27</c:v>
                </c:pt>
                <c:pt idx="11">
                  <c:v>Sep 27</c:v>
                </c:pt>
                <c:pt idx="12">
                  <c:v>Oct 27</c:v>
                </c:pt>
                <c:pt idx="13">
                  <c:v>Nov 27</c:v>
                </c:pt>
                <c:pt idx="14">
                  <c:v>Dec 27</c:v>
                </c:pt>
              </c:strCache>
            </c:strRef>
          </c:cat>
          <c:val>
            <c:numRef>
              <c:f>Sheet1!$B$2:$B$16</c:f>
              <c:numCache>
                <c:formatCode>General</c:formatCode>
                <c:ptCount val="15"/>
                <c:pt idx="0">
                  <c:v>4</c:v>
                </c:pt>
                <c:pt idx="1">
                  <c:v>7</c:v>
                </c:pt>
                <c:pt idx="2">
                  <c:v>6</c:v>
                </c:pt>
                <c:pt idx="3">
                  <c:v>1</c:v>
                </c:pt>
                <c:pt idx="4">
                  <c:v>1</c:v>
                </c:pt>
                <c:pt idx="5">
                  <c:v>3</c:v>
                </c:pt>
                <c:pt idx="6">
                  <c:v>1</c:v>
                </c:pt>
                <c:pt idx="7">
                  <c:v>3</c:v>
                </c:pt>
                <c:pt idx="8">
                  <c:v>1</c:v>
                </c:pt>
                <c:pt idx="9">
                  <c:v>4</c:v>
                </c:pt>
                <c:pt idx="10">
                  <c:v>1</c:v>
                </c:pt>
                <c:pt idx="11">
                  <c:v>4</c:v>
                </c:pt>
                <c:pt idx="12">
                  <c:v>4</c:v>
                </c:pt>
                <c:pt idx="13">
                  <c:v>7</c:v>
                </c:pt>
                <c:pt idx="14">
                  <c:v>6</c:v>
                </c:pt>
              </c:numCache>
            </c:numRef>
          </c:val>
        </c:ser>
        <c:dLbls>
          <c:numFmt formatCode="0" sourceLinked="0"/>
          <c:txPr>
            <a:bodyPr/>
            <a:lstStyle/>
            <a:p>
              <a:pPr>
                <a:defRPr sz="1100" b="1">
                  <a:solidFill>
                    <a:srgbClr val="374151"/>
                  </a:solidFill>
                  <a:latin typeface="Arial"/>
                </a:defRPr>
              </a:pPr>
            </a:p>
          </c:txPr>
          <c:dLblPos val="outEnd"/>
          <c:showLegendKey val="0"/>
          <c:showVal val="1"/>
          <c:showCatName val="0"/>
          <c:showSerName val="0"/>
          <c:showPercent val="0"/>
          <c:showBubbleSize val="0"/>
          <c:showLeaderLines val="1"/>
        </c:dLbls>
        <c:gapWidth val="35"/>
        <c:axId val="-2068027336"/>
        <c:axId val="-2113994440"/>
      </c:barChart>
      <c:catAx>
        <c:axId val="-2068027336"/>
        <c:scaling>
          <c:orientation val="minMax"/>
        </c:scaling>
        <c:delete val="0"/>
        <c:axPos val="b"/>
        <c:majorTickMark val="out"/>
        <c:minorTickMark val="none"/>
        <c:tickLblPos val="nextTo"/>
        <c:spPr>
          <a:ln>
            <a:solidFill>
              <a:srgbClr val="E5E7EB"/>
            </a:solidFill>
          </a:ln>
        </c:spPr>
        <c:txPr>
          <a:bodyPr/>
          <a:lstStyle/>
          <a:p>
            <a:pPr>
              <a:defRPr sz="1000">
                <a:solidFill>
                  <a:srgbClr val="6B7280"/>
                </a:solidFill>
                <a:latin typeface="Arial"/>
              </a:defRPr>
            </a:pPr>
          </a:p>
        </c:txPr>
        <c:crossAx val="-2113994440"/>
        <c:crosses val="autoZero"/>
        <c:auto val="1"/>
        <c:lblAlgn val="ctr"/>
        <c:lblOffset val="100"/>
        <c:noMultiLvlLbl val="0"/>
      </c:catAx>
      <c:valAx>
        <c:axId val="-2113994440"/>
        <c:scaling>
          <c:max val="8.75"/>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374151"/>
                </a:solidFill>
                <a:latin typeface="Arial"/>
              </a:rPr>
              <a:t>Sales for one year by type of client (Rp M)</a:t>
            </a:r>
          </a:p>
        </c:rich>
      </c:tx>
      <c:layout/>
      <c:overlay val="0"/>
    </c:title>
    <c:autoTitleDeleted val="0"/>
    <c:plotArea>
      <c:barChart>
        <c:barDir val="col"/>
        <c:grouping val="stacked"/>
        <c:ser>
          <c:idx val="0"/>
          <c:order val="0"/>
          <c:tx>
            <c:strRef>
              <c:f>Sheet1!$B$1</c:f>
              <c:strCache>
                <c:ptCount val="1"/>
                <c:pt idx="0">
                  <c:v>BI (Bank Indonesia)</c:v>
                </c:pt>
              </c:strCache>
            </c:strRef>
          </c:tx>
          <c:spPr>
            <a:solidFill>
              <a:srgbClr val="475571"/>
            </a:solidFill>
          </c:spPr>
          <c:invertIfNegative val="0"/>
          <c:cat>
            <c:strRef>
              <c:f>Sheet1!$A$2:$A$3</c:f>
              <c:strCache>
                <c:ptCount val="2"/>
                <c:pt idx="0">
                  <c:v>2027 plan</c:v>
                </c:pt>
                <c:pt idx="1">
                  <c:v>With growth</c:v>
                </c:pt>
              </c:strCache>
            </c:strRef>
          </c:cat>
          <c:val>
            <c:numRef>
              <c:f>Sheet1!$B$2:$B$3</c:f>
              <c:numCache>
                <c:formatCode>General</c:formatCode>
                <c:ptCount val="2"/>
                <c:pt idx="0">
                  <c:v>912</c:v>
                </c:pt>
                <c:pt idx="1">
                  <c:v>912</c:v>
                </c:pt>
              </c:numCache>
            </c:numRef>
          </c:val>
        </c:ser>
        <c:ser>
          <c:idx val="1"/>
          <c:order val="1"/>
          <c:tx>
            <c:strRef>
              <c:f>Sheet1!$C$1</c:f>
              <c:strCache>
                <c:ptCount val="1"/>
                <c:pt idx="0">
                  <c:v>Other regulators and banks</c:v>
                </c:pt>
              </c:strCache>
            </c:strRef>
          </c:tx>
          <c:spPr>
            <a:solidFill>
              <a:srgbClr val="6379A1"/>
            </a:solidFill>
          </c:spPr>
          <c:invertIfNegative val="0"/>
          <c:cat>
            <c:strRef>
              <c:f>Sheet1!$A$2:$A$3</c:f>
              <c:strCache>
                <c:ptCount val="2"/>
                <c:pt idx="0">
                  <c:v>2027 plan</c:v>
                </c:pt>
                <c:pt idx="1">
                  <c:v>With growth</c:v>
                </c:pt>
              </c:strCache>
            </c:strRef>
          </c:cat>
          <c:val>
            <c:numRef>
              <c:f>Sheet1!$C$2:$C$3</c:f>
              <c:numCache>
                <c:formatCode>General</c:formatCode>
                <c:ptCount val="2"/>
                <c:pt idx="0">
                  <c:v>287</c:v>
                </c:pt>
                <c:pt idx="1">
                  <c:v>797</c:v>
                </c:pt>
              </c:numCache>
            </c:numRef>
          </c:val>
        </c:ser>
        <c:ser>
          <c:idx val="2"/>
          <c:order val="2"/>
          <c:tx>
            <c:strRef>
              <c:f>Sheet1!$D$1</c:f>
              <c:strCache>
                <c:ptCount val="1"/>
                <c:pt idx="0">
                  <c:v>EAP (monthly)</c:v>
                </c:pt>
              </c:strCache>
            </c:strRef>
          </c:tx>
          <c:spPr>
            <a:solidFill>
              <a:srgbClr val="9B3809"/>
            </a:solidFill>
          </c:spPr>
          <c:invertIfNegative val="0"/>
          <c:cat>
            <c:strRef>
              <c:f>Sheet1!$A$2:$A$3</c:f>
              <c:strCache>
                <c:ptCount val="2"/>
                <c:pt idx="0">
                  <c:v>2027 plan</c:v>
                </c:pt>
                <c:pt idx="1">
                  <c:v>With growth</c:v>
                </c:pt>
              </c:strCache>
            </c:strRef>
          </c:cat>
          <c:val>
            <c:numRef>
              <c:f>Sheet1!$D$2:$D$3</c:f>
              <c:numCache>
                <c:formatCode>General</c:formatCode>
                <c:ptCount val="2"/>
                <c:pt idx="0">
                  <c:v>180</c:v>
                </c:pt>
                <c:pt idx="1">
                  <c:v>540</c:v>
                </c:pt>
              </c:numCache>
            </c:numRef>
          </c:val>
        </c:ser>
        <c:ser>
          <c:idx val="3"/>
          <c:order val="3"/>
          <c:tx>
            <c:strRef>
              <c:f>Sheet1!$E$1</c:f>
              <c:strCache>
                <c:ptCount val="1"/>
                <c:pt idx="0">
                  <c:v>Public events and counseling</c:v>
                </c:pt>
              </c:strCache>
            </c:strRef>
          </c:tx>
          <c:spPr>
            <a:solidFill>
              <a:srgbClr val="B8BEC9"/>
            </a:solidFill>
          </c:spPr>
          <c:invertIfNegative val="0"/>
          <c:cat>
            <c:strRef>
              <c:f>Sheet1!$A$2:$A$3</c:f>
              <c:strCache>
                <c:ptCount val="2"/>
                <c:pt idx="0">
                  <c:v>2027 plan</c:v>
                </c:pt>
                <c:pt idx="1">
                  <c:v>With growth</c:v>
                </c:pt>
              </c:strCache>
            </c:strRef>
          </c:cat>
          <c:val>
            <c:numRef>
              <c:f>Sheet1!$E$2:$E$3</c:f>
              <c:numCache>
                <c:formatCode>General</c:formatCode>
                <c:ptCount val="2"/>
                <c:pt idx="0">
                  <c:v>123</c:v>
                </c:pt>
                <c:pt idx="1">
                  <c:v>123</c:v>
                </c:pt>
              </c:numCache>
            </c:numRef>
          </c:val>
        </c:ser>
        <c:dLbls>
          <c:numFmt formatCode="#,##0" sourceLinked="0"/>
          <c:txPr>
            <a:bodyPr/>
            <a:lstStyle/>
            <a:p>
              <a:pPr>
                <a:defRPr sz="1200" b="1">
                  <a:solidFill>
                    <a:srgbClr val="FFFFFF"/>
                  </a:solidFill>
                  <a:latin typeface="Arial"/>
                </a:defRPr>
              </a:pPr>
            </a:p>
          </c:txPr>
          <c:dLblPos val="ctr"/>
          <c:showLegendKey val="0"/>
          <c:showVal val="1"/>
          <c:showCatName val="0"/>
          <c:showSerName val="0"/>
          <c:showPercent val="0"/>
          <c:showBubbleSize val="0"/>
          <c:showLeaderLines val="1"/>
        </c:dLbls>
        <c:gapWidth val="80"/>
        <c:overlap val="100"/>
        <c:axId val="-2068027336"/>
        <c:axId val="-2113994440"/>
      </c:barChart>
      <c:catAx>
        <c:axId val="-2068027336"/>
        <c:scaling>
          <c:orientation val="minMax"/>
        </c:scaling>
        <c:delete val="0"/>
        <c:axPos val="b"/>
        <c:majorTickMark val="out"/>
        <c:minorTickMark val="none"/>
        <c:tickLblPos val="nextTo"/>
        <c:spPr>
          <a:ln>
            <a:solidFill>
              <a:srgbClr val="E5E7EB"/>
            </a:solidFill>
          </a:ln>
        </c:spPr>
        <c:txPr>
          <a:bodyPr/>
          <a:lstStyle/>
          <a:p>
            <a:pPr>
              <a:defRPr sz="1200">
                <a:solidFill>
                  <a:srgbClr val="6B7280"/>
                </a:solidFill>
                <a:latin typeface="Arial"/>
              </a:defRPr>
            </a:pPr>
          </a:p>
        </c:txPr>
        <c:crossAx val="-2113994440"/>
        <c:crosses val="autoZero"/>
        <c:auto val="1"/>
        <c:lblAlgn val="ctr"/>
        <c:lblOffset val="100"/>
        <c:noMultiLvlLbl val="0"/>
      </c:catAx>
      <c:valAx>
        <c:axId val="-2113994440"/>
        <c:scaling>
          <c:max val="2965.0"/>
          <c:min val="0.0"/>
        </c:scaling>
        <c:delete/>
        <c:axPos val="l"/>
        <c:majorTickMark val="out"/>
        <c:minorTickMark val="none"/>
        <c:tickLblPos val="nextTo"/>
        <c:crossAx val="-2068027336"/>
        <c:crosses val="autoZero"/>
      </c:valAx>
    </c:plotArea>
    <c:legend>
      <c:legendPos val="b"/>
      <c:overlay val="0"/>
      <c:txPr>
        <a:bodyPr/>
        <a:lstStyle/>
        <a:p>
          <a:pPr>
            <a:defRPr sz="1200">
              <a:solidFill>
                <a:srgbClr val="374151"/>
              </a:solidFill>
              <a:latin typeface="Arial"/>
            </a:defRPr>
          </a:pPr>
        </a:p>
      </c:txPr>
    </c:legend>
    <c:dispBlanksAs val="gap"/>
  </c:chart>
  <c:txPr>
    <a:bodyPr/>
    <a:lstStyle/>
    <a:p>
      <a:pPr>
        <a:defRPr sz="1800"/>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374151"/>
                </a:solidFill>
                <a:latin typeface="Arial"/>
              </a:rPr>
              <a:t>One year (Rp M)</a:t>
            </a:r>
          </a:p>
        </c:rich>
      </c:tx>
      <c:layout/>
      <c:overlay val="0"/>
    </c:title>
    <c:autoTitleDeleted val="0"/>
    <c:plotArea>
      <c:barChart>
        <c:barDir val="col"/>
        <c:grouping val="clustered"/>
        <c:ser>
          <c:idx val="0"/>
          <c:order val="0"/>
          <c:tx>
            <c:strRef>
              <c:f>Sheet1!$B$1</c:f>
              <c:strCache>
                <c:ptCount val="1"/>
                <c:pt idx="0">
                  <c:v>Rp M a year</c:v>
                </c:pt>
              </c:strCache>
            </c:strRef>
          </c:tx>
          <c:invertIfNegative val="0"/>
          <c:dPt>
            <c:idx val="0"/>
            <c:invertIfNegative val="0"/>
            <c:spPr>
              <a:solidFill>
                <a:srgbClr val="9B3809"/>
              </a:solidFill>
            </c:spPr>
          </c:dPt>
          <c:dPt>
            <c:idx val="1"/>
            <c:invertIfNegative val="0"/>
            <c:spPr>
              <a:solidFill>
                <a:srgbClr val="576C94"/>
              </a:solidFill>
            </c:spPr>
          </c:dPt>
          <c:dPt>
            <c:idx val="2"/>
            <c:invertIfNegative val="0"/>
            <c:spPr>
              <a:solidFill>
                <a:srgbClr val="576C94"/>
              </a:solidFill>
            </c:spPr>
          </c:dPt>
          <c:cat>
            <c:strRef>
              <c:f>Sheet1!$A$2:$A$4</c:f>
              <c:strCache>
                <c:ptCount val="3"/>
                <c:pt idx="0">
                  <c:v>Co-founder cost</c:v>
                </c:pt>
                <c:pt idx="1">
                  <c:v>Profit, 3 bank days</c:v>
                </c:pt>
                <c:pt idx="2">
                  <c:v>Profit, 10 bank days</c:v>
                </c:pt>
              </c:strCache>
            </c:strRef>
          </c:cat>
          <c:val>
            <c:numRef>
              <c:f>Sheet1!$B$2:$B$4</c:f>
              <c:numCache>
                <c:formatCode>General</c:formatCode>
                <c:ptCount val="3"/>
                <c:pt idx="0">
                  <c:v>96.0</c:v>
                </c:pt>
                <c:pt idx="1">
                  <c:v>100.5</c:v>
                </c:pt>
                <c:pt idx="2">
                  <c:v>335.0</c:v>
                </c:pt>
              </c:numCache>
            </c:numRef>
          </c:val>
        </c:ser>
        <c:dLbls>
          <c:numFmt formatCode="#,##0" sourceLinked="0"/>
          <c:txPr>
            <a:bodyPr/>
            <a:lstStyle/>
            <a:p>
              <a:pPr>
                <a:defRPr sz="1300" b="1">
                  <a:solidFill>
                    <a:srgbClr val="374151"/>
                  </a:solidFill>
                  <a:latin typeface="Arial"/>
                </a:defRPr>
              </a:pPr>
            </a:p>
          </c:txPr>
          <c:dLblPos val="outEnd"/>
          <c:showLegendKey val="0"/>
          <c:showVal val="1"/>
          <c:showCatName val="0"/>
          <c:showSerName val="0"/>
          <c:showPercent val="0"/>
          <c:showBubbleSize val="0"/>
          <c:showLeaderLines val="1"/>
        </c:dLbls>
        <c:gapWidth val="50"/>
        <c:axId val="-2068027336"/>
        <c:axId val="-2113994440"/>
      </c:barChart>
      <c:catAx>
        <c:axId val="-2068027336"/>
        <c:scaling>
          <c:orientation val="minMax"/>
        </c:scaling>
        <c:delete val="0"/>
        <c:axPos val="b"/>
        <c:majorTickMark val="out"/>
        <c:minorTickMark val="none"/>
        <c:tickLblPos val="nextTo"/>
        <c:spPr>
          <a:ln>
            <a:solidFill>
              <a:srgbClr val="E5E7EB"/>
            </a:solidFill>
          </a:ln>
        </c:spPr>
        <c:txPr>
          <a:bodyPr/>
          <a:lstStyle/>
          <a:p>
            <a:pPr>
              <a:defRPr sz="1200">
                <a:solidFill>
                  <a:srgbClr val="6B7280"/>
                </a:solidFill>
                <a:latin typeface="Arial"/>
              </a:defRPr>
            </a:pPr>
          </a:p>
        </c:txPr>
        <c:crossAx val="-2113994440"/>
        <c:crosses val="autoZero"/>
        <c:auto val="1"/>
        <c:lblAlgn val="ctr"/>
        <c:lblOffset val="100"/>
        <c:noMultiLvlLbl val="0"/>
      </c:catAx>
      <c:valAx>
        <c:axId val="-2113994440"/>
        <c:scaling>
          <c:max val="418.75"/>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374151"/>
                </a:solidFill>
                <a:latin typeface="Arial"/>
              </a:rPr>
              <a:t>Cash at the end of each month (Rp M)</a:t>
            </a:r>
          </a:p>
        </c:rich>
      </c:tx>
      <c:layout/>
      <c:overlay val="0"/>
    </c:title>
    <c:autoTitleDeleted val="0"/>
    <c:plotArea>
      <c:lineChart>
        <c:grouping val="standard"/>
        <c:varyColors val="0"/>
        <c:ser>
          <c:idx val="0"/>
          <c:order val="0"/>
          <c:tx>
            <c:strRef>
              <c:f>Sheet1!$B$1</c:f>
              <c:strCache>
                <c:ptCount val="1"/>
                <c:pt idx="0">
                  <c:v>Cash in the bank (plan)</c:v>
                </c:pt>
              </c:strCache>
            </c:strRef>
          </c:tx>
          <c:spPr>
            <a:ln w="31750">
              <a:solidFill>
                <a:srgbClr val="475571"/>
              </a:solidFill>
            </a:ln>
          </c:spPr>
          <c:marker>
            <c:spPr>
              <a:solidFill>
                <a:srgbClr val="475571"/>
              </a:solidFill>
              <a:ln>
                <a:solidFill>
                  <a:srgbClr val="475571"/>
                </a:solidFill>
              </a:ln>
            </c:spPr>
          </c:marker>
          <c:dLbls>
            <c:dLbl>
              <c:idx val="0"/>
              <c:spPr/>
              <c:txPr>
                <a:bodyPr/>
                <a:lstStyle/>
                <a:p>
                  <a:pPr>
                    <a:defRPr sz="1200" b="1">
                      <a:latin typeface="Arial"/>
                    </a:defRPr>
                  </a:pPr>
                </a:p>
              </c:txPr>
              <c:dLblPos val="t"/>
              <c:showLegendKey val="0"/>
              <c:showVal val="1"/>
              <c:showCatName val="0"/>
              <c:showSerName val="0"/>
              <c:showPercent val="0"/>
              <c:showBubbleSize val="0"/>
            </c:dLbl>
            <c:dLbl>
              <c:idx val="14"/>
              <c:spPr/>
              <c:txPr>
                <a:bodyPr/>
                <a:lstStyle/>
                <a:p>
                  <a:pPr>
                    <a:defRPr sz="1200" b="1">
                      <a:latin typeface="Arial"/>
                    </a:defRPr>
                  </a:pPr>
                </a:p>
              </c:txPr>
              <c:dLblPos val="t"/>
              <c:showLegendKey val="0"/>
              <c:showVal val="1"/>
              <c:showCatName val="0"/>
              <c:showSerName val="0"/>
              <c:showPercent val="0"/>
              <c:showBubbleSize val="0"/>
            </c:dLbl>
            <c:showLegendKey val="0"/>
            <c:showVal val="0"/>
            <c:showCatName val="0"/>
            <c:showSerName val="0"/>
            <c:showPercent val="0"/>
            <c:showBubbleSize val="0"/>
            <c:showLeaderLines val="1"/>
          </c:dLbls>
          <c:cat>
            <c:strRef>
              <c:f>Sheet1!$A$2:$A$16</c:f>
              <c:strCache>
                <c:ptCount val="15"/>
                <c:pt idx="0">
                  <c:v>Oct 26</c:v>
                </c:pt>
                <c:pt idx="1">
                  <c:v>Nov 26</c:v>
                </c:pt>
                <c:pt idx="2">
                  <c:v>Dec 26</c:v>
                </c:pt>
                <c:pt idx="3">
                  <c:v>Jan 27</c:v>
                </c:pt>
                <c:pt idx="4">
                  <c:v>Feb 27</c:v>
                </c:pt>
                <c:pt idx="5">
                  <c:v>Mar 27</c:v>
                </c:pt>
                <c:pt idx="6">
                  <c:v>Apr 27</c:v>
                </c:pt>
                <c:pt idx="7">
                  <c:v>May 27</c:v>
                </c:pt>
                <c:pt idx="8">
                  <c:v>Jun 27</c:v>
                </c:pt>
                <c:pt idx="9">
                  <c:v>Jul 27</c:v>
                </c:pt>
                <c:pt idx="10">
                  <c:v>Aug 27</c:v>
                </c:pt>
                <c:pt idx="11">
                  <c:v>Sep 27</c:v>
                </c:pt>
                <c:pt idx="12">
                  <c:v>Oct 27</c:v>
                </c:pt>
                <c:pt idx="13">
                  <c:v>Nov 27</c:v>
                </c:pt>
                <c:pt idx="14">
                  <c:v>Dec 27</c:v>
                </c:pt>
              </c:strCache>
            </c:strRef>
          </c:cat>
          <c:val>
            <c:numRef>
              <c:f>Sheet1!$B$2:$B$16</c:f>
              <c:numCache>
                <c:formatCode>General</c:formatCode>
                <c:ptCount val="15"/>
                <c:pt idx="0">
                  <c:v>186</c:v>
                </c:pt>
                <c:pt idx="1">
                  <c:v>176</c:v>
                </c:pt>
                <c:pt idx="2">
                  <c:v>166</c:v>
                </c:pt>
                <c:pt idx="3">
                  <c:v>138</c:v>
                </c:pt>
                <c:pt idx="4">
                  <c:v>108</c:v>
                </c:pt>
                <c:pt idx="5">
                  <c:v>120</c:v>
                </c:pt>
                <c:pt idx="6">
                  <c:v>108</c:v>
                </c:pt>
                <c:pt idx="7">
                  <c:v>135</c:v>
                </c:pt>
                <c:pt idx="8">
                  <c:v>146</c:v>
                </c:pt>
                <c:pt idx="9">
                  <c:v>133</c:v>
                </c:pt>
                <c:pt idx="10">
                  <c:v>157</c:v>
                </c:pt>
                <c:pt idx="11">
                  <c:v>196</c:v>
                </c:pt>
                <c:pt idx="12">
                  <c:v>212</c:v>
                </c:pt>
                <c:pt idx="13">
                  <c:v>300</c:v>
                </c:pt>
                <c:pt idx="14">
                  <c:v>446</c:v>
                </c:pt>
              </c:numCache>
            </c:numRef>
          </c:val>
          <c:smooth val="0"/>
        </c:ser>
        <c:ser>
          <c:idx val="1"/>
          <c:order val="1"/>
          <c:tx>
            <c:strRef>
              <c:f>Sheet1!$C$1</c:f>
              <c:strCache>
                <c:ptCount val="1"/>
                <c:pt idx="0">
                  <c:v>Safety cushion: 6 months of fixed cost</c:v>
                </c:pt>
              </c:strCache>
            </c:strRef>
          </c:tx>
          <c:spPr>
            <a:ln w="22225">
              <a:solidFill>
                <a:srgbClr val="9B3809"/>
              </a:solidFill>
            </a:ln>
          </c:spPr>
          <c:marker>
            <c:symbol val="none"/>
            <c:spPr>
              <a:solidFill>
                <a:srgbClr val="9B3809"/>
              </a:solidFill>
              <a:ln>
                <a:solidFill>
                  <a:srgbClr val="9B3809"/>
                </a:solidFill>
              </a:ln>
            </c:spPr>
          </c:marker>
          <c:cat>
            <c:strRef>
              <c:f>Sheet1!$A$2:$A$16</c:f>
              <c:strCache>
                <c:ptCount val="15"/>
                <c:pt idx="0">
                  <c:v>Oct 26</c:v>
                </c:pt>
                <c:pt idx="1">
                  <c:v>Nov 26</c:v>
                </c:pt>
                <c:pt idx="2">
                  <c:v>Dec 26</c:v>
                </c:pt>
                <c:pt idx="3">
                  <c:v>Jan 27</c:v>
                </c:pt>
                <c:pt idx="4">
                  <c:v>Feb 27</c:v>
                </c:pt>
                <c:pt idx="5">
                  <c:v>Mar 27</c:v>
                </c:pt>
                <c:pt idx="6">
                  <c:v>Apr 27</c:v>
                </c:pt>
                <c:pt idx="7">
                  <c:v>May 27</c:v>
                </c:pt>
                <c:pt idx="8">
                  <c:v>Jun 27</c:v>
                </c:pt>
                <c:pt idx="9">
                  <c:v>Jul 27</c:v>
                </c:pt>
                <c:pt idx="10">
                  <c:v>Aug 27</c:v>
                </c:pt>
                <c:pt idx="11">
                  <c:v>Sep 27</c:v>
                </c:pt>
                <c:pt idx="12">
                  <c:v>Oct 27</c:v>
                </c:pt>
                <c:pt idx="13">
                  <c:v>Nov 27</c:v>
                </c:pt>
                <c:pt idx="14">
                  <c:v>Dec 27</c:v>
                </c:pt>
              </c:strCache>
            </c:strRef>
          </c:cat>
          <c:val>
            <c:numRef>
              <c:f>Sheet1!$C$2:$C$16</c:f>
              <c:numCache>
                <c:formatCode>General</c:formatCode>
                <c:ptCount val="15"/>
                <c:pt idx="0">
                  <c:v>521</c:v>
                </c:pt>
                <c:pt idx="1">
                  <c:v>521</c:v>
                </c:pt>
                <c:pt idx="2">
                  <c:v>521</c:v>
                </c:pt>
                <c:pt idx="3">
                  <c:v>521</c:v>
                </c:pt>
                <c:pt idx="4">
                  <c:v>521</c:v>
                </c:pt>
                <c:pt idx="5">
                  <c:v>521</c:v>
                </c:pt>
                <c:pt idx="6">
                  <c:v>521</c:v>
                </c:pt>
                <c:pt idx="7">
                  <c:v>521</c:v>
                </c:pt>
                <c:pt idx="8">
                  <c:v>521</c:v>
                </c:pt>
                <c:pt idx="9">
                  <c:v>521</c:v>
                </c:pt>
                <c:pt idx="10">
                  <c:v>521</c:v>
                </c:pt>
                <c:pt idx="11">
                  <c:v>521</c:v>
                </c:pt>
                <c:pt idx="12">
                  <c:v>521</c:v>
                </c:pt>
                <c:pt idx="13">
                  <c:v>521</c:v>
                </c:pt>
                <c:pt idx="14">
                  <c:v>521</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E5E7EB"/>
            </a:solidFill>
          </a:ln>
        </c:spPr>
        <c:txPr>
          <a:bodyPr/>
          <a:lstStyle/>
          <a:p>
            <a:pPr>
              <a:defRPr sz="1100">
                <a:solidFill>
                  <a:srgbClr val="6B7280"/>
                </a:solidFill>
                <a:latin typeface="Arial"/>
              </a:defRPr>
            </a:pPr>
          </a:p>
        </c:txPr>
        <c:crossAx val="2140495176"/>
        <c:crosses val="autoZero"/>
        <c:auto val="1"/>
        <c:lblAlgn val="ctr"/>
        <c:lblOffset val="100"/>
        <c:noMultiLvlLbl val="0"/>
      </c:catAx>
      <c:valAx>
        <c:axId val="2140495176"/>
        <c:scaling>
          <c:min val="0.0"/>
        </c:scaling>
        <c:delete val="0"/>
        <c:axPos val="l"/>
        <c:majorGridlines>
          <c:spPr>
            <a:ln>
              <a:solidFill>
                <a:srgbClr val="E5E7EB"/>
              </a:solidFill>
            </a:ln>
          </c:spPr>
        </c:majorGridlines>
        <c:numFmt formatCode="#,##0" sourceLinked="0"/>
        <c:majorTickMark val="out"/>
        <c:minorTickMark val="none"/>
        <c:tickLblPos val="nextTo"/>
        <c:spPr>
          <a:ln>
            <a:noFill/>
          </a:ln>
        </c:spPr>
        <c:txPr>
          <a:bodyPr/>
          <a:lstStyle/>
          <a:p>
            <a:pPr>
              <a:defRPr sz="1100">
                <a:solidFill>
                  <a:srgbClr val="6B7280"/>
                </a:solidFill>
                <a:latin typeface="Arial"/>
              </a:defRPr>
            </a:pPr>
          </a:p>
        </c:txPr>
        <c:crossAx val="2118791784"/>
        <c:crosses val="autoZero"/>
      </c:valAx>
    </c:plotArea>
    <c:legend>
      <c:legendPos val="b"/>
      <c:layout/>
      <c:overlay val="0"/>
      <c:txPr>
        <a:bodyPr/>
        <a:lstStyle/>
        <a:p>
          <a:pPr>
            <a:defRPr sz="1200">
              <a:latin typeface="Arial"/>
            </a:defRPr>
          </a:pPr>
        </a:p>
      </c:txPr>
    </c:legend>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is written to be read without a presenter. Slides 2 and 3 explain the goal. Slide 4 gives the answer. Slides 5 to 19 show the problem and the plan in three parts: price, people and growth. Slides 20 to 25 hold the detailed numbers, a word list, the risks, the model checks and our estimates.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this slide first if business words are new to you. Net margin measures how much of our sales we keep. Fair pay measures how we treat our people. Fair pay is not optional; the margin target guides every other choice.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simplest reason for a 15% target: our income is uneven, our costs are not. The cushion keeps salaries safe in quiet months and leaves money to grow.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answer comes first, then three groups that do not overlap: what we charge (price), who we pay and how (people), and where new sales come from (growth). Slides 5 to 19 follow this order.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answers both investor concerns. Full-time staff are underpaid: this plan fixes it. Part-time staff are paid enough: we keep their rates and only change how their contracts work (slides 13 and 14). Each EAP contract adds about 5 to 7 points of margin: 0 new = 4%, 1 new = 11%, 2 new = 16%, 3 new = 21%, 4 new = 24%.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Fixed cost is the base we must cover every month. Fair pay makes this base higher, which is why we need income that also comes every month: EAP.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important change from model version 13. Version 13 assumed 13 business events in October to December 2026. We now assume that this time is used to pitch and sign, and that new work starts in March 2027.</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 pay for staff starts in January because it is the law. Founder pay is the one cost we can choose to move, so it is the safety valve for cash in early 2027.</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rupiah of business sales fits one of three steps: start (first program at the head office), spread (the same program in the branches) or keep (a monthly EAP contract). These are our three business goals.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want to be clearly cheaper than big training firms but never the cheapest. The 3 times rule makes sure each event also pays its share of salaries and office.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chart is the hiring plan in one picture. Each blue bar is a step where the new person and the new work arrive together.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October to December is the busy season in both years. These two people limits, not money, decide how many programs we can sell.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Kraljic matrix sorts suppliers by two questions: how hard is it to replace them, and how much do they affect our results? Here the suppliers are our own people.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 areas cover any service contract without overlap: how we pay, how much time they promise, how we check their work, and how we protect ourselves. We keep part-time pay levels; we change the structure.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 stays the same size in rupiah; the other parts grow around it. That is the safest way to reduce dependence on one client: grow others, do not shrink BI.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loop joins our three business goals: enter the regulator, spread across its branches, and keep it with EAP. Theta vouchers bring new clients at the 'keep' step; Instagram makes us look professional to all of them.</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sales co-founder fixes the limit that matters most today: who sells to regulators and banks. Marketing can be hired as staff for less.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'ready to grow' means in numbers. We do not invest the cushion. We invest only what we earn above 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margin in 2027 is high partly because founders are paid for 8 months, not 12. A normal full year with founders paid all year is the number on slide 5.</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Sales roles start on a date when deals are open. Delivery roles start when the work stays high. Steps 5 and 6 stay flexible until the work proves them.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 Id="rId3" Type="http://schemas.openxmlformats.org/officeDocument/2006/relationships/chart" Target="../charts/chart6.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 Id="rId3" Type="http://schemas.openxmlformats.org/officeDocument/2006/relationships/chart" Target="../charts/chart1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475571"/>
        </a:solidFill>
        <a:effectLst/>
      </p:bgPr>
    </p:bg>
    <p:spTree>
      <p:nvGrpSpPr>
        <p:cNvPr id="1" name=""/>
        <p:cNvGrpSpPr/>
        <p:nvPr/>
      </p:nvGrpSpPr>
      <p:grpSpPr/>
      <p:sp>
        <p:nvSpPr>
          <p:cNvPr id="2" name="Page"/>
          <p:cNvSpPr txBox="1"/>
          <p:nvPr/>
        </p:nvSpPr>
        <p:spPr>
          <a:xfrm>
            <a:off x="11247120" y="6400800"/>
            <a:ext cx="502920" cy="320040"/>
          </a:xfrm>
          <a:prstGeom prst="rect">
            <a:avLst/>
          </a:prstGeom>
          <a:noFill/>
        </p:spPr>
        <p:txBody>
          <a:bodyPr wrap="square" anchor="t" lIns="73152" rIns="73152" tIns="36576" bIns="36576">
            <a:spAutoFit/>
          </a:bodyPr>
          <a:lstStyle/>
          <a:p>
            <a:pPr algn="r">
              <a:spcAft>
                <a:spcPts val="400"/>
              </a:spcAft>
            </a:pPr>
            <a:r>
              <a:rPr sz="1000" b="0" i="0">
                <a:solidFill>
                  <a:srgbClr val="FFFFFF"/>
                </a:solidFill>
                <a:latin typeface="Arial"/>
              </a:rPr>
              <a:t>1</a:t>
            </a:r>
          </a:p>
        </p:txBody>
      </p:sp>
      <p:sp>
        <p:nvSpPr>
          <p:cNvPr id="3" name="TextBox 2"/>
          <p:cNvSpPr txBox="1"/>
          <p:nvPr/>
        </p:nvSpPr>
        <p:spPr>
          <a:xfrm>
            <a:off x="731520" y="822960"/>
            <a:ext cx="10515600" cy="457200"/>
          </a:xfrm>
          <a:prstGeom prst="rect">
            <a:avLst/>
          </a:prstGeom>
          <a:noFill/>
        </p:spPr>
        <p:txBody>
          <a:bodyPr wrap="square" anchor="t" lIns="73152" rIns="73152" tIns="36576" bIns="36576">
            <a:spAutoFit/>
          </a:bodyPr>
          <a:lstStyle/>
          <a:p>
            <a:pPr algn="l">
              <a:spcAft>
                <a:spcPts val="400"/>
              </a:spcAft>
            </a:pPr>
            <a:r>
              <a:rPr sz="1400" b="1" i="0">
                <a:solidFill>
                  <a:srgbClr val="F1DEBB"/>
                </a:solidFill>
                <a:latin typeface="Arial"/>
              </a:rPr>
              <a:t>TEMAN JOURNEY  |  GROWTH PLAN  |  5 OCTOBER 2026</a:t>
            </a:r>
          </a:p>
        </p:txBody>
      </p:sp>
      <p:sp>
        <p:nvSpPr>
          <p:cNvPr id="4" name="TextBox 3"/>
          <p:cNvSpPr txBox="1"/>
          <p:nvPr/>
        </p:nvSpPr>
        <p:spPr>
          <a:xfrm>
            <a:off x="731520" y="1371600"/>
            <a:ext cx="10515600" cy="1737360"/>
          </a:xfrm>
          <a:prstGeom prst="rect">
            <a:avLst/>
          </a:prstGeom>
          <a:noFill/>
        </p:spPr>
        <p:txBody>
          <a:bodyPr wrap="square" anchor="t" lIns="73152" rIns="73152" tIns="36576" bIns="36576">
            <a:spAutoFit/>
          </a:bodyPr>
          <a:lstStyle/>
          <a:p>
            <a:pPr algn="l">
              <a:spcAft>
                <a:spcPts val="400"/>
              </a:spcAft>
            </a:pPr>
            <a:r>
              <a:rPr sz="4000" b="1" i="0">
                <a:solidFill>
                  <a:srgbClr val="FFFFFF"/>
                </a:solidFill>
                <a:latin typeface="Arial"/>
              </a:rPr>
              <a:t>Keep our profit, pay everyone fairly, and get ready to grow</a:t>
            </a:r>
          </a:p>
        </p:txBody>
      </p:sp>
      <p:sp>
        <p:nvSpPr>
          <p:cNvPr id="5" name="TextBox 4"/>
          <p:cNvSpPr txBox="1"/>
          <p:nvPr/>
        </p:nvSpPr>
        <p:spPr>
          <a:xfrm>
            <a:off x="731520" y="3246120"/>
            <a:ext cx="10607040" cy="1371600"/>
          </a:xfrm>
          <a:prstGeom prst="rect">
            <a:avLst/>
          </a:prstGeom>
          <a:noFill/>
        </p:spPr>
        <p:txBody>
          <a:bodyPr wrap="square" anchor="t" lIns="73152" rIns="73152" tIns="36576" bIns="36576">
            <a:spAutoFit/>
          </a:bodyPr>
          <a:lstStyle/>
          <a:p>
            <a:pPr algn="l">
              <a:spcAft>
                <a:spcPts val="1000"/>
              </a:spcAft>
            </a:pPr>
            <a:r>
              <a:rPr sz="1700" b="1" i="0">
                <a:solidFill>
                  <a:srgbClr val="F1DEBB"/>
                </a:solidFill>
                <a:latin typeface="Arial"/>
              </a:rPr>
              <a:t>Our goal: </a:t>
            </a:r>
            <a:r>
              <a:rPr sz="1700" b="0" i="0">
                <a:solidFill>
                  <a:srgbClr val="FFFFFF"/>
                </a:solidFill>
                <a:latin typeface="Arial"/>
              </a:rPr>
              <a:t>keep a net margin of at least 15% and pay everyone fairly, at the same time. Then we are ready for investors, and we can grow into new business units.</a:t>
            </a:r>
          </a:p>
          <a:p>
            <a:pPr algn="l">
              <a:spcAft>
                <a:spcPts val="1000"/>
              </a:spcAft>
            </a:pPr>
            <a:r>
              <a:rPr sz="1700" b="1" i="0">
                <a:solidFill>
                  <a:srgbClr val="F1DEBB"/>
                </a:solidFill>
                <a:latin typeface="Arial"/>
              </a:rPr>
              <a:t>Our answer: </a:t>
            </a:r>
            <a:r>
              <a:rPr sz="1700" b="0" i="0">
                <a:solidFill>
                  <a:srgbClr val="FFFFFF"/>
                </a:solidFill>
                <a:latin typeface="Arial"/>
              </a:rPr>
              <a:t>keep the new prices, sell more EAP (monthly counseling contracts for companies), and hire only when signed work pays for the person.</a:t>
            </a:r>
          </a:p>
        </p:txBody>
      </p:sp>
      <p:sp>
        <p:nvSpPr>
          <p:cNvPr id="6" name="Rounded Rectangle 5"/>
          <p:cNvSpPr/>
          <p:nvPr/>
        </p:nvSpPr>
        <p:spPr>
          <a:xfrm>
            <a:off x="731520" y="5074920"/>
            <a:ext cx="1920240" cy="457200"/>
          </a:xfrm>
          <a:prstGeom prst="roundRect">
            <a:avLst>
              <a:gd name="adj" fmla="val 8000"/>
            </a:avLst>
          </a:prstGeom>
          <a:solidFill>
            <a:srgbClr val="576C9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400" b="1" i="0">
                <a:solidFill>
                  <a:srgbClr val="FFFFFF"/>
                </a:solidFill>
                <a:latin typeface="Arial"/>
              </a:rPr>
              <a:t>1  Price</a:t>
            </a:r>
          </a:p>
        </p:txBody>
      </p:sp>
      <p:sp>
        <p:nvSpPr>
          <p:cNvPr id="7" name="Rounded Rectangle 6"/>
          <p:cNvSpPr/>
          <p:nvPr/>
        </p:nvSpPr>
        <p:spPr>
          <a:xfrm>
            <a:off x="2834639" y="5074920"/>
            <a:ext cx="1920240" cy="457200"/>
          </a:xfrm>
          <a:prstGeom prst="roundRect">
            <a:avLst>
              <a:gd name="adj" fmla="val 8000"/>
            </a:avLst>
          </a:prstGeom>
          <a:solidFill>
            <a:srgbClr val="637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400" b="1" i="0">
                <a:solidFill>
                  <a:srgbClr val="FFFFFF"/>
                </a:solidFill>
                <a:latin typeface="Arial"/>
              </a:rPr>
              <a:t>2  People</a:t>
            </a:r>
          </a:p>
        </p:txBody>
      </p:sp>
      <p:sp>
        <p:nvSpPr>
          <p:cNvPr id="8" name="Rounded Rectangle 7"/>
          <p:cNvSpPr/>
          <p:nvPr/>
        </p:nvSpPr>
        <p:spPr>
          <a:xfrm>
            <a:off x="4937759" y="5074920"/>
            <a:ext cx="1920240" cy="457200"/>
          </a:xfrm>
          <a:prstGeom prst="roundRect">
            <a:avLst>
              <a:gd name="adj" fmla="val 8000"/>
            </a:avLst>
          </a:prstGeom>
          <a:solidFill>
            <a:srgbClr val="9B38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400" b="1" i="0">
                <a:solidFill>
                  <a:srgbClr val="FFFFFF"/>
                </a:solidFill>
                <a:latin typeface="Arial"/>
              </a:rPr>
              <a:t>3  Growth</a:t>
            </a:r>
          </a:p>
        </p:txBody>
      </p:sp>
      <p:sp>
        <p:nvSpPr>
          <p:cNvPr id="9" name="TextBox 8"/>
          <p:cNvSpPr txBox="1"/>
          <p:nvPr/>
        </p:nvSpPr>
        <p:spPr>
          <a:xfrm>
            <a:off x="731520" y="5806440"/>
            <a:ext cx="10515600" cy="365760"/>
          </a:xfrm>
          <a:prstGeom prst="rect">
            <a:avLst/>
          </a:prstGeom>
          <a:noFill/>
        </p:spPr>
        <p:txBody>
          <a:bodyPr wrap="square" anchor="t" lIns="73152" rIns="73152" tIns="36576" bIns="36576">
            <a:spAutoFit/>
          </a:bodyPr>
          <a:lstStyle/>
          <a:p>
            <a:pPr algn="l">
              <a:spcAft>
                <a:spcPts val="400"/>
              </a:spcAft>
            </a:pPr>
            <a:r>
              <a:rPr sz="1200" b="0" i="0">
                <a:solidFill>
                  <a:srgbClr val="F1DEBB"/>
                </a:solidFill>
                <a:latin typeface="Arial"/>
              </a:rPr>
              <a:t>Based on our 2027 financial model (version 13). All money is in Rupiah million (Rp M) unless stated.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457200" y="292608"/>
            <a:ext cx="9966960" cy="914400"/>
          </a:xfrm>
          <a:prstGeom prst="rect">
            <a:avLst/>
          </a:prstGeom>
          <a:noFill/>
        </p:spPr>
        <p:txBody>
          <a:bodyPr wrap="square" anchor="t" lIns="73152" rIns="73152" tIns="36576" bIns="36576">
            <a:spAutoFit/>
          </a:bodyPr>
          <a:lstStyle/>
          <a:p>
            <a:pPr algn="l">
              <a:spcAft>
                <a:spcPts val="400"/>
              </a:spcAft>
            </a:pPr>
            <a:r>
              <a:rPr sz="2400" b="1" i="0">
                <a:solidFill>
                  <a:srgbClr val="475571"/>
                </a:solidFill>
                <a:latin typeface="Arial"/>
              </a:rPr>
              <a:t>Our goal has two parts, and we must reach both at the same time</a:t>
            </a:r>
          </a:p>
        </p:txBody>
      </p:sp>
      <p:sp>
        <p:nvSpPr>
          <p:cNvPr id="3" name="Tag"/>
          <p:cNvSpPr/>
          <p:nvPr/>
        </p:nvSpPr>
        <p:spPr>
          <a:xfrm>
            <a:off x="10561320" y="365760"/>
            <a:ext cx="1188720" cy="365760"/>
          </a:xfrm>
          <a:prstGeom prst="roundRect">
            <a:avLst>
              <a:gd name="adj" fmla="val 8000"/>
            </a:avLst>
          </a:prstGeom>
          <a:solidFill>
            <a:srgbClr val="9B38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a:spcAft>
                <a:spcPts val="400"/>
              </a:spcAft>
            </a:pPr>
            <a:r>
              <a:rPr sz="1200" b="1" i="0">
                <a:solidFill>
                  <a:srgbClr val="FFFFFF"/>
                </a:solidFill>
                <a:latin typeface="Arial"/>
              </a:rPr>
              <a:t>Our goal</a:t>
            </a:r>
          </a:p>
        </p:txBody>
      </p:sp>
      <p:sp>
        <p:nvSpPr>
          <p:cNvPr id="4" name="Source"/>
          <p:cNvSpPr txBox="1"/>
          <p:nvPr/>
        </p:nvSpPr>
        <p:spPr>
          <a:xfrm>
            <a:off x="457200" y="6400800"/>
            <a:ext cx="10607040" cy="320040"/>
          </a:xfrm>
          <a:prstGeom prst="rect">
            <a:avLst/>
          </a:prstGeom>
          <a:noFill/>
        </p:spPr>
        <p:txBody>
          <a:bodyPr wrap="square" anchor="t" lIns="73152" rIns="73152" tIns="36576" bIns="36576">
            <a:spAutoFit/>
          </a:bodyPr>
          <a:lstStyle/>
          <a:p>
            <a:pPr algn="l">
              <a:spcAft>
                <a:spcPts val="400"/>
              </a:spcAft>
            </a:pPr>
            <a:r>
              <a:rPr sz="1000" b="0" i="0">
                <a:solidFill>
                  <a:srgbClr val="6B7280"/>
                </a:solidFill>
                <a:latin typeface="Arial"/>
              </a:rPr>
              <a:t>Source: Industry net margin: listed education and training companies, about 5% (FullRatio). Jakarta minimum wage 2026: Jakarta Government, Dec 2025.</a:t>
            </a:r>
          </a:p>
        </p:txBody>
      </p:sp>
      <p:sp>
        <p:nvSpPr>
          <p:cNvPr id="5" name="Page"/>
          <p:cNvSpPr txBox="1"/>
          <p:nvPr/>
        </p:nvSpPr>
        <p:spPr>
          <a:xfrm>
            <a:off x="11247120" y="6400800"/>
            <a:ext cx="502920" cy="320040"/>
          </a:xfrm>
          <a:prstGeom prst="rect">
            <a:avLst/>
          </a:prstGeom>
          <a:noFill/>
        </p:spPr>
        <p:txBody>
          <a:bodyPr wrap="square" anchor="t" lIns="73152" rIns="73152" tIns="36576" bIns="36576">
            <a:spAutoFit/>
          </a:bodyPr>
          <a:lstStyle/>
          <a:p>
            <a:pPr algn="r">
              <a:spcAft>
                <a:spcPts val="400"/>
              </a:spcAft>
            </a:pPr>
            <a:r>
              <a:rPr sz="1000" b="0" i="0">
                <a:solidFill>
                  <a:srgbClr val="6B7280"/>
                </a:solidFill>
                <a:latin typeface="Arial"/>
              </a:rPr>
              <a:t>2</a:t>
            </a:r>
          </a:p>
        </p:txBody>
      </p:sp>
      <p:sp>
        <p:nvSpPr>
          <p:cNvPr id="6" name="Rounded Rectangle 5"/>
          <p:cNvSpPr/>
          <p:nvPr/>
        </p:nvSpPr>
        <p:spPr>
          <a:xfrm>
            <a:off x="457200" y="1325880"/>
            <a:ext cx="3611880" cy="640080"/>
          </a:xfrm>
          <a:prstGeom prst="roundRect">
            <a:avLst>
              <a:gd name="adj" fmla="val 8000"/>
            </a:avLst>
          </a:prstGeom>
          <a:solidFill>
            <a:srgbClr val="47557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36576" bIns="36576"/>
          <a:lstStyle/>
          <a:p>
            <a:pPr algn="l">
              <a:spcAft>
                <a:spcPts val="400"/>
              </a:spcAft>
            </a:pPr>
            <a:r>
              <a:rPr sz="1500" b="1" i="0">
                <a:solidFill>
                  <a:srgbClr val="FFFFFF"/>
                </a:solidFill>
                <a:latin typeface="Arial"/>
              </a:rPr>
              <a:t>Part 1: a net margin of at least 15%</a:t>
            </a:r>
          </a:p>
        </p:txBody>
      </p:sp>
      <p:sp>
        <p:nvSpPr>
          <p:cNvPr id="7" name="Rounded Rectangle 6"/>
          <p:cNvSpPr/>
          <p:nvPr/>
        </p:nvSpPr>
        <p:spPr>
          <a:xfrm>
            <a:off x="457200" y="2057400"/>
            <a:ext cx="3611880" cy="3794760"/>
          </a:xfrm>
          <a:prstGeom prst="roundRect">
            <a:avLst>
              <a:gd name="adj" fmla="val 8000"/>
            </a:avLst>
          </a:prstGeom>
          <a:solidFill>
            <a:srgbClr val="F3F5F9"/>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36576" bIns="36576"/>
          <a:lstStyle/>
          <a:p>
            <a:pPr algn="l">
              <a:spcAft>
                <a:spcPts val="600"/>
              </a:spcAft>
            </a:pPr>
            <a:r>
              <a:rPr sz="1300" b="1" i="0">
                <a:solidFill>
                  <a:srgbClr val="374151"/>
                </a:solidFill>
                <a:latin typeface="Arial"/>
              </a:rPr>
              <a:t>What it means: </a:t>
            </a:r>
            <a:r>
              <a:rPr sz="1300" b="0" i="0">
                <a:solidFill>
                  <a:srgbClr val="374151"/>
                </a:solidFill>
                <a:latin typeface="Arial"/>
              </a:rPr>
              <a:t>from every Rp100 a client pays us, Rp15 stays with us after we pay all costs, all salaries and tax.</a:t>
            </a:r>
          </a:p>
          <a:p>
            <a:pPr algn="l">
              <a:spcAft>
                <a:spcPts val="600"/>
              </a:spcAft>
            </a:pPr>
            <a:r>
              <a:rPr sz="1300" b="1" i="0">
                <a:solidFill>
                  <a:srgbClr val="374151"/>
                </a:solidFill>
                <a:latin typeface="Arial"/>
              </a:rPr>
              <a:t>Why we need it:</a:t>
            </a:r>
          </a:p>
          <a:p>
            <a:pPr algn="l">
              <a:spcAft>
                <a:spcPts val="600"/>
              </a:spcAft>
            </a:pPr>
            <a:r>
              <a:rPr sz="1300" b="0" i="0">
                <a:solidFill>
                  <a:srgbClr val="374151"/>
                </a:solidFill>
                <a:latin typeface="Arial"/>
              </a:rPr>
              <a:t>Safety. Some months have no big events. Profit from good months pays salaries in quiet months (slide 3).</a:t>
            </a:r>
          </a:p>
          <a:p>
            <a:pPr algn="l">
              <a:spcAft>
                <a:spcPts val="600"/>
              </a:spcAft>
            </a:pPr>
            <a:r>
              <a:rPr sz="1300" b="0" i="0">
                <a:solidFill>
                  <a:srgbClr val="374151"/>
                </a:solidFill>
                <a:latin typeface="Arial"/>
              </a:rPr>
              <a:t>Money to grow. Profit pays for new staff, Instagram and new units, without loans.</a:t>
            </a:r>
          </a:p>
          <a:p>
            <a:pPr algn="l">
              <a:spcAft>
                <a:spcPts val="600"/>
              </a:spcAft>
            </a:pPr>
            <a:r>
              <a:rPr sz="1300" b="0" i="0">
                <a:solidFill>
                  <a:srgbClr val="374151"/>
                </a:solidFill>
                <a:latin typeface="Arial"/>
              </a:rPr>
              <a:t>Trust. Large training firms keep about 5%. We are small: one lost client hurts us more, so we need a bigger cushion.</a:t>
            </a:r>
          </a:p>
        </p:txBody>
      </p:sp>
      <p:sp>
        <p:nvSpPr>
          <p:cNvPr id="8" name="Rounded Rectangle 7"/>
          <p:cNvSpPr/>
          <p:nvPr/>
        </p:nvSpPr>
        <p:spPr>
          <a:xfrm>
            <a:off x="4251960" y="1325880"/>
            <a:ext cx="3611880" cy="640080"/>
          </a:xfrm>
          <a:prstGeom prst="roundRect">
            <a:avLst>
              <a:gd name="adj" fmla="val 8000"/>
            </a:avLst>
          </a:prstGeom>
          <a:solidFill>
            <a:srgbClr val="576C9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36576" bIns="36576"/>
          <a:lstStyle/>
          <a:p>
            <a:pPr algn="l">
              <a:spcAft>
                <a:spcPts val="400"/>
              </a:spcAft>
            </a:pPr>
            <a:r>
              <a:rPr sz="1500" b="1" i="0">
                <a:solidFill>
                  <a:srgbClr val="FFFFFF"/>
                </a:solidFill>
                <a:latin typeface="Arial"/>
              </a:rPr>
              <a:t>Part 2: fair pay for everyone</a:t>
            </a:r>
          </a:p>
        </p:txBody>
      </p:sp>
      <p:sp>
        <p:nvSpPr>
          <p:cNvPr id="9" name="Rounded Rectangle 8"/>
          <p:cNvSpPr/>
          <p:nvPr/>
        </p:nvSpPr>
        <p:spPr>
          <a:xfrm>
            <a:off x="4251960" y="2057400"/>
            <a:ext cx="3611880" cy="3794760"/>
          </a:xfrm>
          <a:prstGeom prst="roundRect">
            <a:avLst>
              <a:gd name="adj" fmla="val 8000"/>
            </a:avLst>
          </a:prstGeom>
          <a:solidFill>
            <a:srgbClr val="F3F5F9"/>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36576" bIns="36576"/>
          <a:lstStyle/>
          <a:p>
            <a:pPr algn="l">
              <a:spcAft>
                <a:spcPts val="600"/>
              </a:spcAft>
            </a:pPr>
            <a:r>
              <a:rPr sz="1300" b="1" i="0">
                <a:solidFill>
                  <a:srgbClr val="374151"/>
                </a:solidFill>
                <a:latin typeface="Arial"/>
              </a:rPr>
              <a:t>What it means: </a:t>
            </a:r>
            <a:r>
              <a:rPr sz="1300" b="0" i="0">
                <a:solidFill>
                  <a:srgbClr val="374151"/>
                </a:solidFill>
                <a:latin typeface="Arial"/>
              </a:rPr>
              <a:t>full-time staff earn at least the Jakarta minimum wage (Rp5.73M a month), plus BPJS (health and work insurance) and THR (holiday bonus). Part-time pay is already fair.</a:t>
            </a:r>
          </a:p>
          <a:p>
            <a:pPr algn="l">
              <a:spcAft>
                <a:spcPts val="600"/>
              </a:spcAft>
            </a:pPr>
            <a:r>
              <a:rPr sz="1300" b="1" i="0">
                <a:solidFill>
                  <a:srgbClr val="374151"/>
                </a:solidFill>
                <a:latin typeface="Arial"/>
              </a:rPr>
              <a:t>Why we need it:</a:t>
            </a:r>
          </a:p>
          <a:p>
            <a:pPr algn="l">
              <a:spcAft>
                <a:spcPts val="600"/>
              </a:spcAft>
            </a:pPr>
            <a:r>
              <a:rPr sz="1300" b="0" i="0">
                <a:solidFill>
                  <a:srgbClr val="374151"/>
                </a:solidFill>
                <a:latin typeface="Arial"/>
              </a:rPr>
              <a:t>The law. The minimum wage is the legal floor for employees.</a:t>
            </a:r>
          </a:p>
          <a:p>
            <a:pPr algn="l">
              <a:spcAft>
                <a:spcPts val="600"/>
              </a:spcAft>
            </a:pPr>
            <a:r>
              <a:rPr sz="1300" b="0" i="0">
                <a:solidFill>
                  <a:srgbClr val="374151"/>
                </a:solidFill>
                <a:latin typeface="Arial"/>
              </a:rPr>
              <a:t>Good people stay. A new person needs time to learn, and clients notice.</a:t>
            </a:r>
          </a:p>
          <a:p>
            <a:pPr algn="l">
              <a:spcAft>
                <a:spcPts val="600"/>
              </a:spcAft>
            </a:pPr>
            <a:r>
              <a:rPr sz="1300" b="0" i="0">
                <a:solidFill>
                  <a:srgbClr val="374151"/>
                </a:solidFill>
                <a:latin typeface="Arial"/>
              </a:rPr>
              <a:t>Better care. Tired, underpaid staff give weaker support to clients.</a:t>
            </a:r>
          </a:p>
          <a:p>
            <a:pPr algn="l">
              <a:spcAft>
                <a:spcPts val="600"/>
              </a:spcAft>
            </a:pPr>
            <a:r>
              <a:rPr sz="1300" b="0" i="0">
                <a:solidFill>
                  <a:srgbClr val="374151"/>
                </a:solidFill>
                <a:latin typeface="Arial"/>
              </a:rPr>
              <a:t>Investors check it. Profit that depends on low pay is not real profit.</a:t>
            </a:r>
          </a:p>
        </p:txBody>
      </p:sp>
      <p:sp>
        <p:nvSpPr>
          <p:cNvPr id="10" name="Rounded Rectangle 9"/>
          <p:cNvSpPr/>
          <p:nvPr/>
        </p:nvSpPr>
        <p:spPr>
          <a:xfrm>
            <a:off x="8046720" y="1325880"/>
            <a:ext cx="3611880" cy="640080"/>
          </a:xfrm>
          <a:prstGeom prst="roundRect">
            <a:avLst>
              <a:gd name="adj" fmla="val 8000"/>
            </a:avLst>
          </a:prstGeom>
          <a:solidFill>
            <a:srgbClr val="9B38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36576" bIns="36576"/>
          <a:lstStyle/>
          <a:p>
            <a:pPr algn="l">
              <a:spcAft>
                <a:spcPts val="400"/>
              </a:spcAft>
            </a:pPr>
            <a:r>
              <a:rPr sz="1500" b="1" i="0">
                <a:solidFill>
                  <a:srgbClr val="FFFFFF"/>
                </a:solidFill>
                <a:latin typeface="Arial"/>
              </a:rPr>
              <a:t>What both parts give us</a:t>
            </a:r>
          </a:p>
        </p:txBody>
      </p:sp>
      <p:sp>
        <p:nvSpPr>
          <p:cNvPr id="11" name="Rounded Rectangle 10"/>
          <p:cNvSpPr/>
          <p:nvPr/>
        </p:nvSpPr>
        <p:spPr>
          <a:xfrm>
            <a:off x="8046720" y="2057400"/>
            <a:ext cx="3611880" cy="3794760"/>
          </a:xfrm>
          <a:prstGeom prst="roundRect">
            <a:avLst>
              <a:gd name="adj" fmla="val 8000"/>
            </a:avLst>
          </a:prstGeom>
          <a:solidFill>
            <a:srgbClr val="F3F5F9"/>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36576" bIns="36576"/>
          <a:lstStyle/>
          <a:p>
            <a:pPr algn="l">
              <a:spcAft>
                <a:spcPts val="600"/>
              </a:spcAft>
            </a:pPr>
            <a:r>
              <a:rPr sz="1300" b="1" i="0">
                <a:solidFill>
                  <a:srgbClr val="374151"/>
                </a:solidFill>
                <a:latin typeface="Arial"/>
              </a:rPr>
              <a:t>Ready for investors: </a:t>
            </a:r>
            <a:r>
              <a:rPr sz="1300" b="0" i="0">
                <a:solidFill>
                  <a:srgbClr val="374151"/>
                </a:solidFill>
                <a:latin typeface="Arial"/>
              </a:rPr>
              <a:t>we can show a profit that is real and fair.</a:t>
            </a:r>
          </a:p>
          <a:p>
            <a:pPr algn="l">
              <a:spcAft>
                <a:spcPts val="600"/>
              </a:spcAft>
            </a:pPr>
            <a:r>
              <a:rPr sz="1300" b="1" i="0">
                <a:solidFill>
                  <a:srgbClr val="374151"/>
                </a:solidFill>
                <a:latin typeface="Arial"/>
              </a:rPr>
              <a:t>Ready to grow: </a:t>
            </a:r>
            <a:r>
              <a:rPr sz="1300" b="0" i="0">
                <a:solidFill>
                  <a:srgbClr val="374151"/>
                </a:solidFill>
                <a:latin typeface="Arial"/>
              </a:rPr>
              <a:t>the same team, system and cash can start new business units, for example the Theta app and Coreitera assessments (slide 18).</a:t>
            </a:r>
          </a:p>
          <a:p>
            <a:pPr algn="l">
              <a:spcAft>
                <a:spcPts val="600"/>
              </a:spcAft>
            </a:pPr>
            <a:r>
              <a:rPr sz="1300" b="1" i="0">
                <a:solidFill>
                  <a:srgbClr val="374151"/>
                </a:solidFill>
                <a:latin typeface="Arial"/>
              </a:rPr>
              <a:t>Our test: </a:t>
            </a:r>
            <a:r>
              <a:rPr sz="1300" b="0" i="0">
                <a:solidFill>
                  <a:srgbClr val="374151"/>
                </a:solidFill>
                <a:latin typeface="Arial"/>
              </a:rPr>
              <a:t>fair pay is a must, because it is the law. Every other idea must keep the year's margin at 15% or more. If it does not, we wait.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457200" y="292608"/>
            <a:ext cx="9966960" cy="914400"/>
          </a:xfrm>
          <a:prstGeom prst="rect">
            <a:avLst/>
          </a:prstGeom>
          <a:noFill/>
        </p:spPr>
        <p:txBody>
          <a:bodyPr wrap="square" anchor="t" lIns="73152" rIns="73152" tIns="36576" bIns="36576">
            <a:spAutoFit/>
          </a:bodyPr>
          <a:lstStyle/>
          <a:p>
            <a:pPr algn="l">
              <a:spcAft>
                <a:spcPts val="400"/>
              </a:spcAft>
            </a:pPr>
            <a:r>
              <a:rPr sz="2400" b="1" i="0">
                <a:solidFill>
                  <a:srgbClr val="475571"/>
                </a:solidFill>
                <a:latin typeface="Arial"/>
              </a:rPr>
              <a:t>Why 15%: we lose money in 4 of 12 months, so the good months must carry the whole year</a:t>
            </a:r>
          </a:p>
        </p:txBody>
      </p:sp>
      <p:sp>
        <p:nvSpPr>
          <p:cNvPr id="3" name="Tag"/>
          <p:cNvSpPr/>
          <p:nvPr/>
        </p:nvSpPr>
        <p:spPr>
          <a:xfrm>
            <a:off x="10561320" y="365760"/>
            <a:ext cx="1188720" cy="365760"/>
          </a:xfrm>
          <a:prstGeom prst="roundRect">
            <a:avLst>
              <a:gd name="adj" fmla="val 8000"/>
            </a:avLst>
          </a:prstGeom>
          <a:solidFill>
            <a:srgbClr val="9B38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a:spcAft>
                <a:spcPts val="400"/>
              </a:spcAft>
            </a:pPr>
            <a:r>
              <a:rPr sz="1200" b="1" i="0">
                <a:solidFill>
                  <a:srgbClr val="FFFFFF"/>
                </a:solidFill>
                <a:latin typeface="Arial"/>
              </a:rPr>
              <a:t>Our goal</a:t>
            </a:r>
          </a:p>
        </p:txBody>
      </p:sp>
      <p:sp>
        <p:nvSpPr>
          <p:cNvPr id="4" name="Source"/>
          <p:cNvSpPr txBox="1"/>
          <p:nvPr/>
        </p:nvSpPr>
        <p:spPr>
          <a:xfrm>
            <a:off x="457200" y="6400800"/>
            <a:ext cx="10607040" cy="320040"/>
          </a:xfrm>
          <a:prstGeom prst="rect">
            <a:avLst/>
          </a:prstGeom>
          <a:noFill/>
        </p:spPr>
        <p:txBody>
          <a:bodyPr wrap="square" anchor="t" lIns="73152" rIns="73152" tIns="36576" bIns="36576">
            <a:spAutoFit/>
          </a:bodyPr>
          <a:lstStyle/>
          <a:p>
            <a:pPr algn="l">
              <a:spcAft>
                <a:spcPts val="400"/>
              </a:spcAft>
            </a:pPr>
            <a:r>
              <a:rPr sz="1000" b="0" i="0">
                <a:solidFill>
                  <a:srgbClr val="6B7280"/>
                </a:solidFill>
                <a:latin typeface="Arial"/>
              </a:rPr>
              <a:t>Source: Model version 14, recalculated in Excel: the plan on slide 19 (new work from March, fair pay, founders paid from May).</a:t>
            </a:r>
          </a:p>
        </p:txBody>
      </p:sp>
      <p:sp>
        <p:nvSpPr>
          <p:cNvPr id="5" name="Page"/>
          <p:cNvSpPr txBox="1"/>
          <p:nvPr/>
        </p:nvSpPr>
        <p:spPr>
          <a:xfrm>
            <a:off x="11247120" y="6400800"/>
            <a:ext cx="502920" cy="320040"/>
          </a:xfrm>
          <a:prstGeom prst="rect">
            <a:avLst/>
          </a:prstGeom>
          <a:noFill/>
        </p:spPr>
        <p:txBody>
          <a:bodyPr wrap="square" anchor="t" lIns="73152" rIns="73152" tIns="36576" bIns="36576">
            <a:spAutoFit/>
          </a:bodyPr>
          <a:lstStyle/>
          <a:p>
            <a:pPr algn="r">
              <a:spcAft>
                <a:spcPts val="400"/>
              </a:spcAft>
            </a:pPr>
            <a:r>
              <a:rPr sz="1000" b="0" i="0">
                <a:solidFill>
                  <a:srgbClr val="6B7280"/>
                </a:solidFill>
                <a:latin typeface="Arial"/>
              </a:rPr>
              <a:t>3</a:t>
            </a:r>
          </a:p>
        </p:txBody>
      </p:sp>
      <p:graphicFrame>
        <p:nvGraphicFramePr>
          <p:cNvPr id="6" name="Chart 5"/>
          <p:cNvGraphicFramePr>
            <a:graphicFrameLocks noGrp="1"/>
          </p:cNvGraphicFramePr>
          <p:nvPr/>
        </p:nvGraphicFramePr>
        <p:xfrm>
          <a:off x="457200" y="1325880"/>
          <a:ext cx="7315200" cy="4983480"/>
        </p:xfrm>
        <a:graphic>
          <a:graphicData uri="http://schemas.openxmlformats.org/drawingml/2006/chart">
            <c:chart xmlns:c="http://schemas.openxmlformats.org/drawingml/2006/chart" r:id="rId2"/>
          </a:graphicData>
        </a:graphic>
      </p:graphicFrame>
      <p:sp>
        <p:nvSpPr>
          <p:cNvPr id="7" name="Rounded Rectangle 6"/>
          <p:cNvSpPr/>
          <p:nvPr/>
        </p:nvSpPr>
        <p:spPr>
          <a:xfrm>
            <a:off x="8046720" y="1325880"/>
            <a:ext cx="3703320" cy="4983480"/>
          </a:xfrm>
          <a:prstGeom prst="roundRect">
            <a:avLst>
              <a:gd name="adj" fmla="val 8000"/>
            </a:avLst>
          </a:prstGeom>
          <a:solidFill>
            <a:srgbClr val="F3F5F9"/>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36576" bIns="36576"/>
          <a:lstStyle/>
          <a:p>
            <a:pPr algn="l">
              <a:spcAft>
                <a:spcPts val="800"/>
              </a:spcAft>
            </a:pPr>
            <a:r>
              <a:rPr sz="1600" b="1" i="0">
                <a:solidFill>
                  <a:srgbClr val="475571"/>
                </a:solidFill>
                <a:latin typeface="Arial"/>
              </a:rPr>
              <a:t>What this chart shows</a:t>
            </a:r>
          </a:p>
          <a:p>
            <a:pPr algn="l">
              <a:spcAft>
                <a:spcPts val="800"/>
              </a:spcAft>
            </a:pPr>
            <a:r>
              <a:rPr sz="1300" b="1" i="0">
                <a:solidFill>
                  <a:srgbClr val="374151"/>
                </a:solidFill>
                <a:latin typeface="Arial"/>
              </a:rPr>
              <a:t>Red = a month with a loss. </a:t>
            </a:r>
            <a:r>
              <a:rPr sz="1300" b="0" i="0">
                <a:solidFill>
                  <a:srgbClr val="374151"/>
                </a:solidFill>
                <a:latin typeface="Arial"/>
              </a:rPr>
              <a:t>Salaries and office costs come every month. Big programs do not.</a:t>
            </a:r>
          </a:p>
          <a:p>
            <a:pPr algn="l">
              <a:spcAft>
                <a:spcPts val="800"/>
              </a:spcAft>
            </a:pPr>
            <a:r>
              <a:rPr sz="1300" b="1" i="0">
                <a:solidFill>
                  <a:srgbClr val="374151"/>
                </a:solidFill>
                <a:latin typeface="Arial"/>
              </a:rPr>
              <a:t>The worst months lose about Rp35M. </a:t>
            </a:r>
            <a:r>
              <a:rPr sz="1300" b="0" i="0">
                <a:solidFill>
                  <a:srgbClr val="374151"/>
                </a:solidFill>
                <a:latin typeface="Arial"/>
              </a:rPr>
              <a:t>January and February have almost no events.</a:t>
            </a:r>
          </a:p>
          <a:p>
            <a:pPr algn="l">
              <a:spcAft>
                <a:spcPts val="800"/>
              </a:spcAft>
            </a:pPr>
            <a:r>
              <a:rPr sz="1300" b="1" i="0">
                <a:solidFill>
                  <a:srgbClr val="374151"/>
                </a:solidFill>
                <a:latin typeface="Arial"/>
              </a:rPr>
              <a:t>Good months must pay for bad ones. </a:t>
            </a:r>
            <a:r>
              <a:rPr sz="1300" b="0" i="0">
                <a:solidFill>
                  <a:srgbClr val="374151"/>
                </a:solidFill>
                <a:latin typeface="Arial"/>
              </a:rPr>
              <a:t>A 15% margin on Rp1,847M of sales gives Rp277M a year to cover quiet months and to grow.</a:t>
            </a:r>
          </a:p>
          <a:p>
            <a:pPr algn="l">
              <a:spcAft>
                <a:spcPts val="800"/>
              </a:spcAft>
            </a:pPr>
            <a:r>
              <a:rPr sz="1300" b="1" i="0">
                <a:solidFill>
                  <a:srgbClr val="374151"/>
                </a:solidFill>
                <a:latin typeface="Arial"/>
              </a:rPr>
              <a:t>Without the cushion, </a:t>
            </a:r>
            <a:r>
              <a:rPr sz="1300" b="0" i="0">
                <a:solidFill>
                  <a:srgbClr val="374151"/>
                </a:solidFill>
                <a:latin typeface="Arial"/>
              </a:rPr>
              <a:t>one lost program in a good month can turn the whole year into a loss.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457200" y="292608"/>
            <a:ext cx="9966960" cy="914400"/>
          </a:xfrm>
          <a:prstGeom prst="rect">
            <a:avLst/>
          </a:prstGeom>
          <a:noFill/>
        </p:spPr>
        <p:txBody>
          <a:bodyPr wrap="square" anchor="t" lIns="73152" rIns="73152" tIns="36576" bIns="36576">
            <a:spAutoFit/>
          </a:bodyPr>
          <a:lstStyle/>
          <a:p>
            <a:pPr algn="l">
              <a:spcAft>
                <a:spcPts val="400"/>
              </a:spcAft>
            </a:pPr>
            <a:r>
              <a:rPr sz="2400" b="1" i="0">
                <a:solidFill>
                  <a:srgbClr val="475571"/>
                </a:solidFill>
                <a:latin typeface="Arial"/>
              </a:rPr>
              <a:t>Our answer: keep the new prices, pay our team fairly, and sell more EAP before we hire more people</a:t>
            </a:r>
          </a:p>
        </p:txBody>
      </p:sp>
      <p:sp>
        <p:nvSpPr>
          <p:cNvPr id="3" name="Tag"/>
          <p:cNvSpPr/>
          <p:nvPr/>
        </p:nvSpPr>
        <p:spPr>
          <a:xfrm>
            <a:off x="10561320" y="365760"/>
            <a:ext cx="1188720" cy="365760"/>
          </a:xfrm>
          <a:prstGeom prst="roundRect">
            <a:avLst>
              <a:gd name="adj" fmla="val 8000"/>
            </a:avLst>
          </a:prstGeom>
          <a:solidFill>
            <a:srgbClr val="47557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a:spcAft>
                <a:spcPts val="400"/>
              </a:spcAft>
            </a:pPr>
            <a:r>
              <a:rPr sz="1200" b="1" i="0">
                <a:solidFill>
                  <a:srgbClr val="FFFFFF"/>
                </a:solidFill>
                <a:latin typeface="Arial"/>
              </a:rPr>
              <a:t>Our answer</a:t>
            </a:r>
          </a:p>
        </p:txBody>
      </p:sp>
      <p:sp>
        <p:nvSpPr>
          <p:cNvPr id="4" name="Source"/>
          <p:cNvSpPr txBox="1"/>
          <p:nvPr/>
        </p:nvSpPr>
        <p:spPr>
          <a:xfrm>
            <a:off x="457200" y="6400800"/>
            <a:ext cx="10607040" cy="320040"/>
          </a:xfrm>
          <a:prstGeom prst="rect">
            <a:avLst/>
          </a:prstGeom>
          <a:noFill/>
        </p:spPr>
        <p:txBody>
          <a:bodyPr wrap="square" anchor="t" lIns="73152" rIns="73152" tIns="36576" bIns="36576">
            <a:spAutoFit/>
          </a:bodyPr>
          <a:lstStyle/>
          <a:p>
            <a:pPr algn="l">
              <a:spcAft>
                <a:spcPts val="400"/>
              </a:spcAft>
            </a:pPr>
            <a:r>
              <a:rPr sz="1000" b="0" i="0">
                <a:solidFill>
                  <a:srgbClr val="6B7280"/>
                </a:solidFill>
                <a:latin typeface="Arial"/>
              </a:rPr>
              <a:t>Source: Our 2027 financial model (version 13) and analysis/growth_scenarios.py. Full-year figures use one year of the 2027 sales plan.</a:t>
            </a:r>
          </a:p>
        </p:txBody>
      </p:sp>
      <p:sp>
        <p:nvSpPr>
          <p:cNvPr id="5" name="Page"/>
          <p:cNvSpPr txBox="1"/>
          <p:nvPr/>
        </p:nvSpPr>
        <p:spPr>
          <a:xfrm>
            <a:off x="11247120" y="6400800"/>
            <a:ext cx="502920" cy="320040"/>
          </a:xfrm>
          <a:prstGeom prst="rect">
            <a:avLst/>
          </a:prstGeom>
          <a:noFill/>
        </p:spPr>
        <p:txBody>
          <a:bodyPr wrap="square" anchor="t" lIns="73152" rIns="73152" tIns="36576" bIns="36576">
            <a:spAutoFit/>
          </a:bodyPr>
          <a:lstStyle/>
          <a:p>
            <a:pPr algn="r">
              <a:spcAft>
                <a:spcPts val="400"/>
              </a:spcAft>
            </a:pPr>
            <a:r>
              <a:rPr sz="1000" b="0" i="0">
                <a:solidFill>
                  <a:srgbClr val="6B7280"/>
                </a:solidFill>
                <a:latin typeface="Arial"/>
              </a:rPr>
              <a:t>4</a:t>
            </a:r>
          </a:p>
        </p:txBody>
      </p:sp>
      <p:sp>
        <p:nvSpPr>
          <p:cNvPr id="6" name="Rounded Rectangle 5"/>
          <p:cNvSpPr/>
          <p:nvPr/>
        </p:nvSpPr>
        <p:spPr>
          <a:xfrm>
            <a:off x="457200" y="1325880"/>
            <a:ext cx="11247120" cy="1463040"/>
          </a:xfrm>
          <a:prstGeom prst="roundRect">
            <a:avLst>
              <a:gd name="adj" fmla="val 8000"/>
            </a:avLst>
          </a:prstGeom>
          <a:solidFill>
            <a:srgbClr val="47557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36576" bIns="36576"/>
          <a:lstStyle/>
          <a:p>
            <a:pPr algn="l">
              <a:spcAft>
                <a:spcPts val="400"/>
              </a:spcAft>
            </a:pPr>
            <a:r>
              <a:rPr sz="1600" b="0" i="0">
                <a:solidFill>
                  <a:srgbClr val="FFFFFF"/>
                </a:solidFill>
                <a:latin typeface="Arial"/>
              </a:rPr>
              <a:t>In a normal full year, the new prices give 25%, but only because our full-time staff earn less than the minimum wage. Fair pay drops it to 4%; two more EAP contracts bring it back to 16%. In 2027 itself, new work starts in March and founder pay in May: margin 22.8%, lowest cash Rp108M in Apr 2027.</a:t>
            </a:r>
          </a:p>
        </p:txBody>
      </p:sp>
      <p:sp>
        <p:nvSpPr>
          <p:cNvPr id="7" name="Rounded Rectangle 6"/>
          <p:cNvSpPr/>
          <p:nvPr/>
        </p:nvSpPr>
        <p:spPr>
          <a:xfrm>
            <a:off x="457200" y="2971800"/>
            <a:ext cx="3611880" cy="2834640"/>
          </a:xfrm>
          <a:prstGeom prst="roundRect">
            <a:avLst>
              <a:gd name="adj" fmla="val 8000"/>
            </a:avLst>
          </a:prstGeom>
          <a:solidFill>
            <a:srgbClr val="F3F5F9"/>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36576" bIns="36576"/>
          <a:lstStyle/>
          <a:p>
            <a:pPr algn="l">
              <a:spcAft>
                <a:spcPts val="400"/>
              </a:spcAft>
            </a:pPr>
            <a:r>
              <a:rPr sz="1400" b="0" i="0">
                <a:solidFill>
                  <a:srgbClr val="374151"/>
                </a:solidFill>
                <a:latin typeface="Arial"/>
              </a:rPr>
              <a:t/>
            </a:r>
          </a:p>
        </p:txBody>
      </p:sp>
      <p:sp>
        <p:nvSpPr>
          <p:cNvPr id="8" name="Oval 7"/>
          <p:cNvSpPr/>
          <p:nvPr/>
        </p:nvSpPr>
        <p:spPr>
          <a:xfrm>
            <a:off x="640080" y="3108960"/>
            <a:ext cx="457200" cy="457200"/>
          </a:xfrm>
          <a:prstGeom prst="ellipse">
            <a:avLst/>
          </a:prstGeom>
          <a:solidFill>
            <a:srgbClr val="47557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400"/>
              </a:spcAft>
            </a:pPr>
            <a:r>
              <a:rPr sz="1600" b="1" i="0">
                <a:solidFill>
                  <a:srgbClr val="FFFFFF"/>
                </a:solidFill>
                <a:latin typeface="Arial"/>
              </a:rPr>
              <a:t>1</a:t>
            </a:r>
          </a:p>
        </p:txBody>
      </p:sp>
      <p:sp>
        <p:nvSpPr>
          <p:cNvPr id="9" name="TextBox 8"/>
          <p:cNvSpPr txBox="1"/>
          <p:nvPr/>
        </p:nvSpPr>
        <p:spPr>
          <a:xfrm>
            <a:off x="1188720" y="3108960"/>
            <a:ext cx="2788920" cy="457200"/>
          </a:xfrm>
          <a:prstGeom prst="rect">
            <a:avLst/>
          </a:prstGeom>
          <a:noFill/>
        </p:spPr>
        <p:txBody>
          <a:bodyPr wrap="square" anchor="ctr" lIns="73152" rIns="73152" tIns="36576" bIns="36576">
            <a:spAutoFit/>
          </a:bodyPr>
          <a:lstStyle/>
          <a:p>
            <a:pPr algn="l">
              <a:spcAft>
                <a:spcPts val="400"/>
              </a:spcAft>
            </a:pPr>
            <a:r>
              <a:rPr sz="1500" b="1" i="0">
                <a:solidFill>
                  <a:srgbClr val="475571"/>
                </a:solidFill>
                <a:latin typeface="Arial"/>
              </a:rPr>
              <a:t>Price: what we charge</a:t>
            </a:r>
          </a:p>
        </p:txBody>
      </p:sp>
      <p:sp>
        <p:nvSpPr>
          <p:cNvPr id="10" name="TextBox 9"/>
          <p:cNvSpPr txBox="1"/>
          <p:nvPr/>
        </p:nvSpPr>
        <p:spPr>
          <a:xfrm>
            <a:off x="640080" y="3657600"/>
            <a:ext cx="3291840" cy="2103120"/>
          </a:xfrm>
          <a:prstGeom prst="rect">
            <a:avLst/>
          </a:prstGeom>
          <a:noFill/>
        </p:spPr>
        <p:txBody>
          <a:bodyPr wrap="square" anchor="t" lIns="73152" rIns="73152" tIns="36576" bIns="36576">
            <a:spAutoFit/>
          </a:bodyPr>
          <a:lstStyle/>
          <a:p>
            <a:pPr algn="l">
              <a:spcAft>
                <a:spcPts val="600"/>
              </a:spcAft>
            </a:pPr>
            <a:r>
              <a:rPr sz="1400" b="0" i="0">
                <a:solidFill>
                  <a:srgbClr val="374151"/>
                </a:solidFill>
                <a:latin typeface="Arial"/>
              </a:rPr>
              <a:t>Big programs for a regulator's head office: about Rp100M.</a:t>
            </a:r>
          </a:p>
          <a:p>
            <a:pPr algn="l">
              <a:spcAft>
                <a:spcPts val="600"/>
              </a:spcAft>
            </a:pPr>
            <a:r>
              <a:rPr sz="1400" b="0" i="0">
                <a:solidFill>
                  <a:srgbClr val="374151"/>
                </a:solidFill>
                <a:latin typeface="Arial"/>
              </a:rPr>
              <a:t>The same program for each branch: Rp28.5M to Rp61M a day.</a:t>
            </a:r>
          </a:p>
          <a:p>
            <a:pPr algn="l">
              <a:spcAft>
                <a:spcPts val="600"/>
              </a:spcAft>
            </a:pPr>
            <a:r>
              <a:rPr sz="1400" b="0" i="0">
                <a:solidFill>
                  <a:srgbClr val="374151"/>
                </a:solidFill>
                <a:latin typeface="Arial"/>
              </a:rPr>
              <a:t>EAP: a monthly fee for each employee.</a:t>
            </a:r>
          </a:p>
          <a:p>
            <a:pPr algn="l">
              <a:spcAft>
                <a:spcPts val="600"/>
              </a:spcAft>
            </a:pPr>
            <a:r>
              <a:rPr sz="1400" b="0" i="0">
                <a:solidFill>
                  <a:srgbClr val="374151"/>
                </a:solidFill>
                <a:latin typeface="Arial"/>
              </a:rPr>
              <a:t>Every price is at least 3 times our cost.</a:t>
            </a:r>
          </a:p>
        </p:txBody>
      </p:sp>
      <p:sp>
        <p:nvSpPr>
          <p:cNvPr id="11" name="Rounded Rectangle 10"/>
          <p:cNvSpPr/>
          <p:nvPr/>
        </p:nvSpPr>
        <p:spPr>
          <a:xfrm>
            <a:off x="4251960" y="2971800"/>
            <a:ext cx="3611880" cy="2834640"/>
          </a:xfrm>
          <a:prstGeom prst="roundRect">
            <a:avLst>
              <a:gd name="adj" fmla="val 8000"/>
            </a:avLst>
          </a:prstGeom>
          <a:solidFill>
            <a:srgbClr val="F3F5F9"/>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36576" bIns="36576"/>
          <a:lstStyle/>
          <a:p>
            <a:pPr algn="l">
              <a:spcAft>
                <a:spcPts val="400"/>
              </a:spcAft>
            </a:pPr>
            <a:r>
              <a:rPr sz="1400" b="0" i="0">
                <a:solidFill>
                  <a:srgbClr val="374151"/>
                </a:solidFill>
                <a:latin typeface="Arial"/>
              </a:rPr>
              <a:t/>
            </a:r>
          </a:p>
        </p:txBody>
      </p:sp>
      <p:sp>
        <p:nvSpPr>
          <p:cNvPr id="12" name="Oval 11"/>
          <p:cNvSpPr/>
          <p:nvPr/>
        </p:nvSpPr>
        <p:spPr>
          <a:xfrm>
            <a:off x="4434840" y="3108960"/>
            <a:ext cx="457200" cy="457200"/>
          </a:xfrm>
          <a:prstGeom prst="ellipse">
            <a:avLst/>
          </a:prstGeom>
          <a:solidFill>
            <a:srgbClr val="576C9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400"/>
              </a:spcAft>
            </a:pPr>
            <a:r>
              <a:rPr sz="1600" b="1" i="0">
                <a:solidFill>
                  <a:srgbClr val="FFFFFF"/>
                </a:solidFill>
                <a:latin typeface="Arial"/>
              </a:rPr>
              <a:t>2</a:t>
            </a:r>
          </a:p>
        </p:txBody>
      </p:sp>
      <p:sp>
        <p:nvSpPr>
          <p:cNvPr id="13" name="TextBox 12"/>
          <p:cNvSpPr txBox="1"/>
          <p:nvPr/>
        </p:nvSpPr>
        <p:spPr>
          <a:xfrm>
            <a:off x="4983480" y="3108960"/>
            <a:ext cx="2788920" cy="457200"/>
          </a:xfrm>
          <a:prstGeom prst="rect">
            <a:avLst/>
          </a:prstGeom>
          <a:noFill/>
        </p:spPr>
        <p:txBody>
          <a:bodyPr wrap="square" anchor="ctr" lIns="73152" rIns="73152" tIns="36576" bIns="36576">
            <a:spAutoFit/>
          </a:bodyPr>
          <a:lstStyle/>
          <a:p>
            <a:pPr algn="l">
              <a:spcAft>
                <a:spcPts val="400"/>
              </a:spcAft>
            </a:pPr>
            <a:r>
              <a:rPr sz="1500" b="1" i="0">
                <a:solidFill>
                  <a:srgbClr val="576C94"/>
                </a:solidFill>
                <a:latin typeface="Arial"/>
              </a:rPr>
              <a:t>People: who we pay</a:t>
            </a:r>
          </a:p>
        </p:txBody>
      </p:sp>
      <p:sp>
        <p:nvSpPr>
          <p:cNvPr id="14" name="TextBox 13"/>
          <p:cNvSpPr txBox="1"/>
          <p:nvPr/>
        </p:nvSpPr>
        <p:spPr>
          <a:xfrm>
            <a:off x="4434840" y="3657600"/>
            <a:ext cx="3291840" cy="2103120"/>
          </a:xfrm>
          <a:prstGeom prst="rect">
            <a:avLst/>
          </a:prstGeom>
          <a:noFill/>
        </p:spPr>
        <p:txBody>
          <a:bodyPr wrap="square" anchor="t" lIns="73152" rIns="73152" tIns="36576" bIns="36576">
            <a:spAutoFit/>
          </a:bodyPr>
          <a:lstStyle/>
          <a:p>
            <a:pPr algn="l">
              <a:spcAft>
                <a:spcPts val="600"/>
              </a:spcAft>
            </a:pPr>
            <a:r>
              <a:rPr sz="1400" b="0" i="0">
                <a:solidFill>
                  <a:srgbClr val="374151"/>
                </a:solidFill>
                <a:latin typeface="Arial"/>
              </a:rPr>
              <a:t>Pay 4 full-time staff fairly: Rp26M more a month, with Instagram ads.</a:t>
            </a:r>
          </a:p>
          <a:p>
            <a:pPr algn="l">
              <a:spcAft>
                <a:spcPts val="600"/>
              </a:spcAft>
            </a:pPr>
            <a:r>
              <a:rPr sz="1400" b="0" i="0">
                <a:solidFill>
                  <a:srgbClr val="374151"/>
                </a:solidFill>
                <a:latin typeface="Arial"/>
              </a:rPr>
              <a:t>Hire only when new signed work pays for the person.</a:t>
            </a:r>
          </a:p>
          <a:p>
            <a:pPr algn="l">
              <a:spcAft>
                <a:spcPts val="600"/>
              </a:spcAft>
            </a:pPr>
            <a:r>
              <a:rPr sz="1400" b="0" i="0">
                <a:solidFill>
                  <a:srgbClr val="374151"/>
                </a:solidFill>
                <a:latin typeface="Arial"/>
              </a:rPr>
              <a:t>Better contracts for psychologists, trainers and the project manager.</a:t>
            </a:r>
          </a:p>
        </p:txBody>
      </p:sp>
      <p:sp>
        <p:nvSpPr>
          <p:cNvPr id="15" name="Rounded Rectangle 14"/>
          <p:cNvSpPr/>
          <p:nvPr/>
        </p:nvSpPr>
        <p:spPr>
          <a:xfrm>
            <a:off x="8046720" y="2971800"/>
            <a:ext cx="3611880" cy="2834640"/>
          </a:xfrm>
          <a:prstGeom prst="roundRect">
            <a:avLst>
              <a:gd name="adj" fmla="val 8000"/>
            </a:avLst>
          </a:prstGeom>
          <a:solidFill>
            <a:srgbClr val="F3F5F9"/>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36576" bIns="36576"/>
          <a:lstStyle/>
          <a:p>
            <a:pPr algn="l">
              <a:spcAft>
                <a:spcPts val="400"/>
              </a:spcAft>
            </a:pPr>
            <a:r>
              <a:rPr sz="1400" b="0" i="0">
                <a:solidFill>
                  <a:srgbClr val="374151"/>
                </a:solidFill>
                <a:latin typeface="Arial"/>
              </a:rPr>
              <a:t/>
            </a:r>
          </a:p>
        </p:txBody>
      </p:sp>
      <p:sp>
        <p:nvSpPr>
          <p:cNvPr id="16" name="Oval 15"/>
          <p:cNvSpPr/>
          <p:nvPr/>
        </p:nvSpPr>
        <p:spPr>
          <a:xfrm>
            <a:off x="8229600" y="3108960"/>
            <a:ext cx="457200" cy="457200"/>
          </a:xfrm>
          <a:prstGeom prst="ellipse">
            <a:avLst/>
          </a:prstGeom>
          <a:solidFill>
            <a:srgbClr val="9B38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400"/>
              </a:spcAft>
            </a:pPr>
            <a:r>
              <a:rPr sz="1600" b="1" i="0">
                <a:solidFill>
                  <a:srgbClr val="FFFFFF"/>
                </a:solidFill>
                <a:latin typeface="Arial"/>
              </a:rPr>
              <a:t>3</a:t>
            </a:r>
          </a:p>
        </p:txBody>
      </p:sp>
      <p:sp>
        <p:nvSpPr>
          <p:cNvPr id="17" name="TextBox 16"/>
          <p:cNvSpPr txBox="1"/>
          <p:nvPr/>
        </p:nvSpPr>
        <p:spPr>
          <a:xfrm>
            <a:off x="8778240" y="3108960"/>
            <a:ext cx="2788920" cy="457200"/>
          </a:xfrm>
          <a:prstGeom prst="rect">
            <a:avLst/>
          </a:prstGeom>
          <a:noFill/>
        </p:spPr>
        <p:txBody>
          <a:bodyPr wrap="square" anchor="ctr" lIns="73152" rIns="73152" tIns="36576" bIns="36576">
            <a:spAutoFit/>
          </a:bodyPr>
          <a:lstStyle/>
          <a:p>
            <a:pPr algn="l">
              <a:spcAft>
                <a:spcPts val="400"/>
              </a:spcAft>
            </a:pPr>
            <a:r>
              <a:rPr sz="1500" b="1" i="0">
                <a:solidFill>
                  <a:srgbClr val="9B3809"/>
                </a:solidFill>
                <a:latin typeface="Arial"/>
              </a:rPr>
              <a:t>Growth: new sales</a:t>
            </a:r>
          </a:p>
        </p:txBody>
      </p:sp>
      <p:sp>
        <p:nvSpPr>
          <p:cNvPr id="18" name="TextBox 17"/>
          <p:cNvSpPr txBox="1"/>
          <p:nvPr/>
        </p:nvSpPr>
        <p:spPr>
          <a:xfrm>
            <a:off x="8229600" y="3657600"/>
            <a:ext cx="3291840" cy="2103120"/>
          </a:xfrm>
          <a:prstGeom prst="rect">
            <a:avLst/>
          </a:prstGeom>
          <a:noFill/>
        </p:spPr>
        <p:txBody>
          <a:bodyPr wrap="square" anchor="t" lIns="73152" rIns="73152" tIns="36576" bIns="36576">
            <a:spAutoFit/>
          </a:bodyPr>
          <a:lstStyle/>
          <a:p>
            <a:pPr algn="l">
              <a:spcAft>
                <a:spcPts val="600"/>
              </a:spcAft>
            </a:pPr>
            <a:r>
              <a:rPr sz="1400" b="0" i="0">
                <a:solidFill>
                  <a:srgbClr val="374151"/>
                </a:solidFill>
                <a:latin typeface="Arial"/>
              </a:rPr>
              <a:t>EAP brings income every month: from 12% to 29% of sales.</a:t>
            </a:r>
          </a:p>
          <a:p>
            <a:pPr algn="l">
              <a:spcAft>
                <a:spcPts val="600"/>
              </a:spcAft>
            </a:pPr>
            <a:r>
              <a:rPr sz="1400" b="0" i="0">
                <a:solidFill>
                  <a:srgbClr val="374151"/>
                </a:solidFill>
                <a:latin typeface="Arial"/>
              </a:rPr>
              <a:t>Find a co-founder for sales first.</a:t>
            </a:r>
          </a:p>
          <a:p>
            <a:pPr algn="l">
              <a:spcAft>
                <a:spcPts val="600"/>
              </a:spcAft>
            </a:pPr>
            <a:r>
              <a:rPr sz="1400" b="0" i="0">
                <a:solidFill>
                  <a:srgbClr val="374151"/>
                </a:solidFill>
                <a:latin typeface="Arial"/>
              </a:rPr>
              <a:t>Instagram builds trust; Theta vouchers bring new clients.</a:t>
            </a:r>
          </a:p>
        </p:txBody>
      </p:sp>
      <p:sp>
        <p:nvSpPr>
          <p:cNvPr id="19" name="TextBox 18"/>
          <p:cNvSpPr txBox="1"/>
          <p:nvPr/>
        </p:nvSpPr>
        <p:spPr>
          <a:xfrm>
            <a:off x="457200" y="5897880"/>
            <a:ext cx="11247120" cy="411480"/>
          </a:xfrm>
          <a:prstGeom prst="rect">
            <a:avLst/>
          </a:prstGeom>
          <a:noFill/>
        </p:spPr>
        <p:txBody>
          <a:bodyPr wrap="square" anchor="t" lIns="73152" rIns="73152" tIns="36576" bIns="36576">
            <a:spAutoFit/>
          </a:bodyPr>
          <a:lstStyle/>
          <a:p>
            <a:pPr algn="l">
              <a:spcAft>
                <a:spcPts val="400"/>
              </a:spcAft>
            </a:pPr>
            <a:r>
              <a:rPr sz="1200" b="1" i="0">
                <a:solidFill>
                  <a:srgbClr val="6B7280"/>
                </a:solidFill>
                <a:latin typeface="Arial"/>
              </a:rPr>
              <a:t>EAP (Employee Assistance Program): </a:t>
            </a:r>
            <a:r>
              <a:rPr sz="1200" b="0" i="0">
                <a:solidFill>
                  <a:srgbClr val="6B7280"/>
                </a:solidFill>
                <a:latin typeface="Arial"/>
              </a:rPr>
              <a:t>a company pays us every month, and we give its staff counseling and wellbeing support.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457200" y="292608"/>
            <a:ext cx="9966960" cy="914400"/>
          </a:xfrm>
          <a:prstGeom prst="rect">
            <a:avLst/>
          </a:prstGeom>
          <a:noFill/>
        </p:spPr>
        <p:txBody>
          <a:bodyPr wrap="square" anchor="t" lIns="73152" rIns="73152" tIns="36576" bIns="36576">
            <a:spAutoFit/>
          </a:bodyPr>
          <a:lstStyle/>
          <a:p>
            <a:pPr algn="l">
              <a:spcAft>
                <a:spcPts val="400"/>
              </a:spcAft>
            </a:pPr>
            <a:r>
              <a:rPr sz="2400" b="1" i="0">
                <a:solidFill>
                  <a:srgbClr val="475571"/>
                </a:solidFill>
                <a:latin typeface="Arial"/>
              </a:rPr>
              <a:t>The new prices fix our profit only because our team is underpaid, and a second price rise cannot fix it</a:t>
            </a:r>
          </a:p>
        </p:txBody>
      </p:sp>
      <p:sp>
        <p:nvSpPr>
          <p:cNvPr id="3" name="Tag"/>
          <p:cNvSpPr/>
          <p:nvPr/>
        </p:nvSpPr>
        <p:spPr>
          <a:xfrm>
            <a:off x="10561320" y="365760"/>
            <a:ext cx="1188720" cy="365760"/>
          </a:xfrm>
          <a:prstGeom prst="roundRect">
            <a:avLst>
              <a:gd name="adj" fmla="val 8000"/>
            </a:avLst>
          </a:prstGeom>
          <a:solidFill>
            <a:srgbClr val="9B38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a:spcAft>
                <a:spcPts val="400"/>
              </a:spcAft>
            </a:pPr>
            <a:r>
              <a:rPr sz="1200" b="1" i="0">
                <a:solidFill>
                  <a:srgbClr val="FFFFFF"/>
                </a:solidFill>
                <a:latin typeface="Arial"/>
              </a:rPr>
              <a:t>The problem</a:t>
            </a:r>
          </a:p>
        </p:txBody>
      </p:sp>
      <p:sp>
        <p:nvSpPr>
          <p:cNvPr id="4" name="Source"/>
          <p:cNvSpPr txBox="1"/>
          <p:nvPr/>
        </p:nvSpPr>
        <p:spPr>
          <a:xfrm>
            <a:off x="457200" y="6400800"/>
            <a:ext cx="10607040" cy="320040"/>
          </a:xfrm>
          <a:prstGeom prst="rect">
            <a:avLst/>
          </a:prstGeom>
          <a:noFill/>
        </p:spPr>
        <p:txBody>
          <a:bodyPr wrap="square" anchor="t" lIns="73152" rIns="73152" tIns="36576" bIns="36576">
            <a:spAutoFit/>
          </a:bodyPr>
          <a:lstStyle/>
          <a:p>
            <a:pPr algn="l">
              <a:spcAft>
                <a:spcPts val="400"/>
              </a:spcAft>
            </a:pPr>
            <a:r>
              <a:rPr sz="1000" b="0" i="0">
                <a:solidFill>
                  <a:srgbClr val="6B7280"/>
                </a:solidFill>
                <a:latin typeface="Arial"/>
              </a:rPr>
              <a:t>Source: Our 2027 financial model (version 13) and analysis/growth_scenarios.py. A normal full year at the 2027 sales plan. Fair pay = minimum wage + 18% for BPJS and THR (estimate).</a:t>
            </a:r>
          </a:p>
        </p:txBody>
      </p:sp>
      <p:sp>
        <p:nvSpPr>
          <p:cNvPr id="5" name="Page"/>
          <p:cNvSpPr txBox="1"/>
          <p:nvPr/>
        </p:nvSpPr>
        <p:spPr>
          <a:xfrm>
            <a:off x="11247120" y="6400800"/>
            <a:ext cx="502920" cy="320040"/>
          </a:xfrm>
          <a:prstGeom prst="rect">
            <a:avLst/>
          </a:prstGeom>
          <a:noFill/>
        </p:spPr>
        <p:txBody>
          <a:bodyPr wrap="square" anchor="t" lIns="73152" rIns="73152" tIns="36576" bIns="36576">
            <a:spAutoFit/>
          </a:bodyPr>
          <a:lstStyle/>
          <a:p>
            <a:pPr algn="r">
              <a:spcAft>
                <a:spcPts val="400"/>
              </a:spcAft>
            </a:pPr>
            <a:r>
              <a:rPr sz="1000" b="0" i="0">
                <a:solidFill>
                  <a:srgbClr val="6B7280"/>
                </a:solidFill>
                <a:latin typeface="Arial"/>
              </a:rPr>
              <a:t>5</a:t>
            </a:r>
          </a:p>
        </p:txBody>
      </p:sp>
      <p:graphicFrame>
        <p:nvGraphicFramePr>
          <p:cNvPr id="6" name="Chart 5"/>
          <p:cNvGraphicFramePr>
            <a:graphicFrameLocks noGrp="1"/>
          </p:cNvGraphicFramePr>
          <p:nvPr/>
        </p:nvGraphicFramePr>
        <p:xfrm>
          <a:off x="457200" y="1325880"/>
          <a:ext cx="6675120" cy="4983480"/>
        </p:xfrm>
        <a:graphic>
          <a:graphicData uri="http://schemas.openxmlformats.org/drawingml/2006/chart">
            <c:chart xmlns:c="http://schemas.openxmlformats.org/drawingml/2006/chart" r:id="rId2"/>
          </a:graphicData>
        </a:graphic>
      </p:graphicFrame>
      <p:sp>
        <p:nvSpPr>
          <p:cNvPr id="7" name="Rounded Rectangle 6"/>
          <p:cNvSpPr/>
          <p:nvPr/>
        </p:nvSpPr>
        <p:spPr>
          <a:xfrm>
            <a:off x="7406640" y="1325880"/>
            <a:ext cx="4343400" cy="2788920"/>
          </a:xfrm>
          <a:prstGeom prst="roundRect">
            <a:avLst>
              <a:gd name="adj" fmla="val 8000"/>
            </a:avLst>
          </a:prstGeom>
          <a:solidFill>
            <a:srgbClr val="F3F5F9"/>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36576" bIns="36576"/>
          <a:lstStyle/>
          <a:p>
            <a:pPr algn="l">
              <a:spcAft>
                <a:spcPts val="500"/>
              </a:spcAft>
            </a:pPr>
            <a:r>
              <a:rPr sz="1500" b="1" i="0">
                <a:solidFill>
                  <a:srgbClr val="475571"/>
                </a:solidFill>
                <a:latin typeface="Arial"/>
              </a:rPr>
              <a:t>How to read the bars</a:t>
            </a:r>
          </a:p>
          <a:p>
            <a:pPr algn="l">
              <a:spcAft>
                <a:spcPts val="500"/>
              </a:spcAft>
            </a:pPr>
            <a:r>
              <a:rPr sz="1200" b="1" i="0">
                <a:solidFill>
                  <a:srgbClr val="374151"/>
                </a:solidFill>
                <a:latin typeface="Arial"/>
              </a:rPr>
              <a:t>New prices: </a:t>
            </a:r>
            <a:r>
              <a:rPr sz="1200" b="0" i="0">
                <a:solidFill>
                  <a:srgbClr val="374151"/>
                </a:solidFill>
                <a:latin typeface="Arial"/>
              </a:rPr>
              <a:t>25%, but staff still earn below the minimum wage.</a:t>
            </a:r>
          </a:p>
          <a:p>
            <a:pPr algn="l">
              <a:spcAft>
                <a:spcPts val="500"/>
              </a:spcAft>
            </a:pPr>
            <a:r>
              <a:rPr sz="1200" b="1" i="0">
                <a:solidFill>
                  <a:srgbClr val="374151"/>
                </a:solidFill>
                <a:latin typeface="Arial"/>
              </a:rPr>
              <a:t>+ fair pay: </a:t>
            </a:r>
            <a:r>
              <a:rPr sz="1200" b="0" i="0">
                <a:solidFill>
                  <a:srgbClr val="374151"/>
                </a:solidFill>
                <a:latin typeface="Arial"/>
              </a:rPr>
              <a:t>4%. Fair pay and Instagram ads cost Rp313M a year.</a:t>
            </a:r>
          </a:p>
          <a:p>
            <a:pPr algn="l">
              <a:spcAft>
                <a:spcPts val="500"/>
              </a:spcAft>
            </a:pPr>
            <a:r>
              <a:rPr sz="1200" b="1" i="0">
                <a:solidFill>
                  <a:srgbClr val="374151"/>
                </a:solidFill>
                <a:latin typeface="Arial"/>
              </a:rPr>
              <a:t>+ 2 EAP: </a:t>
            </a:r>
            <a:r>
              <a:rPr sz="1200" b="0" i="0">
                <a:solidFill>
                  <a:srgbClr val="374151"/>
                </a:solidFill>
                <a:latin typeface="Arial"/>
              </a:rPr>
              <a:t>16%. Each EAP contract adds Rp120M of gross profit a year.</a:t>
            </a:r>
          </a:p>
          <a:p>
            <a:pPr algn="l">
              <a:spcAft>
                <a:spcPts val="500"/>
              </a:spcAft>
            </a:pPr>
            <a:r>
              <a:rPr sz="1200" b="1" i="0">
                <a:solidFill>
                  <a:srgbClr val="374151"/>
                </a:solidFill>
                <a:latin typeface="Arial"/>
              </a:rPr>
              <a:t>+ co-founder and bank deal: </a:t>
            </a:r>
            <a:r>
              <a:rPr sz="1200" b="0" i="0">
                <a:solidFill>
                  <a:srgbClr val="374151"/>
                </a:solidFill>
                <a:latin typeface="Arial"/>
              </a:rPr>
              <a:t>23%.</a:t>
            </a:r>
          </a:p>
        </p:txBody>
      </p:sp>
      <p:sp>
        <p:nvSpPr>
          <p:cNvPr id="8" name="Rounded Rectangle 7"/>
          <p:cNvSpPr/>
          <p:nvPr/>
        </p:nvSpPr>
        <p:spPr>
          <a:xfrm>
            <a:off x="7406640" y="4206240"/>
            <a:ext cx="4343400" cy="2103120"/>
          </a:xfrm>
          <a:prstGeom prst="roundRect">
            <a:avLst>
              <a:gd name="adj" fmla="val 8000"/>
            </a:avLst>
          </a:prstGeom>
          <a:solidFill>
            <a:srgbClr val="F3F5F9"/>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36576" bIns="36576"/>
          <a:lstStyle/>
          <a:p>
            <a:pPr algn="l">
              <a:spcAft>
                <a:spcPts val="500"/>
              </a:spcAft>
            </a:pPr>
            <a:r>
              <a:rPr sz="1500" b="1" i="0">
                <a:solidFill>
                  <a:srgbClr val="9B3809"/>
                </a:solidFill>
                <a:latin typeface="Arial"/>
              </a:rPr>
              <a:t>Why not raise prices again?</a:t>
            </a:r>
          </a:p>
          <a:p>
            <a:pPr algn="l">
              <a:spcAft>
                <a:spcPts val="500"/>
              </a:spcAft>
            </a:pPr>
            <a:r>
              <a:rPr sz="1200" b="0" i="0">
                <a:solidFill>
                  <a:srgbClr val="374151"/>
                </a:solidFill>
                <a:latin typeface="Arial"/>
              </a:rPr>
              <a:t>Without new EAP, every event price would need +16%: the 3-day program at about Rp116M, the 1-day regional program at about Rp33M. Regulators have budget limits, and clients may leave.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457200" y="292608"/>
            <a:ext cx="9966960" cy="914400"/>
          </a:xfrm>
          <a:prstGeom prst="rect">
            <a:avLst/>
          </a:prstGeom>
          <a:noFill/>
        </p:spPr>
        <p:txBody>
          <a:bodyPr wrap="square" anchor="t" lIns="73152" rIns="73152" tIns="36576" bIns="36576">
            <a:spAutoFit/>
          </a:bodyPr>
          <a:lstStyle/>
          <a:p>
            <a:pPr algn="l">
              <a:spcAft>
                <a:spcPts val="400"/>
              </a:spcAft>
            </a:pPr>
            <a:r>
              <a:rPr sz="2400" b="1" i="0">
                <a:solidFill>
                  <a:srgbClr val="475571"/>
                </a:solidFill>
                <a:latin typeface="Arial"/>
              </a:rPr>
              <a:t>Fair pay adds Rp26M a month to our fixed costs, and we pay it even in quiet months</a:t>
            </a:r>
          </a:p>
        </p:txBody>
      </p:sp>
      <p:sp>
        <p:nvSpPr>
          <p:cNvPr id="3" name="Tag"/>
          <p:cNvSpPr/>
          <p:nvPr/>
        </p:nvSpPr>
        <p:spPr>
          <a:xfrm>
            <a:off x="10561320" y="365760"/>
            <a:ext cx="1188720" cy="365760"/>
          </a:xfrm>
          <a:prstGeom prst="roundRect">
            <a:avLst>
              <a:gd name="adj" fmla="val 8000"/>
            </a:avLst>
          </a:prstGeom>
          <a:solidFill>
            <a:srgbClr val="9B38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a:spcAft>
                <a:spcPts val="400"/>
              </a:spcAft>
            </a:pPr>
            <a:r>
              <a:rPr sz="1200" b="1" i="0">
                <a:solidFill>
                  <a:srgbClr val="FFFFFF"/>
                </a:solidFill>
                <a:latin typeface="Arial"/>
              </a:rPr>
              <a:t>The problem</a:t>
            </a:r>
          </a:p>
        </p:txBody>
      </p:sp>
      <p:sp>
        <p:nvSpPr>
          <p:cNvPr id="4" name="Source"/>
          <p:cNvSpPr txBox="1"/>
          <p:nvPr/>
        </p:nvSpPr>
        <p:spPr>
          <a:xfrm>
            <a:off x="457200" y="6400800"/>
            <a:ext cx="10607040" cy="320040"/>
          </a:xfrm>
          <a:prstGeom prst="rect">
            <a:avLst/>
          </a:prstGeom>
          <a:noFill/>
        </p:spPr>
        <p:txBody>
          <a:bodyPr wrap="square" anchor="t" lIns="73152" rIns="73152" tIns="36576" bIns="36576">
            <a:spAutoFit/>
          </a:bodyPr>
          <a:lstStyle/>
          <a:p>
            <a:pPr algn="l">
              <a:spcAft>
                <a:spcPts val="400"/>
              </a:spcAft>
            </a:pPr>
            <a:r>
              <a:rPr sz="1000" b="0" i="0">
                <a:solidFill>
                  <a:srgbClr val="6B7280"/>
                </a:solidFill>
                <a:latin typeface="Arial"/>
              </a:rPr>
              <a:t>Source: Our 2027 budget (model version 13) and the fair-pay table on slide 22.</a:t>
            </a:r>
          </a:p>
        </p:txBody>
      </p:sp>
      <p:sp>
        <p:nvSpPr>
          <p:cNvPr id="5" name="Page"/>
          <p:cNvSpPr txBox="1"/>
          <p:nvPr/>
        </p:nvSpPr>
        <p:spPr>
          <a:xfrm>
            <a:off x="11247120" y="6400800"/>
            <a:ext cx="502920" cy="320040"/>
          </a:xfrm>
          <a:prstGeom prst="rect">
            <a:avLst/>
          </a:prstGeom>
          <a:noFill/>
        </p:spPr>
        <p:txBody>
          <a:bodyPr wrap="square" anchor="t" lIns="73152" rIns="73152" tIns="36576" bIns="36576">
            <a:spAutoFit/>
          </a:bodyPr>
          <a:lstStyle/>
          <a:p>
            <a:pPr algn="r">
              <a:spcAft>
                <a:spcPts val="400"/>
              </a:spcAft>
            </a:pPr>
            <a:r>
              <a:rPr sz="1000" b="0" i="0">
                <a:solidFill>
                  <a:srgbClr val="6B7280"/>
                </a:solidFill>
                <a:latin typeface="Arial"/>
              </a:rPr>
              <a:t>6</a:t>
            </a:r>
          </a:p>
        </p:txBody>
      </p:sp>
      <p:graphicFrame>
        <p:nvGraphicFramePr>
          <p:cNvPr id="6" name="Chart 5"/>
          <p:cNvGraphicFramePr>
            <a:graphicFrameLocks noGrp="1"/>
          </p:cNvGraphicFramePr>
          <p:nvPr/>
        </p:nvGraphicFramePr>
        <p:xfrm>
          <a:off x="457200" y="1325880"/>
          <a:ext cx="6583680" cy="4983480"/>
        </p:xfrm>
        <a:graphic>
          <a:graphicData uri="http://schemas.openxmlformats.org/drawingml/2006/chart">
            <c:chart xmlns:c="http://schemas.openxmlformats.org/drawingml/2006/chart" r:id="rId2"/>
          </a:graphicData>
        </a:graphic>
      </p:graphicFrame>
      <p:sp>
        <p:nvSpPr>
          <p:cNvPr id="7" name="Rounded Rectangle 6"/>
          <p:cNvSpPr/>
          <p:nvPr/>
        </p:nvSpPr>
        <p:spPr>
          <a:xfrm>
            <a:off x="7315200" y="1325880"/>
            <a:ext cx="4434840" cy="4983480"/>
          </a:xfrm>
          <a:prstGeom prst="roundRect">
            <a:avLst>
              <a:gd name="adj" fmla="val 8000"/>
            </a:avLst>
          </a:prstGeom>
          <a:solidFill>
            <a:srgbClr val="F3F5F9"/>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36576" bIns="36576"/>
          <a:lstStyle/>
          <a:p>
            <a:pPr algn="l">
              <a:spcAft>
                <a:spcPts val="800"/>
              </a:spcAft>
            </a:pPr>
            <a:r>
              <a:rPr sz="1600" b="1" i="0">
                <a:solidFill>
                  <a:srgbClr val="475571"/>
                </a:solidFill>
                <a:latin typeface="Arial"/>
              </a:rPr>
              <a:t>What changes</a:t>
            </a:r>
          </a:p>
          <a:p>
            <a:pPr algn="l">
              <a:spcAft>
                <a:spcPts val="800"/>
              </a:spcAft>
            </a:pPr>
            <a:r>
              <a:rPr sz="1300" b="1" i="0">
                <a:solidFill>
                  <a:srgbClr val="374151"/>
                </a:solidFill>
                <a:latin typeface="Arial"/>
              </a:rPr>
              <a:t>Fixed cost </a:t>
            </a:r>
            <a:r>
              <a:rPr sz="1300" b="0" i="0">
                <a:solidFill>
                  <a:srgbClr val="374151"/>
                </a:solidFill>
                <a:latin typeface="Arial"/>
              </a:rPr>
              <a:t>= what we pay every month, even with no events: salaries, office, software.</a:t>
            </a:r>
          </a:p>
          <a:p>
            <a:pPr algn="l">
              <a:spcAft>
                <a:spcPts val="800"/>
              </a:spcAft>
            </a:pPr>
            <a:r>
              <a:rPr sz="1300" b="1" i="0">
                <a:solidFill>
                  <a:srgbClr val="374151"/>
                </a:solidFill>
                <a:latin typeface="Arial"/>
              </a:rPr>
              <a:t>Total: Rp52.7M to Rp78.8M a month. </a:t>
            </a:r>
            <a:r>
              <a:rPr sz="1300" b="0" i="0">
                <a:solidFill>
                  <a:srgbClr val="374151"/>
                </a:solidFill>
                <a:latin typeface="Arial"/>
              </a:rPr>
              <a:t>Staff pay rises the most, shown in red.</a:t>
            </a:r>
          </a:p>
          <a:p>
            <a:pPr algn="l">
              <a:spcAft>
                <a:spcPts val="800"/>
              </a:spcAft>
            </a:pPr>
            <a:r>
              <a:rPr sz="1300" b="1" i="0">
                <a:solidFill>
                  <a:srgbClr val="374151"/>
                </a:solidFill>
                <a:latin typeface="Arial"/>
              </a:rPr>
              <a:t>Founders stay at Rp25M. </a:t>
            </a:r>
            <a:r>
              <a:rPr sz="1300" b="0" i="0">
                <a:solidFill>
                  <a:srgbClr val="374151"/>
                </a:solidFill>
                <a:latin typeface="Arial"/>
              </a:rPr>
              <a:t>We do not raise founder pay in this plan.</a:t>
            </a:r>
          </a:p>
          <a:p>
            <a:pPr algn="l">
              <a:spcAft>
                <a:spcPts val="800"/>
              </a:spcAft>
            </a:pPr>
            <a:r>
              <a:rPr sz="1300" b="1" i="0">
                <a:solidFill>
                  <a:srgbClr val="374151"/>
                </a:solidFill>
                <a:latin typeface="Arial"/>
              </a:rPr>
              <a:t>Why it matters: </a:t>
            </a:r>
            <a:r>
              <a:rPr sz="1300" b="0" i="0">
                <a:solidFill>
                  <a:srgbClr val="374151"/>
                </a:solidFill>
                <a:latin typeface="Arial"/>
              </a:rPr>
              <a:t>each month we must earn at least Rp79M of gross profit before we keep any profit. Gross profit = money left after we pay the people who deliver the work.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457200" y="292608"/>
            <a:ext cx="9966960" cy="914400"/>
          </a:xfrm>
          <a:prstGeom prst="rect">
            <a:avLst/>
          </a:prstGeom>
          <a:noFill/>
        </p:spPr>
        <p:txBody>
          <a:bodyPr wrap="square" anchor="t" lIns="73152" rIns="73152" tIns="36576" bIns="36576">
            <a:spAutoFit/>
          </a:bodyPr>
          <a:lstStyle/>
          <a:p>
            <a:pPr algn="l">
              <a:spcAft>
                <a:spcPts val="400"/>
              </a:spcAft>
            </a:pPr>
            <a:r>
              <a:rPr sz="2400" b="1" i="0">
                <a:solidFill>
                  <a:srgbClr val="475571"/>
                </a:solidFill>
                <a:latin typeface="Arial"/>
              </a:rPr>
              <a:t>Real timing: we pitch and sign from October to February, and new work starts in March</a:t>
            </a:r>
          </a:p>
        </p:txBody>
      </p:sp>
      <p:sp>
        <p:nvSpPr>
          <p:cNvPr id="3" name="Tag"/>
          <p:cNvSpPr/>
          <p:nvPr/>
        </p:nvSpPr>
        <p:spPr>
          <a:xfrm>
            <a:off x="10561320" y="365760"/>
            <a:ext cx="1188720" cy="365760"/>
          </a:xfrm>
          <a:prstGeom prst="roundRect">
            <a:avLst>
              <a:gd name="adj" fmla="val 8000"/>
            </a:avLst>
          </a:prstGeom>
          <a:solidFill>
            <a:srgbClr val="9B38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a:spcAft>
                <a:spcPts val="400"/>
              </a:spcAft>
            </a:pPr>
            <a:r>
              <a:rPr sz="1200" b="1" i="0">
                <a:solidFill>
                  <a:srgbClr val="FFFFFF"/>
                </a:solidFill>
                <a:latin typeface="Arial"/>
              </a:rPr>
              <a:t>The problem</a:t>
            </a:r>
          </a:p>
        </p:txBody>
      </p:sp>
      <p:sp>
        <p:nvSpPr>
          <p:cNvPr id="4" name="Source"/>
          <p:cNvSpPr txBox="1"/>
          <p:nvPr/>
        </p:nvSpPr>
        <p:spPr>
          <a:xfrm>
            <a:off x="457200" y="6400800"/>
            <a:ext cx="10607040" cy="320040"/>
          </a:xfrm>
          <a:prstGeom prst="rect">
            <a:avLst/>
          </a:prstGeom>
          <a:noFill/>
        </p:spPr>
        <p:txBody>
          <a:bodyPr wrap="square" anchor="t" lIns="73152" rIns="73152" tIns="36576" bIns="36576">
            <a:spAutoFit/>
          </a:bodyPr>
          <a:lstStyle/>
          <a:p>
            <a:pPr algn="l">
              <a:spcAft>
                <a:spcPts val="400"/>
              </a:spcAft>
            </a:pPr>
            <a:r>
              <a:rPr sz="1000" b="0" i="0">
                <a:solidFill>
                  <a:srgbClr val="6B7280"/>
                </a:solidFill>
                <a:latin typeface="Arial"/>
              </a:rPr>
              <a:t>Source: Model version 14, Outlook sheet, recalculated in Excel: no new sales before March 2027, growth plan on, founders paid from May 2027.</a:t>
            </a:r>
          </a:p>
        </p:txBody>
      </p:sp>
      <p:sp>
        <p:nvSpPr>
          <p:cNvPr id="5" name="Page"/>
          <p:cNvSpPr txBox="1"/>
          <p:nvPr/>
        </p:nvSpPr>
        <p:spPr>
          <a:xfrm>
            <a:off x="11247120" y="6400800"/>
            <a:ext cx="502920" cy="320040"/>
          </a:xfrm>
          <a:prstGeom prst="rect">
            <a:avLst/>
          </a:prstGeom>
          <a:noFill/>
        </p:spPr>
        <p:txBody>
          <a:bodyPr wrap="square" anchor="t" lIns="73152" rIns="73152" tIns="36576" bIns="36576">
            <a:spAutoFit/>
          </a:bodyPr>
          <a:lstStyle/>
          <a:p>
            <a:pPr algn="r">
              <a:spcAft>
                <a:spcPts val="400"/>
              </a:spcAft>
            </a:pPr>
            <a:r>
              <a:rPr sz="1000" b="0" i="0">
                <a:solidFill>
                  <a:srgbClr val="6B7280"/>
                </a:solidFill>
                <a:latin typeface="Arial"/>
              </a:rPr>
              <a:t>7</a:t>
            </a:r>
          </a:p>
        </p:txBody>
      </p:sp>
      <p:graphicFrame>
        <p:nvGraphicFramePr>
          <p:cNvPr id="6" name="Chart 5"/>
          <p:cNvGraphicFramePr>
            <a:graphicFrameLocks noGrp="1"/>
          </p:cNvGraphicFramePr>
          <p:nvPr/>
        </p:nvGraphicFramePr>
        <p:xfrm>
          <a:off x="457200" y="1325880"/>
          <a:ext cx="7680960" cy="4983480"/>
        </p:xfrm>
        <a:graphic>
          <a:graphicData uri="http://schemas.openxmlformats.org/drawingml/2006/chart">
            <c:chart xmlns:c="http://schemas.openxmlformats.org/drawingml/2006/chart" r:id="rId2"/>
          </a:graphicData>
        </a:graphic>
      </p:graphicFrame>
      <p:sp>
        <p:nvSpPr>
          <p:cNvPr id="7" name="Rounded Rectangle 6"/>
          <p:cNvSpPr/>
          <p:nvPr/>
        </p:nvSpPr>
        <p:spPr>
          <a:xfrm>
            <a:off x="8366760" y="1325880"/>
            <a:ext cx="3383280" cy="4983480"/>
          </a:xfrm>
          <a:prstGeom prst="roundRect">
            <a:avLst>
              <a:gd name="adj" fmla="val 8000"/>
            </a:avLst>
          </a:prstGeom>
          <a:solidFill>
            <a:srgbClr val="F3F5F9"/>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36576" bIns="36576"/>
          <a:lstStyle/>
          <a:p>
            <a:pPr algn="l">
              <a:spcAft>
                <a:spcPts val="600"/>
              </a:spcAft>
            </a:pPr>
            <a:r>
              <a:rPr sz="1500" b="1" i="0">
                <a:solidFill>
                  <a:srgbClr val="475571"/>
                </a:solidFill>
                <a:latin typeface="Arial"/>
              </a:rPr>
              <a:t>How to read it</a:t>
            </a:r>
          </a:p>
          <a:p>
            <a:pPr algn="l">
              <a:spcAft>
                <a:spcPts val="600"/>
              </a:spcAft>
            </a:pPr>
            <a:r>
              <a:rPr sz="1200" b="1" i="0">
                <a:solidFill>
                  <a:srgbClr val="374151"/>
                </a:solidFill>
                <a:latin typeface="Arial"/>
              </a:rPr>
              <a:t>Grey bar taller than blue: </a:t>
            </a:r>
            <a:r>
              <a:rPr sz="1200" b="0" i="0">
                <a:solidFill>
                  <a:srgbClr val="374151"/>
                </a:solidFill>
                <a:latin typeface="Arial"/>
              </a:rPr>
              <a:t>we spend more than we sell that month.</a:t>
            </a:r>
          </a:p>
          <a:p>
            <a:pPr algn="l">
              <a:spcAft>
                <a:spcPts val="600"/>
              </a:spcAft>
            </a:pPr>
            <a:r>
              <a:rPr sz="1200" b="1" i="0">
                <a:solidFill>
                  <a:srgbClr val="374151"/>
                </a:solidFill>
                <a:latin typeface="Arial"/>
              </a:rPr>
              <a:t>Oct to Feb: </a:t>
            </a:r>
            <a:r>
              <a:rPr sz="1200" b="0" i="0">
                <a:solidFill>
                  <a:srgbClr val="374151"/>
                </a:solidFill>
                <a:latin typeface="Arial"/>
              </a:rPr>
              <a:t>only EAP and counseling bring money. Cash falls from Rp210M to Rp108M.</a:t>
            </a:r>
          </a:p>
          <a:p>
            <a:pPr algn="l">
              <a:spcAft>
                <a:spcPts val="600"/>
              </a:spcAft>
            </a:pPr>
            <a:r>
              <a:rPr sz="1200" b="1" i="0">
                <a:solidFill>
                  <a:srgbClr val="374151"/>
                </a:solidFill>
                <a:latin typeface="Arial"/>
              </a:rPr>
              <a:t>Mar to Jun: </a:t>
            </a:r>
            <a:r>
              <a:rPr sz="1200" b="0" i="0">
                <a:solidFill>
                  <a:srgbClr val="374151"/>
                </a:solidFill>
                <a:latin typeface="Arial"/>
              </a:rPr>
              <a:t>new programs start, but clients pay 0 to 60 days later, so cash stays low.</a:t>
            </a:r>
          </a:p>
          <a:p>
            <a:pPr algn="l">
              <a:spcAft>
                <a:spcPts val="600"/>
              </a:spcAft>
            </a:pPr>
            <a:r>
              <a:rPr sz="1200" b="1" i="0">
                <a:solidFill>
                  <a:srgbClr val="374151"/>
                </a:solidFill>
                <a:latin typeface="Arial"/>
              </a:rPr>
              <a:t>Jul to Dec: </a:t>
            </a:r>
            <a:r>
              <a:rPr sz="1200" b="0" i="0">
                <a:solidFill>
                  <a:srgbClr val="374151"/>
                </a:solidFill>
                <a:latin typeface="Arial"/>
              </a:rPr>
              <a:t>one tight month in July (costs of a busy month come first), then cash grows to Rp446M.</a:t>
            </a:r>
          </a:p>
          <a:p>
            <a:pPr algn="l">
              <a:spcAft>
                <a:spcPts val="600"/>
              </a:spcAft>
            </a:pPr>
            <a:r>
              <a:rPr sz="1200" b="1" i="0">
                <a:solidFill>
                  <a:srgbClr val="374151"/>
                </a:solidFill>
                <a:latin typeface="Arial"/>
              </a:rPr>
              <a:t>Use it every month: </a:t>
            </a:r>
            <a:r>
              <a:rPr sz="1200" b="0" i="0">
                <a:solidFill>
                  <a:srgbClr val="374151"/>
                </a:solidFill>
                <a:latin typeface="Arial"/>
              </a:rPr>
              <a:t>put real sales and costs next to these bars. If the dark line moves toward the red line, act early.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457200" y="292608"/>
            <a:ext cx="9966960" cy="914400"/>
          </a:xfrm>
          <a:prstGeom prst="rect">
            <a:avLst/>
          </a:prstGeom>
          <a:noFill/>
        </p:spPr>
        <p:txBody>
          <a:bodyPr wrap="square" anchor="t" lIns="73152" rIns="73152" tIns="36576" bIns="36576">
            <a:spAutoFit/>
          </a:bodyPr>
          <a:lstStyle/>
          <a:p>
            <a:pPr algn="l">
              <a:spcAft>
                <a:spcPts val="400"/>
              </a:spcAft>
            </a:pPr>
            <a:r>
              <a:rPr sz="2400" b="1" i="0">
                <a:solidFill>
                  <a:srgbClr val="475571"/>
                </a:solidFill>
                <a:latin typeface="Arial"/>
              </a:rPr>
              <a:t>Start founder salaries in May 2027: if they start in January, cash almost runs out in April</a:t>
            </a:r>
          </a:p>
        </p:txBody>
      </p:sp>
      <p:sp>
        <p:nvSpPr>
          <p:cNvPr id="3" name="Tag"/>
          <p:cNvSpPr/>
          <p:nvPr/>
        </p:nvSpPr>
        <p:spPr>
          <a:xfrm>
            <a:off x="10561320" y="365760"/>
            <a:ext cx="1188720" cy="365760"/>
          </a:xfrm>
          <a:prstGeom prst="roundRect">
            <a:avLst>
              <a:gd name="adj" fmla="val 8000"/>
            </a:avLst>
          </a:prstGeom>
          <a:solidFill>
            <a:srgbClr val="9B38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a:spcAft>
                <a:spcPts val="400"/>
              </a:spcAft>
            </a:pPr>
            <a:r>
              <a:rPr sz="1200" b="1" i="0">
                <a:solidFill>
                  <a:srgbClr val="FFFFFF"/>
                </a:solidFill>
                <a:latin typeface="Arial"/>
              </a:rPr>
              <a:t>The problem</a:t>
            </a:r>
          </a:p>
        </p:txBody>
      </p:sp>
      <p:sp>
        <p:nvSpPr>
          <p:cNvPr id="4" name="Source"/>
          <p:cNvSpPr txBox="1"/>
          <p:nvPr/>
        </p:nvSpPr>
        <p:spPr>
          <a:xfrm>
            <a:off x="457200" y="6400800"/>
            <a:ext cx="10607040" cy="320040"/>
          </a:xfrm>
          <a:prstGeom prst="rect">
            <a:avLst/>
          </a:prstGeom>
          <a:noFill/>
        </p:spPr>
        <p:txBody>
          <a:bodyPr wrap="square" anchor="t" lIns="73152" rIns="73152" tIns="36576" bIns="36576">
            <a:spAutoFit/>
          </a:bodyPr>
          <a:lstStyle/>
          <a:p>
            <a:pPr algn="l">
              <a:spcAft>
                <a:spcPts val="400"/>
              </a:spcAft>
            </a:pPr>
            <a:r>
              <a:rPr sz="1000" b="0" i="0">
                <a:solidFill>
                  <a:srgbClr val="6B7280"/>
                </a:solidFill>
                <a:latin typeface="Arial"/>
              </a:rPr>
              <a:t>Source: Model version 14, recalculated in Excel for each start month. Same plan, only the founder salary start changes.</a:t>
            </a:r>
          </a:p>
        </p:txBody>
      </p:sp>
      <p:sp>
        <p:nvSpPr>
          <p:cNvPr id="5" name="Page"/>
          <p:cNvSpPr txBox="1"/>
          <p:nvPr/>
        </p:nvSpPr>
        <p:spPr>
          <a:xfrm>
            <a:off x="11247120" y="6400800"/>
            <a:ext cx="502920" cy="320040"/>
          </a:xfrm>
          <a:prstGeom prst="rect">
            <a:avLst/>
          </a:prstGeom>
          <a:noFill/>
        </p:spPr>
        <p:txBody>
          <a:bodyPr wrap="square" anchor="t" lIns="73152" rIns="73152" tIns="36576" bIns="36576">
            <a:spAutoFit/>
          </a:bodyPr>
          <a:lstStyle/>
          <a:p>
            <a:pPr algn="r">
              <a:spcAft>
                <a:spcPts val="400"/>
              </a:spcAft>
            </a:pPr>
            <a:r>
              <a:rPr sz="1000" b="0" i="0">
                <a:solidFill>
                  <a:srgbClr val="6B7280"/>
                </a:solidFill>
                <a:latin typeface="Arial"/>
              </a:rPr>
              <a:t>8</a:t>
            </a:r>
          </a:p>
        </p:txBody>
      </p:sp>
      <p:graphicFrame>
        <p:nvGraphicFramePr>
          <p:cNvPr id="6" name="Chart 5"/>
          <p:cNvGraphicFramePr>
            <a:graphicFrameLocks noGrp="1"/>
          </p:cNvGraphicFramePr>
          <p:nvPr/>
        </p:nvGraphicFramePr>
        <p:xfrm>
          <a:off x="457200" y="1325880"/>
          <a:ext cx="5577840" cy="4023360"/>
        </p:xfrm>
        <a:graphic>
          <a:graphicData uri="http://schemas.openxmlformats.org/drawingml/2006/chart">
            <c:chart xmlns:c="http://schemas.openxmlformats.org/drawingml/2006/chart" r:id="rId2"/>
          </a:graphicData>
        </a:graphic>
      </p:graphicFrame>
      <p:graphicFrame>
        <p:nvGraphicFramePr>
          <p:cNvPr id="7" name="Chart 6"/>
          <p:cNvGraphicFramePr>
            <a:graphicFrameLocks noGrp="1"/>
          </p:cNvGraphicFramePr>
          <p:nvPr/>
        </p:nvGraphicFramePr>
        <p:xfrm>
          <a:off x="6172200" y="1325880"/>
          <a:ext cx="5577840" cy="4023360"/>
        </p:xfrm>
        <a:graphic>
          <a:graphicData uri="http://schemas.openxmlformats.org/drawingml/2006/chart">
            <c:chart xmlns:c="http://schemas.openxmlformats.org/drawingml/2006/chart" r:id="rId3"/>
          </a:graphicData>
        </a:graphic>
      </p:graphicFrame>
      <p:sp>
        <p:nvSpPr>
          <p:cNvPr id="8" name="Rounded Rectangle 7"/>
          <p:cNvSpPr/>
          <p:nvPr/>
        </p:nvSpPr>
        <p:spPr>
          <a:xfrm>
            <a:off x="457200" y="5486400"/>
            <a:ext cx="11247120" cy="822960"/>
          </a:xfrm>
          <a:prstGeom prst="roundRect">
            <a:avLst>
              <a:gd name="adj" fmla="val 8000"/>
            </a:avLst>
          </a:prstGeom>
          <a:solidFill>
            <a:srgbClr val="F1DEB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36576" bIns="36576"/>
          <a:lstStyle/>
          <a:p>
            <a:pPr algn="l">
              <a:spcAft>
                <a:spcPts val="400"/>
              </a:spcAft>
            </a:pPr>
            <a:r>
              <a:rPr sz="1300" b="1" i="0">
                <a:solidFill>
                  <a:srgbClr val="374151"/>
                </a:solidFill>
                <a:latin typeface="Arial"/>
              </a:rPr>
              <a:t>Founder salaries start in: </a:t>
            </a:r>
            <a:r>
              <a:rPr sz="1300" b="0" i="0">
                <a:solidFill>
                  <a:srgbClr val="374151"/>
                </a:solidFill>
                <a:latin typeface="Arial"/>
              </a:rPr>
              <a:t>May 2027. The founders still get 8 months of pay in 2027 (Rp200M). July is safer (no month below the floor) but pays 2 months less. If March sales are late, move founder pay to July. Months not paid can be paid later as a bonus.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457200" y="292608"/>
            <a:ext cx="9966960" cy="914400"/>
          </a:xfrm>
          <a:prstGeom prst="rect">
            <a:avLst/>
          </a:prstGeom>
          <a:noFill/>
        </p:spPr>
        <p:txBody>
          <a:bodyPr wrap="square" anchor="t" lIns="73152" rIns="73152" tIns="36576" bIns="36576">
            <a:spAutoFit/>
          </a:bodyPr>
          <a:lstStyle/>
          <a:p>
            <a:pPr algn="l">
              <a:spcAft>
                <a:spcPts val="400"/>
              </a:spcAft>
            </a:pPr>
            <a:r>
              <a:rPr sz="2400" b="1" i="0">
                <a:solidFill>
                  <a:srgbClr val="475571"/>
                </a:solidFill>
                <a:latin typeface="Arial"/>
              </a:rPr>
              <a:t>Set prices along the client journey: start at the head office, spread to branches, keep the client with EAP</a:t>
            </a:r>
          </a:p>
        </p:txBody>
      </p:sp>
      <p:sp>
        <p:nvSpPr>
          <p:cNvPr id="3" name="Tag"/>
          <p:cNvSpPr/>
          <p:nvPr/>
        </p:nvSpPr>
        <p:spPr>
          <a:xfrm>
            <a:off x="10561320" y="365760"/>
            <a:ext cx="1188720" cy="365760"/>
          </a:xfrm>
          <a:prstGeom prst="roundRect">
            <a:avLst>
              <a:gd name="adj" fmla="val 8000"/>
            </a:avLst>
          </a:prstGeom>
          <a:solidFill>
            <a:srgbClr val="47557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a:spcAft>
                <a:spcPts val="400"/>
              </a:spcAft>
            </a:pPr>
            <a:r>
              <a:rPr sz="1200" b="1" i="0">
                <a:solidFill>
                  <a:srgbClr val="FFFFFF"/>
                </a:solidFill>
                <a:latin typeface="Arial"/>
              </a:rPr>
              <a:t>1  Price</a:t>
            </a:r>
          </a:p>
        </p:txBody>
      </p:sp>
      <p:sp>
        <p:nvSpPr>
          <p:cNvPr id="4" name="Source"/>
          <p:cNvSpPr txBox="1"/>
          <p:nvPr/>
        </p:nvSpPr>
        <p:spPr>
          <a:xfrm>
            <a:off x="457200" y="6400800"/>
            <a:ext cx="10607040" cy="320040"/>
          </a:xfrm>
          <a:prstGeom prst="rect">
            <a:avLst/>
          </a:prstGeom>
          <a:noFill/>
        </p:spPr>
        <p:txBody>
          <a:bodyPr wrap="square" anchor="t" lIns="73152" rIns="73152" tIns="36576" bIns="36576">
            <a:spAutoFit/>
          </a:bodyPr>
          <a:lstStyle/>
          <a:p>
            <a:pPr algn="l">
              <a:spcAft>
                <a:spcPts val="400"/>
              </a:spcAft>
            </a:pPr>
            <a:r>
              <a:rPr sz="1000" b="0" i="0">
                <a:solidFill>
                  <a:srgbClr val="6B7280"/>
                </a:solidFill>
                <a:latin typeface="Arial"/>
              </a:rPr>
              <a:t>Source: Price list and inputs in our 2027 model (version 13). The EAP price per employee is an estimate; test it with 2 bank HR heads.</a:t>
            </a:r>
          </a:p>
        </p:txBody>
      </p:sp>
      <p:sp>
        <p:nvSpPr>
          <p:cNvPr id="5" name="Page"/>
          <p:cNvSpPr txBox="1"/>
          <p:nvPr/>
        </p:nvSpPr>
        <p:spPr>
          <a:xfrm>
            <a:off x="11247120" y="6400800"/>
            <a:ext cx="502920" cy="320040"/>
          </a:xfrm>
          <a:prstGeom prst="rect">
            <a:avLst/>
          </a:prstGeom>
          <a:noFill/>
        </p:spPr>
        <p:txBody>
          <a:bodyPr wrap="square" anchor="t" lIns="73152" rIns="73152" tIns="36576" bIns="36576">
            <a:spAutoFit/>
          </a:bodyPr>
          <a:lstStyle/>
          <a:p>
            <a:pPr algn="r">
              <a:spcAft>
                <a:spcPts val="400"/>
              </a:spcAft>
            </a:pPr>
            <a:r>
              <a:rPr sz="1000" b="0" i="0">
                <a:solidFill>
                  <a:srgbClr val="6B7280"/>
                </a:solidFill>
                <a:latin typeface="Arial"/>
              </a:rPr>
              <a:t>9</a:t>
            </a:r>
          </a:p>
        </p:txBody>
      </p:sp>
      <p:sp>
        <p:nvSpPr>
          <p:cNvPr id="6" name="Rounded Rectangle 5"/>
          <p:cNvSpPr/>
          <p:nvPr/>
        </p:nvSpPr>
        <p:spPr>
          <a:xfrm>
            <a:off x="457200" y="1325880"/>
            <a:ext cx="3611880" cy="868680"/>
          </a:xfrm>
          <a:prstGeom prst="roundRect">
            <a:avLst>
              <a:gd name="adj" fmla="val 8000"/>
            </a:avLst>
          </a:prstGeom>
          <a:solidFill>
            <a:srgbClr val="47557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36576" bIns="36576"/>
          <a:lstStyle/>
          <a:p>
            <a:pPr algn="l">
              <a:spcAft>
                <a:spcPts val="200"/>
              </a:spcAft>
            </a:pPr>
            <a:r>
              <a:rPr sz="1800" b="1" i="0">
                <a:solidFill>
                  <a:srgbClr val="FFFFFF"/>
                </a:solidFill>
                <a:latin typeface="Arial"/>
              </a:rPr>
              <a:t>1. START</a:t>
            </a:r>
          </a:p>
          <a:p>
            <a:pPr algn="l">
              <a:spcAft>
                <a:spcPts val="200"/>
              </a:spcAft>
            </a:pPr>
            <a:r>
              <a:rPr sz="1300" b="0" i="0">
                <a:solidFill>
                  <a:srgbClr val="FFFFFF"/>
                </a:solidFill>
                <a:latin typeface="Arial"/>
              </a:rPr>
              <a:t>Regulator head office (BI, OJK, LPS)</a:t>
            </a:r>
          </a:p>
        </p:txBody>
      </p:sp>
      <p:sp>
        <p:nvSpPr>
          <p:cNvPr id="7" name="Rounded Rectangle 6"/>
          <p:cNvSpPr/>
          <p:nvPr/>
        </p:nvSpPr>
        <p:spPr>
          <a:xfrm>
            <a:off x="457200" y="2286000"/>
            <a:ext cx="3611880" cy="4023360"/>
          </a:xfrm>
          <a:prstGeom prst="roundRect">
            <a:avLst>
              <a:gd name="adj" fmla="val 8000"/>
            </a:avLst>
          </a:prstGeom>
          <a:solidFill>
            <a:srgbClr val="F3F5F9"/>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36576" bIns="36576"/>
          <a:lstStyle/>
          <a:p>
            <a:pPr algn="l">
              <a:spcAft>
                <a:spcPts val="800"/>
              </a:spcAft>
            </a:pPr>
            <a:r>
              <a:rPr sz="1400" b="0" i="0">
                <a:solidFill>
                  <a:srgbClr val="374151"/>
                </a:solidFill>
                <a:latin typeface="Arial"/>
              </a:rPr>
              <a:t>3-day trainer program: Rp100M (Rp94M training + Rp6M assessment)</a:t>
            </a:r>
          </a:p>
          <a:p>
            <a:pPr algn="l">
              <a:spcAft>
                <a:spcPts val="800"/>
              </a:spcAft>
            </a:pPr>
            <a:r>
              <a:rPr sz="1400" b="0" i="0">
                <a:solidFill>
                  <a:srgbClr val="374151"/>
                </a:solidFill>
                <a:latin typeface="Arial"/>
              </a:rPr>
              <a:t>Price close to the client's budget limit (the most they are allowed to pay)</a:t>
            </a:r>
          </a:p>
          <a:p>
            <a:pPr algn="l">
              <a:spcAft>
                <a:spcPts val="800"/>
              </a:spcAft>
            </a:pPr>
            <a:r>
              <a:rPr sz="1400" b="0" i="0">
                <a:solidFill>
                  <a:srgbClr val="374151"/>
                </a:solidFill>
                <a:latin typeface="Arial"/>
              </a:rPr>
              <a:t>Do not raise the price of an old item. Add a new item, such as an assessment. A new item gets its own budget.</a:t>
            </a:r>
          </a:p>
          <a:p>
            <a:pPr algn="l">
              <a:spcAft>
                <a:spcPts val="800"/>
              </a:spcAft>
            </a:pPr>
            <a:r>
              <a:rPr sz="1400" b="0" i="0">
                <a:solidFill>
                  <a:srgbClr val="374151"/>
                </a:solidFill>
                <a:latin typeface="Arial"/>
              </a:rPr>
              <a:t>Contract: one yearly agreement with the head office</a:t>
            </a:r>
          </a:p>
        </p:txBody>
      </p:sp>
      <p:sp>
        <p:nvSpPr>
          <p:cNvPr id="8" name="Chevron 7"/>
          <p:cNvSpPr/>
          <p:nvPr/>
        </p:nvSpPr>
        <p:spPr>
          <a:xfrm>
            <a:off x="4087368" y="1554480"/>
            <a:ext cx="146304" cy="411480"/>
          </a:xfrm>
          <a:prstGeom prst="chevron">
            <a:avLst/>
          </a:prstGeom>
          <a:solidFill>
            <a:srgbClr val="B3A37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400" b="0" i="0">
                <a:solidFill>
                  <a:srgbClr val="374151"/>
                </a:solidFill>
                <a:latin typeface="Arial"/>
              </a:rPr>
              <a:t/>
            </a:r>
          </a:p>
        </p:txBody>
      </p:sp>
      <p:sp>
        <p:nvSpPr>
          <p:cNvPr id="9" name="Rounded Rectangle 8"/>
          <p:cNvSpPr/>
          <p:nvPr/>
        </p:nvSpPr>
        <p:spPr>
          <a:xfrm>
            <a:off x="4251960" y="1325880"/>
            <a:ext cx="3611880" cy="868680"/>
          </a:xfrm>
          <a:prstGeom prst="roundRect">
            <a:avLst>
              <a:gd name="adj" fmla="val 8000"/>
            </a:avLst>
          </a:prstGeom>
          <a:solidFill>
            <a:srgbClr val="576C9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36576" bIns="36576"/>
          <a:lstStyle/>
          <a:p>
            <a:pPr algn="l">
              <a:spcAft>
                <a:spcPts val="200"/>
              </a:spcAft>
            </a:pPr>
            <a:r>
              <a:rPr sz="1800" b="1" i="0">
                <a:solidFill>
                  <a:srgbClr val="FFFFFF"/>
                </a:solidFill>
                <a:latin typeface="Arial"/>
              </a:rPr>
              <a:t>2. SPREAD</a:t>
            </a:r>
          </a:p>
          <a:p>
            <a:pPr algn="l">
              <a:spcAft>
                <a:spcPts val="200"/>
              </a:spcAft>
            </a:pPr>
            <a:r>
              <a:rPr sz="1300" b="0" i="0">
                <a:solidFill>
                  <a:srgbClr val="FFFFFF"/>
                </a:solidFill>
                <a:latin typeface="Arial"/>
              </a:rPr>
              <a:t>Their branches (BI regional offices, bank branches)</a:t>
            </a:r>
          </a:p>
        </p:txBody>
      </p:sp>
      <p:sp>
        <p:nvSpPr>
          <p:cNvPr id="10" name="Rounded Rectangle 9"/>
          <p:cNvSpPr/>
          <p:nvPr/>
        </p:nvSpPr>
        <p:spPr>
          <a:xfrm>
            <a:off x="4251960" y="2286000"/>
            <a:ext cx="3611880" cy="4023360"/>
          </a:xfrm>
          <a:prstGeom prst="roundRect">
            <a:avLst>
              <a:gd name="adj" fmla="val 8000"/>
            </a:avLst>
          </a:prstGeom>
          <a:solidFill>
            <a:srgbClr val="F3F5F9"/>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36576" bIns="36576"/>
          <a:lstStyle/>
          <a:p>
            <a:pPr algn="l">
              <a:spcAft>
                <a:spcPts val="800"/>
              </a:spcAft>
            </a:pPr>
            <a:r>
              <a:rPr sz="1400" b="0" i="0">
                <a:solidFill>
                  <a:srgbClr val="374151"/>
                </a:solidFill>
                <a:latin typeface="Arial"/>
              </a:rPr>
              <a:t>1-day regional program: Rp28.5M</a:t>
            </a:r>
          </a:p>
          <a:p>
            <a:pPr algn="l">
              <a:spcAft>
                <a:spcPts val="800"/>
              </a:spcAft>
            </a:pPr>
            <a:r>
              <a:rPr sz="1400" b="0" i="0">
                <a:solidFill>
                  <a:srgbClr val="374151"/>
                </a:solidFill>
                <a:latin typeface="Arial"/>
              </a:rPr>
              <a:t>State bank Rp51M, private bank Rp61M, per group per day</a:t>
            </a:r>
          </a:p>
          <a:p>
            <a:pPr algn="l">
              <a:spcAft>
                <a:spcPts val="800"/>
              </a:spcAft>
            </a:pPr>
            <a:r>
              <a:rPr sz="1400" b="0" i="0">
                <a:solidFill>
                  <a:srgbClr val="374151"/>
                </a:solidFill>
                <a:latin typeface="Arial"/>
              </a:rPr>
              <a:t>Discount: 5% for 5 or more groups, 10% for 10 or more. Never more.</a:t>
            </a:r>
          </a:p>
          <a:p>
            <a:pPr algn="l">
              <a:spcAft>
                <a:spcPts val="800"/>
              </a:spcAft>
            </a:pPr>
            <a:r>
              <a:rPr sz="1400" b="0" i="0">
                <a:solidFill>
                  <a:srgbClr val="374151"/>
                </a:solidFill>
                <a:latin typeface="Arial"/>
              </a:rPr>
              <a:t>Contract: yearly agreement + a work order (SPK) for each office</a:t>
            </a:r>
          </a:p>
        </p:txBody>
      </p:sp>
      <p:sp>
        <p:nvSpPr>
          <p:cNvPr id="11" name="Chevron 10"/>
          <p:cNvSpPr/>
          <p:nvPr/>
        </p:nvSpPr>
        <p:spPr>
          <a:xfrm>
            <a:off x="7882128" y="1554480"/>
            <a:ext cx="146304" cy="411480"/>
          </a:xfrm>
          <a:prstGeom prst="chevron">
            <a:avLst/>
          </a:prstGeom>
          <a:solidFill>
            <a:srgbClr val="B3A37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400" b="0" i="0">
                <a:solidFill>
                  <a:srgbClr val="374151"/>
                </a:solidFill>
                <a:latin typeface="Arial"/>
              </a:rPr>
              <a:t/>
            </a:r>
          </a:p>
        </p:txBody>
      </p:sp>
      <p:sp>
        <p:nvSpPr>
          <p:cNvPr id="12" name="Rounded Rectangle 11"/>
          <p:cNvSpPr/>
          <p:nvPr/>
        </p:nvSpPr>
        <p:spPr>
          <a:xfrm>
            <a:off x="8046720" y="1325880"/>
            <a:ext cx="3611880" cy="868680"/>
          </a:xfrm>
          <a:prstGeom prst="roundRect">
            <a:avLst>
              <a:gd name="adj" fmla="val 8000"/>
            </a:avLst>
          </a:prstGeom>
          <a:solidFill>
            <a:srgbClr val="9B38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36576" bIns="36576"/>
          <a:lstStyle/>
          <a:p>
            <a:pPr algn="l">
              <a:spcAft>
                <a:spcPts val="200"/>
              </a:spcAft>
            </a:pPr>
            <a:r>
              <a:rPr sz="1800" b="1" i="0">
                <a:solidFill>
                  <a:srgbClr val="FFFFFF"/>
                </a:solidFill>
                <a:latin typeface="Arial"/>
              </a:rPr>
              <a:t>3. KEEP</a:t>
            </a:r>
          </a:p>
          <a:p>
            <a:pPr algn="l">
              <a:spcAft>
                <a:spcPts val="200"/>
              </a:spcAft>
            </a:pPr>
            <a:r>
              <a:rPr sz="1300" b="0" i="0">
                <a:solidFill>
                  <a:srgbClr val="FFFFFF"/>
                </a:solidFill>
                <a:latin typeface="Arial"/>
              </a:rPr>
              <a:t>EAP: support for the client's staff</a:t>
            </a:r>
          </a:p>
        </p:txBody>
      </p:sp>
      <p:sp>
        <p:nvSpPr>
          <p:cNvPr id="13" name="Rounded Rectangle 12"/>
          <p:cNvSpPr/>
          <p:nvPr/>
        </p:nvSpPr>
        <p:spPr>
          <a:xfrm>
            <a:off x="8046720" y="2286000"/>
            <a:ext cx="3611880" cy="4023360"/>
          </a:xfrm>
          <a:prstGeom prst="roundRect">
            <a:avLst>
              <a:gd name="adj" fmla="val 8000"/>
            </a:avLst>
          </a:prstGeom>
          <a:solidFill>
            <a:srgbClr val="F3F5F9"/>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36576" bIns="36576"/>
          <a:lstStyle/>
          <a:p>
            <a:pPr algn="l">
              <a:spcAft>
                <a:spcPts val="800"/>
              </a:spcAft>
            </a:pPr>
            <a:r>
              <a:rPr sz="1400" b="0" i="0">
                <a:solidFill>
                  <a:srgbClr val="374151"/>
                </a:solidFill>
                <a:latin typeface="Arial"/>
              </a:rPr>
              <a:t>Today: Rp15M per contract per month</a:t>
            </a:r>
          </a:p>
          <a:p>
            <a:pPr algn="l">
              <a:spcAft>
                <a:spcPts val="800"/>
              </a:spcAft>
            </a:pPr>
            <a:r>
              <a:rPr sz="1400" b="0" i="0">
                <a:solidFill>
                  <a:srgbClr val="374151"/>
                </a:solidFill>
                <a:latin typeface="Arial"/>
              </a:rPr>
              <a:t>New: Rp30k per employee per month, at least 500 staff (= Rp15M)</a:t>
            </a:r>
          </a:p>
          <a:p>
            <a:pPr algn="l">
              <a:spcAft>
                <a:spcPts val="800"/>
              </a:spcAft>
            </a:pPr>
            <a:r>
              <a:rPr sz="1400" b="0" i="0">
                <a:solidFill>
                  <a:srgbClr val="374151"/>
                </a:solidFill>
                <a:latin typeface="Arial"/>
              </a:rPr>
              <a:t>Plus Theta app: Rp5k per employee (paid to Theta)</a:t>
            </a:r>
          </a:p>
          <a:p>
            <a:pPr algn="l">
              <a:spcAft>
                <a:spcPts val="800"/>
              </a:spcAft>
            </a:pPr>
            <a:r>
              <a:rPr sz="1400" b="0" i="0">
                <a:solidFill>
                  <a:srgbClr val="374151"/>
                </a:solidFill>
                <a:latin typeface="Arial"/>
              </a:rPr>
              <a:t>Contract: 12 months, renews by itself, paid monthly in advance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457200" y="292608"/>
            <a:ext cx="9966960" cy="914400"/>
          </a:xfrm>
          <a:prstGeom prst="rect">
            <a:avLst/>
          </a:prstGeom>
          <a:noFill/>
        </p:spPr>
        <p:txBody>
          <a:bodyPr wrap="square" anchor="t" lIns="73152" rIns="73152" tIns="36576" bIns="36576">
            <a:spAutoFit/>
          </a:bodyPr>
          <a:lstStyle/>
          <a:p>
            <a:pPr algn="l">
              <a:spcAft>
                <a:spcPts val="400"/>
              </a:spcAft>
            </a:pPr>
            <a:r>
              <a:rPr sz="2400" b="1" i="0">
                <a:solidFill>
                  <a:srgbClr val="475571"/>
                </a:solidFill>
                <a:latin typeface="Arial"/>
              </a:rPr>
              <a:t>Our prices sit between the government fee guide and big training firms, and most pass our 3 times rule</a:t>
            </a:r>
          </a:p>
        </p:txBody>
      </p:sp>
      <p:sp>
        <p:nvSpPr>
          <p:cNvPr id="3" name="Tag"/>
          <p:cNvSpPr/>
          <p:nvPr/>
        </p:nvSpPr>
        <p:spPr>
          <a:xfrm>
            <a:off x="10561320" y="365760"/>
            <a:ext cx="1188720" cy="365760"/>
          </a:xfrm>
          <a:prstGeom prst="roundRect">
            <a:avLst>
              <a:gd name="adj" fmla="val 8000"/>
            </a:avLst>
          </a:prstGeom>
          <a:solidFill>
            <a:srgbClr val="47557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a:spcAft>
                <a:spcPts val="400"/>
              </a:spcAft>
            </a:pPr>
            <a:r>
              <a:rPr sz="1200" b="1" i="0">
                <a:solidFill>
                  <a:srgbClr val="FFFFFF"/>
                </a:solidFill>
                <a:latin typeface="Arial"/>
              </a:rPr>
              <a:t>1  Price</a:t>
            </a:r>
          </a:p>
        </p:txBody>
      </p:sp>
      <p:sp>
        <p:nvSpPr>
          <p:cNvPr id="4" name="Source"/>
          <p:cNvSpPr txBox="1"/>
          <p:nvPr/>
        </p:nvSpPr>
        <p:spPr>
          <a:xfrm>
            <a:off x="457200" y="6400800"/>
            <a:ext cx="10607040" cy="320040"/>
          </a:xfrm>
          <a:prstGeom prst="rect">
            <a:avLst/>
          </a:prstGeom>
          <a:noFill/>
        </p:spPr>
        <p:txBody>
          <a:bodyPr wrap="square" anchor="t" lIns="73152" rIns="73152" tIns="36576" bIns="36576">
            <a:spAutoFit/>
          </a:bodyPr>
          <a:lstStyle/>
          <a:p>
            <a:pPr algn="l">
              <a:spcAft>
                <a:spcPts val="400"/>
              </a:spcAft>
            </a:pPr>
            <a:r>
              <a:rPr sz="1000" b="0" i="0">
                <a:solidFill>
                  <a:srgbClr val="6B7280"/>
                </a:solidFill>
                <a:latin typeface="Arial"/>
              </a:rPr>
              <a:t>Source: Government fee guide: Finance Ministry SBM 2026 (PMK 32/2025), fee budget for a 1-day ToT. Big-firm rate: founders' estimate (2.5 times our old bank price).</a:t>
            </a:r>
          </a:p>
        </p:txBody>
      </p:sp>
      <p:sp>
        <p:nvSpPr>
          <p:cNvPr id="5" name="Page"/>
          <p:cNvSpPr txBox="1"/>
          <p:nvPr/>
        </p:nvSpPr>
        <p:spPr>
          <a:xfrm>
            <a:off x="11247120" y="6400800"/>
            <a:ext cx="502920" cy="320040"/>
          </a:xfrm>
          <a:prstGeom prst="rect">
            <a:avLst/>
          </a:prstGeom>
          <a:noFill/>
        </p:spPr>
        <p:txBody>
          <a:bodyPr wrap="square" anchor="t" lIns="73152" rIns="73152" tIns="36576" bIns="36576">
            <a:spAutoFit/>
          </a:bodyPr>
          <a:lstStyle/>
          <a:p>
            <a:pPr algn="r">
              <a:spcAft>
                <a:spcPts val="400"/>
              </a:spcAft>
            </a:pPr>
            <a:r>
              <a:rPr sz="1000" b="0" i="0">
                <a:solidFill>
                  <a:srgbClr val="6B7280"/>
                </a:solidFill>
                <a:latin typeface="Arial"/>
              </a:rPr>
              <a:t>10</a:t>
            </a:r>
          </a:p>
        </p:txBody>
      </p:sp>
      <p:graphicFrame>
        <p:nvGraphicFramePr>
          <p:cNvPr id="6" name="Chart 5"/>
          <p:cNvGraphicFramePr>
            <a:graphicFrameLocks noGrp="1"/>
          </p:cNvGraphicFramePr>
          <p:nvPr/>
        </p:nvGraphicFramePr>
        <p:xfrm>
          <a:off x="457200" y="1325880"/>
          <a:ext cx="5760720" cy="4206240"/>
        </p:xfrm>
        <a:graphic>
          <a:graphicData uri="http://schemas.openxmlformats.org/drawingml/2006/chart">
            <c:chart xmlns:c="http://schemas.openxmlformats.org/drawingml/2006/chart" r:id="rId2"/>
          </a:graphicData>
        </a:graphic>
      </p:graphicFrame>
      <p:graphicFrame>
        <p:nvGraphicFramePr>
          <p:cNvPr id="7" name="Chart 6"/>
          <p:cNvGraphicFramePr>
            <a:graphicFrameLocks noGrp="1"/>
          </p:cNvGraphicFramePr>
          <p:nvPr/>
        </p:nvGraphicFramePr>
        <p:xfrm>
          <a:off x="6400800" y="1325880"/>
          <a:ext cx="5349240" cy="4206240"/>
        </p:xfrm>
        <a:graphic>
          <a:graphicData uri="http://schemas.openxmlformats.org/drawingml/2006/chart">
            <c:chart xmlns:c="http://schemas.openxmlformats.org/drawingml/2006/chart" r:id="rId3"/>
          </a:graphicData>
        </a:graphic>
      </p:graphicFrame>
      <p:sp>
        <p:nvSpPr>
          <p:cNvPr id="8" name="Rounded Rectangle 7"/>
          <p:cNvSpPr/>
          <p:nvPr/>
        </p:nvSpPr>
        <p:spPr>
          <a:xfrm>
            <a:off x="457200" y="5623560"/>
            <a:ext cx="11247120" cy="685800"/>
          </a:xfrm>
          <a:prstGeom prst="roundRect">
            <a:avLst>
              <a:gd name="adj" fmla="val 8000"/>
            </a:avLst>
          </a:prstGeom>
          <a:solidFill>
            <a:srgbClr val="F1DEB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36576" bIns="36576"/>
          <a:lstStyle/>
          <a:p>
            <a:pPr algn="l">
              <a:spcAft>
                <a:spcPts val="400"/>
              </a:spcAft>
            </a:pPr>
            <a:r>
              <a:rPr sz="1300" b="1" i="0">
                <a:solidFill>
                  <a:srgbClr val="374151"/>
                </a:solidFill>
                <a:latin typeface="Arial"/>
              </a:rPr>
              <a:t>Grey = outside prices. Blue = ours. Red = below our rule. </a:t>
            </a:r>
            <a:r>
              <a:rPr sz="1300" b="0" i="0">
                <a:solidFill>
                  <a:srgbClr val="374151"/>
                </a:solidFill>
                <a:latin typeface="Arial"/>
              </a:rPr>
              <a:t>Raise public events to Rp24M. Keep the counseling price: it brings new clients and is only 1.5% of sales.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457200" y="292608"/>
            <a:ext cx="9966960" cy="914400"/>
          </a:xfrm>
          <a:prstGeom prst="rect">
            <a:avLst/>
          </a:prstGeom>
          <a:noFill/>
        </p:spPr>
        <p:txBody>
          <a:bodyPr wrap="square" anchor="t" lIns="73152" rIns="73152" tIns="36576" bIns="36576">
            <a:spAutoFit/>
          </a:bodyPr>
          <a:lstStyle/>
          <a:p>
            <a:pPr algn="l">
              <a:spcAft>
                <a:spcPts val="400"/>
              </a:spcAft>
            </a:pPr>
            <a:r>
              <a:rPr sz="2400" b="1" i="0">
                <a:solidFill>
                  <a:srgbClr val="475571"/>
                </a:solidFill>
                <a:latin typeface="Arial"/>
              </a:rPr>
              <a:t>Each hire comes with the work that pays for it, so the margin is back above 15% after step 1</a:t>
            </a:r>
          </a:p>
        </p:txBody>
      </p:sp>
      <p:sp>
        <p:nvSpPr>
          <p:cNvPr id="3" name="Tag"/>
          <p:cNvSpPr/>
          <p:nvPr/>
        </p:nvSpPr>
        <p:spPr>
          <a:xfrm>
            <a:off x="10561320" y="365760"/>
            <a:ext cx="1188720" cy="365760"/>
          </a:xfrm>
          <a:prstGeom prst="roundRect">
            <a:avLst>
              <a:gd name="adj" fmla="val 8000"/>
            </a:avLst>
          </a:prstGeom>
          <a:solidFill>
            <a:srgbClr val="576C9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a:spcAft>
                <a:spcPts val="400"/>
              </a:spcAft>
            </a:pPr>
            <a:r>
              <a:rPr sz="1200" b="1" i="0">
                <a:solidFill>
                  <a:srgbClr val="FFFFFF"/>
                </a:solidFill>
                <a:latin typeface="Arial"/>
              </a:rPr>
              <a:t>2  People</a:t>
            </a:r>
          </a:p>
        </p:txBody>
      </p:sp>
      <p:sp>
        <p:nvSpPr>
          <p:cNvPr id="4" name="Source"/>
          <p:cNvSpPr txBox="1"/>
          <p:nvPr/>
        </p:nvSpPr>
        <p:spPr>
          <a:xfrm>
            <a:off x="457200" y="6400800"/>
            <a:ext cx="10607040" cy="320040"/>
          </a:xfrm>
          <a:prstGeom prst="rect">
            <a:avLst/>
          </a:prstGeom>
          <a:noFill/>
        </p:spPr>
        <p:txBody>
          <a:bodyPr wrap="square" anchor="t" lIns="73152" rIns="73152" tIns="36576" bIns="36576">
            <a:spAutoFit/>
          </a:bodyPr>
          <a:lstStyle/>
          <a:p>
            <a:pPr algn="l">
              <a:spcAft>
                <a:spcPts val="400"/>
              </a:spcAft>
            </a:pPr>
            <a:r>
              <a:rPr sz="1000" b="0" i="0">
                <a:solidFill>
                  <a:srgbClr val="6B7280"/>
                </a:solidFill>
                <a:latin typeface="Arial"/>
              </a:rPr>
              <a:t>Source: Our 2027 financial model (version 13) and analysis/growth_scenarios.py. Net margin for one full year after each step.</a:t>
            </a:r>
          </a:p>
        </p:txBody>
      </p:sp>
      <p:sp>
        <p:nvSpPr>
          <p:cNvPr id="5" name="Page"/>
          <p:cNvSpPr txBox="1"/>
          <p:nvPr/>
        </p:nvSpPr>
        <p:spPr>
          <a:xfrm>
            <a:off x="11247120" y="6400800"/>
            <a:ext cx="502920" cy="320040"/>
          </a:xfrm>
          <a:prstGeom prst="rect">
            <a:avLst/>
          </a:prstGeom>
          <a:noFill/>
        </p:spPr>
        <p:txBody>
          <a:bodyPr wrap="square" anchor="t" lIns="73152" rIns="73152" tIns="36576" bIns="36576">
            <a:spAutoFit/>
          </a:bodyPr>
          <a:lstStyle/>
          <a:p>
            <a:pPr algn="r">
              <a:spcAft>
                <a:spcPts val="400"/>
              </a:spcAft>
            </a:pPr>
            <a:r>
              <a:rPr sz="1000" b="0" i="0">
                <a:solidFill>
                  <a:srgbClr val="6B7280"/>
                </a:solidFill>
                <a:latin typeface="Arial"/>
              </a:rPr>
              <a:t>11</a:t>
            </a:r>
          </a:p>
        </p:txBody>
      </p:sp>
      <p:graphicFrame>
        <p:nvGraphicFramePr>
          <p:cNvPr id="6" name="Chart 5"/>
          <p:cNvGraphicFramePr>
            <a:graphicFrameLocks noGrp="1"/>
          </p:cNvGraphicFramePr>
          <p:nvPr/>
        </p:nvGraphicFramePr>
        <p:xfrm>
          <a:off x="457200" y="1325880"/>
          <a:ext cx="7498079" cy="4983480"/>
        </p:xfrm>
        <a:graphic>
          <a:graphicData uri="http://schemas.openxmlformats.org/drawingml/2006/chart">
            <c:chart xmlns:c="http://schemas.openxmlformats.org/drawingml/2006/chart" r:id="rId2"/>
          </a:graphicData>
        </a:graphic>
      </p:graphicFrame>
      <p:sp>
        <p:nvSpPr>
          <p:cNvPr id="7" name="Rounded Rectangle 6"/>
          <p:cNvSpPr/>
          <p:nvPr/>
        </p:nvSpPr>
        <p:spPr>
          <a:xfrm>
            <a:off x="8229600" y="1325880"/>
            <a:ext cx="3520440" cy="4983480"/>
          </a:xfrm>
          <a:prstGeom prst="roundRect">
            <a:avLst>
              <a:gd name="adj" fmla="val 8000"/>
            </a:avLst>
          </a:prstGeom>
          <a:solidFill>
            <a:srgbClr val="F3F5F9"/>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36576" bIns="36576"/>
          <a:lstStyle/>
          <a:p>
            <a:pPr algn="l">
              <a:spcAft>
                <a:spcPts val="900"/>
              </a:spcAft>
            </a:pPr>
            <a:r>
              <a:rPr sz="1600" b="1" i="0">
                <a:solidFill>
                  <a:srgbClr val="475571"/>
                </a:solidFill>
                <a:latin typeface="Arial"/>
              </a:rPr>
              <a:t>Two red bars, two lessons</a:t>
            </a:r>
          </a:p>
          <a:p>
            <a:pPr algn="l">
              <a:spcAft>
                <a:spcPts val="900"/>
              </a:spcAft>
            </a:pPr>
            <a:r>
              <a:rPr sz="1300" b="1" i="0">
                <a:solidFill>
                  <a:srgbClr val="374151"/>
                </a:solidFill>
                <a:latin typeface="Arial"/>
              </a:rPr>
              <a:t>Step 1 (11%): </a:t>
            </a:r>
            <a:r>
              <a:rPr sz="1300" b="0" i="0">
                <a:solidFill>
                  <a:srgbClr val="374151"/>
                </a:solidFill>
                <a:latin typeface="Arial"/>
              </a:rPr>
              <a:t>fair pay starts in January, before new EAP. It cannot wait, because it is the law. EAP contract 2 in April brings us back.</a:t>
            </a:r>
          </a:p>
          <a:p>
            <a:pPr algn="l">
              <a:spcAft>
                <a:spcPts val="900"/>
              </a:spcAft>
            </a:pPr>
            <a:r>
              <a:rPr sz="1300" b="1" i="0">
                <a:solidFill>
                  <a:srgbClr val="374151"/>
                </a:solidFill>
                <a:latin typeface="Arial"/>
              </a:rPr>
              <a:t>Last bar (14%): </a:t>
            </a:r>
            <a:r>
              <a:rPr sz="1300" b="0" i="0">
                <a:solidFill>
                  <a:srgbClr val="374151"/>
                </a:solidFill>
                <a:latin typeface="Arial"/>
              </a:rPr>
              <a:t>if Teman Journey paid the CTO, the full team would fall below 15%. So Theta's own income pays the CTO.</a:t>
            </a:r>
          </a:p>
          <a:p>
            <a:pPr algn="l">
              <a:spcAft>
                <a:spcPts val="900"/>
              </a:spcAft>
            </a:pPr>
            <a:r>
              <a:rPr sz="1300" b="1" i="0">
                <a:solidFill>
                  <a:srgbClr val="374151"/>
                </a:solidFill>
                <a:latin typeface="Arial"/>
              </a:rPr>
              <a:t>The rule: </a:t>
            </a:r>
            <a:r>
              <a:rPr sz="1300" b="0" i="0">
                <a:solidFill>
                  <a:srgbClr val="374151"/>
                </a:solidFill>
                <a:latin typeface="Arial"/>
              </a:rPr>
              <a:t>no signed work, no hire.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457200" y="292608"/>
            <a:ext cx="9966960" cy="914400"/>
          </a:xfrm>
          <a:prstGeom prst="rect">
            <a:avLst/>
          </a:prstGeom>
          <a:noFill/>
        </p:spPr>
        <p:txBody>
          <a:bodyPr wrap="square" anchor="t" lIns="73152" rIns="73152" tIns="36576" bIns="36576">
            <a:spAutoFit/>
          </a:bodyPr>
          <a:lstStyle/>
          <a:p>
            <a:pPr algn="l">
              <a:spcAft>
                <a:spcPts val="400"/>
              </a:spcAft>
            </a:pPr>
            <a:r>
              <a:rPr sz="2400" b="1" i="0">
                <a:solidFill>
                  <a:srgbClr val="475571"/>
                </a:solidFill>
                <a:latin typeface="Arial"/>
              </a:rPr>
              <a:t>Our real limit is people: the project manager is over capacity in 8 of 15 months, trainers in 10</a:t>
            </a:r>
          </a:p>
        </p:txBody>
      </p:sp>
      <p:sp>
        <p:nvSpPr>
          <p:cNvPr id="3" name="Tag"/>
          <p:cNvSpPr/>
          <p:nvPr/>
        </p:nvSpPr>
        <p:spPr>
          <a:xfrm>
            <a:off x="10561320" y="365760"/>
            <a:ext cx="1188720" cy="365760"/>
          </a:xfrm>
          <a:prstGeom prst="roundRect">
            <a:avLst>
              <a:gd name="adj" fmla="val 8000"/>
            </a:avLst>
          </a:prstGeom>
          <a:solidFill>
            <a:srgbClr val="576C9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a:spcAft>
                <a:spcPts val="400"/>
              </a:spcAft>
            </a:pPr>
            <a:r>
              <a:rPr sz="1200" b="1" i="0">
                <a:solidFill>
                  <a:srgbClr val="FFFFFF"/>
                </a:solidFill>
                <a:latin typeface="Arial"/>
              </a:rPr>
              <a:t>2  People</a:t>
            </a:r>
          </a:p>
        </p:txBody>
      </p:sp>
      <p:sp>
        <p:nvSpPr>
          <p:cNvPr id="4" name="Source"/>
          <p:cNvSpPr txBox="1"/>
          <p:nvPr/>
        </p:nvSpPr>
        <p:spPr>
          <a:xfrm>
            <a:off x="457200" y="6400800"/>
            <a:ext cx="10607040" cy="320040"/>
          </a:xfrm>
          <a:prstGeom prst="rect">
            <a:avLst/>
          </a:prstGeom>
          <a:noFill/>
        </p:spPr>
        <p:txBody>
          <a:bodyPr wrap="square" anchor="t" lIns="73152" rIns="73152" tIns="36576" bIns="36576">
            <a:spAutoFit/>
          </a:bodyPr>
          <a:lstStyle/>
          <a:p>
            <a:pPr algn="l">
              <a:spcAft>
                <a:spcPts val="400"/>
              </a:spcAft>
            </a:pPr>
            <a:r>
              <a:rPr sz="1000" b="0" i="0">
                <a:solidFill>
                  <a:srgbClr val="6B7280"/>
                </a:solidFill>
                <a:latin typeface="Arial"/>
              </a:rPr>
              <a:t>Source: Model version 13, Volume and Capacity sheets. Assumes one event = one project, and each trainer does at most 2 events a month.</a:t>
            </a:r>
          </a:p>
        </p:txBody>
      </p:sp>
      <p:sp>
        <p:nvSpPr>
          <p:cNvPr id="5" name="Page"/>
          <p:cNvSpPr txBox="1"/>
          <p:nvPr/>
        </p:nvSpPr>
        <p:spPr>
          <a:xfrm>
            <a:off x="11247120" y="6400800"/>
            <a:ext cx="502920" cy="320040"/>
          </a:xfrm>
          <a:prstGeom prst="rect">
            <a:avLst/>
          </a:prstGeom>
          <a:noFill/>
        </p:spPr>
        <p:txBody>
          <a:bodyPr wrap="square" anchor="t" lIns="73152" rIns="73152" tIns="36576" bIns="36576">
            <a:spAutoFit/>
          </a:bodyPr>
          <a:lstStyle/>
          <a:p>
            <a:pPr algn="r">
              <a:spcAft>
                <a:spcPts val="400"/>
              </a:spcAft>
            </a:pPr>
            <a:r>
              <a:rPr sz="1000" b="0" i="0">
                <a:solidFill>
                  <a:srgbClr val="6B7280"/>
                </a:solidFill>
                <a:latin typeface="Arial"/>
              </a:rPr>
              <a:t>12</a:t>
            </a:r>
          </a:p>
        </p:txBody>
      </p:sp>
      <p:graphicFrame>
        <p:nvGraphicFramePr>
          <p:cNvPr id="6" name="Chart 5"/>
          <p:cNvGraphicFramePr>
            <a:graphicFrameLocks noGrp="1"/>
          </p:cNvGraphicFramePr>
          <p:nvPr/>
        </p:nvGraphicFramePr>
        <p:xfrm>
          <a:off x="457200" y="1325880"/>
          <a:ext cx="5577840" cy="4297680"/>
        </p:xfrm>
        <a:graphic>
          <a:graphicData uri="http://schemas.openxmlformats.org/drawingml/2006/chart">
            <c:chart xmlns:c="http://schemas.openxmlformats.org/drawingml/2006/chart" r:id="rId2"/>
          </a:graphicData>
        </a:graphic>
      </p:graphicFrame>
      <p:graphicFrame>
        <p:nvGraphicFramePr>
          <p:cNvPr id="7" name="Chart 6"/>
          <p:cNvGraphicFramePr>
            <a:graphicFrameLocks noGrp="1"/>
          </p:cNvGraphicFramePr>
          <p:nvPr/>
        </p:nvGraphicFramePr>
        <p:xfrm>
          <a:off x="6172200" y="1325880"/>
          <a:ext cx="5577840" cy="4297680"/>
        </p:xfrm>
        <a:graphic>
          <a:graphicData uri="http://schemas.openxmlformats.org/drawingml/2006/chart">
            <c:chart xmlns:c="http://schemas.openxmlformats.org/drawingml/2006/chart" r:id="rId3"/>
          </a:graphicData>
        </a:graphic>
      </p:graphicFrame>
      <p:sp>
        <p:nvSpPr>
          <p:cNvPr id="8" name="Rounded Rectangle 7"/>
          <p:cNvSpPr/>
          <p:nvPr/>
        </p:nvSpPr>
        <p:spPr>
          <a:xfrm>
            <a:off x="457200" y="5715000"/>
            <a:ext cx="11247120" cy="594360"/>
          </a:xfrm>
          <a:prstGeom prst="roundRect">
            <a:avLst>
              <a:gd name="adj" fmla="val 8000"/>
            </a:avLst>
          </a:prstGeom>
          <a:solidFill>
            <a:srgbClr val="F1DEB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36576" bIns="36576"/>
          <a:lstStyle/>
          <a:p>
            <a:pPr algn="l">
              <a:spcAft>
                <a:spcPts val="400"/>
              </a:spcAft>
            </a:pPr>
            <a:r>
              <a:rPr sz="1300" b="1" i="0">
                <a:solidFill>
                  <a:srgbClr val="374151"/>
                </a:solidFill>
                <a:latin typeface="Arial"/>
              </a:rPr>
              <a:t>Red = more work than our people can do. </a:t>
            </a:r>
            <a:r>
              <a:rPr sz="1300" b="0" i="0">
                <a:solidFill>
                  <a:srgbClr val="374151"/>
                </a:solidFill>
                <a:latin typeface="Arial"/>
              </a:rPr>
              <a:t>Fix: a second project manager on standby (paid per project) and train trainers up to 8. Plan for 11 is too many.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457200" y="292608"/>
            <a:ext cx="9966960" cy="914400"/>
          </a:xfrm>
          <a:prstGeom prst="rect">
            <a:avLst/>
          </a:prstGeom>
          <a:noFill/>
        </p:spPr>
        <p:txBody>
          <a:bodyPr wrap="square" anchor="t" lIns="73152" rIns="73152" tIns="36576" bIns="36576">
            <a:spAutoFit/>
          </a:bodyPr>
          <a:lstStyle/>
          <a:p>
            <a:pPr algn="l">
              <a:spcAft>
                <a:spcPts val="400"/>
              </a:spcAft>
            </a:pPr>
            <a:r>
              <a:rPr sz="2400" b="1" i="0">
                <a:solidFill>
                  <a:srgbClr val="475571"/>
                </a:solidFill>
                <a:latin typeface="Arial"/>
              </a:rPr>
              <a:t>Treat each type of worker differently, and protect the people who are hard to replace</a:t>
            </a:r>
          </a:p>
        </p:txBody>
      </p:sp>
      <p:sp>
        <p:nvSpPr>
          <p:cNvPr id="3" name="Tag"/>
          <p:cNvSpPr/>
          <p:nvPr/>
        </p:nvSpPr>
        <p:spPr>
          <a:xfrm>
            <a:off x="10561320" y="365760"/>
            <a:ext cx="1188720" cy="365760"/>
          </a:xfrm>
          <a:prstGeom prst="roundRect">
            <a:avLst>
              <a:gd name="adj" fmla="val 8000"/>
            </a:avLst>
          </a:prstGeom>
          <a:solidFill>
            <a:srgbClr val="576C9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a:spcAft>
                <a:spcPts val="400"/>
              </a:spcAft>
            </a:pPr>
            <a:r>
              <a:rPr sz="1200" b="1" i="0">
                <a:solidFill>
                  <a:srgbClr val="FFFFFF"/>
                </a:solidFill>
                <a:latin typeface="Arial"/>
              </a:rPr>
              <a:t>2  People</a:t>
            </a:r>
          </a:p>
        </p:txBody>
      </p:sp>
      <p:sp>
        <p:nvSpPr>
          <p:cNvPr id="4" name="Source"/>
          <p:cNvSpPr txBox="1"/>
          <p:nvPr/>
        </p:nvSpPr>
        <p:spPr>
          <a:xfrm>
            <a:off x="457200" y="6400800"/>
            <a:ext cx="10607040" cy="320040"/>
          </a:xfrm>
          <a:prstGeom prst="rect">
            <a:avLst/>
          </a:prstGeom>
          <a:noFill/>
        </p:spPr>
        <p:txBody>
          <a:bodyPr wrap="square" anchor="t" lIns="73152" rIns="73152" tIns="36576" bIns="36576">
            <a:spAutoFit/>
          </a:bodyPr>
          <a:lstStyle/>
          <a:p>
            <a:pPr algn="l">
              <a:spcAft>
                <a:spcPts val="400"/>
              </a:spcAft>
            </a:pPr>
            <a:r>
              <a:rPr sz="1000" b="0" i="0">
                <a:solidFill>
                  <a:srgbClr val="6B7280"/>
                </a:solidFill>
                <a:latin typeface="Arial"/>
              </a:rPr>
              <a:t>Source: Kraljic, P. (1983), Purchasing must become supply management, Harvard Business Review. Team numbers from our 2027 model.</a:t>
            </a:r>
          </a:p>
        </p:txBody>
      </p:sp>
      <p:sp>
        <p:nvSpPr>
          <p:cNvPr id="5" name="Page"/>
          <p:cNvSpPr txBox="1"/>
          <p:nvPr/>
        </p:nvSpPr>
        <p:spPr>
          <a:xfrm>
            <a:off x="11247120" y="6400800"/>
            <a:ext cx="502920" cy="320040"/>
          </a:xfrm>
          <a:prstGeom prst="rect">
            <a:avLst/>
          </a:prstGeom>
          <a:noFill/>
        </p:spPr>
        <p:txBody>
          <a:bodyPr wrap="square" anchor="t" lIns="73152" rIns="73152" tIns="36576" bIns="36576">
            <a:spAutoFit/>
          </a:bodyPr>
          <a:lstStyle/>
          <a:p>
            <a:pPr algn="r">
              <a:spcAft>
                <a:spcPts val="400"/>
              </a:spcAft>
            </a:pPr>
            <a:r>
              <a:rPr sz="1000" b="0" i="0">
                <a:solidFill>
                  <a:srgbClr val="6B7280"/>
                </a:solidFill>
                <a:latin typeface="Arial"/>
              </a:rPr>
              <a:t>13</a:t>
            </a:r>
          </a:p>
        </p:txBody>
      </p:sp>
      <p:sp>
        <p:nvSpPr>
          <p:cNvPr id="6" name="Rounded Rectangle 5"/>
          <p:cNvSpPr/>
          <p:nvPr/>
        </p:nvSpPr>
        <p:spPr>
          <a:xfrm>
            <a:off x="1143000" y="1417320"/>
            <a:ext cx="3291840" cy="2194560"/>
          </a:xfrm>
          <a:prstGeom prst="roundRect">
            <a:avLst>
              <a:gd name="adj" fmla="val 8000"/>
            </a:avLst>
          </a:prstGeom>
          <a:solidFill>
            <a:srgbClr val="F3F5F9"/>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36576" bIns="36576"/>
          <a:lstStyle/>
          <a:p>
            <a:pPr algn="l">
              <a:spcAft>
                <a:spcPts val="600"/>
              </a:spcAft>
            </a:pPr>
            <a:r>
              <a:rPr sz="1400" b="1" i="0">
                <a:solidFill>
                  <a:srgbClr val="576C94"/>
                </a:solidFill>
                <a:latin typeface="Arial"/>
              </a:rPr>
              <a:t>Hard to replace, smaller effect</a:t>
            </a:r>
          </a:p>
          <a:p>
            <a:pPr algn="l">
              <a:spcAft>
                <a:spcPts val="600"/>
              </a:spcAft>
            </a:pPr>
            <a:r>
              <a:rPr sz="1300" b="0" i="0">
                <a:solidFill>
                  <a:srgbClr val="374151"/>
                </a:solidFill>
                <a:latin typeface="Arial"/>
              </a:rPr>
              <a:t>Project manager: only 1 person, 1 to 2 projects a month (slide 12)</a:t>
            </a:r>
          </a:p>
          <a:p>
            <a:pPr algn="l">
              <a:spcAft>
                <a:spcPts val="600"/>
              </a:spcAft>
            </a:pPr>
            <a:r>
              <a:rPr sz="1300" b="0" i="0">
                <a:solidFill>
                  <a:srgbClr val="374151"/>
                </a:solidFill>
                <a:latin typeface="Arial"/>
              </a:rPr>
              <a:t>Trainers: 2 certified today, up to 7 needed in a busy month</a:t>
            </a:r>
          </a:p>
          <a:p>
            <a:pPr algn="l">
              <a:spcAft>
                <a:spcPts val="600"/>
              </a:spcAft>
            </a:pPr>
            <a:r>
              <a:rPr sz="1300" b="0" i="0">
                <a:solidFill>
                  <a:srgbClr val="374151"/>
                </a:solidFill>
                <a:latin typeface="Arial"/>
              </a:rPr>
              <a:t>What to do: secure them</a:t>
            </a:r>
          </a:p>
        </p:txBody>
      </p:sp>
      <p:sp>
        <p:nvSpPr>
          <p:cNvPr id="7" name="Rounded Rectangle 6"/>
          <p:cNvSpPr/>
          <p:nvPr/>
        </p:nvSpPr>
        <p:spPr>
          <a:xfrm>
            <a:off x="4526280" y="1417320"/>
            <a:ext cx="3291840" cy="2194560"/>
          </a:xfrm>
          <a:prstGeom prst="roundRect">
            <a:avLst>
              <a:gd name="adj" fmla="val 8000"/>
            </a:avLst>
          </a:prstGeom>
          <a:solidFill>
            <a:srgbClr val="F3F5F9"/>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36576" bIns="36576"/>
          <a:lstStyle/>
          <a:p>
            <a:pPr algn="l">
              <a:spcAft>
                <a:spcPts val="600"/>
              </a:spcAft>
            </a:pPr>
            <a:r>
              <a:rPr sz="1400" b="1" i="0">
                <a:solidFill>
                  <a:srgbClr val="9B3809"/>
                </a:solidFill>
                <a:latin typeface="Arial"/>
              </a:rPr>
              <a:t>Hard to replace, big effect</a:t>
            </a:r>
          </a:p>
          <a:p>
            <a:pPr algn="l">
              <a:spcAft>
                <a:spcPts val="600"/>
              </a:spcAft>
            </a:pPr>
            <a:r>
              <a:rPr sz="1300" b="0" i="0">
                <a:solidFill>
                  <a:srgbClr val="374151"/>
                </a:solidFill>
                <a:latin typeface="Arial"/>
              </a:rPr>
              <a:t>Full-time psychologist</a:t>
            </a:r>
          </a:p>
          <a:p>
            <a:pPr algn="l">
              <a:spcAft>
                <a:spcPts val="600"/>
              </a:spcAft>
            </a:pPr>
            <a:r>
              <a:rPr sz="1300" b="0" i="0">
                <a:solidFill>
                  <a:srgbClr val="374151"/>
                </a:solidFill>
                <a:latin typeface="Arial"/>
              </a:rPr>
              <a:t>Lead trainers that regulators trust</a:t>
            </a:r>
          </a:p>
          <a:p>
            <a:pPr algn="l">
              <a:spcAft>
                <a:spcPts val="600"/>
              </a:spcAft>
            </a:pPr>
            <a:r>
              <a:rPr sz="1300" b="0" i="0">
                <a:solidFill>
                  <a:srgbClr val="374151"/>
                </a:solidFill>
                <a:latin typeface="Arial"/>
              </a:rPr>
              <a:t>What to do: long-term partnership, fair pay, a career path</a:t>
            </a:r>
          </a:p>
        </p:txBody>
      </p:sp>
      <p:sp>
        <p:nvSpPr>
          <p:cNvPr id="8" name="Rounded Rectangle 7"/>
          <p:cNvSpPr/>
          <p:nvPr/>
        </p:nvSpPr>
        <p:spPr>
          <a:xfrm>
            <a:off x="1143000" y="3703320"/>
            <a:ext cx="3291840" cy="2194560"/>
          </a:xfrm>
          <a:prstGeom prst="roundRect">
            <a:avLst>
              <a:gd name="adj" fmla="val 8000"/>
            </a:avLst>
          </a:prstGeom>
          <a:solidFill>
            <a:srgbClr val="F3F5F9"/>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36576" bIns="36576"/>
          <a:lstStyle/>
          <a:p>
            <a:pPr algn="l">
              <a:spcAft>
                <a:spcPts val="600"/>
              </a:spcAft>
            </a:pPr>
            <a:r>
              <a:rPr sz="1400" b="1" i="0">
                <a:solidFill>
                  <a:srgbClr val="6B7280"/>
                </a:solidFill>
                <a:latin typeface="Arial"/>
              </a:rPr>
              <a:t>Easy to replace, smaller effect</a:t>
            </a:r>
          </a:p>
          <a:p>
            <a:pPr algn="l">
              <a:spcAft>
                <a:spcPts val="600"/>
              </a:spcAft>
            </a:pPr>
            <a:r>
              <a:rPr sz="1300" b="0" i="0">
                <a:solidFill>
                  <a:srgbClr val="374151"/>
                </a:solidFill>
                <a:latin typeface="Arial"/>
              </a:rPr>
              <a:t>Event helpers, design, interns</a:t>
            </a:r>
          </a:p>
          <a:p>
            <a:pPr algn="l">
              <a:spcAft>
                <a:spcPts val="600"/>
              </a:spcAft>
            </a:pPr>
            <a:r>
              <a:rPr sz="1300" b="0" i="0">
                <a:solidFill>
                  <a:srgbClr val="374151"/>
                </a:solidFill>
                <a:latin typeface="Arial"/>
              </a:rPr>
              <a:t>Venue and travel (the client pays)</a:t>
            </a:r>
          </a:p>
          <a:p>
            <a:pPr algn="l">
              <a:spcAft>
                <a:spcPts val="600"/>
              </a:spcAft>
            </a:pPr>
            <a:r>
              <a:rPr sz="1300" b="0" i="0">
                <a:solidFill>
                  <a:srgbClr val="374151"/>
                </a:solidFill>
                <a:latin typeface="Arial"/>
              </a:rPr>
              <a:t>What to do: keep it simple, pay per day</a:t>
            </a:r>
          </a:p>
        </p:txBody>
      </p:sp>
      <p:sp>
        <p:nvSpPr>
          <p:cNvPr id="9" name="Rounded Rectangle 8"/>
          <p:cNvSpPr/>
          <p:nvPr/>
        </p:nvSpPr>
        <p:spPr>
          <a:xfrm>
            <a:off x="4526280" y="3703320"/>
            <a:ext cx="3291840" cy="2194560"/>
          </a:xfrm>
          <a:prstGeom prst="roundRect">
            <a:avLst>
              <a:gd name="adj" fmla="val 8000"/>
            </a:avLst>
          </a:prstGeom>
          <a:solidFill>
            <a:srgbClr val="F3F5F9"/>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36576" bIns="36576"/>
          <a:lstStyle/>
          <a:p>
            <a:pPr algn="l">
              <a:spcAft>
                <a:spcPts val="600"/>
              </a:spcAft>
            </a:pPr>
            <a:r>
              <a:rPr sz="1400" b="1" i="0">
                <a:solidFill>
                  <a:srgbClr val="475571"/>
                </a:solidFill>
                <a:latin typeface="Arial"/>
              </a:rPr>
              <a:t>Easy to replace, big effect</a:t>
            </a:r>
          </a:p>
          <a:p>
            <a:pPr algn="l">
              <a:spcAft>
                <a:spcPts val="600"/>
              </a:spcAft>
            </a:pPr>
            <a:r>
              <a:rPr sz="1300" b="0" i="0">
                <a:solidFill>
                  <a:srgbClr val="374151"/>
                </a:solidFill>
                <a:latin typeface="Arial"/>
              </a:rPr>
              <a:t>Part-time psychologists for EAP and counseling</a:t>
            </a:r>
          </a:p>
          <a:p>
            <a:pPr algn="l">
              <a:spcAft>
                <a:spcPts val="600"/>
              </a:spcAft>
            </a:pPr>
            <a:r>
              <a:rPr sz="1300" b="0" i="0">
                <a:solidFill>
                  <a:srgbClr val="374151"/>
                </a:solidFill>
                <a:latin typeface="Arial"/>
              </a:rPr>
              <a:t>Many licensed psychologists in Jakarta</a:t>
            </a:r>
          </a:p>
          <a:p>
            <a:pPr algn="l">
              <a:spcAft>
                <a:spcPts val="600"/>
              </a:spcAft>
            </a:pPr>
            <a:r>
              <a:rPr sz="1300" b="0" i="0">
                <a:solidFill>
                  <a:srgbClr val="374151"/>
                </a:solidFill>
                <a:latin typeface="Arial"/>
              </a:rPr>
              <a:t>What to do: build a group and pay per session</a:t>
            </a:r>
          </a:p>
        </p:txBody>
      </p:sp>
      <p:sp>
        <p:nvSpPr>
          <p:cNvPr id="10" name="RiskAxis"/>
          <p:cNvSpPr txBox="1"/>
          <p:nvPr/>
        </p:nvSpPr>
        <p:spPr>
          <a:xfrm rot="16200000">
            <a:off x="-1508760" y="3474720"/>
            <a:ext cx="4572000" cy="365760"/>
          </a:xfrm>
          <a:prstGeom prst="rect">
            <a:avLst/>
          </a:prstGeom>
          <a:noFill/>
        </p:spPr>
        <p:txBody>
          <a:bodyPr wrap="square" anchor="ctr" lIns="73152" rIns="73152" tIns="36576" bIns="36576">
            <a:spAutoFit/>
          </a:bodyPr>
          <a:lstStyle/>
          <a:p>
            <a:pPr algn="ctr">
              <a:spcAft>
                <a:spcPts val="400"/>
              </a:spcAft>
            </a:pPr>
            <a:r>
              <a:rPr sz="1200" b="1" i="0">
                <a:solidFill>
                  <a:srgbClr val="6B7280"/>
                </a:solidFill>
                <a:latin typeface="Arial"/>
              </a:rPr>
              <a:t>How hard to replace them</a:t>
            </a:r>
          </a:p>
        </p:txBody>
      </p:sp>
      <p:sp>
        <p:nvSpPr>
          <p:cNvPr id="11" name="TextBox 10"/>
          <p:cNvSpPr txBox="1"/>
          <p:nvPr/>
        </p:nvSpPr>
        <p:spPr>
          <a:xfrm>
            <a:off x="1097280" y="5961888"/>
            <a:ext cx="6766560" cy="320040"/>
          </a:xfrm>
          <a:prstGeom prst="rect">
            <a:avLst/>
          </a:prstGeom>
          <a:noFill/>
        </p:spPr>
        <p:txBody>
          <a:bodyPr wrap="square" anchor="t" lIns="73152" rIns="73152" tIns="36576" bIns="36576">
            <a:spAutoFit/>
          </a:bodyPr>
          <a:lstStyle/>
          <a:p>
            <a:pPr algn="ctr">
              <a:spcAft>
                <a:spcPts val="400"/>
              </a:spcAft>
            </a:pPr>
            <a:r>
              <a:rPr sz="1200" b="1" i="0">
                <a:solidFill>
                  <a:srgbClr val="6B7280"/>
                </a:solidFill>
                <a:latin typeface="Arial"/>
              </a:rPr>
              <a:t>How much they affect our results and our clients' trust</a:t>
            </a:r>
          </a:p>
        </p:txBody>
      </p:sp>
      <p:sp>
        <p:nvSpPr>
          <p:cNvPr id="12" name="TextBox 11"/>
          <p:cNvSpPr txBox="1"/>
          <p:nvPr/>
        </p:nvSpPr>
        <p:spPr>
          <a:xfrm>
            <a:off x="8183879" y="1325880"/>
            <a:ext cx="3566160" cy="4983480"/>
          </a:xfrm>
          <a:prstGeom prst="rect">
            <a:avLst/>
          </a:prstGeom>
          <a:noFill/>
        </p:spPr>
        <p:txBody>
          <a:bodyPr wrap="square" anchor="t" lIns="73152" rIns="73152" tIns="36576" bIns="36576">
            <a:spAutoFit/>
          </a:bodyPr>
          <a:lstStyle/>
          <a:p>
            <a:pPr algn="l">
              <a:spcAft>
                <a:spcPts val="800"/>
              </a:spcAft>
            </a:pPr>
            <a:r>
              <a:rPr sz="1600" b="1" i="0">
                <a:solidFill>
                  <a:srgbClr val="475571"/>
                </a:solidFill>
                <a:latin typeface="Arial"/>
              </a:rPr>
              <a:t>What this means</a:t>
            </a:r>
          </a:p>
          <a:p>
            <a:pPr algn="l">
              <a:spcAft>
                <a:spcPts val="800"/>
              </a:spcAft>
            </a:pPr>
            <a:r>
              <a:rPr sz="1300" b="0" i="0">
                <a:solidFill>
                  <a:srgbClr val="374151"/>
                </a:solidFill>
                <a:latin typeface="Arial"/>
              </a:rPr>
              <a:t>This is the Kraljic matrix, a tool buyers use to sort suppliers. Here, the suppliers are our people.</a:t>
            </a:r>
          </a:p>
          <a:p>
            <a:pPr algn="l">
              <a:spcAft>
                <a:spcPts val="800"/>
              </a:spcAft>
            </a:pPr>
            <a:r>
              <a:rPr sz="1300" b="1" i="0">
                <a:solidFill>
                  <a:srgbClr val="374151"/>
                </a:solidFill>
                <a:latin typeface="Arial"/>
              </a:rPr>
              <a:t>Do not cut pay. </a:t>
            </a:r>
            <a:r>
              <a:rPr sz="1300" b="0" i="0">
                <a:solidFill>
                  <a:srgbClr val="374151"/>
                </a:solidFill>
                <a:latin typeface="Arial"/>
              </a:rPr>
              <a:t>The right price is not the lowest price.</a:t>
            </a:r>
          </a:p>
          <a:p>
            <a:pPr algn="l">
              <a:spcAft>
                <a:spcPts val="800"/>
              </a:spcAft>
            </a:pPr>
            <a:r>
              <a:rPr sz="1300" b="1" i="0">
                <a:solidFill>
                  <a:srgbClr val="374151"/>
                </a:solidFill>
                <a:latin typeface="Arial"/>
              </a:rPr>
              <a:t>Saving is not the goal. </a:t>
            </a:r>
            <a:r>
              <a:rPr sz="1300" b="0" i="0">
                <a:solidFill>
                  <a:srgbClr val="374151"/>
                </a:solidFill>
                <a:latin typeface="Arial"/>
              </a:rPr>
              <a:t>Delivery is 32% of sales, so saving 10% gives only about Rp48M a year.</a:t>
            </a:r>
          </a:p>
          <a:p>
            <a:pPr algn="l">
              <a:spcAft>
                <a:spcPts val="800"/>
              </a:spcAft>
            </a:pPr>
            <a:r>
              <a:rPr sz="1300" b="1" i="0">
                <a:solidFill>
                  <a:srgbClr val="374151"/>
                </a:solidFill>
                <a:latin typeface="Arial"/>
              </a:rPr>
              <a:t>Keeping people is the goal. </a:t>
            </a:r>
            <a:r>
              <a:rPr sz="1300" b="0" i="0">
                <a:solidFill>
                  <a:srgbClr val="374151"/>
                </a:solidFill>
                <a:latin typeface="Arial"/>
              </a:rPr>
              <a:t>One project manager and two trainers limit how many events we can sell.</a:t>
            </a:r>
          </a:p>
          <a:p>
            <a:pPr algn="l">
              <a:spcAft>
                <a:spcPts val="800"/>
              </a:spcAft>
            </a:pPr>
            <a:r>
              <a:rPr sz="1300" b="1" i="0">
                <a:solidFill>
                  <a:srgbClr val="374151"/>
                </a:solidFill>
                <a:latin typeface="Arial"/>
              </a:rPr>
              <a:t>Pay part-timers per piece of work, </a:t>
            </a:r>
            <a:r>
              <a:rPr sz="1300" b="0" i="0">
                <a:solidFill>
                  <a:srgbClr val="374151"/>
                </a:solidFill>
                <a:latin typeface="Arial"/>
              </a:rPr>
              <a:t>so quiet months do not burn cash.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457200" y="292608"/>
            <a:ext cx="9966960" cy="914400"/>
          </a:xfrm>
          <a:prstGeom prst="rect">
            <a:avLst/>
          </a:prstGeom>
          <a:noFill/>
        </p:spPr>
        <p:txBody>
          <a:bodyPr wrap="square" anchor="t" lIns="73152" rIns="73152" tIns="36576" bIns="36576">
            <a:spAutoFit/>
          </a:bodyPr>
          <a:lstStyle/>
          <a:p>
            <a:pPr algn="l">
              <a:spcAft>
                <a:spcPts val="400"/>
              </a:spcAft>
            </a:pPr>
            <a:r>
              <a:rPr sz="2400" b="1" i="0">
                <a:solidFill>
                  <a:srgbClr val="475571"/>
                </a:solidFill>
                <a:latin typeface="Arial"/>
              </a:rPr>
              <a:t>Improve every contract in four areas: pay, time promised, quality checks and risk</a:t>
            </a:r>
          </a:p>
        </p:txBody>
      </p:sp>
      <p:sp>
        <p:nvSpPr>
          <p:cNvPr id="3" name="Tag"/>
          <p:cNvSpPr/>
          <p:nvPr/>
        </p:nvSpPr>
        <p:spPr>
          <a:xfrm>
            <a:off x="10561320" y="365760"/>
            <a:ext cx="1188720" cy="365760"/>
          </a:xfrm>
          <a:prstGeom prst="roundRect">
            <a:avLst>
              <a:gd name="adj" fmla="val 8000"/>
            </a:avLst>
          </a:prstGeom>
          <a:solidFill>
            <a:srgbClr val="576C9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a:spcAft>
                <a:spcPts val="400"/>
              </a:spcAft>
            </a:pPr>
            <a:r>
              <a:rPr sz="1200" b="1" i="0">
                <a:solidFill>
                  <a:srgbClr val="FFFFFF"/>
                </a:solidFill>
                <a:latin typeface="Arial"/>
              </a:rPr>
              <a:t>2  People</a:t>
            </a:r>
          </a:p>
        </p:txBody>
      </p:sp>
      <p:sp>
        <p:nvSpPr>
          <p:cNvPr id="4" name="Source"/>
          <p:cNvSpPr txBox="1"/>
          <p:nvPr/>
        </p:nvSpPr>
        <p:spPr>
          <a:xfrm>
            <a:off x="457200" y="6400800"/>
            <a:ext cx="10607040" cy="320040"/>
          </a:xfrm>
          <a:prstGeom prst="rect">
            <a:avLst/>
          </a:prstGeom>
          <a:noFill/>
        </p:spPr>
        <p:txBody>
          <a:bodyPr wrap="square" anchor="t" lIns="73152" rIns="73152" tIns="36576" bIns="36576">
            <a:spAutoFit/>
          </a:bodyPr>
          <a:lstStyle/>
          <a:p>
            <a:pPr algn="l">
              <a:spcAft>
                <a:spcPts val="400"/>
              </a:spcAft>
            </a:pPr>
            <a:r>
              <a:rPr sz="1000" b="0" i="0">
                <a:solidFill>
                  <a:srgbClr val="6B7280"/>
                </a:solidFill>
                <a:latin typeface="Arial"/>
              </a:rPr>
              <a:t>Source: Session fees and day rates are estimates; compare them with the market before you sign.</a:t>
            </a:r>
          </a:p>
        </p:txBody>
      </p:sp>
      <p:sp>
        <p:nvSpPr>
          <p:cNvPr id="5" name="Page"/>
          <p:cNvSpPr txBox="1"/>
          <p:nvPr/>
        </p:nvSpPr>
        <p:spPr>
          <a:xfrm>
            <a:off x="11247120" y="6400800"/>
            <a:ext cx="502920" cy="320040"/>
          </a:xfrm>
          <a:prstGeom prst="rect">
            <a:avLst/>
          </a:prstGeom>
          <a:noFill/>
        </p:spPr>
        <p:txBody>
          <a:bodyPr wrap="square" anchor="t" lIns="73152" rIns="73152" tIns="36576" bIns="36576">
            <a:spAutoFit/>
          </a:bodyPr>
          <a:lstStyle/>
          <a:p>
            <a:pPr algn="r">
              <a:spcAft>
                <a:spcPts val="400"/>
              </a:spcAft>
            </a:pPr>
            <a:r>
              <a:rPr sz="1000" b="0" i="0">
                <a:solidFill>
                  <a:srgbClr val="6B7280"/>
                </a:solidFill>
                <a:latin typeface="Arial"/>
              </a:rPr>
              <a:t>14</a:t>
            </a:r>
          </a:p>
        </p:txBody>
      </p:sp>
      <p:graphicFrame>
        <p:nvGraphicFramePr>
          <p:cNvPr id="6" name="Table 5"/>
          <p:cNvGraphicFramePr>
            <a:graphicFrameLocks noGrp="1"/>
          </p:cNvGraphicFramePr>
          <p:nvPr/>
        </p:nvGraphicFramePr>
        <p:xfrm>
          <a:off x="457200" y="1325880"/>
          <a:ext cx="11247120" cy="4023360"/>
        </p:xfrm>
        <a:graphic>
          <a:graphicData uri="http://schemas.openxmlformats.org/drawingml/2006/table">
            <a:tbl>
              <a:tblPr firstRow="1" bandRow="1">
                <a:tableStyleId>{5C22544A-7EE6-4342-B048-85BDC9FD1C3A}</a:tableStyleId>
              </a:tblPr>
              <a:tblGrid>
                <a:gridCol w="1828800"/>
                <a:gridCol w="3200400"/>
                <a:gridCol w="3200400"/>
                <a:gridCol w="3017520"/>
              </a:tblGrid>
              <a:tr h="804672">
                <a:tc>
                  <a:txBody>
                    <a:bodyPr wrap="square"/>
                    <a:lstStyle/>
                    <a:p>
                      <a:r>
                        <a:rPr sz="1200" b="1">
                          <a:solidFill>
                            <a:srgbClr val="FFFFFF"/>
                          </a:solidFill>
                          <a:latin typeface="Arial"/>
                        </a:rPr>
                        <a:t>Area</a:t>
                      </a:r>
                    </a:p>
                  </a:txBody>
                  <a:tcPr marL="54864" marR="54864" marT="27432" marB="27432" anchor="ctr">
                    <a:solidFill>
                      <a:srgbClr val="475571"/>
                    </a:solidFill>
                  </a:tcPr>
                </a:tc>
                <a:tc>
                  <a:txBody>
                    <a:bodyPr wrap="square"/>
                    <a:lstStyle/>
                    <a:p>
                      <a:r>
                        <a:rPr sz="1200" b="1">
                          <a:solidFill>
                            <a:srgbClr val="FFFFFF"/>
                          </a:solidFill>
                          <a:latin typeface="Arial"/>
                        </a:rPr>
                        <a:t>Psychologists (full-time and part-time)</a:t>
                      </a:r>
                    </a:p>
                  </a:txBody>
                  <a:tcPr marL="54864" marR="54864" marT="27432" marB="27432" anchor="ctr">
                    <a:solidFill>
                      <a:srgbClr val="475571"/>
                    </a:solidFill>
                  </a:tcPr>
                </a:tc>
                <a:tc>
                  <a:txBody>
                    <a:bodyPr wrap="square"/>
                    <a:lstStyle/>
                    <a:p>
                      <a:r>
                        <a:rPr sz="1200" b="1">
                          <a:solidFill>
                            <a:srgbClr val="FFFFFF"/>
                          </a:solidFill>
                          <a:latin typeface="Arial"/>
                        </a:rPr>
                        <a:t>Trainers</a:t>
                      </a:r>
                    </a:p>
                  </a:txBody>
                  <a:tcPr marL="54864" marR="54864" marT="27432" marB="27432" anchor="ctr">
                    <a:solidFill>
                      <a:srgbClr val="475571"/>
                    </a:solidFill>
                  </a:tcPr>
                </a:tc>
                <a:tc>
                  <a:txBody>
                    <a:bodyPr wrap="square"/>
                    <a:lstStyle/>
                    <a:p>
                      <a:r>
                        <a:rPr sz="1200" b="1">
                          <a:solidFill>
                            <a:srgbClr val="FFFFFF"/>
                          </a:solidFill>
                          <a:latin typeface="Arial"/>
                        </a:rPr>
                        <a:t>Project manager</a:t>
                      </a:r>
                    </a:p>
                  </a:txBody>
                  <a:tcPr marL="54864" marR="54864" marT="27432" marB="27432" anchor="ctr">
                    <a:solidFill>
                      <a:srgbClr val="475571"/>
                    </a:solidFill>
                  </a:tcPr>
                </a:tc>
              </a:tr>
              <a:tr h="804672">
                <a:tc>
                  <a:txBody>
                    <a:bodyPr wrap="square"/>
                    <a:lstStyle/>
                    <a:p>
                      <a:r>
                        <a:rPr sz="1200" b="1">
                          <a:solidFill>
                            <a:srgbClr val="374151"/>
                          </a:solidFill>
                          <a:latin typeface="Arial"/>
                        </a:rPr>
                        <a:t>1. How we pay</a:t>
                      </a:r>
                    </a:p>
                  </a:txBody>
                  <a:tcPr marL="54864" marR="54864" marT="27432" marB="27432" anchor="ctr">
                    <a:solidFill>
                      <a:srgbClr val="F3F5F9"/>
                    </a:solidFill>
                  </a:tcPr>
                </a:tc>
                <a:tc>
                  <a:txBody>
                    <a:bodyPr wrap="square"/>
                    <a:lstStyle/>
                    <a:p>
                      <a:r>
                        <a:rPr sz="1200" b="0">
                          <a:solidFill>
                            <a:srgbClr val="374151"/>
                          </a:solidFill>
                          <a:latin typeface="Arial"/>
                        </a:rPr>
                        <a:t>Full-time: market salary + bonus when an EAP client renews. Part-time: fee per session, higher for senior licence</a:t>
                      </a:r>
                    </a:p>
                  </a:txBody>
                  <a:tcPr marL="54864" marR="54864" marT="27432" marB="27432" anchor="ctr">
                    <a:solidFill>
                      <a:srgbClr val="F3F5F9"/>
                    </a:solidFill>
                  </a:tcPr>
                </a:tc>
                <a:tc>
                  <a:txBody>
                    <a:bodyPr wrap="square"/>
                    <a:lstStyle/>
                    <a:p>
                      <a:r>
                        <a:rPr sz="1200" b="0">
                          <a:solidFill>
                            <a:srgbClr val="374151"/>
                          </a:solidFill>
                          <a:latin typeface="Arial"/>
                        </a:rPr>
                        <a:t>Day rate by level, extra for the 3-day program; client pays travel; trainer repays training cost if they leave before 4 events</a:t>
                      </a:r>
                    </a:p>
                  </a:txBody>
                  <a:tcPr marL="54864" marR="54864" marT="27432" marB="27432" anchor="ctr">
                    <a:solidFill>
                      <a:srgbClr val="F3F5F9"/>
                    </a:solidFill>
                  </a:tcPr>
                </a:tc>
                <a:tc>
                  <a:txBody>
                    <a:bodyPr wrap="square"/>
                    <a:lstStyle/>
                    <a:p>
                      <a:r>
                        <a:rPr sz="1200" b="0">
                          <a:solidFill>
                            <a:srgbClr val="374151"/>
                          </a:solidFill>
                          <a:latin typeface="Arial"/>
                        </a:rPr>
                        <a:t>Small monthly fee to stay available + fee per project (bigger project, bigger fee)</a:t>
                      </a:r>
                    </a:p>
                  </a:txBody>
                  <a:tcPr marL="54864" marR="54864" marT="27432" marB="27432" anchor="ctr">
                    <a:solidFill>
                      <a:srgbClr val="F3F5F9"/>
                    </a:solidFill>
                  </a:tcPr>
                </a:tc>
              </a:tr>
              <a:tr h="804672">
                <a:tc>
                  <a:txBody>
                    <a:bodyPr wrap="square"/>
                    <a:lstStyle/>
                    <a:p>
                      <a:r>
                        <a:rPr sz="1200" b="1">
                          <a:solidFill>
                            <a:srgbClr val="374151"/>
                          </a:solidFill>
                          <a:latin typeface="Arial"/>
                        </a:rPr>
                        <a:t>2. What they promise</a:t>
                      </a:r>
                    </a:p>
                  </a:txBody>
                  <a:tcPr marL="54864" marR="54864" marT="27432" marB="27432" anchor="ctr">
                    <a:solidFill>
                      <a:srgbClr val="FFFFFF"/>
                    </a:solidFill>
                  </a:tcPr>
                </a:tc>
                <a:tc>
                  <a:txBody>
                    <a:bodyPr wrap="square"/>
                    <a:lstStyle/>
                    <a:p>
                      <a:r>
                        <a:rPr sz="1200" b="0">
                          <a:solidFill>
                            <a:srgbClr val="374151"/>
                          </a:solidFill>
                          <a:latin typeface="Arial"/>
                        </a:rPr>
                        <a:t>Part-time: at least 8 hours a month on Theta; reply within 24 hours; 3 months notice before leaving</a:t>
                      </a:r>
                    </a:p>
                  </a:txBody>
                  <a:tcPr marL="54864" marR="54864" marT="27432" marB="27432" anchor="ctr">
                    <a:solidFill>
                      <a:srgbClr val="FFFFFF"/>
                    </a:solidFill>
                  </a:tcPr>
                </a:tc>
                <a:tc>
                  <a:txBody>
                    <a:bodyPr wrap="square"/>
                    <a:lstStyle/>
                    <a:p>
                      <a:r>
                        <a:rPr sz="1200" b="0">
                          <a:solidFill>
                            <a:srgbClr val="374151"/>
                          </a:solidFill>
                          <a:latin typeface="Arial"/>
                        </a:rPr>
                        <a:t>Yearly agreement; at most 2 events a month; confirm 30 days before; we get the first call</a:t>
                      </a:r>
                    </a:p>
                  </a:txBody>
                  <a:tcPr marL="54864" marR="54864" marT="27432" marB="27432" anchor="ctr">
                    <a:solidFill>
                      <a:srgbClr val="FFFFFF"/>
                    </a:solidFill>
                  </a:tcPr>
                </a:tc>
                <a:tc>
                  <a:txBody>
                    <a:bodyPr wrap="square"/>
                    <a:lstStyle/>
                    <a:p>
                      <a:r>
                        <a:rPr sz="1200" b="0">
                          <a:solidFill>
                            <a:srgbClr val="374151"/>
                          </a:solidFill>
                          <a:latin typeface="Arial"/>
                        </a:rPr>
                        <a:t>Up to 2 projects a month; we get the first call; a handover file for each project</a:t>
                      </a:r>
                    </a:p>
                  </a:txBody>
                  <a:tcPr marL="54864" marR="54864" marT="27432" marB="27432" anchor="ctr">
                    <a:solidFill>
                      <a:srgbClr val="FFFFFF"/>
                    </a:solidFill>
                  </a:tcPr>
                </a:tc>
              </a:tr>
              <a:tr h="804672">
                <a:tc>
                  <a:txBody>
                    <a:bodyPr wrap="square"/>
                    <a:lstStyle/>
                    <a:p>
                      <a:r>
                        <a:rPr sz="1200" b="1">
                          <a:solidFill>
                            <a:srgbClr val="374151"/>
                          </a:solidFill>
                          <a:latin typeface="Arial"/>
                        </a:rPr>
                        <a:t>3. How we check quality</a:t>
                      </a:r>
                    </a:p>
                  </a:txBody>
                  <a:tcPr marL="54864" marR="54864" marT="27432" marB="27432" anchor="ctr">
                    <a:solidFill>
                      <a:srgbClr val="F3F5F9"/>
                    </a:solidFill>
                  </a:tcPr>
                </a:tc>
                <a:tc>
                  <a:txBody>
                    <a:bodyPr wrap="square"/>
                    <a:lstStyle/>
                    <a:p>
                      <a:r>
                        <a:rPr sz="1200" b="0">
                          <a:solidFill>
                            <a:srgbClr val="374151"/>
                          </a:solidFill>
                          <a:latin typeface="Arial"/>
                        </a:rPr>
                        <a:t>Client rating 4.5 of 5 or higher; few missed sessions; reports on time; review every 3 months</a:t>
                      </a:r>
                    </a:p>
                  </a:txBody>
                  <a:tcPr marL="54864" marR="54864" marT="27432" marB="27432" anchor="ctr">
                    <a:solidFill>
                      <a:srgbClr val="F3F5F9"/>
                    </a:solidFill>
                  </a:tcPr>
                </a:tc>
                <a:tc>
                  <a:txBody>
                    <a:bodyPr wrap="square"/>
                    <a:lstStyle/>
                    <a:p>
                      <a:r>
                        <a:rPr sz="1200" b="0">
                          <a:solidFill>
                            <a:srgbClr val="374151"/>
                          </a:solidFill>
                          <a:latin typeface="Arial"/>
                        </a:rPr>
                        <a:t>Participant scores; test results before and after the training</a:t>
                      </a:r>
                    </a:p>
                  </a:txBody>
                  <a:tcPr marL="54864" marR="54864" marT="27432" marB="27432" anchor="ctr">
                    <a:solidFill>
                      <a:srgbClr val="F3F5F9"/>
                    </a:solidFill>
                  </a:tcPr>
                </a:tc>
                <a:tc>
                  <a:txBody>
                    <a:bodyPr wrap="square"/>
                    <a:lstStyle/>
                    <a:p>
                      <a:r>
                        <a:rPr sz="1200" b="0">
                          <a:solidFill>
                            <a:srgbClr val="374151"/>
                          </a:solidFill>
                          <a:latin typeface="Arial"/>
                        </a:rPr>
                        <a:t>On time; invoice sent before BI's payment date; client rating; on budget</a:t>
                      </a:r>
                    </a:p>
                  </a:txBody>
                  <a:tcPr marL="54864" marR="54864" marT="27432" marB="27432" anchor="ctr">
                    <a:solidFill>
                      <a:srgbClr val="F3F5F9"/>
                    </a:solidFill>
                  </a:tcPr>
                </a:tc>
              </a:tr>
              <a:tr h="804672">
                <a:tc>
                  <a:txBody>
                    <a:bodyPr wrap="square"/>
                    <a:lstStyle/>
                    <a:p>
                      <a:r>
                        <a:rPr sz="1200" b="1">
                          <a:solidFill>
                            <a:srgbClr val="374151"/>
                          </a:solidFill>
                          <a:latin typeface="Arial"/>
                        </a:rPr>
                        <a:t>4. How we reduce risk</a:t>
                      </a:r>
                    </a:p>
                  </a:txBody>
                  <a:tcPr marL="54864" marR="54864" marT="27432" marB="27432" anchor="ctr">
                    <a:solidFill>
                      <a:srgbClr val="FFFFFF"/>
                    </a:solidFill>
                  </a:tcPr>
                </a:tc>
                <a:tc>
                  <a:txBody>
                    <a:bodyPr wrap="square"/>
                    <a:lstStyle/>
                    <a:p>
                      <a:r>
                        <a:rPr sz="1200" b="0">
                          <a:solidFill>
                            <a:srgbClr val="374151"/>
                          </a:solidFill>
                          <a:latin typeface="Arial"/>
                        </a:rPr>
                        <a:t>Keep client data private (data protection law); senior supervision; insurance; no direct work with our clients for 12 months</a:t>
                      </a:r>
                    </a:p>
                  </a:txBody>
                  <a:tcPr marL="54864" marR="54864" marT="27432" marB="27432" anchor="ctr">
                    <a:solidFill>
                      <a:srgbClr val="FFFFFF"/>
                    </a:solidFill>
                  </a:tcPr>
                </a:tc>
                <a:tc>
                  <a:txBody>
                    <a:bodyPr wrap="square"/>
                    <a:lstStyle/>
                    <a:p>
                      <a:r>
                        <a:rPr sz="1200" b="0">
                          <a:solidFill>
                            <a:srgbClr val="374151"/>
                          </a:solidFill>
                          <a:latin typeface="Arial"/>
                        </a:rPr>
                        <a:t>Teman Journey owns the training material; trainers use it only for us; a backup trainer for each event</a:t>
                      </a:r>
                    </a:p>
                  </a:txBody>
                  <a:tcPr marL="54864" marR="54864" marT="27432" marB="27432" anchor="ctr">
                    <a:solidFill>
                      <a:srgbClr val="FFFFFF"/>
                    </a:solidFill>
                  </a:tcPr>
                </a:tc>
                <a:tc>
                  <a:txBody>
                    <a:bodyPr wrap="square"/>
                    <a:lstStyle/>
                    <a:p>
                      <a:r>
                        <a:rPr sz="1200" b="0">
                          <a:solidFill>
                            <a:srgbClr val="374151"/>
                          </a:solidFill>
                          <a:latin typeface="Arial"/>
                        </a:rPr>
                        <a:t>A written step-by-step guide; a second project manager joins one project every 3 months to learn</a:t>
                      </a:r>
                    </a:p>
                  </a:txBody>
                  <a:tcPr marL="54864" marR="54864" marT="27432" marB="27432" anchor="ctr">
                    <a:solidFill>
                      <a:srgbClr val="FFFFFF"/>
                    </a:solidFill>
                  </a:tcPr>
                </a:tc>
              </a:tr>
            </a:tbl>
          </a:graphicData>
        </a:graphic>
      </p:graphicFrame>
      <p:sp>
        <p:nvSpPr>
          <p:cNvPr id="7" name="Rounded Rectangle 6"/>
          <p:cNvSpPr/>
          <p:nvPr/>
        </p:nvSpPr>
        <p:spPr>
          <a:xfrm>
            <a:off x="457200" y="5577840"/>
            <a:ext cx="11247120" cy="685800"/>
          </a:xfrm>
          <a:prstGeom prst="roundRect">
            <a:avLst>
              <a:gd name="adj" fmla="val 8000"/>
            </a:avLst>
          </a:prstGeom>
          <a:solidFill>
            <a:srgbClr val="F1DEB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36576" bIns="36576"/>
          <a:lstStyle/>
          <a:p>
            <a:pPr algn="l">
              <a:spcAft>
                <a:spcPts val="400"/>
              </a:spcAft>
            </a:pPr>
            <a:r>
              <a:rPr sz="1300" b="1" i="0">
                <a:solidFill>
                  <a:srgbClr val="475571"/>
                </a:solidFill>
                <a:latin typeface="Arial"/>
              </a:rPr>
              <a:t>Why psychologists will join us: </a:t>
            </a:r>
            <a:r>
              <a:rPr sz="1300" b="0" i="0">
                <a:solidFill>
                  <a:srgbClr val="374151"/>
                </a:solidFill>
                <a:latin typeface="Arial"/>
              </a:rPr>
              <a:t>a minimum number of paid hours, supervision and SKP points (professional credits), work with BI and OJK, and flexible hours on Theta.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457200" y="292608"/>
            <a:ext cx="9966960" cy="914400"/>
          </a:xfrm>
          <a:prstGeom prst="rect">
            <a:avLst/>
          </a:prstGeom>
          <a:noFill/>
        </p:spPr>
        <p:txBody>
          <a:bodyPr wrap="square" anchor="t" lIns="73152" rIns="73152" tIns="36576" bIns="36576">
            <a:spAutoFit/>
          </a:bodyPr>
          <a:lstStyle/>
          <a:p>
            <a:pPr algn="l">
              <a:spcAft>
                <a:spcPts val="400"/>
              </a:spcAft>
            </a:pPr>
            <a:r>
              <a:rPr sz="2400" b="1" i="0">
                <a:solidFill>
                  <a:srgbClr val="475571"/>
                </a:solidFill>
                <a:latin typeface="Arial"/>
              </a:rPr>
              <a:t>Growth also makes us safer: BI falls from 61% to 38% of our sales</a:t>
            </a:r>
          </a:p>
        </p:txBody>
      </p:sp>
      <p:sp>
        <p:nvSpPr>
          <p:cNvPr id="3" name="Tag"/>
          <p:cNvSpPr/>
          <p:nvPr/>
        </p:nvSpPr>
        <p:spPr>
          <a:xfrm>
            <a:off x="10561320" y="365760"/>
            <a:ext cx="1188720" cy="365760"/>
          </a:xfrm>
          <a:prstGeom prst="roundRect">
            <a:avLst>
              <a:gd name="adj" fmla="val 8000"/>
            </a:avLst>
          </a:prstGeom>
          <a:solidFill>
            <a:srgbClr val="637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a:spcAft>
                <a:spcPts val="400"/>
              </a:spcAft>
            </a:pPr>
            <a:r>
              <a:rPr sz="1200" b="1" i="0">
                <a:solidFill>
                  <a:srgbClr val="FFFFFF"/>
                </a:solidFill>
                <a:latin typeface="Arial"/>
              </a:rPr>
              <a:t>3  Growth</a:t>
            </a:r>
          </a:p>
        </p:txBody>
      </p:sp>
      <p:sp>
        <p:nvSpPr>
          <p:cNvPr id="4" name="Source"/>
          <p:cNvSpPr txBox="1"/>
          <p:nvPr/>
        </p:nvSpPr>
        <p:spPr>
          <a:xfrm>
            <a:off x="457200" y="6400800"/>
            <a:ext cx="10607040" cy="320040"/>
          </a:xfrm>
          <a:prstGeom prst="rect">
            <a:avLst/>
          </a:prstGeom>
          <a:noFill/>
        </p:spPr>
        <p:txBody>
          <a:bodyPr wrap="square" anchor="t" lIns="73152" rIns="73152" tIns="36576" bIns="36576">
            <a:spAutoFit/>
          </a:bodyPr>
          <a:lstStyle/>
          <a:p>
            <a:pPr algn="l">
              <a:spcAft>
                <a:spcPts val="400"/>
              </a:spcAft>
            </a:pPr>
            <a:r>
              <a:rPr sz="1000" b="0" i="0">
                <a:solidFill>
                  <a:srgbClr val="6B7280"/>
                </a:solidFill>
                <a:latin typeface="Arial"/>
              </a:rPr>
              <a:t>Source: Our 2027 financial model (version 13) and analysis/growth_scenarios.py. 'With growth' = one full year with 2 more EAP contracts and 10 bank training days.</a:t>
            </a:r>
          </a:p>
        </p:txBody>
      </p:sp>
      <p:sp>
        <p:nvSpPr>
          <p:cNvPr id="5" name="Page"/>
          <p:cNvSpPr txBox="1"/>
          <p:nvPr/>
        </p:nvSpPr>
        <p:spPr>
          <a:xfrm>
            <a:off x="11247120" y="6400800"/>
            <a:ext cx="502920" cy="320040"/>
          </a:xfrm>
          <a:prstGeom prst="rect">
            <a:avLst/>
          </a:prstGeom>
          <a:noFill/>
        </p:spPr>
        <p:txBody>
          <a:bodyPr wrap="square" anchor="t" lIns="73152" rIns="73152" tIns="36576" bIns="36576">
            <a:spAutoFit/>
          </a:bodyPr>
          <a:lstStyle/>
          <a:p>
            <a:pPr algn="r">
              <a:spcAft>
                <a:spcPts val="400"/>
              </a:spcAft>
            </a:pPr>
            <a:r>
              <a:rPr sz="1000" b="0" i="0">
                <a:solidFill>
                  <a:srgbClr val="6B7280"/>
                </a:solidFill>
                <a:latin typeface="Arial"/>
              </a:rPr>
              <a:t>15</a:t>
            </a:r>
          </a:p>
        </p:txBody>
      </p:sp>
      <p:graphicFrame>
        <p:nvGraphicFramePr>
          <p:cNvPr id="6" name="Chart 5"/>
          <p:cNvGraphicFramePr>
            <a:graphicFrameLocks noGrp="1"/>
          </p:cNvGraphicFramePr>
          <p:nvPr/>
        </p:nvGraphicFramePr>
        <p:xfrm>
          <a:off x="457200" y="1325880"/>
          <a:ext cx="6583680" cy="4983480"/>
        </p:xfrm>
        <a:graphic>
          <a:graphicData uri="http://schemas.openxmlformats.org/drawingml/2006/chart">
            <c:chart xmlns:c="http://schemas.openxmlformats.org/drawingml/2006/chart" r:id="rId2"/>
          </a:graphicData>
        </a:graphic>
      </p:graphicFrame>
      <p:sp>
        <p:nvSpPr>
          <p:cNvPr id="7" name="Rounded Rectangle 6"/>
          <p:cNvSpPr/>
          <p:nvPr/>
        </p:nvSpPr>
        <p:spPr>
          <a:xfrm>
            <a:off x="7315200" y="1325880"/>
            <a:ext cx="4434840" cy="4983480"/>
          </a:xfrm>
          <a:prstGeom prst="roundRect">
            <a:avLst>
              <a:gd name="adj" fmla="val 8000"/>
            </a:avLst>
          </a:prstGeom>
          <a:solidFill>
            <a:srgbClr val="F3F5F9"/>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36576" bIns="36576"/>
          <a:lstStyle/>
          <a:p>
            <a:pPr algn="l">
              <a:spcAft>
                <a:spcPts val="900"/>
              </a:spcAft>
            </a:pPr>
            <a:r>
              <a:rPr sz="1600" b="1" i="0">
                <a:solidFill>
                  <a:srgbClr val="475571"/>
                </a:solidFill>
                <a:latin typeface="Arial"/>
              </a:rPr>
              <a:t>Why this matters</a:t>
            </a:r>
          </a:p>
          <a:p>
            <a:pPr algn="l">
              <a:spcAft>
                <a:spcPts val="900"/>
              </a:spcAft>
            </a:pPr>
            <a:r>
              <a:rPr sz="1300" b="1" i="0">
                <a:solidFill>
                  <a:srgbClr val="374151"/>
                </a:solidFill>
                <a:latin typeface="Arial"/>
              </a:rPr>
              <a:t>One big client is a risk. </a:t>
            </a:r>
            <a:r>
              <a:rPr sz="1300" b="0" i="0">
                <a:solidFill>
                  <a:srgbClr val="374151"/>
                </a:solidFill>
                <a:latin typeface="Arial"/>
              </a:rPr>
              <a:t>Today BI gives 61% of our sales. If BI cuts its budget, we feel it at once.</a:t>
            </a:r>
          </a:p>
          <a:p>
            <a:pPr algn="l">
              <a:spcAft>
                <a:spcPts val="900"/>
              </a:spcAft>
            </a:pPr>
            <a:r>
              <a:rPr sz="1300" b="1" i="0">
                <a:solidFill>
                  <a:srgbClr val="374151"/>
                </a:solidFill>
                <a:latin typeface="Arial"/>
              </a:rPr>
              <a:t>With growth, BI is 38%. </a:t>
            </a:r>
            <a:r>
              <a:rPr sz="1300" b="0" i="0">
                <a:solidFill>
                  <a:srgbClr val="374151"/>
                </a:solidFill>
                <a:latin typeface="Arial"/>
              </a:rPr>
              <a:t>Our target is below 40%.</a:t>
            </a:r>
          </a:p>
          <a:p>
            <a:pPr algn="l">
              <a:spcAft>
                <a:spcPts val="900"/>
              </a:spcAft>
            </a:pPr>
            <a:r>
              <a:rPr sz="1300" b="1" i="0">
                <a:solidFill>
                  <a:srgbClr val="374151"/>
                </a:solidFill>
                <a:latin typeface="Arial"/>
              </a:rPr>
              <a:t>Monthly income rises from 12% to 23%. </a:t>
            </a:r>
            <a:r>
              <a:rPr sz="1300" b="0" i="0">
                <a:solidFill>
                  <a:srgbClr val="374151"/>
                </a:solidFill>
                <a:latin typeface="Arial"/>
              </a:rPr>
              <a:t>EAP money comes every month, also in quiet months.</a:t>
            </a:r>
          </a:p>
          <a:p>
            <a:pPr algn="l">
              <a:spcAft>
                <a:spcPts val="900"/>
              </a:spcAft>
            </a:pPr>
            <a:r>
              <a:rPr sz="1300" b="1" i="0">
                <a:solidFill>
                  <a:srgbClr val="374151"/>
                </a:solidFill>
                <a:latin typeface="Arial"/>
              </a:rPr>
              <a:t>Investors like both: </a:t>
            </a:r>
            <a:r>
              <a:rPr sz="1300" b="0" i="0">
                <a:solidFill>
                  <a:srgbClr val="374151"/>
                </a:solidFill>
                <a:latin typeface="Arial"/>
              </a:rPr>
              <a:t>many clients, and income that repeats.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457200" y="292608"/>
            <a:ext cx="9966960" cy="914400"/>
          </a:xfrm>
          <a:prstGeom prst="rect">
            <a:avLst/>
          </a:prstGeom>
          <a:noFill/>
        </p:spPr>
        <p:txBody>
          <a:bodyPr wrap="square" anchor="t" lIns="73152" rIns="73152" tIns="36576" bIns="36576">
            <a:spAutoFit/>
          </a:bodyPr>
          <a:lstStyle/>
          <a:p>
            <a:pPr algn="l">
              <a:spcAft>
                <a:spcPts val="400"/>
              </a:spcAft>
            </a:pPr>
            <a:r>
              <a:rPr sz="2400" b="1" i="0">
                <a:solidFill>
                  <a:srgbClr val="475571"/>
                </a:solidFill>
                <a:latin typeface="Arial"/>
              </a:rPr>
              <a:t>Grow in one loop: win the head office, spread to its branches, and keep the client with EAP</a:t>
            </a:r>
          </a:p>
        </p:txBody>
      </p:sp>
      <p:sp>
        <p:nvSpPr>
          <p:cNvPr id="3" name="Tag"/>
          <p:cNvSpPr/>
          <p:nvPr/>
        </p:nvSpPr>
        <p:spPr>
          <a:xfrm>
            <a:off x="10561320" y="365760"/>
            <a:ext cx="1188720" cy="365760"/>
          </a:xfrm>
          <a:prstGeom prst="roundRect">
            <a:avLst>
              <a:gd name="adj" fmla="val 8000"/>
            </a:avLst>
          </a:prstGeom>
          <a:solidFill>
            <a:srgbClr val="637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a:spcAft>
                <a:spcPts val="400"/>
              </a:spcAft>
            </a:pPr>
            <a:r>
              <a:rPr sz="1200" b="1" i="0">
                <a:solidFill>
                  <a:srgbClr val="FFFFFF"/>
                </a:solidFill>
                <a:latin typeface="Arial"/>
              </a:rPr>
              <a:t>3  Growth</a:t>
            </a:r>
          </a:p>
        </p:txBody>
      </p:sp>
      <p:sp>
        <p:nvSpPr>
          <p:cNvPr id="4" name="Source"/>
          <p:cNvSpPr txBox="1"/>
          <p:nvPr/>
        </p:nvSpPr>
        <p:spPr>
          <a:xfrm>
            <a:off x="457200" y="6400800"/>
            <a:ext cx="10607040" cy="320040"/>
          </a:xfrm>
          <a:prstGeom prst="rect">
            <a:avLst/>
          </a:prstGeom>
          <a:noFill/>
        </p:spPr>
        <p:txBody>
          <a:bodyPr wrap="square" anchor="t" lIns="73152" rIns="73152" tIns="36576" bIns="36576">
            <a:spAutoFit/>
          </a:bodyPr>
          <a:lstStyle/>
          <a:p>
            <a:pPr algn="l">
              <a:spcAft>
                <a:spcPts val="400"/>
              </a:spcAft>
            </a:pPr>
            <a:r>
              <a:rPr sz="1000" b="0" i="0">
                <a:solidFill>
                  <a:srgbClr val="6B7280"/>
                </a:solidFill>
                <a:latin typeface="Arial"/>
              </a:rPr>
              <a:t>Source: Our 2027 financial model (version 13) and analysis/growth_scenarios.py.</a:t>
            </a:r>
          </a:p>
        </p:txBody>
      </p:sp>
      <p:sp>
        <p:nvSpPr>
          <p:cNvPr id="5" name="Page"/>
          <p:cNvSpPr txBox="1"/>
          <p:nvPr/>
        </p:nvSpPr>
        <p:spPr>
          <a:xfrm>
            <a:off x="11247120" y="6400800"/>
            <a:ext cx="502920" cy="320040"/>
          </a:xfrm>
          <a:prstGeom prst="rect">
            <a:avLst/>
          </a:prstGeom>
          <a:noFill/>
        </p:spPr>
        <p:txBody>
          <a:bodyPr wrap="square" anchor="t" lIns="73152" rIns="73152" tIns="36576" bIns="36576">
            <a:spAutoFit/>
          </a:bodyPr>
          <a:lstStyle/>
          <a:p>
            <a:pPr algn="r">
              <a:spcAft>
                <a:spcPts val="400"/>
              </a:spcAft>
            </a:pPr>
            <a:r>
              <a:rPr sz="1000" b="0" i="0">
                <a:solidFill>
                  <a:srgbClr val="6B7280"/>
                </a:solidFill>
                <a:latin typeface="Arial"/>
              </a:rPr>
              <a:t>16</a:t>
            </a:r>
          </a:p>
        </p:txBody>
      </p:sp>
      <p:sp>
        <p:nvSpPr>
          <p:cNvPr id="6" name="Rounded Rectangle 5"/>
          <p:cNvSpPr/>
          <p:nvPr/>
        </p:nvSpPr>
        <p:spPr>
          <a:xfrm>
            <a:off x="457200" y="1325880"/>
            <a:ext cx="2011680" cy="1325880"/>
          </a:xfrm>
          <a:prstGeom prst="roundRect">
            <a:avLst>
              <a:gd name="adj" fmla="val 8000"/>
            </a:avLst>
          </a:prstGeom>
          <a:solidFill>
            <a:srgbClr val="47557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36576" bIns="36576"/>
          <a:lstStyle/>
          <a:p>
            <a:pPr algn="ctr">
              <a:spcAft>
                <a:spcPts val="300"/>
              </a:spcAft>
            </a:pPr>
            <a:r>
              <a:rPr sz="1600" b="1" i="0">
                <a:solidFill>
                  <a:srgbClr val="FFFFFF"/>
                </a:solidFill>
                <a:latin typeface="Arial"/>
              </a:rPr>
              <a:t>Instagram</a:t>
            </a:r>
          </a:p>
          <a:p>
            <a:pPr algn="ctr">
              <a:spcAft>
                <a:spcPts val="300"/>
              </a:spcAft>
            </a:pPr>
            <a:r>
              <a:rPr sz="1200" b="0" i="0">
                <a:solidFill>
                  <a:srgbClr val="FFFFFF"/>
                </a:solidFill>
                <a:latin typeface="Arial"/>
              </a:rPr>
              <a:t>Builds trust: 3 posts a week, client stories (with permission)</a:t>
            </a:r>
          </a:p>
        </p:txBody>
      </p:sp>
      <p:sp>
        <p:nvSpPr>
          <p:cNvPr id="7" name="Right Arrow 6"/>
          <p:cNvSpPr/>
          <p:nvPr/>
        </p:nvSpPr>
        <p:spPr>
          <a:xfrm>
            <a:off x="2487168" y="1828800"/>
            <a:ext cx="237744" cy="320040"/>
          </a:xfrm>
          <a:prstGeom prst="rightArrow">
            <a:avLst/>
          </a:prstGeom>
          <a:solidFill>
            <a:srgbClr val="B3A37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400" b="0" i="0">
                <a:solidFill>
                  <a:srgbClr val="374151"/>
                </a:solidFill>
                <a:latin typeface="Arial"/>
              </a:rPr>
              <a:t/>
            </a:r>
          </a:p>
        </p:txBody>
      </p:sp>
      <p:sp>
        <p:nvSpPr>
          <p:cNvPr id="8" name="Rounded Rectangle 7"/>
          <p:cNvSpPr/>
          <p:nvPr/>
        </p:nvSpPr>
        <p:spPr>
          <a:xfrm>
            <a:off x="2743200" y="1325880"/>
            <a:ext cx="2011680" cy="1325880"/>
          </a:xfrm>
          <a:prstGeom prst="roundRect">
            <a:avLst>
              <a:gd name="adj" fmla="val 8000"/>
            </a:avLst>
          </a:prstGeom>
          <a:solidFill>
            <a:srgbClr val="576C9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36576" bIns="36576"/>
          <a:lstStyle/>
          <a:p>
            <a:pPr algn="ctr">
              <a:spcAft>
                <a:spcPts val="300"/>
              </a:spcAft>
            </a:pPr>
            <a:r>
              <a:rPr sz="1600" b="1" i="0">
                <a:solidFill>
                  <a:srgbClr val="FFFFFF"/>
                </a:solidFill>
                <a:latin typeface="Arial"/>
              </a:rPr>
              <a:t>Start</a:t>
            </a:r>
          </a:p>
          <a:p>
            <a:pPr algn="ctr">
              <a:spcAft>
                <a:spcPts val="300"/>
              </a:spcAft>
            </a:pPr>
            <a:r>
              <a:rPr sz="1200" b="0" i="0">
                <a:solidFill>
                  <a:srgbClr val="FFFFFF"/>
                </a:solidFill>
                <a:latin typeface="Arial"/>
              </a:rPr>
              <a:t>A big program at the regulator head office</a:t>
            </a:r>
          </a:p>
        </p:txBody>
      </p:sp>
      <p:sp>
        <p:nvSpPr>
          <p:cNvPr id="9" name="Right Arrow 8"/>
          <p:cNvSpPr/>
          <p:nvPr/>
        </p:nvSpPr>
        <p:spPr>
          <a:xfrm>
            <a:off x="4773168" y="1828800"/>
            <a:ext cx="237744" cy="320040"/>
          </a:xfrm>
          <a:prstGeom prst="rightArrow">
            <a:avLst/>
          </a:prstGeom>
          <a:solidFill>
            <a:srgbClr val="B3A37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400" b="0" i="0">
                <a:solidFill>
                  <a:srgbClr val="374151"/>
                </a:solidFill>
                <a:latin typeface="Arial"/>
              </a:rPr>
              <a:t/>
            </a:r>
          </a:p>
        </p:txBody>
      </p:sp>
      <p:sp>
        <p:nvSpPr>
          <p:cNvPr id="10" name="Rounded Rectangle 9"/>
          <p:cNvSpPr/>
          <p:nvPr/>
        </p:nvSpPr>
        <p:spPr>
          <a:xfrm>
            <a:off x="5029200" y="1325880"/>
            <a:ext cx="2011680" cy="1325880"/>
          </a:xfrm>
          <a:prstGeom prst="roundRect">
            <a:avLst>
              <a:gd name="adj" fmla="val 8000"/>
            </a:avLst>
          </a:prstGeom>
          <a:solidFill>
            <a:srgbClr val="637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36576" bIns="36576"/>
          <a:lstStyle/>
          <a:p>
            <a:pPr algn="ctr">
              <a:spcAft>
                <a:spcPts val="300"/>
              </a:spcAft>
            </a:pPr>
            <a:r>
              <a:rPr sz="1600" b="1" i="0">
                <a:solidFill>
                  <a:srgbClr val="FFFFFF"/>
                </a:solidFill>
                <a:latin typeface="Arial"/>
              </a:rPr>
              <a:t>Spread</a:t>
            </a:r>
          </a:p>
          <a:p>
            <a:pPr algn="ctr">
              <a:spcAft>
                <a:spcPts val="300"/>
              </a:spcAft>
            </a:pPr>
            <a:r>
              <a:rPr sz="1200" b="0" i="0">
                <a:solidFill>
                  <a:srgbClr val="FFFFFF"/>
                </a:solidFill>
                <a:latin typeface="Arial"/>
              </a:rPr>
              <a:t>The same program in each branch</a:t>
            </a:r>
          </a:p>
        </p:txBody>
      </p:sp>
      <p:sp>
        <p:nvSpPr>
          <p:cNvPr id="11" name="Right Arrow 10"/>
          <p:cNvSpPr/>
          <p:nvPr/>
        </p:nvSpPr>
        <p:spPr>
          <a:xfrm>
            <a:off x="7059168" y="1828800"/>
            <a:ext cx="237744" cy="320040"/>
          </a:xfrm>
          <a:prstGeom prst="rightArrow">
            <a:avLst/>
          </a:prstGeom>
          <a:solidFill>
            <a:srgbClr val="B3A37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400" b="0" i="0">
                <a:solidFill>
                  <a:srgbClr val="374151"/>
                </a:solidFill>
                <a:latin typeface="Arial"/>
              </a:rPr>
              <a:t/>
            </a:r>
          </a:p>
        </p:txBody>
      </p:sp>
      <p:sp>
        <p:nvSpPr>
          <p:cNvPr id="12" name="Rounded Rectangle 11"/>
          <p:cNvSpPr/>
          <p:nvPr/>
        </p:nvSpPr>
        <p:spPr>
          <a:xfrm>
            <a:off x="7315200" y="1325880"/>
            <a:ext cx="2011680" cy="1325880"/>
          </a:xfrm>
          <a:prstGeom prst="roundRect">
            <a:avLst>
              <a:gd name="adj" fmla="val 8000"/>
            </a:avLst>
          </a:prstGeom>
          <a:solidFill>
            <a:srgbClr val="9B38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36576" bIns="36576"/>
          <a:lstStyle/>
          <a:p>
            <a:pPr algn="ctr">
              <a:spcAft>
                <a:spcPts val="300"/>
              </a:spcAft>
            </a:pPr>
            <a:r>
              <a:rPr sz="1600" b="1" i="0">
                <a:solidFill>
                  <a:srgbClr val="FFFFFF"/>
                </a:solidFill>
                <a:latin typeface="Arial"/>
              </a:rPr>
              <a:t>Keep</a:t>
            </a:r>
          </a:p>
          <a:p>
            <a:pPr algn="ctr">
              <a:spcAft>
                <a:spcPts val="300"/>
              </a:spcAft>
            </a:pPr>
            <a:r>
              <a:rPr sz="1200" b="0" i="0">
                <a:solidFill>
                  <a:srgbClr val="FFFFFF"/>
                </a:solidFill>
                <a:latin typeface="Arial"/>
              </a:rPr>
              <a:t>EAP and Theta vouchers for staff</a:t>
            </a:r>
          </a:p>
        </p:txBody>
      </p:sp>
      <p:sp>
        <p:nvSpPr>
          <p:cNvPr id="13" name="Right Arrow 12"/>
          <p:cNvSpPr/>
          <p:nvPr/>
        </p:nvSpPr>
        <p:spPr>
          <a:xfrm>
            <a:off x="9345168" y="1828800"/>
            <a:ext cx="237744" cy="320040"/>
          </a:xfrm>
          <a:prstGeom prst="rightArrow">
            <a:avLst/>
          </a:prstGeom>
          <a:solidFill>
            <a:srgbClr val="B3A37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spcAft>
                <a:spcPts val="400"/>
              </a:spcAft>
            </a:pPr>
            <a:r>
              <a:rPr sz="1400" b="0" i="0">
                <a:solidFill>
                  <a:srgbClr val="374151"/>
                </a:solidFill>
                <a:latin typeface="Arial"/>
              </a:rPr>
              <a:t/>
            </a:r>
          </a:p>
        </p:txBody>
      </p:sp>
      <p:sp>
        <p:nvSpPr>
          <p:cNvPr id="14" name="Rounded Rectangle 13"/>
          <p:cNvSpPr/>
          <p:nvPr/>
        </p:nvSpPr>
        <p:spPr>
          <a:xfrm>
            <a:off x="9601200" y="1325880"/>
            <a:ext cx="2011680" cy="1325880"/>
          </a:xfrm>
          <a:prstGeom prst="roundRect">
            <a:avLst>
              <a:gd name="adj" fmla="val 8000"/>
            </a:avLst>
          </a:prstGeom>
          <a:solidFill>
            <a:srgbClr val="CD5D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36576" bIns="36576"/>
          <a:lstStyle/>
          <a:p>
            <a:pPr algn="ctr">
              <a:spcAft>
                <a:spcPts val="300"/>
              </a:spcAft>
            </a:pPr>
            <a:r>
              <a:rPr sz="1600" b="1" i="0">
                <a:solidFill>
                  <a:srgbClr val="FFFFFF"/>
                </a:solidFill>
                <a:latin typeface="Arial"/>
              </a:rPr>
              <a:t>New clients</a:t>
            </a:r>
          </a:p>
          <a:p>
            <a:pPr algn="ctr">
              <a:spcAft>
                <a:spcPts val="300"/>
              </a:spcAft>
            </a:pPr>
            <a:r>
              <a:rPr sz="1200" b="0" i="0">
                <a:solidFill>
                  <a:srgbClr val="FFFFFF"/>
                </a:solidFill>
                <a:latin typeface="Arial"/>
              </a:rPr>
              <a:t>Vouchers bring individual counseling and referrals</a:t>
            </a:r>
          </a:p>
        </p:txBody>
      </p:sp>
      <p:sp>
        <p:nvSpPr>
          <p:cNvPr id="15" name="TextBox 14"/>
          <p:cNvSpPr txBox="1"/>
          <p:nvPr/>
        </p:nvSpPr>
        <p:spPr>
          <a:xfrm>
            <a:off x="457200" y="2697480"/>
            <a:ext cx="11155680" cy="320040"/>
          </a:xfrm>
          <a:prstGeom prst="rect">
            <a:avLst/>
          </a:prstGeom>
          <a:noFill/>
        </p:spPr>
        <p:txBody>
          <a:bodyPr wrap="square" anchor="t" lIns="73152" rIns="73152" tIns="36576" bIns="36576">
            <a:spAutoFit/>
          </a:bodyPr>
          <a:lstStyle/>
          <a:p>
            <a:pPr algn="ctr">
              <a:spcAft>
                <a:spcPts val="400"/>
              </a:spcAft>
            </a:pPr>
            <a:r>
              <a:rPr sz="1200" b="0" i="0">
                <a:solidFill>
                  <a:srgbClr val="6B7280"/>
                </a:solidFill>
                <a:latin typeface="Arial"/>
              </a:rPr>
              <a:t>New clients and their stories go back to Instagram, and the loop starts again.</a:t>
            </a:r>
          </a:p>
        </p:txBody>
      </p:sp>
      <p:sp>
        <p:nvSpPr>
          <p:cNvPr id="16" name="Rounded Rectangle 15"/>
          <p:cNvSpPr/>
          <p:nvPr/>
        </p:nvSpPr>
        <p:spPr>
          <a:xfrm>
            <a:off x="457200" y="3108960"/>
            <a:ext cx="3611880" cy="3200400"/>
          </a:xfrm>
          <a:prstGeom prst="roundRect">
            <a:avLst>
              <a:gd name="adj" fmla="val 8000"/>
            </a:avLst>
          </a:prstGeom>
          <a:solidFill>
            <a:srgbClr val="F3F5F9"/>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36576" bIns="36576"/>
          <a:lstStyle/>
          <a:p>
            <a:pPr algn="l">
              <a:spcAft>
                <a:spcPts val="700"/>
              </a:spcAft>
            </a:pPr>
            <a:r>
              <a:rPr sz="1500" b="1" i="0">
                <a:solidFill>
                  <a:srgbClr val="475571"/>
                </a:solidFill>
                <a:latin typeface="Arial"/>
              </a:rPr>
              <a:t>Instagram targets</a:t>
            </a:r>
          </a:p>
          <a:p>
            <a:pPr algn="l">
              <a:spcAft>
                <a:spcPts val="700"/>
              </a:spcAft>
            </a:pPr>
            <a:r>
              <a:rPr sz="1300" b="0" i="0">
                <a:solidFill>
                  <a:srgbClr val="374151"/>
                </a:solidFill>
                <a:latin typeface="Arial"/>
              </a:rPr>
              <a:t>Reach that grows every month</a:t>
            </a:r>
          </a:p>
          <a:p>
            <a:pPr algn="l">
              <a:spcAft>
                <a:spcPts val="700"/>
              </a:spcAft>
            </a:pPr>
            <a:r>
              <a:rPr sz="1300" b="0" i="0">
                <a:solidFill>
                  <a:srgbClr val="374151"/>
                </a:solidFill>
                <a:latin typeface="Arial"/>
              </a:rPr>
              <a:t>Messages that turn into counseling bookings</a:t>
            </a:r>
          </a:p>
          <a:p>
            <a:pPr algn="l">
              <a:spcAft>
                <a:spcPts val="700"/>
              </a:spcAft>
            </a:pPr>
            <a:r>
              <a:rPr sz="1300" b="0" i="0">
                <a:solidFill>
                  <a:srgbClr val="374151"/>
                </a:solidFill>
                <a:latin typeface="Arial"/>
              </a:rPr>
              <a:t>1 client story every 3 months</a:t>
            </a:r>
          </a:p>
          <a:p>
            <a:pPr algn="l">
              <a:spcAft>
                <a:spcPts val="700"/>
              </a:spcAft>
            </a:pPr>
            <a:r>
              <a:rPr sz="1300" b="0" i="0">
                <a:solidFill>
                  <a:srgbClr val="374151"/>
                </a:solidFill>
                <a:latin typeface="Arial"/>
              </a:rPr>
              <a:t>Cost: about Rp18M a month for marketing staff and ads</a:t>
            </a:r>
          </a:p>
          <a:p>
            <a:pPr algn="l">
              <a:spcAft>
                <a:spcPts val="700"/>
              </a:spcAft>
            </a:pPr>
            <a:r>
              <a:rPr sz="1300" b="0" i="0">
                <a:solidFill>
                  <a:srgbClr val="374151"/>
                </a:solidFill>
                <a:latin typeface="Arial"/>
              </a:rPr>
              <a:t>Set exact numbers after 1 month of data</a:t>
            </a:r>
          </a:p>
        </p:txBody>
      </p:sp>
      <p:sp>
        <p:nvSpPr>
          <p:cNvPr id="17" name="Rounded Rectangle 16"/>
          <p:cNvSpPr/>
          <p:nvPr/>
        </p:nvSpPr>
        <p:spPr>
          <a:xfrm>
            <a:off x="4251960" y="3108960"/>
            <a:ext cx="3611880" cy="3200400"/>
          </a:xfrm>
          <a:prstGeom prst="roundRect">
            <a:avLst>
              <a:gd name="adj" fmla="val 8000"/>
            </a:avLst>
          </a:prstGeom>
          <a:solidFill>
            <a:srgbClr val="F3F5F9"/>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36576" bIns="36576"/>
          <a:lstStyle/>
          <a:p>
            <a:pPr algn="l">
              <a:spcAft>
                <a:spcPts val="700"/>
              </a:spcAft>
            </a:pPr>
            <a:r>
              <a:rPr sz="1500" b="1" i="0">
                <a:solidFill>
                  <a:srgbClr val="475571"/>
                </a:solidFill>
                <a:latin typeface="Arial"/>
              </a:rPr>
              <a:t>How we deliver EAP</a:t>
            </a:r>
          </a:p>
          <a:p>
            <a:pPr algn="l">
              <a:spcAft>
                <a:spcPts val="700"/>
              </a:spcAft>
            </a:pPr>
            <a:r>
              <a:rPr sz="1300" b="0" i="0">
                <a:solidFill>
                  <a:srgbClr val="374151"/>
                </a:solidFill>
                <a:latin typeface="Arial"/>
              </a:rPr>
              <a:t>Our full-time psychologist manages each client</a:t>
            </a:r>
          </a:p>
          <a:p>
            <a:pPr algn="l">
              <a:spcAft>
                <a:spcPts val="700"/>
              </a:spcAft>
            </a:pPr>
            <a:r>
              <a:rPr sz="1300" b="0" i="0">
                <a:solidFill>
                  <a:srgbClr val="374151"/>
                </a:solidFill>
                <a:latin typeface="Arial"/>
              </a:rPr>
              <a:t>Part-time psychologists run sessions, paid per hour</a:t>
            </a:r>
          </a:p>
          <a:p>
            <a:pPr algn="l">
              <a:spcAft>
                <a:spcPts val="700"/>
              </a:spcAft>
            </a:pPr>
            <a:r>
              <a:rPr sz="1300" b="0" i="0">
                <a:solidFill>
                  <a:srgbClr val="374151"/>
                </a:solidFill>
                <a:latin typeface="Arial"/>
              </a:rPr>
              <a:t>A report for the client every 3 months</a:t>
            </a:r>
          </a:p>
          <a:p>
            <a:pPr algn="l">
              <a:spcAft>
                <a:spcPts val="700"/>
              </a:spcAft>
            </a:pPr>
            <a:r>
              <a:rPr sz="1300" b="0" i="0">
                <a:solidFill>
                  <a:srgbClr val="374151"/>
                </a:solidFill>
                <a:latin typeface="Arial"/>
              </a:rPr>
              <a:t>First check: is our current EAP contract still active?</a:t>
            </a:r>
          </a:p>
        </p:txBody>
      </p:sp>
      <p:sp>
        <p:nvSpPr>
          <p:cNvPr id="18" name="Rounded Rectangle 17"/>
          <p:cNvSpPr/>
          <p:nvPr/>
        </p:nvSpPr>
        <p:spPr>
          <a:xfrm>
            <a:off x="8046720" y="3108960"/>
            <a:ext cx="3611880" cy="3200400"/>
          </a:xfrm>
          <a:prstGeom prst="roundRect">
            <a:avLst>
              <a:gd name="adj" fmla="val 8000"/>
            </a:avLst>
          </a:prstGeom>
          <a:solidFill>
            <a:srgbClr val="F3F5F9"/>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36576" bIns="36576"/>
          <a:lstStyle/>
          <a:p>
            <a:pPr algn="l">
              <a:spcAft>
                <a:spcPts val="700"/>
              </a:spcAft>
            </a:pPr>
            <a:r>
              <a:rPr sz="1500" b="1" i="0">
                <a:solidFill>
                  <a:srgbClr val="475571"/>
                </a:solidFill>
                <a:latin typeface="Arial"/>
              </a:rPr>
              <a:t>Theta vouchers: free new clients</a:t>
            </a:r>
          </a:p>
          <a:p>
            <a:pPr algn="l">
              <a:spcAft>
                <a:spcPts val="700"/>
              </a:spcAft>
            </a:pPr>
            <a:r>
              <a:rPr sz="1300" b="0" i="0">
                <a:solidFill>
                  <a:srgbClr val="374151"/>
                </a:solidFill>
                <a:latin typeface="Arial"/>
              </a:rPr>
              <a:t>Each EAP client's staff get Theta vouchers</a:t>
            </a:r>
          </a:p>
          <a:p>
            <a:pPr algn="l">
              <a:spcAft>
                <a:spcPts val="700"/>
              </a:spcAft>
            </a:pPr>
            <a:r>
              <a:rPr sz="1300" b="0" i="0">
                <a:solidFill>
                  <a:srgbClr val="374151"/>
                </a:solidFill>
                <a:latin typeface="Arial"/>
              </a:rPr>
              <a:t>Staff who like the service book more sessions on their own</a:t>
            </a:r>
          </a:p>
          <a:p>
            <a:pPr algn="l">
              <a:spcAft>
                <a:spcPts val="700"/>
              </a:spcAft>
            </a:pPr>
            <a:r>
              <a:rPr sz="1300" b="0" i="0">
                <a:solidFill>
                  <a:srgbClr val="374151"/>
                </a:solidFill>
                <a:latin typeface="Arial"/>
              </a:rPr>
              <a:t>We pay nothing to find these clients</a:t>
            </a:r>
          </a:p>
          <a:p>
            <a:pPr algn="l">
              <a:spcAft>
                <a:spcPts val="700"/>
              </a:spcAft>
            </a:pPr>
            <a:r>
              <a:rPr sz="1300" b="0" i="0">
                <a:solidFill>
                  <a:srgbClr val="374151"/>
                </a:solidFill>
                <a:latin typeface="Arial"/>
              </a:rPr>
              <a:t>Track: how many vouchers turn into paid sessions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457200" y="292608"/>
            <a:ext cx="9966960" cy="914400"/>
          </a:xfrm>
          <a:prstGeom prst="rect">
            <a:avLst/>
          </a:prstGeom>
          <a:noFill/>
        </p:spPr>
        <p:txBody>
          <a:bodyPr wrap="square" anchor="t" lIns="73152" rIns="73152" tIns="36576" bIns="36576">
            <a:spAutoFit/>
          </a:bodyPr>
          <a:lstStyle/>
          <a:p>
            <a:pPr algn="l">
              <a:spcAft>
                <a:spcPts val="400"/>
              </a:spcAft>
            </a:pPr>
            <a:r>
              <a:rPr sz="2400" b="1" i="0">
                <a:solidFill>
                  <a:srgbClr val="475571"/>
                </a:solidFill>
                <a:latin typeface="Arial"/>
              </a:rPr>
              <a:t>Choose a sales co-founder first: 3 bank training days pay their cost, 10 days pay it more than 3 times</a:t>
            </a:r>
          </a:p>
        </p:txBody>
      </p:sp>
      <p:sp>
        <p:nvSpPr>
          <p:cNvPr id="3" name="Tag"/>
          <p:cNvSpPr/>
          <p:nvPr/>
        </p:nvSpPr>
        <p:spPr>
          <a:xfrm>
            <a:off x="10561320" y="365760"/>
            <a:ext cx="1188720" cy="365760"/>
          </a:xfrm>
          <a:prstGeom prst="roundRect">
            <a:avLst>
              <a:gd name="adj" fmla="val 8000"/>
            </a:avLst>
          </a:prstGeom>
          <a:solidFill>
            <a:srgbClr val="637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a:spcAft>
                <a:spcPts val="400"/>
              </a:spcAft>
            </a:pPr>
            <a:r>
              <a:rPr sz="1200" b="1" i="0">
                <a:solidFill>
                  <a:srgbClr val="FFFFFF"/>
                </a:solidFill>
                <a:latin typeface="Arial"/>
              </a:rPr>
              <a:t>3  Growth</a:t>
            </a:r>
          </a:p>
        </p:txBody>
      </p:sp>
      <p:sp>
        <p:nvSpPr>
          <p:cNvPr id="4" name="Source"/>
          <p:cNvSpPr txBox="1"/>
          <p:nvPr/>
        </p:nvSpPr>
        <p:spPr>
          <a:xfrm>
            <a:off x="457200" y="6400800"/>
            <a:ext cx="10607040" cy="320040"/>
          </a:xfrm>
          <a:prstGeom prst="rect">
            <a:avLst/>
          </a:prstGeom>
          <a:noFill/>
        </p:spPr>
        <p:txBody>
          <a:bodyPr wrap="square" anchor="t" lIns="73152" rIns="73152" tIns="36576" bIns="36576">
            <a:spAutoFit/>
          </a:bodyPr>
          <a:lstStyle/>
          <a:p>
            <a:pPr algn="l">
              <a:spcAft>
                <a:spcPts val="400"/>
              </a:spcAft>
            </a:pPr>
            <a:r>
              <a:rPr sz="1000" b="0" i="0">
                <a:solidFill>
                  <a:srgbClr val="6B7280"/>
                </a:solidFill>
                <a:latin typeface="Arial"/>
              </a:rPr>
              <a:t>Source: Model version 13. Profit per bank day = Rp51M price minus delivery and project manager cost. Check share terms with a lawyer.</a:t>
            </a:r>
          </a:p>
        </p:txBody>
      </p:sp>
      <p:sp>
        <p:nvSpPr>
          <p:cNvPr id="5" name="Page"/>
          <p:cNvSpPr txBox="1"/>
          <p:nvPr/>
        </p:nvSpPr>
        <p:spPr>
          <a:xfrm>
            <a:off x="11247120" y="6400800"/>
            <a:ext cx="502920" cy="320040"/>
          </a:xfrm>
          <a:prstGeom prst="rect">
            <a:avLst/>
          </a:prstGeom>
          <a:noFill/>
        </p:spPr>
        <p:txBody>
          <a:bodyPr wrap="square" anchor="t" lIns="73152" rIns="73152" tIns="36576" bIns="36576">
            <a:spAutoFit/>
          </a:bodyPr>
          <a:lstStyle/>
          <a:p>
            <a:pPr algn="r">
              <a:spcAft>
                <a:spcPts val="400"/>
              </a:spcAft>
            </a:pPr>
            <a:r>
              <a:rPr sz="1000" b="0" i="0">
                <a:solidFill>
                  <a:srgbClr val="6B7280"/>
                </a:solidFill>
                <a:latin typeface="Arial"/>
              </a:rPr>
              <a:t>17</a:t>
            </a:r>
          </a:p>
        </p:txBody>
      </p:sp>
      <p:graphicFrame>
        <p:nvGraphicFramePr>
          <p:cNvPr id="6" name="Table 5"/>
          <p:cNvGraphicFramePr>
            <a:graphicFrameLocks noGrp="1"/>
          </p:cNvGraphicFramePr>
          <p:nvPr/>
        </p:nvGraphicFramePr>
        <p:xfrm>
          <a:off x="457200" y="1325880"/>
          <a:ext cx="6400800" cy="3657600"/>
        </p:xfrm>
        <a:graphic>
          <a:graphicData uri="http://schemas.openxmlformats.org/drawingml/2006/table">
            <a:tbl>
              <a:tblPr firstRow="1" bandRow="1">
                <a:tableStyleId>{5C22544A-7EE6-4342-B048-85BDC9FD1C3A}</a:tableStyleId>
              </a:tblPr>
              <a:tblGrid>
                <a:gridCol w="2011680"/>
                <a:gridCol w="2377440"/>
                <a:gridCol w="2011680"/>
              </a:tblGrid>
              <a:tr h="731520">
                <a:tc>
                  <a:txBody>
                    <a:bodyPr wrap="square"/>
                    <a:lstStyle/>
                    <a:p>
                      <a:r>
                        <a:rPr sz="1200" b="1">
                          <a:solidFill>
                            <a:srgbClr val="FFFFFF"/>
                          </a:solidFill>
                          <a:latin typeface="Arial"/>
                        </a:rPr>
                        <a:t>Question</a:t>
                      </a:r>
                    </a:p>
                  </a:txBody>
                  <a:tcPr marL="54864" marR="54864" marT="27432" marB="27432" anchor="ctr">
                    <a:solidFill>
                      <a:srgbClr val="475571"/>
                    </a:solidFill>
                  </a:tcPr>
                </a:tc>
                <a:tc>
                  <a:txBody>
                    <a:bodyPr wrap="square"/>
                    <a:lstStyle/>
                    <a:p>
                      <a:r>
                        <a:rPr sz="1200" b="1">
                          <a:solidFill>
                            <a:srgbClr val="FFFFFF"/>
                          </a:solidFill>
                          <a:latin typeface="Arial"/>
                        </a:rPr>
                        <a:t>Sales co-founder</a:t>
                      </a:r>
                    </a:p>
                  </a:txBody>
                  <a:tcPr marL="54864" marR="54864" marT="27432" marB="27432" anchor="ctr">
                    <a:solidFill>
                      <a:srgbClr val="475571"/>
                    </a:solidFill>
                  </a:tcPr>
                </a:tc>
                <a:tc>
                  <a:txBody>
                    <a:bodyPr wrap="square"/>
                    <a:lstStyle/>
                    <a:p>
                      <a:r>
                        <a:rPr sz="1200" b="1">
                          <a:solidFill>
                            <a:srgbClr val="FFFFFF"/>
                          </a:solidFill>
                          <a:latin typeface="Arial"/>
                        </a:rPr>
                        <a:t>Marketing co-founder</a:t>
                      </a:r>
                    </a:p>
                  </a:txBody>
                  <a:tcPr marL="54864" marR="54864" marT="27432" marB="27432" anchor="ctr">
                    <a:solidFill>
                      <a:srgbClr val="475571"/>
                    </a:solidFill>
                  </a:tcPr>
                </a:tc>
              </a:tr>
              <a:tr h="731520">
                <a:tc>
                  <a:txBody>
                    <a:bodyPr wrap="square"/>
                    <a:lstStyle/>
                    <a:p>
                      <a:r>
                        <a:rPr sz="1200" b="1">
                          <a:solidFill>
                            <a:srgbClr val="374151"/>
                          </a:solidFill>
                          <a:latin typeface="Arial"/>
                        </a:rPr>
                        <a:t>Does it fix our biggest limit?</a:t>
                      </a:r>
                    </a:p>
                  </a:txBody>
                  <a:tcPr marL="54864" marR="54864" marT="27432" marB="27432" anchor="ctr">
                    <a:solidFill>
                      <a:srgbClr val="F3F5F9"/>
                    </a:solidFill>
                  </a:tcPr>
                </a:tc>
                <a:tc>
                  <a:txBody>
                    <a:bodyPr wrap="square"/>
                    <a:lstStyle/>
                    <a:p>
                      <a:r>
                        <a:rPr sz="1200" b="0">
                          <a:solidFill>
                            <a:srgbClr val="374151"/>
                          </a:solidFill>
                          <a:latin typeface="Arial"/>
                        </a:rPr>
                        <a:t>Yes: the founders do all sales, and one founder studies in Singapore</a:t>
                      </a:r>
                    </a:p>
                  </a:txBody>
                  <a:tcPr marL="54864" marR="54864" marT="27432" marB="27432" anchor="ctr">
                    <a:solidFill>
                      <a:srgbClr val="F3F5F9"/>
                    </a:solidFill>
                  </a:tcPr>
                </a:tc>
                <a:tc>
                  <a:txBody>
                    <a:bodyPr wrap="square"/>
                    <a:lstStyle/>
                    <a:p>
                      <a:r>
                        <a:rPr sz="1200" b="0">
                          <a:solidFill>
                            <a:srgbClr val="374151"/>
                          </a:solidFill>
                          <a:latin typeface="Arial"/>
                        </a:rPr>
                        <a:t>No: marketing does not close regulator deals</a:t>
                      </a:r>
                    </a:p>
                  </a:txBody>
                  <a:tcPr marL="54864" marR="54864" marT="27432" marB="27432" anchor="ctr">
                    <a:solidFill>
                      <a:srgbClr val="F3F5F9"/>
                    </a:solidFill>
                  </a:tcPr>
                </a:tc>
              </a:tr>
              <a:tr h="731520">
                <a:tc>
                  <a:txBody>
                    <a:bodyPr wrap="square"/>
                    <a:lstStyle/>
                    <a:p>
                      <a:r>
                        <a:rPr sz="1200" b="1">
                          <a:solidFill>
                            <a:srgbClr val="374151"/>
                          </a:solidFill>
                          <a:latin typeface="Arial"/>
                        </a:rPr>
                        <a:t>How do our clients buy?</a:t>
                      </a:r>
                    </a:p>
                  </a:txBody>
                  <a:tcPr marL="54864" marR="54864" marT="27432" marB="27432" anchor="ctr">
                    <a:solidFill>
                      <a:srgbClr val="FFFFFF"/>
                    </a:solidFill>
                  </a:tcPr>
                </a:tc>
                <a:tc>
                  <a:txBody>
                    <a:bodyPr wrap="square"/>
                    <a:lstStyle/>
                    <a:p>
                      <a:r>
                        <a:rPr sz="1200" b="0">
                          <a:solidFill>
                            <a:srgbClr val="374151"/>
                          </a:solidFill>
                          <a:latin typeface="Arial"/>
                        </a:rPr>
                        <a:t>Regulators and banks buy through relationships and trust</a:t>
                      </a:r>
                    </a:p>
                  </a:txBody>
                  <a:tcPr marL="54864" marR="54864" marT="27432" marB="27432" anchor="ctr">
                    <a:solidFill>
                      <a:srgbClr val="FFFFFF"/>
                    </a:solidFill>
                  </a:tcPr>
                </a:tc>
                <a:tc>
                  <a:txBody>
                    <a:bodyPr wrap="square"/>
                    <a:lstStyle/>
                    <a:p>
                      <a:r>
                        <a:rPr sz="1200" b="0">
                          <a:solidFill>
                            <a:srgbClr val="374151"/>
                          </a:solidFill>
                          <a:latin typeface="Arial"/>
                        </a:rPr>
                        <a:t>Ads help the public side (counseling) most</a:t>
                      </a:r>
                    </a:p>
                  </a:txBody>
                  <a:tcPr marL="54864" marR="54864" marT="27432" marB="27432" anchor="ctr">
                    <a:solidFill>
                      <a:srgbClr val="FFFFFF"/>
                    </a:solidFill>
                  </a:tcPr>
                </a:tc>
              </a:tr>
              <a:tr h="731520">
                <a:tc>
                  <a:txBody>
                    <a:bodyPr wrap="square"/>
                    <a:lstStyle/>
                    <a:p>
                      <a:r>
                        <a:rPr sz="1200" b="1">
                          <a:solidFill>
                            <a:srgbClr val="374151"/>
                          </a:solidFill>
                          <a:latin typeface="Arial"/>
                        </a:rPr>
                        <a:t>Can we hire it as staff instead?</a:t>
                      </a:r>
                    </a:p>
                  </a:txBody>
                  <a:tcPr marL="54864" marR="54864" marT="27432" marB="27432" anchor="ctr">
                    <a:solidFill>
                      <a:srgbClr val="F3F5F9"/>
                    </a:solidFill>
                  </a:tcPr>
                </a:tc>
                <a:tc>
                  <a:txBody>
                    <a:bodyPr wrap="square"/>
                    <a:lstStyle/>
                    <a:p>
                      <a:r>
                        <a:rPr sz="1200" b="0">
                          <a:solidFill>
                            <a:srgbClr val="374151"/>
                          </a:solidFill>
                          <a:latin typeface="Arial"/>
                        </a:rPr>
                        <a:t>Hard: good sellers to regulators are rare</a:t>
                      </a:r>
                    </a:p>
                  </a:txBody>
                  <a:tcPr marL="54864" marR="54864" marT="27432" marB="27432" anchor="ctr">
                    <a:solidFill>
                      <a:srgbClr val="F3F5F9"/>
                    </a:solidFill>
                  </a:tcPr>
                </a:tc>
                <a:tc>
                  <a:txBody>
                    <a:bodyPr wrap="square"/>
                    <a:lstStyle/>
                    <a:p>
                      <a:r>
                        <a:rPr sz="1200" b="0">
                          <a:solidFill>
                            <a:srgbClr val="374151"/>
                          </a:solidFill>
                          <a:latin typeface="Arial"/>
                        </a:rPr>
                        <a:t>Yes: marketing staff + ads cost about Rp18M a month</a:t>
                      </a:r>
                    </a:p>
                  </a:txBody>
                  <a:tcPr marL="54864" marR="54864" marT="27432" marB="27432" anchor="ctr">
                    <a:solidFill>
                      <a:srgbClr val="F3F5F9"/>
                    </a:solidFill>
                  </a:tcPr>
                </a:tc>
              </a:tr>
              <a:tr h="731520">
                <a:tc>
                  <a:txBody>
                    <a:bodyPr wrap="square"/>
                    <a:lstStyle/>
                    <a:p>
                      <a:r>
                        <a:rPr sz="1200" b="1">
                          <a:solidFill>
                            <a:srgbClr val="374151"/>
                          </a:solidFill>
                          <a:latin typeface="Arial"/>
                        </a:rPr>
                        <a:t>Our choice</a:t>
                      </a:r>
                    </a:p>
                  </a:txBody>
                  <a:tcPr marL="54864" marR="54864" marT="27432" marB="27432" anchor="ctr">
                    <a:solidFill>
                      <a:srgbClr val="FFFFFF"/>
                    </a:solidFill>
                  </a:tcPr>
                </a:tc>
                <a:tc>
                  <a:txBody>
                    <a:bodyPr wrap="square"/>
                    <a:lstStyle/>
                    <a:p>
                      <a:r>
                        <a:rPr sz="1200" b="0">
                          <a:solidFill>
                            <a:srgbClr val="374151"/>
                          </a:solidFill>
                          <a:latin typeface="Arial"/>
                        </a:rPr>
                        <a:t>First</a:t>
                      </a:r>
                    </a:p>
                  </a:txBody>
                  <a:tcPr marL="54864" marR="54864" marT="27432" marB="27432" anchor="ctr">
                    <a:solidFill>
                      <a:srgbClr val="DDE3EE"/>
                    </a:solidFill>
                  </a:tcPr>
                </a:tc>
                <a:tc>
                  <a:txBody>
                    <a:bodyPr wrap="square"/>
                    <a:lstStyle/>
                    <a:p>
                      <a:r>
                        <a:rPr sz="1200" b="0">
                          <a:solidFill>
                            <a:srgbClr val="374151"/>
                          </a:solidFill>
                          <a:latin typeface="Arial"/>
                        </a:rPr>
                        <a:t>Later, or hire as staff</a:t>
                      </a:r>
                    </a:p>
                  </a:txBody>
                  <a:tcPr marL="54864" marR="54864" marT="27432" marB="27432" anchor="ctr">
                    <a:solidFill>
                      <a:srgbClr val="F5DCD0"/>
                    </a:solidFill>
                  </a:tcPr>
                </a:tc>
              </a:tr>
            </a:tbl>
          </a:graphicData>
        </a:graphic>
      </p:graphicFrame>
      <p:graphicFrame>
        <p:nvGraphicFramePr>
          <p:cNvPr id="7" name="Chart 6"/>
          <p:cNvGraphicFramePr>
            <a:graphicFrameLocks noGrp="1"/>
          </p:cNvGraphicFramePr>
          <p:nvPr/>
        </p:nvGraphicFramePr>
        <p:xfrm>
          <a:off x="7132320" y="1325880"/>
          <a:ext cx="4617720" cy="3291840"/>
        </p:xfrm>
        <a:graphic>
          <a:graphicData uri="http://schemas.openxmlformats.org/drawingml/2006/chart">
            <c:chart xmlns:c="http://schemas.openxmlformats.org/drawingml/2006/chart" r:id="rId2"/>
          </a:graphicData>
        </a:graphic>
      </p:graphicFrame>
      <p:sp>
        <p:nvSpPr>
          <p:cNvPr id="8" name="Rounded Rectangle 7"/>
          <p:cNvSpPr/>
          <p:nvPr/>
        </p:nvSpPr>
        <p:spPr>
          <a:xfrm>
            <a:off x="7132320" y="4709160"/>
            <a:ext cx="4617720" cy="1600200"/>
          </a:xfrm>
          <a:prstGeom prst="roundRect">
            <a:avLst>
              <a:gd name="adj" fmla="val 8000"/>
            </a:avLst>
          </a:prstGeom>
          <a:solidFill>
            <a:srgbClr val="F3F5F9"/>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36576" bIns="36576"/>
          <a:lstStyle/>
          <a:p>
            <a:pPr algn="l">
              <a:spcAft>
                <a:spcPts val="400"/>
              </a:spcAft>
            </a:pPr>
            <a:r>
              <a:rPr sz="1400" b="1" i="0">
                <a:solidFill>
                  <a:srgbClr val="475571"/>
                </a:solidFill>
                <a:latin typeface="Arial"/>
              </a:rPr>
              <a:t>The deal</a:t>
            </a:r>
          </a:p>
          <a:p>
            <a:pPr algn="l">
              <a:spcAft>
                <a:spcPts val="400"/>
              </a:spcAft>
            </a:pPr>
            <a:r>
              <a:rPr sz="1200" b="0" i="0">
                <a:solidFill>
                  <a:srgbClr val="374151"/>
                </a:solidFill>
                <a:latin typeface="Arial"/>
              </a:rPr>
              <a:t>Salary about Rp8M a month + shares earned over 4 years (nothing if they leave in year 1).</a:t>
            </a:r>
          </a:p>
          <a:p>
            <a:pPr algn="l">
              <a:spcAft>
                <a:spcPts val="400"/>
              </a:spcAft>
            </a:pPr>
            <a:r>
              <a:rPr sz="1200" b="0" i="0">
                <a:solidFill>
                  <a:srgbClr val="374151"/>
                </a:solidFill>
                <a:latin typeface="Arial"/>
              </a:rPr>
              <a:t>Year-1 goals: 1 bank agreement, first OJK or LPS program, 2 EAP renewals.</a:t>
            </a:r>
          </a:p>
        </p:txBody>
      </p:sp>
      <p:sp>
        <p:nvSpPr>
          <p:cNvPr id="9" name="TextBox 8"/>
          <p:cNvSpPr txBox="1"/>
          <p:nvPr/>
        </p:nvSpPr>
        <p:spPr>
          <a:xfrm>
            <a:off x="457200" y="5120640"/>
            <a:ext cx="6400800" cy="1188720"/>
          </a:xfrm>
          <a:prstGeom prst="rect">
            <a:avLst/>
          </a:prstGeom>
          <a:noFill/>
        </p:spPr>
        <p:txBody>
          <a:bodyPr wrap="square" anchor="t" lIns="73152" rIns="73152" tIns="36576" bIns="36576">
            <a:spAutoFit/>
          </a:bodyPr>
          <a:lstStyle/>
          <a:p>
            <a:pPr algn="l">
              <a:spcAft>
                <a:spcPts val="400"/>
              </a:spcAft>
            </a:pPr>
            <a:r>
              <a:rPr sz="1300" b="1" i="0">
                <a:solidFill>
                  <a:srgbClr val="6B7280"/>
                </a:solidFill>
                <a:latin typeface="Arial"/>
              </a:rPr>
              <a:t>Co-founder </a:t>
            </a:r>
            <a:r>
              <a:rPr sz="1300" b="0" i="0">
                <a:solidFill>
                  <a:srgbClr val="6B7280"/>
                </a:solidFill>
                <a:latin typeface="Arial"/>
              </a:rPr>
              <a:t>= a partner who owns part of the company. Shares are earned over time, so a partner who leaves early does not keep them.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457200" y="292608"/>
            <a:ext cx="9966960" cy="914400"/>
          </a:xfrm>
          <a:prstGeom prst="rect">
            <a:avLst/>
          </a:prstGeom>
          <a:noFill/>
        </p:spPr>
        <p:txBody>
          <a:bodyPr wrap="square" anchor="t" lIns="73152" rIns="73152" tIns="36576" bIns="36576">
            <a:spAutoFit/>
          </a:bodyPr>
          <a:lstStyle/>
          <a:p>
            <a:pPr algn="l">
              <a:spcAft>
                <a:spcPts val="400"/>
              </a:spcAft>
            </a:pPr>
            <a:r>
              <a:rPr sz="2400" b="1" i="0">
                <a:solidFill>
                  <a:srgbClr val="475571"/>
                </a:solidFill>
                <a:latin typeface="Arial"/>
              </a:rPr>
              <a:t>We are ready to invest in new business units once our cash passes 6 months of fixed costs</a:t>
            </a:r>
          </a:p>
        </p:txBody>
      </p:sp>
      <p:sp>
        <p:nvSpPr>
          <p:cNvPr id="3" name="Tag"/>
          <p:cNvSpPr/>
          <p:nvPr/>
        </p:nvSpPr>
        <p:spPr>
          <a:xfrm>
            <a:off x="10561320" y="365760"/>
            <a:ext cx="1188720" cy="365760"/>
          </a:xfrm>
          <a:prstGeom prst="roundRect">
            <a:avLst>
              <a:gd name="adj" fmla="val 8000"/>
            </a:avLst>
          </a:prstGeom>
          <a:solidFill>
            <a:srgbClr val="637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a:spcAft>
                <a:spcPts val="400"/>
              </a:spcAft>
            </a:pPr>
            <a:r>
              <a:rPr sz="1200" b="1" i="0">
                <a:solidFill>
                  <a:srgbClr val="FFFFFF"/>
                </a:solidFill>
                <a:latin typeface="Arial"/>
              </a:rPr>
              <a:t>3  Growth</a:t>
            </a:r>
          </a:p>
        </p:txBody>
      </p:sp>
      <p:sp>
        <p:nvSpPr>
          <p:cNvPr id="4" name="Source"/>
          <p:cNvSpPr txBox="1"/>
          <p:nvPr/>
        </p:nvSpPr>
        <p:spPr>
          <a:xfrm>
            <a:off x="457200" y="6400800"/>
            <a:ext cx="10607040" cy="320040"/>
          </a:xfrm>
          <a:prstGeom prst="rect">
            <a:avLst/>
          </a:prstGeom>
          <a:noFill/>
        </p:spPr>
        <p:txBody>
          <a:bodyPr wrap="square" anchor="t" lIns="73152" rIns="73152" tIns="36576" bIns="36576">
            <a:spAutoFit/>
          </a:bodyPr>
          <a:lstStyle/>
          <a:p>
            <a:pPr algn="l">
              <a:spcAft>
                <a:spcPts val="400"/>
              </a:spcAft>
            </a:pPr>
            <a:r>
              <a:rPr sz="1000" b="0" i="0">
                <a:solidFill>
                  <a:srgbClr val="6B7280"/>
                </a:solidFill>
                <a:latin typeface="Arial"/>
              </a:rPr>
              <a:t>Source: Model version 14, Outlook sheet, recalculated in Excel (real timing, founders paid from May 2027).</a:t>
            </a:r>
          </a:p>
        </p:txBody>
      </p:sp>
      <p:sp>
        <p:nvSpPr>
          <p:cNvPr id="5" name="Page"/>
          <p:cNvSpPr txBox="1"/>
          <p:nvPr/>
        </p:nvSpPr>
        <p:spPr>
          <a:xfrm>
            <a:off x="11247120" y="6400800"/>
            <a:ext cx="502920" cy="320040"/>
          </a:xfrm>
          <a:prstGeom prst="rect">
            <a:avLst/>
          </a:prstGeom>
          <a:noFill/>
        </p:spPr>
        <p:txBody>
          <a:bodyPr wrap="square" anchor="t" lIns="73152" rIns="73152" tIns="36576" bIns="36576">
            <a:spAutoFit/>
          </a:bodyPr>
          <a:lstStyle/>
          <a:p>
            <a:pPr algn="r">
              <a:spcAft>
                <a:spcPts val="400"/>
              </a:spcAft>
            </a:pPr>
            <a:r>
              <a:rPr sz="1000" b="0" i="0">
                <a:solidFill>
                  <a:srgbClr val="6B7280"/>
                </a:solidFill>
                <a:latin typeface="Arial"/>
              </a:rPr>
              <a:t>18</a:t>
            </a:r>
          </a:p>
        </p:txBody>
      </p:sp>
      <p:graphicFrame>
        <p:nvGraphicFramePr>
          <p:cNvPr id="6" name="Chart 5"/>
          <p:cNvGraphicFramePr>
            <a:graphicFrameLocks noGrp="1"/>
          </p:cNvGraphicFramePr>
          <p:nvPr/>
        </p:nvGraphicFramePr>
        <p:xfrm>
          <a:off x="457200" y="1325880"/>
          <a:ext cx="6949440" cy="4983480"/>
        </p:xfrm>
        <a:graphic>
          <a:graphicData uri="http://schemas.openxmlformats.org/drawingml/2006/chart">
            <c:chart xmlns:c="http://schemas.openxmlformats.org/drawingml/2006/chart" r:id="rId2"/>
          </a:graphicData>
        </a:graphic>
      </p:graphicFrame>
      <p:sp>
        <p:nvSpPr>
          <p:cNvPr id="7" name="Rounded Rectangle 6"/>
          <p:cNvSpPr/>
          <p:nvPr/>
        </p:nvSpPr>
        <p:spPr>
          <a:xfrm>
            <a:off x="7680960" y="1325880"/>
            <a:ext cx="4069080" cy="4983480"/>
          </a:xfrm>
          <a:prstGeom prst="roundRect">
            <a:avLst>
              <a:gd name="adj" fmla="val 8000"/>
            </a:avLst>
          </a:prstGeom>
          <a:solidFill>
            <a:srgbClr val="F3F5F9"/>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36576" bIns="36576"/>
          <a:lstStyle/>
          <a:p>
            <a:pPr algn="l">
              <a:spcAft>
                <a:spcPts val="900"/>
              </a:spcAft>
            </a:pPr>
            <a:r>
              <a:rPr sz="1600" b="1" i="0">
                <a:solidFill>
                  <a:srgbClr val="475571"/>
                </a:solidFill>
                <a:latin typeface="Arial"/>
              </a:rPr>
              <a:t>Our rule for growth money</a:t>
            </a:r>
          </a:p>
          <a:p>
            <a:pPr algn="l">
              <a:spcAft>
                <a:spcPts val="900"/>
              </a:spcAft>
            </a:pPr>
            <a:r>
              <a:rPr sz="1300" b="1" i="0">
                <a:solidFill>
                  <a:srgbClr val="374151"/>
                </a:solidFill>
                <a:latin typeface="Arial"/>
              </a:rPr>
              <a:t>1. Keep a cushion. </a:t>
            </a:r>
            <a:r>
              <a:rPr sz="1300" b="0" i="0">
                <a:solidFill>
                  <a:srgbClr val="374151"/>
                </a:solidFill>
                <a:latin typeface="Arial"/>
              </a:rPr>
              <a:t>6 months of fixed cost, about Rp521M, stays in the bank for bad times.</a:t>
            </a:r>
          </a:p>
          <a:p>
            <a:pPr algn="l">
              <a:spcAft>
                <a:spcPts val="900"/>
              </a:spcAft>
            </a:pPr>
            <a:r>
              <a:rPr sz="1300" b="1" i="0">
                <a:solidFill>
                  <a:srgbClr val="374151"/>
                </a:solidFill>
                <a:latin typeface="Arial"/>
              </a:rPr>
              <a:t>2. Invest above it. </a:t>
            </a:r>
            <a:r>
              <a:rPr sz="1300" b="0" i="0">
                <a:solidFill>
                  <a:srgbClr val="374151"/>
                </a:solidFill>
                <a:latin typeface="Arial"/>
              </a:rPr>
              <a:t>Up to half of each year's net profit can go to new business units, such as the Theta app and Coreitera.</a:t>
            </a:r>
          </a:p>
          <a:p>
            <a:pPr algn="l">
              <a:spcAft>
                <a:spcPts val="900"/>
              </a:spcAft>
            </a:pPr>
            <a:r>
              <a:rPr sz="1300" b="1" i="0">
                <a:solidFill>
                  <a:srgbClr val="374151"/>
                </a:solidFill>
                <a:latin typeface="Arial"/>
              </a:rPr>
              <a:t>When: </a:t>
            </a:r>
            <a:r>
              <a:rPr sz="1300" b="0" i="0">
                <a:solidFill>
                  <a:srgbClr val="374151"/>
                </a:solidFill>
                <a:latin typeface="Arial"/>
              </a:rPr>
              <a:t>in early 2028. Cash is Rp446M at the end of 2027.</a:t>
            </a:r>
          </a:p>
          <a:p>
            <a:pPr algn="l">
              <a:spcAft>
                <a:spcPts val="900"/>
              </a:spcAft>
            </a:pPr>
            <a:r>
              <a:rPr sz="1300" b="1" i="0">
                <a:solidFill>
                  <a:srgbClr val="374151"/>
                </a:solidFill>
                <a:latin typeface="Arial"/>
              </a:rPr>
              <a:t>How much: </a:t>
            </a:r>
            <a:r>
              <a:rPr sz="1300" b="0" i="0">
                <a:solidFill>
                  <a:srgbClr val="374151"/>
                </a:solidFill>
                <a:latin typeface="Arial"/>
              </a:rPr>
              <a:t>a normal full year with this plan makes about Rp540M net profit, so about Rp270M a year for new units.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457200" y="292608"/>
            <a:ext cx="9966960" cy="914400"/>
          </a:xfrm>
          <a:prstGeom prst="rect">
            <a:avLst/>
          </a:prstGeom>
          <a:noFill/>
        </p:spPr>
        <p:txBody>
          <a:bodyPr wrap="square" anchor="t" lIns="73152" rIns="73152" tIns="36576" bIns="36576">
            <a:spAutoFit/>
          </a:bodyPr>
          <a:lstStyle/>
          <a:p>
            <a:pPr algn="l">
              <a:spcAft>
                <a:spcPts val="400"/>
              </a:spcAft>
            </a:pPr>
            <a:r>
              <a:rPr sz="2400" b="1" i="0">
                <a:solidFill>
                  <a:srgbClr val="475571"/>
                </a:solidFill>
                <a:latin typeface="Arial"/>
              </a:rPr>
              <a:t>Pitch and sign now, deliver from March, and take three decisions this month</a:t>
            </a:r>
          </a:p>
        </p:txBody>
      </p:sp>
      <p:sp>
        <p:nvSpPr>
          <p:cNvPr id="3" name="Tag"/>
          <p:cNvSpPr/>
          <p:nvPr/>
        </p:nvSpPr>
        <p:spPr>
          <a:xfrm>
            <a:off x="10561320" y="365760"/>
            <a:ext cx="1188720" cy="365760"/>
          </a:xfrm>
          <a:prstGeom prst="roundRect">
            <a:avLst>
              <a:gd name="adj" fmla="val 8000"/>
            </a:avLst>
          </a:prstGeom>
          <a:solidFill>
            <a:srgbClr val="47557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a:spcAft>
                <a:spcPts val="400"/>
              </a:spcAft>
            </a:pPr>
            <a:r>
              <a:rPr sz="1200" b="1" i="0">
                <a:solidFill>
                  <a:srgbClr val="FFFFFF"/>
                </a:solidFill>
                <a:latin typeface="Arial"/>
              </a:rPr>
              <a:t>Next steps</a:t>
            </a:r>
          </a:p>
        </p:txBody>
      </p:sp>
      <p:sp>
        <p:nvSpPr>
          <p:cNvPr id="4" name="Source"/>
          <p:cNvSpPr txBox="1"/>
          <p:nvPr/>
        </p:nvSpPr>
        <p:spPr>
          <a:xfrm>
            <a:off x="457200" y="6400800"/>
            <a:ext cx="10607040" cy="320040"/>
          </a:xfrm>
          <a:prstGeom prst="rect">
            <a:avLst/>
          </a:prstGeom>
          <a:noFill/>
        </p:spPr>
        <p:txBody>
          <a:bodyPr wrap="square" anchor="t" lIns="73152" rIns="73152" tIns="36576" bIns="36576">
            <a:spAutoFit/>
          </a:bodyPr>
          <a:lstStyle/>
          <a:p>
            <a:pPr algn="l">
              <a:spcAft>
                <a:spcPts val="400"/>
              </a:spcAft>
            </a:pPr>
            <a:r>
              <a:rPr sz="1000" b="0" i="0">
                <a:solidFill>
                  <a:srgbClr val="6B7280"/>
                </a:solidFill>
                <a:latin typeface="Arial"/>
              </a:rPr>
              <a:t>Source: Model version 14, recalculated in Excel. Each hire starts in its trigger month; cash includes client payment delays.</a:t>
            </a:r>
          </a:p>
        </p:txBody>
      </p:sp>
      <p:sp>
        <p:nvSpPr>
          <p:cNvPr id="5" name="Page"/>
          <p:cNvSpPr txBox="1"/>
          <p:nvPr/>
        </p:nvSpPr>
        <p:spPr>
          <a:xfrm>
            <a:off x="11247120" y="6400800"/>
            <a:ext cx="502920" cy="320040"/>
          </a:xfrm>
          <a:prstGeom prst="rect">
            <a:avLst/>
          </a:prstGeom>
          <a:noFill/>
        </p:spPr>
        <p:txBody>
          <a:bodyPr wrap="square" anchor="t" lIns="73152" rIns="73152" tIns="36576" bIns="36576">
            <a:spAutoFit/>
          </a:bodyPr>
          <a:lstStyle/>
          <a:p>
            <a:pPr algn="r">
              <a:spcAft>
                <a:spcPts val="400"/>
              </a:spcAft>
            </a:pPr>
            <a:r>
              <a:rPr sz="1000" b="0" i="0">
                <a:solidFill>
                  <a:srgbClr val="6B7280"/>
                </a:solidFill>
                <a:latin typeface="Arial"/>
              </a:rPr>
              <a:t>19</a:t>
            </a:r>
          </a:p>
        </p:txBody>
      </p:sp>
      <p:sp>
        <p:nvSpPr>
          <p:cNvPr id="6" name="Rounded Rectangle 5"/>
          <p:cNvSpPr/>
          <p:nvPr/>
        </p:nvSpPr>
        <p:spPr>
          <a:xfrm>
            <a:off x="457200" y="1325880"/>
            <a:ext cx="2697480" cy="685800"/>
          </a:xfrm>
          <a:prstGeom prst="roundRect">
            <a:avLst>
              <a:gd name="adj" fmla="val 8000"/>
            </a:avLst>
          </a:prstGeom>
          <a:solidFill>
            <a:srgbClr val="47557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36576" bIns="36576"/>
          <a:lstStyle/>
          <a:p>
            <a:pPr algn="l">
              <a:spcAft>
                <a:spcPts val="0"/>
              </a:spcAft>
            </a:pPr>
            <a:r>
              <a:rPr sz="1400" b="1" i="0">
                <a:solidFill>
                  <a:srgbClr val="FFFFFF"/>
                </a:solidFill>
                <a:latin typeface="Arial"/>
              </a:rPr>
              <a:t>Oct 2026 to Feb 2027</a:t>
            </a:r>
          </a:p>
          <a:p>
            <a:pPr algn="l">
              <a:spcAft>
                <a:spcPts val="0"/>
              </a:spcAft>
            </a:pPr>
            <a:r>
              <a:rPr sz="1200" b="0" i="0">
                <a:solidFill>
                  <a:srgbClr val="FFFFFF"/>
                </a:solidFill>
                <a:latin typeface="Arial"/>
              </a:rPr>
              <a:t>Pitch and sign</a:t>
            </a:r>
          </a:p>
        </p:txBody>
      </p:sp>
      <p:sp>
        <p:nvSpPr>
          <p:cNvPr id="7" name="Rounded Rectangle 6"/>
          <p:cNvSpPr/>
          <p:nvPr/>
        </p:nvSpPr>
        <p:spPr>
          <a:xfrm>
            <a:off x="457200" y="2103120"/>
            <a:ext cx="2697480" cy="1783080"/>
          </a:xfrm>
          <a:prstGeom prst="roundRect">
            <a:avLst>
              <a:gd name="adj" fmla="val 8000"/>
            </a:avLst>
          </a:prstGeom>
          <a:solidFill>
            <a:srgbClr val="F3F5F9"/>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36576" bIns="36576"/>
          <a:lstStyle/>
          <a:p>
            <a:pPr algn="l">
              <a:spcAft>
                <a:spcPts val="600"/>
              </a:spcAft>
            </a:pPr>
            <a:r>
              <a:rPr sz="1200" b="0" i="0">
                <a:solidFill>
                  <a:srgbClr val="374151"/>
                </a:solidFill>
                <a:latin typeface="Arial"/>
              </a:rPr>
              <a:t>Pitch BI 2027 programs before budgets close, at the new prices</a:t>
            </a:r>
          </a:p>
          <a:p>
            <a:pPr algn="l">
              <a:spcAft>
                <a:spcPts val="600"/>
              </a:spcAft>
            </a:pPr>
            <a:r>
              <a:rPr sz="1200" b="0" i="0">
                <a:solidFill>
                  <a:srgbClr val="374151"/>
                </a:solidFill>
                <a:latin typeface="Arial"/>
              </a:rPr>
              <a:t>Pitch EAP to 2 banks, LPS and OJK; sign for delivery from March</a:t>
            </a:r>
          </a:p>
          <a:p>
            <a:pPr algn="l">
              <a:spcAft>
                <a:spcPts val="600"/>
              </a:spcAft>
            </a:pPr>
            <a:r>
              <a:rPr sz="1200" b="0" i="0">
                <a:solidFill>
                  <a:srgbClr val="374151"/>
                </a:solidFill>
                <a:latin typeface="Arial"/>
              </a:rPr>
              <a:t>Fair pay for 3 full-time staff from January</a:t>
            </a:r>
          </a:p>
        </p:txBody>
      </p:sp>
      <p:sp>
        <p:nvSpPr>
          <p:cNvPr id="8" name="Rounded Rectangle 7"/>
          <p:cNvSpPr/>
          <p:nvPr/>
        </p:nvSpPr>
        <p:spPr>
          <a:xfrm>
            <a:off x="3291840" y="1325880"/>
            <a:ext cx="2697480" cy="685800"/>
          </a:xfrm>
          <a:prstGeom prst="roundRect">
            <a:avLst>
              <a:gd name="adj" fmla="val 8000"/>
            </a:avLst>
          </a:prstGeom>
          <a:solidFill>
            <a:srgbClr val="576C9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36576" bIns="36576"/>
          <a:lstStyle/>
          <a:p>
            <a:pPr algn="l">
              <a:spcAft>
                <a:spcPts val="0"/>
              </a:spcAft>
            </a:pPr>
            <a:r>
              <a:rPr sz="1400" b="1" i="0">
                <a:solidFill>
                  <a:srgbClr val="FFFFFF"/>
                </a:solidFill>
                <a:latin typeface="Arial"/>
              </a:rPr>
              <a:t>Mar to Jun 2027</a:t>
            </a:r>
          </a:p>
          <a:p>
            <a:pPr algn="l">
              <a:spcAft>
                <a:spcPts val="0"/>
              </a:spcAft>
            </a:pPr>
            <a:r>
              <a:rPr sz="1200" b="0" i="0">
                <a:solidFill>
                  <a:srgbClr val="FFFFFF"/>
                </a:solidFill>
                <a:latin typeface="Arial"/>
              </a:rPr>
              <a:t>Deliver</a:t>
            </a:r>
          </a:p>
        </p:txBody>
      </p:sp>
      <p:sp>
        <p:nvSpPr>
          <p:cNvPr id="9" name="Rounded Rectangle 8"/>
          <p:cNvSpPr/>
          <p:nvPr/>
        </p:nvSpPr>
        <p:spPr>
          <a:xfrm>
            <a:off x="3291840" y="2103120"/>
            <a:ext cx="2697480" cy="1783080"/>
          </a:xfrm>
          <a:prstGeom prst="roundRect">
            <a:avLst>
              <a:gd name="adj" fmla="val 8000"/>
            </a:avLst>
          </a:prstGeom>
          <a:solidFill>
            <a:srgbClr val="F3F5F9"/>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36576" bIns="36576"/>
          <a:lstStyle/>
          <a:p>
            <a:pPr algn="l">
              <a:spcAft>
                <a:spcPts val="600"/>
              </a:spcAft>
            </a:pPr>
            <a:r>
              <a:rPr sz="1200" b="0" i="0">
                <a:solidFill>
                  <a:srgbClr val="374151"/>
                </a:solidFill>
                <a:latin typeface="Arial"/>
              </a:rPr>
              <a:t>First new programs in March</a:t>
            </a:r>
          </a:p>
          <a:p>
            <a:pPr algn="l">
              <a:spcAft>
                <a:spcPts val="600"/>
              </a:spcAft>
            </a:pPr>
            <a:r>
              <a:rPr sz="1200" b="0" i="0">
                <a:solidFill>
                  <a:srgbClr val="374151"/>
                </a:solidFill>
                <a:latin typeface="Arial"/>
              </a:rPr>
              <a:t>EAP 2 starts in April; hire the full-time psychologist</a:t>
            </a:r>
          </a:p>
          <a:p>
            <a:pPr algn="l">
              <a:spcAft>
                <a:spcPts val="600"/>
              </a:spcAft>
            </a:pPr>
            <a:r>
              <a:rPr sz="1200" b="0" i="0">
                <a:solidFill>
                  <a:srgbClr val="374151"/>
                </a:solidFill>
                <a:latin typeface="Arial"/>
              </a:rPr>
              <a:t>Founder salaries start in May</a:t>
            </a:r>
          </a:p>
        </p:txBody>
      </p:sp>
      <p:sp>
        <p:nvSpPr>
          <p:cNvPr id="10" name="Rounded Rectangle 9"/>
          <p:cNvSpPr/>
          <p:nvPr/>
        </p:nvSpPr>
        <p:spPr>
          <a:xfrm>
            <a:off x="6126480" y="1325880"/>
            <a:ext cx="2697480" cy="685800"/>
          </a:xfrm>
          <a:prstGeom prst="roundRect">
            <a:avLst>
              <a:gd name="adj" fmla="val 8000"/>
            </a:avLst>
          </a:prstGeom>
          <a:solidFill>
            <a:srgbClr val="637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36576" bIns="36576"/>
          <a:lstStyle/>
          <a:p>
            <a:pPr algn="l">
              <a:spcAft>
                <a:spcPts val="0"/>
              </a:spcAft>
            </a:pPr>
            <a:r>
              <a:rPr sz="1400" b="1" i="0">
                <a:solidFill>
                  <a:srgbClr val="FFFFFF"/>
                </a:solidFill>
                <a:latin typeface="Arial"/>
              </a:rPr>
              <a:t>Jul to Sep 2027</a:t>
            </a:r>
          </a:p>
          <a:p>
            <a:pPr algn="l">
              <a:spcAft>
                <a:spcPts val="0"/>
              </a:spcAft>
            </a:pPr>
            <a:r>
              <a:rPr sz="1200" b="0" i="0">
                <a:solidFill>
                  <a:srgbClr val="FFFFFF"/>
                </a:solidFill>
                <a:latin typeface="Arial"/>
              </a:rPr>
              <a:t>Grow</a:t>
            </a:r>
          </a:p>
        </p:txBody>
      </p:sp>
      <p:sp>
        <p:nvSpPr>
          <p:cNvPr id="11" name="Rounded Rectangle 10"/>
          <p:cNvSpPr/>
          <p:nvPr/>
        </p:nvSpPr>
        <p:spPr>
          <a:xfrm>
            <a:off x="6126480" y="2103120"/>
            <a:ext cx="2697480" cy="1783080"/>
          </a:xfrm>
          <a:prstGeom prst="roundRect">
            <a:avLst>
              <a:gd name="adj" fmla="val 8000"/>
            </a:avLst>
          </a:prstGeom>
          <a:solidFill>
            <a:srgbClr val="F3F5F9"/>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36576" bIns="36576"/>
          <a:lstStyle/>
          <a:p>
            <a:pPr algn="l">
              <a:spcAft>
                <a:spcPts val="600"/>
              </a:spcAft>
            </a:pPr>
            <a:r>
              <a:rPr sz="1200" b="0" i="0">
                <a:solidFill>
                  <a:srgbClr val="374151"/>
                </a:solidFill>
                <a:latin typeface="Arial"/>
              </a:rPr>
              <a:t>EAP 3 starts; sales co-founder joins</a:t>
            </a:r>
          </a:p>
          <a:p>
            <a:pPr algn="l">
              <a:spcAft>
                <a:spcPts val="600"/>
              </a:spcAft>
            </a:pPr>
            <a:r>
              <a:rPr sz="1200" b="0" i="0">
                <a:solidFill>
                  <a:srgbClr val="374151"/>
                </a:solidFill>
                <a:latin typeface="Arial"/>
              </a:rPr>
              <a:t>Build a group of 4 to 6 part-time psychologists</a:t>
            </a:r>
          </a:p>
          <a:p>
            <a:pPr algn="l">
              <a:spcAft>
                <a:spcPts val="600"/>
              </a:spcAft>
            </a:pPr>
            <a:r>
              <a:rPr sz="1200" b="0" i="0">
                <a:solidFill>
                  <a:srgbClr val="374151"/>
                </a:solidFill>
                <a:latin typeface="Arial"/>
              </a:rPr>
              <a:t>Train trainers up to 8, not 11</a:t>
            </a:r>
          </a:p>
        </p:txBody>
      </p:sp>
      <p:sp>
        <p:nvSpPr>
          <p:cNvPr id="12" name="Rounded Rectangle 11"/>
          <p:cNvSpPr/>
          <p:nvPr/>
        </p:nvSpPr>
        <p:spPr>
          <a:xfrm>
            <a:off x="8961120" y="1325880"/>
            <a:ext cx="2697480" cy="685800"/>
          </a:xfrm>
          <a:prstGeom prst="roundRect">
            <a:avLst>
              <a:gd name="adj" fmla="val 8000"/>
            </a:avLst>
          </a:prstGeom>
          <a:solidFill>
            <a:srgbClr val="9B38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36576" bIns="36576"/>
          <a:lstStyle/>
          <a:p>
            <a:pPr algn="l">
              <a:spcAft>
                <a:spcPts val="0"/>
              </a:spcAft>
            </a:pPr>
            <a:r>
              <a:rPr sz="1400" b="1" i="0">
                <a:solidFill>
                  <a:srgbClr val="FFFFFF"/>
                </a:solidFill>
                <a:latin typeface="Arial"/>
              </a:rPr>
              <a:t>Oct to Dec 2027</a:t>
            </a:r>
          </a:p>
          <a:p>
            <a:pPr algn="l">
              <a:spcAft>
                <a:spcPts val="0"/>
              </a:spcAft>
            </a:pPr>
            <a:r>
              <a:rPr sz="1200" b="0" i="0">
                <a:solidFill>
                  <a:srgbClr val="FFFFFF"/>
                </a:solidFill>
                <a:latin typeface="Arial"/>
              </a:rPr>
              <a:t>Scale</a:t>
            </a:r>
          </a:p>
        </p:txBody>
      </p:sp>
      <p:sp>
        <p:nvSpPr>
          <p:cNvPr id="13" name="Rounded Rectangle 12"/>
          <p:cNvSpPr/>
          <p:nvPr/>
        </p:nvSpPr>
        <p:spPr>
          <a:xfrm>
            <a:off x="8961120" y="2103120"/>
            <a:ext cx="2697480" cy="1783080"/>
          </a:xfrm>
          <a:prstGeom prst="roundRect">
            <a:avLst>
              <a:gd name="adj" fmla="val 8000"/>
            </a:avLst>
          </a:prstGeom>
          <a:solidFill>
            <a:srgbClr val="F3F5F9"/>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36576" bIns="36576"/>
          <a:lstStyle/>
          <a:p>
            <a:pPr algn="l">
              <a:spcAft>
                <a:spcPts val="600"/>
              </a:spcAft>
            </a:pPr>
            <a:r>
              <a:rPr sz="1200" b="0" i="0">
                <a:solidFill>
                  <a:srgbClr val="374151"/>
                </a:solidFill>
                <a:latin typeface="Arial"/>
              </a:rPr>
              <a:t>First bank agreement: 1 training day a month</a:t>
            </a:r>
          </a:p>
          <a:p>
            <a:pPr algn="l">
              <a:spcAft>
                <a:spcPts val="600"/>
              </a:spcAft>
            </a:pPr>
            <a:r>
              <a:rPr sz="1200" b="0" i="0">
                <a:solidFill>
                  <a:srgbClr val="374151"/>
                </a:solidFill>
                <a:latin typeface="Arial"/>
              </a:rPr>
              <a:t>Busy season: second project manager on standby</a:t>
            </a:r>
          </a:p>
          <a:p>
            <a:pPr algn="l">
              <a:spcAft>
                <a:spcPts val="600"/>
              </a:spcAft>
            </a:pPr>
            <a:r>
              <a:rPr sz="1200" b="0" i="0">
                <a:solidFill>
                  <a:srgbClr val="374151"/>
                </a:solidFill>
                <a:latin typeface="Arial"/>
              </a:rPr>
              <a:t>Theta pays 75% of the CTO salary</a:t>
            </a:r>
          </a:p>
        </p:txBody>
      </p:sp>
      <p:sp>
        <p:nvSpPr>
          <p:cNvPr id="14" name="TextBox 13"/>
          <p:cNvSpPr txBox="1"/>
          <p:nvPr/>
        </p:nvSpPr>
        <p:spPr>
          <a:xfrm>
            <a:off x="457200" y="4069080"/>
            <a:ext cx="6035040" cy="2240280"/>
          </a:xfrm>
          <a:prstGeom prst="rect">
            <a:avLst/>
          </a:prstGeom>
          <a:noFill/>
        </p:spPr>
        <p:txBody>
          <a:bodyPr wrap="square" anchor="t" lIns="73152" rIns="73152" tIns="36576" bIns="36576">
            <a:spAutoFit/>
          </a:bodyPr>
          <a:lstStyle/>
          <a:p>
            <a:pPr algn="l">
              <a:spcAft>
                <a:spcPts val="700"/>
              </a:spcAft>
            </a:pPr>
            <a:r>
              <a:rPr sz="1600" b="1" i="0">
                <a:solidFill>
                  <a:srgbClr val="475571"/>
                </a:solidFill>
                <a:latin typeface="Arial"/>
              </a:rPr>
              <a:t>Three decisions for the founders</a:t>
            </a:r>
          </a:p>
          <a:p>
            <a:pPr algn="l">
              <a:spcAft>
                <a:spcPts val="700"/>
              </a:spcAft>
            </a:pPr>
            <a:r>
              <a:rPr sz="1400" b="1" i="0">
                <a:solidFill>
                  <a:srgbClr val="374151"/>
                </a:solidFill>
                <a:latin typeface="Arial"/>
              </a:rPr>
              <a:t>1. </a:t>
            </a:r>
            <a:r>
              <a:rPr sz="1400" b="0" i="0">
                <a:solidFill>
                  <a:srgbClr val="374151"/>
                </a:solidFill>
                <a:latin typeface="Arial"/>
              </a:rPr>
              <a:t>Pitch now. Goal by February: BI 2027 programs, 2 EAP contracts and 1 bank deal signed.</a:t>
            </a:r>
          </a:p>
          <a:p>
            <a:pPr algn="l">
              <a:spcAft>
                <a:spcPts val="700"/>
              </a:spcAft>
            </a:pPr>
            <a:r>
              <a:rPr sz="1400" b="1" i="0">
                <a:solidFill>
                  <a:srgbClr val="374151"/>
                </a:solidFill>
                <a:latin typeface="Arial"/>
              </a:rPr>
              <a:t>2. </a:t>
            </a:r>
            <a:r>
              <a:rPr sz="1400" b="0" i="0">
                <a:solidFill>
                  <a:srgbClr val="374151"/>
                </a:solidFill>
                <a:latin typeface="Arial"/>
              </a:rPr>
              <a:t>Fair pay from January (Rp17.8M a month). Founder salaries from May; July if March sales are late.</a:t>
            </a:r>
          </a:p>
          <a:p>
            <a:pPr algn="l">
              <a:spcAft>
                <a:spcPts val="700"/>
              </a:spcAft>
            </a:pPr>
            <a:r>
              <a:rPr sz="1400" b="1" i="0">
                <a:solidFill>
                  <a:srgbClr val="374151"/>
                </a:solidFill>
                <a:latin typeface="Arial"/>
              </a:rPr>
              <a:t>3. </a:t>
            </a:r>
            <a:r>
              <a:rPr sz="1400" b="0" i="0">
                <a:solidFill>
                  <a:srgbClr val="374151"/>
                </a:solidFill>
                <a:latin typeface="Arial"/>
              </a:rPr>
              <a:t>Start the co-founder search. Theta, not Teman Journey, pays the CTO.</a:t>
            </a:r>
          </a:p>
        </p:txBody>
      </p:sp>
      <p:sp>
        <p:nvSpPr>
          <p:cNvPr id="15" name="Rounded Rectangle 14"/>
          <p:cNvSpPr/>
          <p:nvPr/>
        </p:nvSpPr>
        <p:spPr>
          <a:xfrm>
            <a:off x="6766560" y="4069080"/>
            <a:ext cx="4937760" cy="2240280"/>
          </a:xfrm>
          <a:prstGeom prst="roundRect">
            <a:avLst>
              <a:gd name="adj" fmla="val 8000"/>
            </a:avLst>
          </a:prstGeom>
          <a:solidFill>
            <a:srgbClr val="475571"/>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36576" bIns="36576"/>
          <a:lstStyle/>
          <a:p>
            <a:pPr algn="l">
              <a:spcAft>
                <a:spcPts val="500"/>
              </a:spcAft>
            </a:pPr>
            <a:r>
              <a:rPr sz="1600" b="1" i="0">
                <a:solidFill>
                  <a:srgbClr val="FFFFFF"/>
                </a:solidFill>
                <a:latin typeface="Arial"/>
              </a:rPr>
              <a:t>Year 2027 with this plan</a:t>
            </a:r>
          </a:p>
          <a:p>
            <a:pPr algn="l">
              <a:spcAft>
                <a:spcPts val="500"/>
              </a:spcAft>
            </a:pPr>
            <a:r>
              <a:rPr sz="2000" b="1" i="0">
                <a:solidFill>
                  <a:srgbClr val="F1DEBB"/>
                </a:solidFill>
                <a:latin typeface="Arial"/>
              </a:rPr>
              <a:t>Net margin 22.8%, with fair pay</a:t>
            </a:r>
          </a:p>
          <a:p>
            <a:pPr algn="l">
              <a:spcAft>
                <a:spcPts val="500"/>
              </a:spcAft>
            </a:pPr>
            <a:r>
              <a:rPr sz="1400" b="0" i="0">
                <a:solidFill>
                  <a:srgbClr val="FFFFFF"/>
                </a:solidFill>
                <a:latin typeface="Arial"/>
              </a:rPr>
              <a:t>Sales Rp1,847M, net profit Rp422M. Lowest cash Rp108M (Apr 2027), Rp446M at the end of 2027.</a:t>
            </a:r>
          </a:p>
          <a:p>
            <a:pPr algn="l">
              <a:spcAft>
                <a:spcPts val="500"/>
              </a:spcAft>
            </a:pPr>
            <a:r>
              <a:rPr sz="1400" b="0" i="0">
                <a:solidFill>
                  <a:srgbClr val="FFFFFF"/>
                </a:solidFill>
                <a:latin typeface="Arial"/>
              </a:rPr>
              <a:t>Risks: no bank deal gives 18.7%. BI buying 30% less gives 15.5% and cash as low as Rp63M.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457200" y="292608"/>
            <a:ext cx="9966960" cy="914400"/>
          </a:xfrm>
          <a:prstGeom prst="rect">
            <a:avLst/>
          </a:prstGeom>
          <a:noFill/>
        </p:spPr>
        <p:txBody>
          <a:bodyPr wrap="square" anchor="t" lIns="73152" rIns="73152" tIns="36576" bIns="36576">
            <a:spAutoFit/>
          </a:bodyPr>
          <a:lstStyle/>
          <a:p>
            <a:pPr algn="l">
              <a:spcAft>
                <a:spcPts val="400"/>
              </a:spcAft>
            </a:pPr>
            <a:r>
              <a:rPr sz="2400" b="1" i="0">
                <a:solidFill>
                  <a:srgbClr val="475571"/>
                </a:solidFill>
                <a:latin typeface="Arial"/>
              </a:rPr>
              <a:t>The numbers behind the charts</a:t>
            </a:r>
          </a:p>
        </p:txBody>
      </p:sp>
      <p:sp>
        <p:nvSpPr>
          <p:cNvPr id="3" name="Tag"/>
          <p:cNvSpPr/>
          <p:nvPr/>
        </p:nvSpPr>
        <p:spPr>
          <a:xfrm>
            <a:off x="10561320" y="365760"/>
            <a:ext cx="1188720" cy="365760"/>
          </a:xfrm>
          <a:prstGeom prst="roundRect">
            <a:avLst>
              <a:gd name="adj" fmla="val 8000"/>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a:spcAft>
                <a:spcPts val="400"/>
              </a:spcAft>
            </a:pPr>
            <a:r>
              <a:rPr sz="1200" b="1" i="0">
                <a:solidFill>
                  <a:srgbClr val="FFFFFF"/>
                </a:solidFill>
                <a:latin typeface="Arial"/>
              </a:rPr>
              <a:t>Appendix</a:t>
            </a:r>
          </a:p>
        </p:txBody>
      </p:sp>
      <p:sp>
        <p:nvSpPr>
          <p:cNvPr id="4" name="Source"/>
          <p:cNvSpPr txBox="1"/>
          <p:nvPr/>
        </p:nvSpPr>
        <p:spPr>
          <a:xfrm>
            <a:off x="457200" y="6400800"/>
            <a:ext cx="10607040" cy="320040"/>
          </a:xfrm>
          <a:prstGeom prst="rect">
            <a:avLst/>
          </a:prstGeom>
          <a:noFill/>
        </p:spPr>
        <p:txBody>
          <a:bodyPr wrap="square" anchor="t" lIns="73152" rIns="73152" tIns="36576" bIns="36576">
            <a:spAutoFit/>
          </a:bodyPr>
          <a:lstStyle/>
          <a:p>
            <a:pPr algn="l">
              <a:spcAft>
                <a:spcPts val="400"/>
              </a:spcAft>
            </a:pPr>
            <a:r>
              <a:rPr sz="1000" b="0" i="0">
                <a:solidFill>
                  <a:srgbClr val="6B7280"/>
                </a:solidFill>
                <a:latin typeface="Arial"/>
              </a:rPr>
              <a:t>Source: Our 2027 financial model (version 13) and analysis/growth_scenarios.py; model version 14 recalculated in Excel. Tax is 0.5% of sales.</a:t>
            </a:r>
          </a:p>
        </p:txBody>
      </p:sp>
      <p:sp>
        <p:nvSpPr>
          <p:cNvPr id="5" name="Page"/>
          <p:cNvSpPr txBox="1"/>
          <p:nvPr/>
        </p:nvSpPr>
        <p:spPr>
          <a:xfrm>
            <a:off x="11247120" y="6400800"/>
            <a:ext cx="502920" cy="320040"/>
          </a:xfrm>
          <a:prstGeom prst="rect">
            <a:avLst/>
          </a:prstGeom>
          <a:noFill/>
        </p:spPr>
        <p:txBody>
          <a:bodyPr wrap="square" anchor="t" lIns="73152" rIns="73152" tIns="36576" bIns="36576">
            <a:spAutoFit/>
          </a:bodyPr>
          <a:lstStyle/>
          <a:p>
            <a:pPr algn="r">
              <a:spcAft>
                <a:spcPts val="400"/>
              </a:spcAft>
            </a:pPr>
            <a:r>
              <a:rPr sz="1000" b="0" i="0">
                <a:solidFill>
                  <a:srgbClr val="6B7280"/>
                </a:solidFill>
                <a:latin typeface="Arial"/>
              </a:rPr>
              <a:t>20</a:t>
            </a:r>
          </a:p>
        </p:txBody>
      </p:sp>
      <p:sp>
        <p:nvSpPr>
          <p:cNvPr id="6" name="TextBox 5"/>
          <p:cNvSpPr txBox="1"/>
          <p:nvPr/>
        </p:nvSpPr>
        <p:spPr>
          <a:xfrm>
            <a:off x="457200" y="914400"/>
            <a:ext cx="9966960" cy="320040"/>
          </a:xfrm>
          <a:prstGeom prst="rect">
            <a:avLst/>
          </a:prstGeom>
          <a:noFill/>
        </p:spPr>
        <p:txBody>
          <a:bodyPr wrap="square" anchor="t" lIns="73152" rIns="73152" tIns="36576" bIns="36576">
            <a:spAutoFit/>
          </a:bodyPr>
          <a:lstStyle/>
          <a:p>
            <a:pPr algn="l">
              <a:spcAft>
                <a:spcPts val="400"/>
              </a:spcAft>
            </a:pPr>
            <a:r>
              <a:rPr sz="1200" b="0" i="0">
                <a:solidFill>
                  <a:srgbClr val="6B7280"/>
                </a:solidFill>
                <a:latin typeface="Arial"/>
              </a:rPr>
              <a:t>Top: a normal full year, each row adds one change. Bottom: 2027 month by month; there the project manager cost starts later (slide 25).</a:t>
            </a:r>
          </a:p>
        </p:txBody>
      </p:sp>
      <p:graphicFrame>
        <p:nvGraphicFramePr>
          <p:cNvPr id="7" name="Table 6"/>
          <p:cNvGraphicFramePr>
            <a:graphicFrameLocks noGrp="1"/>
          </p:cNvGraphicFramePr>
          <p:nvPr/>
        </p:nvGraphicFramePr>
        <p:xfrm>
          <a:off x="457200" y="1280160"/>
          <a:ext cx="11247120" cy="2743200"/>
        </p:xfrm>
        <a:graphic>
          <a:graphicData uri="http://schemas.openxmlformats.org/drawingml/2006/table">
            <a:tbl>
              <a:tblPr firstRow="1" bandRow="1">
                <a:tableStyleId>{5C22544A-7EE6-4342-B048-85BDC9FD1C3A}</a:tableStyleId>
              </a:tblPr>
              <a:tblGrid>
                <a:gridCol w="4846320"/>
                <a:gridCol w="1280160"/>
                <a:gridCol w="1280160"/>
                <a:gridCol w="1280160"/>
                <a:gridCol w="1280160"/>
                <a:gridCol w="1280160"/>
              </a:tblGrid>
              <a:tr h="274320">
                <a:tc>
                  <a:txBody>
                    <a:bodyPr wrap="square"/>
                    <a:lstStyle/>
                    <a:p>
                      <a:r>
                        <a:rPr sz="1200" b="1">
                          <a:solidFill>
                            <a:srgbClr val="FFFFFF"/>
                          </a:solidFill>
                          <a:latin typeface="Arial"/>
                        </a:rPr>
                        <a:t>A normal full year (2027 sales plan)</a:t>
                      </a:r>
                    </a:p>
                  </a:txBody>
                  <a:tcPr marL="54864" marR="54864" marT="27432" marB="27432" anchor="ctr">
                    <a:solidFill>
                      <a:srgbClr val="475571"/>
                    </a:solidFill>
                  </a:tcPr>
                </a:tc>
                <a:tc>
                  <a:txBody>
                    <a:bodyPr wrap="square"/>
                    <a:lstStyle/>
                    <a:p>
                      <a:r>
                        <a:rPr sz="1200" b="1">
                          <a:solidFill>
                            <a:srgbClr val="FFFFFF"/>
                          </a:solidFill>
                          <a:latin typeface="Arial"/>
                        </a:rPr>
                        <a:t>Sales</a:t>
                      </a:r>
                    </a:p>
                  </a:txBody>
                  <a:tcPr marL="54864" marR="54864" marT="27432" marB="27432" anchor="ctr">
                    <a:solidFill>
                      <a:srgbClr val="475571"/>
                    </a:solidFill>
                  </a:tcPr>
                </a:tc>
                <a:tc>
                  <a:txBody>
                    <a:bodyPr wrap="square"/>
                    <a:lstStyle/>
                    <a:p>
                      <a:r>
                        <a:rPr sz="1200" b="1">
                          <a:solidFill>
                            <a:srgbClr val="FFFFFF"/>
                          </a:solidFill>
                          <a:latin typeface="Arial"/>
                        </a:rPr>
                        <a:t>Gross profit</a:t>
                      </a:r>
                    </a:p>
                  </a:txBody>
                  <a:tcPr marL="54864" marR="54864" marT="27432" marB="27432" anchor="ctr">
                    <a:solidFill>
                      <a:srgbClr val="475571"/>
                    </a:solidFill>
                  </a:tcPr>
                </a:tc>
                <a:tc>
                  <a:txBody>
                    <a:bodyPr wrap="square"/>
                    <a:lstStyle/>
                    <a:p>
                      <a:r>
                        <a:rPr sz="1200" b="1">
                          <a:solidFill>
                            <a:srgbClr val="FFFFFF"/>
                          </a:solidFill>
                          <a:latin typeface="Arial"/>
                        </a:rPr>
                        <a:t>Fixed cost</a:t>
                      </a:r>
                    </a:p>
                  </a:txBody>
                  <a:tcPr marL="54864" marR="54864" marT="27432" marB="27432" anchor="ctr">
                    <a:solidFill>
                      <a:srgbClr val="475571"/>
                    </a:solidFill>
                  </a:tcPr>
                </a:tc>
                <a:tc>
                  <a:txBody>
                    <a:bodyPr wrap="square"/>
                    <a:lstStyle/>
                    <a:p>
                      <a:r>
                        <a:rPr sz="1200" b="1">
                          <a:solidFill>
                            <a:srgbClr val="FFFFFF"/>
                          </a:solidFill>
                          <a:latin typeface="Arial"/>
                        </a:rPr>
                        <a:t>Net profit</a:t>
                      </a:r>
                    </a:p>
                  </a:txBody>
                  <a:tcPr marL="54864" marR="54864" marT="27432" marB="27432" anchor="ctr">
                    <a:solidFill>
                      <a:srgbClr val="475571"/>
                    </a:solidFill>
                  </a:tcPr>
                </a:tc>
                <a:tc>
                  <a:txBody>
                    <a:bodyPr wrap="square"/>
                    <a:lstStyle/>
                    <a:p>
                      <a:r>
                        <a:rPr sz="1200" b="1">
                          <a:solidFill>
                            <a:srgbClr val="FFFFFF"/>
                          </a:solidFill>
                          <a:latin typeface="Arial"/>
                        </a:rPr>
                        <a:t>Net margin</a:t>
                      </a:r>
                    </a:p>
                  </a:txBody>
                  <a:tcPr marL="54864" marR="54864" marT="27432" marB="27432" anchor="ctr">
                    <a:solidFill>
                      <a:srgbClr val="475571"/>
                    </a:solidFill>
                  </a:tcPr>
                </a:tc>
              </a:tr>
              <a:tr h="274320">
                <a:tc>
                  <a:txBody>
                    <a:bodyPr wrap="square"/>
                    <a:lstStyle/>
                    <a:p>
                      <a:r>
                        <a:rPr sz="1200" b="1">
                          <a:solidFill>
                            <a:srgbClr val="374151"/>
                          </a:solidFill>
                          <a:latin typeface="Arial"/>
                        </a:rPr>
                        <a:t>Old prices, today's pay</a:t>
                      </a:r>
                    </a:p>
                  </a:txBody>
                  <a:tcPr marL="54864" marR="54864" marT="27432" marB="27432" anchor="ctr">
                    <a:solidFill>
                      <a:srgbClr val="F3F5F9"/>
                    </a:solidFill>
                  </a:tcPr>
                </a:tc>
                <a:tc>
                  <a:txBody>
                    <a:bodyPr wrap="square"/>
                    <a:lstStyle/>
                    <a:p>
                      <a:r>
                        <a:rPr sz="1200" b="0">
                          <a:solidFill>
                            <a:srgbClr val="374151"/>
                          </a:solidFill>
                          <a:latin typeface="Arial"/>
                        </a:rPr>
                        <a:t>1,208</a:t>
                      </a:r>
                    </a:p>
                  </a:txBody>
                  <a:tcPr marL="54864" marR="54864" marT="27432" marB="27432" anchor="ctr">
                    <a:solidFill>
                      <a:srgbClr val="F3F5F9"/>
                    </a:solidFill>
                  </a:tcPr>
                </a:tc>
                <a:tc>
                  <a:txBody>
                    <a:bodyPr wrap="square"/>
                    <a:lstStyle/>
                    <a:p>
                      <a:r>
                        <a:rPr sz="1200" b="0">
                          <a:solidFill>
                            <a:srgbClr val="374151"/>
                          </a:solidFill>
                          <a:latin typeface="Arial"/>
                        </a:rPr>
                        <a:t/>
                      </a:r>
                    </a:p>
                  </a:txBody>
                  <a:tcPr marL="54864" marR="54864" marT="27432" marB="27432" anchor="ctr">
                    <a:solidFill>
                      <a:srgbClr val="F3F5F9"/>
                    </a:solidFill>
                  </a:tcPr>
                </a:tc>
                <a:tc>
                  <a:txBody>
                    <a:bodyPr wrap="square"/>
                    <a:lstStyle/>
                    <a:p>
                      <a:r>
                        <a:rPr sz="1200" b="0">
                          <a:solidFill>
                            <a:srgbClr val="374151"/>
                          </a:solidFill>
                          <a:latin typeface="Arial"/>
                        </a:rPr>
                        <a:t/>
                      </a:r>
                    </a:p>
                  </a:txBody>
                  <a:tcPr marL="54864" marR="54864" marT="27432" marB="27432" anchor="ctr">
                    <a:solidFill>
                      <a:srgbClr val="F3F5F9"/>
                    </a:solidFill>
                  </a:tcPr>
                </a:tc>
                <a:tc>
                  <a:txBody>
                    <a:bodyPr wrap="square"/>
                    <a:lstStyle/>
                    <a:p>
                      <a:r>
                        <a:rPr sz="1200" b="0">
                          <a:solidFill>
                            <a:srgbClr val="374151"/>
                          </a:solidFill>
                          <a:latin typeface="Arial"/>
                        </a:rPr>
                        <a:t>152</a:t>
                      </a:r>
                    </a:p>
                  </a:txBody>
                  <a:tcPr marL="54864" marR="54864" marT="27432" marB="27432" anchor="ctr">
                    <a:solidFill>
                      <a:srgbClr val="F3F5F9"/>
                    </a:solidFill>
                  </a:tcPr>
                </a:tc>
                <a:tc>
                  <a:txBody>
                    <a:bodyPr wrap="square"/>
                    <a:lstStyle/>
                    <a:p>
                      <a:r>
                        <a:rPr sz="1200" b="0">
                          <a:solidFill>
                            <a:srgbClr val="374151"/>
                          </a:solidFill>
                          <a:latin typeface="Arial"/>
                        </a:rPr>
                        <a:t>12.5%</a:t>
                      </a:r>
                    </a:p>
                  </a:txBody>
                  <a:tcPr marL="54864" marR="54864" marT="27432" marB="27432" anchor="ctr">
                    <a:solidFill>
                      <a:srgbClr val="F5DCD0"/>
                    </a:solidFill>
                  </a:tcPr>
                </a:tc>
              </a:tr>
              <a:tr h="274320">
                <a:tc>
                  <a:txBody>
                    <a:bodyPr wrap="square"/>
                    <a:lstStyle/>
                    <a:p>
                      <a:r>
                        <a:rPr sz="1200" b="1">
                          <a:solidFill>
                            <a:srgbClr val="374151"/>
                          </a:solidFill>
                          <a:latin typeface="Arial"/>
                        </a:rPr>
                        <a:t>New prices, today's pay</a:t>
                      </a:r>
                    </a:p>
                  </a:txBody>
                  <a:tcPr marL="54864" marR="54864" marT="27432" marB="27432" anchor="ctr">
                    <a:solidFill>
                      <a:srgbClr val="FFFFFF"/>
                    </a:solidFill>
                  </a:tcPr>
                </a:tc>
                <a:tc>
                  <a:txBody>
                    <a:bodyPr wrap="square"/>
                    <a:lstStyle/>
                    <a:p>
                      <a:r>
                        <a:rPr sz="1200" b="0">
                          <a:solidFill>
                            <a:srgbClr val="374151"/>
                          </a:solidFill>
                          <a:latin typeface="Arial"/>
                        </a:rPr>
                        <a:t>1,502</a:t>
                      </a:r>
                    </a:p>
                  </a:txBody>
                  <a:tcPr marL="54864" marR="54864" marT="27432" marB="27432" anchor="ctr">
                    <a:solidFill>
                      <a:srgbClr val="FFFFFF"/>
                    </a:solidFill>
                  </a:tcPr>
                </a:tc>
                <a:tc>
                  <a:txBody>
                    <a:bodyPr wrap="square"/>
                    <a:lstStyle/>
                    <a:p>
                      <a:r>
                        <a:rPr sz="1200" b="0">
                          <a:solidFill>
                            <a:srgbClr val="374151"/>
                          </a:solidFill>
                          <a:latin typeface="Arial"/>
                        </a:rPr>
                        <a:t>1,018</a:t>
                      </a:r>
                    </a:p>
                  </a:txBody>
                  <a:tcPr marL="54864" marR="54864" marT="27432" marB="27432" anchor="ctr">
                    <a:solidFill>
                      <a:srgbClr val="FFFFFF"/>
                    </a:solidFill>
                  </a:tcPr>
                </a:tc>
                <a:tc>
                  <a:txBody>
                    <a:bodyPr wrap="square"/>
                    <a:lstStyle/>
                    <a:p>
                      <a:r>
                        <a:rPr sz="1200" b="0">
                          <a:solidFill>
                            <a:srgbClr val="374151"/>
                          </a:solidFill>
                          <a:latin typeface="Arial"/>
                        </a:rPr>
                        <a:t>632</a:t>
                      </a:r>
                    </a:p>
                  </a:txBody>
                  <a:tcPr marL="54864" marR="54864" marT="27432" marB="27432" anchor="ctr">
                    <a:solidFill>
                      <a:srgbClr val="FFFFFF"/>
                    </a:solidFill>
                  </a:tcPr>
                </a:tc>
                <a:tc>
                  <a:txBody>
                    <a:bodyPr wrap="square"/>
                    <a:lstStyle/>
                    <a:p>
                      <a:r>
                        <a:rPr sz="1200" b="0">
                          <a:solidFill>
                            <a:srgbClr val="374151"/>
                          </a:solidFill>
                          <a:latin typeface="Arial"/>
                        </a:rPr>
                        <a:t>378</a:t>
                      </a:r>
                    </a:p>
                  </a:txBody>
                  <a:tcPr marL="54864" marR="54864" marT="27432" marB="27432" anchor="ctr">
                    <a:solidFill>
                      <a:srgbClr val="FFFFFF"/>
                    </a:solidFill>
                  </a:tcPr>
                </a:tc>
                <a:tc>
                  <a:txBody>
                    <a:bodyPr wrap="square"/>
                    <a:lstStyle/>
                    <a:p>
                      <a:r>
                        <a:rPr sz="1200" b="0">
                          <a:solidFill>
                            <a:srgbClr val="374151"/>
                          </a:solidFill>
                          <a:latin typeface="Arial"/>
                        </a:rPr>
                        <a:t>25.2%</a:t>
                      </a:r>
                    </a:p>
                  </a:txBody>
                  <a:tcPr marL="54864" marR="54864" marT="27432" marB="27432" anchor="ctr">
                    <a:solidFill>
                      <a:srgbClr val="DDE3EE"/>
                    </a:solidFill>
                  </a:tcPr>
                </a:tc>
              </a:tr>
              <a:tr h="274320">
                <a:tc>
                  <a:txBody>
                    <a:bodyPr wrap="square"/>
                    <a:lstStyle/>
                    <a:p>
                      <a:r>
                        <a:rPr sz="1200" b="1">
                          <a:solidFill>
                            <a:srgbClr val="374151"/>
                          </a:solidFill>
                          <a:latin typeface="Arial"/>
                        </a:rPr>
                        <a:t>+ fair pay, psychologist, Instagram ads</a:t>
                      </a:r>
                    </a:p>
                  </a:txBody>
                  <a:tcPr marL="54864" marR="54864" marT="27432" marB="27432" anchor="ctr">
                    <a:solidFill>
                      <a:srgbClr val="F3F5F9"/>
                    </a:solidFill>
                  </a:tcPr>
                </a:tc>
                <a:tc>
                  <a:txBody>
                    <a:bodyPr wrap="square"/>
                    <a:lstStyle/>
                    <a:p>
                      <a:r>
                        <a:rPr sz="1200" b="0">
                          <a:solidFill>
                            <a:srgbClr val="374151"/>
                          </a:solidFill>
                          <a:latin typeface="Arial"/>
                        </a:rPr>
                        <a:t>1,502</a:t>
                      </a:r>
                    </a:p>
                  </a:txBody>
                  <a:tcPr marL="54864" marR="54864" marT="27432" marB="27432" anchor="ctr">
                    <a:solidFill>
                      <a:srgbClr val="F3F5F9"/>
                    </a:solidFill>
                  </a:tcPr>
                </a:tc>
                <a:tc>
                  <a:txBody>
                    <a:bodyPr wrap="square"/>
                    <a:lstStyle/>
                    <a:p>
                      <a:r>
                        <a:rPr sz="1200" b="0">
                          <a:solidFill>
                            <a:srgbClr val="374151"/>
                          </a:solidFill>
                          <a:latin typeface="Arial"/>
                        </a:rPr>
                        <a:t>1,018</a:t>
                      </a:r>
                    </a:p>
                  </a:txBody>
                  <a:tcPr marL="54864" marR="54864" marT="27432" marB="27432" anchor="ctr">
                    <a:solidFill>
                      <a:srgbClr val="F3F5F9"/>
                    </a:solidFill>
                  </a:tcPr>
                </a:tc>
                <a:tc>
                  <a:txBody>
                    <a:bodyPr wrap="square"/>
                    <a:lstStyle/>
                    <a:p>
                      <a:r>
                        <a:rPr sz="1200" b="0">
                          <a:solidFill>
                            <a:srgbClr val="374151"/>
                          </a:solidFill>
                          <a:latin typeface="Arial"/>
                        </a:rPr>
                        <a:t>945</a:t>
                      </a:r>
                    </a:p>
                  </a:txBody>
                  <a:tcPr marL="54864" marR="54864" marT="27432" marB="27432" anchor="ctr">
                    <a:solidFill>
                      <a:srgbClr val="F3F5F9"/>
                    </a:solidFill>
                  </a:tcPr>
                </a:tc>
                <a:tc>
                  <a:txBody>
                    <a:bodyPr wrap="square"/>
                    <a:lstStyle/>
                    <a:p>
                      <a:r>
                        <a:rPr sz="1200" b="0">
                          <a:solidFill>
                            <a:srgbClr val="374151"/>
                          </a:solidFill>
                          <a:latin typeface="Arial"/>
                        </a:rPr>
                        <a:t>65</a:t>
                      </a:r>
                    </a:p>
                  </a:txBody>
                  <a:tcPr marL="54864" marR="54864" marT="27432" marB="27432" anchor="ctr">
                    <a:solidFill>
                      <a:srgbClr val="F3F5F9"/>
                    </a:solidFill>
                  </a:tcPr>
                </a:tc>
                <a:tc>
                  <a:txBody>
                    <a:bodyPr wrap="square"/>
                    <a:lstStyle/>
                    <a:p>
                      <a:r>
                        <a:rPr sz="1200" b="0">
                          <a:solidFill>
                            <a:srgbClr val="374151"/>
                          </a:solidFill>
                          <a:latin typeface="Arial"/>
                        </a:rPr>
                        <a:t>4.3%</a:t>
                      </a:r>
                    </a:p>
                  </a:txBody>
                  <a:tcPr marL="54864" marR="54864" marT="27432" marB="27432" anchor="ctr">
                    <a:solidFill>
                      <a:srgbClr val="F5DCD0"/>
                    </a:solidFill>
                  </a:tcPr>
                </a:tc>
              </a:tr>
              <a:tr h="274320">
                <a:tc>
                  <a:txBody>
                    <a:bodyPr wrap="square"/>
                    <a:lstStyle/>
                    <a:p>
                      <a:r>
                        <a:rPr sz="1200" b="1">
                          <a:solidFill>
                            <a:srgbClr val="374151"/>
                          </a:solidFill>
                          <a:latin typeface="Arial"/>
                        </a:rPr>
                        <a:t>+ 2 more EAP contracts</a:t>
                      </a:r>
                    </a:p>
                  </a:txBody>
                  <a:tcPr marL="54864" marR="54864" marT="27432" marB="27432" anchor="ctr">
                    <a:solidFill>
                      <a:srgbClr val="FFFFFF"/>
                    </a:solidFill>
                  </a:tcPr>
                </a:tc>
                <a:tc>
                  <a:txBody>
                    <a:bodyPr wrap="square"/>
                    <a:lstStyle/>
                    <a:p>
                      <a:r>
                        <a:rPr sz="1200" b="0">
                          <a:solidFill>
                            <a:srgbClr val="374151"/>
                          </a:solidFill>
                          <a:latin typeface="Arial"/>
                        </a:rPr>
                        <a:t>1,862</a:t>
                      </a:r>
                    </a:p>
                  </a:txBody>
                  <a:tcPr marL="54864" marR="54864" marT="27432" marB="27432" anchor="ctr">
                    <a:solidFill>
                      <a:srgbClr val="FFFFFF"/>
                    </a:solidFill>
                  </a:tcPr>
                </a:tc>
                <a:tc>
                  <a:txBody>
                    <a:bodyPr wrap="square"/>
                    <a:lstStyle/>
                    <a:p>
                      <a:r>
                        <a:rPr sz="1200" b="0">
                          <a:solidFill>
                            <a:srgbClr val="374151"/>
                          </a:solidFill>
                          <a:latin typeface="Arial"/>
                        </a:rPr>
                        <a:t>1,258</a:t>
                      </a:r>
                    </a:p>
                  </a:txBody>
                  <a:tcPr marL="54864" marR="54864" marT="27432" marB="27432" anchor="ctr">
                    <a:solidFill>
                      <a:srgbClr val="FFFFFF"/>
                    </a:solidFill>
                  </a:tcPr>
                </a:tc>
                <a:tc>
                  <a:txBody>
                    <a:bodyPr wrap="square"/>
                    <a:lstStyle/>
                    <a:p>
                      <a:r>
                        <a:rPr sz="1200" b="0">
                          <a:solidFill>
                            <a:srgbClr val="374151"/>
                          </a:solidFill>
                          <a:latin typeface="Arial"/>
                        </a:rPr>
                        <a:t>945</a:t>
                      </a:r>
                    </a:p>
                  </a:txBody>
                  <a:tcPr marL="54864" marR="54864" marT="27432" marB="27432" anchor="ctr">
                    <a:solidFill>
                      <a:srgbClr val="FFFFFF"/>
                    </a:solidFill>
                  </a:tcPr>
                </a:tc>
                <a:tc>
                  <a:txBody>
                    <a:bodyPr wrap="square"/>
                    <a:lstStyle/>
                    <a:p>
                      <a:r>
                        <a:rPr sz="1200" b="0">
                          <a:solidFill>
                            <a:srgbClr val="374151"/>
                          </a:solidFill>
                          <a:latin typeface="Arial"/>
                        </a:rPr>
                        <a:t>303</a:t>
                      </a:r>
                    </a:p>
                  </a:txBody>
                  <a:tcPr marL="54864" marR="54864" marT="27432" marB="27432" anchor="ctr">
                    <a:solidFill>
                      <a:srgbClr val="FFFFFF"/>
                    </a:solidFill>
                  </a:tcPr>
                </a:tc>
                <a:tc>
                  <a:txBody>
                    <a:bodyPr wrap="square"/>
                    <a:lstStyle/>
                    <a:p>
                      <a:r>
                        <a:rPr sz="1200" b="0">
                          <a:solidFill>
                            <a:srgbClr val="374151"/>
                          </a:solidFill>
                          <a:latin typeface="Arial"/>
                        </a:rPr>
                        <a:t>16.3%</a:t>
                      </a:r>
                    </a:p>
                  </a:txBody>
                  <a:tcPr marL="54864" marR="54864" marT="27432" marB="27432" anchor="ctr">
                    <a:solidFill>
                      <a:srgbClr val="DDE3EE"/>
                    </a:solidFill>
                  </a:tcPr>
                </a:tc>
              </a:tr>
              <a:tr h="274320">
                <a:tc>
                  <a:txBody>
                    <a:bodyPr wrap="square"/>
                    <a:lstStyle/>
                    <a:p>
                      <a:r>
                        <a:rPr sz="1200" b="1">
                          <a:solidFill>
                            <a:srgbClr val="374151"/>
                          </a:solidFill>
                          <a:latin typeface="Arial"/>
                        </a:rPr>
                        <a:t>+ co-founder, but no new deal</a:t>
                      </a:r>
                    </a:p>
                  </a:txBody>
                  <a:tcPr marL="54864" marR="54864" marT="27432" marB="27432" anchor="ctr">
                    <a:solidFill>
                      <a:srgbClr val="F3F5F9"/>
                    </a:solidFill>
                  </a:tcPr>
                </a:tc>
                <a:tc>
                  <a:txBody>
                    <a:bodyPr wrap="square"/>
                    <a:lstStyle/>
                    <a:p>
                      <a:r>
                        <a:rPr sz="1200" b="0">
                          <a:solidFill>
                            <a:srgbClr val="374151"/>
                          </a:solidFill>
                          <a:latin typeface="Arial"/>
                        </a:rPr>
                        <a:t>1,862</a:t>
                      </a:r>
                    </a:p>
                  </a:txBody>
                  <a:tcPr marL="54864" marR="54864" marT="27432" marB="27432" anchor="ctr">
                    <a:solidFill>
                      <a:srgbClr val="F3F5F9"/>
                    </a:solidFill>
                  </a:tcPr>
                </a:tc>
                <a:tc>
                  <a:txBody>
                    <a:bodyPr wrap="square"/>
                    <a:lstStyle/>
                    <a:p>
                      <a:r>
                        <a:rPr sz="1200" b="0">
                          <a:solidFill>
                            <a:srgbClr val="374151"/>
                          </a:solidFill>
                          <a:latin typeface="Arial"/>
                        </a:rPr>
                        <a:t>1,258</a:t>
                      </a:r>
                    </a:p>
                  </a:txBody>
                  <a:tcPr marL="54864" marR="54864" marT="27432" marB="27432" anchor="ctr">
                    <a:solidFill>
                      <a:srgbClr val="F3F5F9"/>
                    </a:solidFill>
                  </a:tcPr>
                </a:tc>
                <a:tc>
                  <a:txBody>
                    <a:bodyPr wrap="square"/>
                    <a:lstStyle/>
                    <a:p>
                      <a:r>
                        <a:rPr sz="1200" b="0">
                          <a:solidFill>
                            <a:srgbClr val="374151"/>
                          </a:solidFill>
                          <a:latin typeface="Arial"/>
                        </a:rPr>
                        <a:t>1,041</a:t>
                      </a:r>
                    </a:p>
                  </a:txBody>
                  <a:tcPr marL="54864" marR="54864" marT="27432" marB="27432" anchor="ctr">
                    <a:solidFill>
                      <a:srgbClr val="F3F5F9"/>
                    </a:solidFill>
                  </a:tcPr>
                </a:tc>
                <a:tc>
                  <a:txBody>
                    <a:bodyPr wrap="square"/>
                    <a:lstStyle/>
                    <a:p>
                      <a:r>
                        <a:rPr sz="1200" b="0">
                          <a:solidFill>
                            <a:srgbClr val="374151"/>
                          </a:solidFill>
                          <a:latin typeface="Arial"/>
                        </a:rPr>
                        <a:t>207</a:t>
                      </a:r>
                    </a:p>
                  </a:txBody>
                  <a:tcPr marL="54864" marR="54864" marT="27432" marB="27432" anchor="ctr">
                    <a:solidFill>
                      <a:srgbClr val="F3F5F9"/>
                    </a:solidFill>
                  </a:tcPr>
                </a:tc>
                <a:tc>
                  <a:txBody>
                    <a:bodyPr wrap="square"/>
                    <a:lstStyle/>
                    <a:p>
                      <a:r>
                        <a:rPr sz="1200" b="0">
                          <a:solidFill>
                            <a:srgbClr val="374151"/>
                          </a:solidFill>
                          <a:latin typeface="Arial"/>
                        </a:rPr>
                        <a:t>11.1%</a:t>
                      </a:r>
                    </a:p>
                  </a:txBody>
                  <a:tcPr marL="54864" marR="54864" marT="27432" marB="27432" anchor="ctr">
                    <a:solidFill>
                      <a:srgbClr val="F5DCD0"/>
                    </a:solidFill>
                  </a:tcPr>
                </a:tc>
              </a:tr>
              <a:tr h="274320">
                <a:tc>
                  <a:txBody>
                    <a:bodyPr wrap="square"/>
                    <a:lstStyle/>
                    <a:p>
                      <a:r>
                        <a:rPr sz="1200" b="1">
                          <a:solidFill>
                            <a:srgbClr val="374151"/>
                          </a:solidFill>
                          <a:latin typeface="Arial"/>
                        </a:rPr>
                        <a:t>+ co-founder wins 10 bank training days</a:t>
                      </a:r>
                    </a:p>
                  </a:txBody>
                  <a:tcPr marL="54864" marR="54864" marT="27432" marB="27432" anchor="ctr">
                    <a:solidFill>
                      <a:srgbClr val="FFFFFF"/>
                    </a:solidFill>
                  </a:tcPr>
                </a:tc>
                <a:tc>
                  <a:txBody>
                    <a:bodyPr wrap="square"/>
                    <a:lstStyle/>
                    <a:p>
                      <a:r>
                        <a:rPr sz="1200" b="0">
                          <a:solidFill>
                            <a:srgbClr val="374151"/>
                          </a:solidFill>
                          <a:latin typeface="Arial"/>
                        </a:rPr>
                        <a:t>2,372</a:t>
                      </a:r>
                    </a:p>
                  </a:txBody>
                  <a:tcPr marL="54864" marR="54864" marT="27432" marB="27432" anchor="ctr">
                    <a:solidFill>
                      <a:srgbClr val="FFFFFF"/>
                    </a:solidFill>
                  </a:tcPr>
                </a:tc>
                <a:tc>
                  <a:txBody>
                    <a:bodyPr wrap="square"/>
                    <a:lstStyle/>
                    <a:p>
                      <a:r>
                        <a:rPr sz="1200" b="0">
                          <a:solidFill>
                            <a:srgbClr val="374151"/>
                          </a:solidFill>
                          <a:latin typeface="Arial"/>
                        </a:rPr>
                        <a:t>1,593</a:t>
                      </a:r>
                    </a:p>
                  </a:txBody>
                  <a:tcPr marL="54864" marR="54864" marT="27432" marB="27432" anchor="ctr">
                    <a:solidFill>
                      <a:srgbClr val="FFFFFF"/>
                    </a:solidFill>
                  </a:tcPr>
                </a:tc>
                <a:tc>
                  <a:txBody>
                    <a:bodyPr wrap="square"/>
                    <a:lstStyle/>
                    <a:p>
                      <a:r>
                        <a:rPr sz="1200" b="0">
                          <a:solidFill>
                            <a:srgbClr val="374151"/>
                          </a:solidFill>
                          <a:latin typeface="Arial"/>
                        </a:rPr>
                        <a:t>1,041</a:t>
                      </a:r>
                    </a:p>
                  </a:txBody>
                  <a:tcPr marL="54864" marR="54864" marT="27432" marB="27432" anchor="ctr">
                    <a:solidFill>
                      <a:srgbClr val="FFFFFF"/>
                    </a:solidFill>
                  </a:tcPr>
                </a:tc>
                <a:tc>
                  <a:txBody>
                    <a:bodyPr wrap="square"/>
                    <a:lstStyle/>
                    <a:p>
                      <a:r>
                        <a:rPr sz="1200" b="0">
                          <a:solidFill>
                            <a:srgbClr val="374151"/>
                          </a:solidFill>
                          <a:latin typeface="Arial"/>
                        </a:rPr>
                        <a:t>540</a:t>
                      </a:r>
                    </a:p>
                  </a:txBody>
                  <a:tcPr marL="54864" marR="54864" marT="27432" marB="27432" anchor="ctr">
                    <a:solidFill>
                      <a:srgbClr val="FFFFFF"/>
                    </a:solidFill>
                  </a:tcPr>
                </a:tc>
                <a:tc>
                  <a:txBody>
                    <a:bodyPr wrap="square"/>
                    <a:lstStyle/>
                    <a:p>
                      <a:r>
                        <a:rPr sz="1200" b="0">
                          <a:solidFill>
                            <a:srgbClr val="374151"/>
                          </a:solidFill>
                          <a:latin typeface="Arial"/>
                        </a:rPr>
                        <a:t>22.8%</a:t>
                      </a:r>
                    </a:p>
                  </a:txBody>
                  <a:tcPr marL="54864" marR="54864" marT="27432" marB="27432" anchor="ctr">
                    <a:solidFill>
                      <a:srgbClr val="DDE3EE"/>
                    </a:solidFill>
                  </a:tcPr>
                </a:tc>
              </a:tr>
              <a:tr h="274320">
                <a:tc>
                  <a:txBody>
                    <a:bodyPr wrap="square"/>
                    <a:lstStyle/>
                    <a:p>
                      <a:r>
                        <a:rPr sz="1200" b="1">
                          <a:solidFill>
                            <a:srgbClr val="374151"/>
                          </a:solidFill>
                          <a:latin typeface="Arial"/>
                        </a:rPr>
                        <a:t>+ Teman Journey pays the CTO</a:t>
                      </a:r>
                    </a:p>
                  </a:txBody>
                  <a:tcPr marL="54864" marR="54864" marT="27432" marB="27432" anchor="ctr">
                    <a:solidFill>
                      <a:srgbClr val="F3F5F9"/>
                    </a:solidFill>
                  </a:tcPr>
                </a:tc>
                <a:tc>
                  <a:txBody>
                    <a:bodyPr wrap="square"/>
                    <a:lstStyle/>
                    <a:p>
                      <a:r>
                        <a:rPr sz="1200" b="0">
                          <a:solidFill>
                            <a:srgbClr val="374151"/>
                          </a:solidFill>
                          <a:latin typeface="Arial"/>
                        </a:rPr>
                        <a:t>2,372</a:t>
                      </a:r>
                    </a:p>
                  </a:txBody>
                  <a:tcPr marL="54864" marR="54864" marT="27432" marB="27432" anchor="ctr">
                    <a:solidFill>
                      <a:srgbClr val="F3F5F9"/>
                    </a:solidFill>
                  </a:tcPr>
                </a:tc>
                <a:tc>
                  <a:txBody>
                    <a:bodyPr wrap="square"/>
                    <a:lstStyle/>
                    <a:p>
                      <a:r>
                        <a:rPr sz="1200" b="0">
                          <a:solidFill>
                            <a:srgbClr val="374151"/>
                          </a:solidFill>
                          <a:latin typeface="Arial"/>
                        </a:rPr>
                        <a:t>1,593</a:t>
                      </a:r>
                    </a:p>
                  </a:txBody>
                  <a:tcPr marL="54864" marR="54864" marT="27432" marB="27432" anchor="ctr">
                    <a:solidFill>
                      <a:srgbClr val="F3F5F9"/>
                    </a:solidFill>
                  </a:tcPr>
                </a:tc>
                <a:tc>
                  <a:txBody>
                    <a:bodyPr wrap="square"/>
                    <a:lstStyle/>
                    <a:p>
                      <a:r>
                        <a:rPr sz="1200" b="0">
                          <a:solidFill>
                            <a:srgbClr val="374151"/>
                          </a:solidFill>
                          <a:latin typeface="Arial"/>
                        </a:rPr>
                        <a:t>1,161</a:t>
                      </a:r>
                    </a:p>
                  </a:txBody>
                  <a:tcPr marL="54864" marR="54864" marT="27432" marB="27432" anchor="ctr">
                    <a:solidFill>
                      <a:srgbClr val="F3F5F9"/>
                    </a:solidFill>
                  </a:tcPr>
                </a:tc>
                <a:tc>
                  <a:txBody>
                    <a:bodyPr wrap="square"/>
                    <a:lstStyle/>
                    <a:p>
                      <a:r>
                        <a:rPr sz="1200" b="0">
                          <a:solidFill>
                            <a:srgbClr val="374151"/>
                          </a:solidFill>
                          <a:latin typeface="Arial"/>
                        </a:rPr>
                        <a:t>420</a:t>
                      </a:r>
                    </a:p>
                  </a:txBody>
                  <a:tcPr marL="54864" marR="54864" marT="27432" marB="27432" anchor="ctr">
                    <a:solidFill>
                      <a:srgbClr val="F3F5F9"/>
                    </a:solidFill>
                  </a:tcPr>
                </a:tc>
                <a:tc>
                  <a:txBody>
                    <a:bodyPr wrap="square"/>
                    <a:lstStyle/>
                    <a:p>
                      <a:r>
                        <a:rPr sz="1200" b="0">
                          <a:solidFill>
                            <a:srgbClr val="374151"/>
                          </a:solidFill>
                          <a:latin typeface="Arial"/>
                        </a:rPr>
                        <a:t>17.7%</a:t>
                      </a:r>
                    </a:p>
                  </a:txBody>
                  <a:tcPr marL="54864" marR="54864" marT="27432" marB="27432" anchor="ctr">
                    <a:solidFill>
                      <a:srgbClr val="DDE3EE"/>
                    </a:solidFill>
                  </a:tcPr>
                </a:tc>
              </a:tr>
              <a:tr h="274320">
                <a:tc>
                  <a:txBody>
                    <a:bodyPr wrap="square"/>
                    <a:lstStyle/>
                    <a:p>
                      <a:r>
                        <a:rPr sz="1200" b="1">
                          <a:solidFill>
                            <a:srgbClr val="374151"/>
                          </a:solidFill>
                          <a:latin typeface="Arial"/>
                        </a:rPr>
                        <a:t>+ second admin</a:t>
                      </a:r>
                    </a:p>
                  </a:txBody>
                  <a:tcPr marL="54864" marR="54864" marT="27432" marB="27432" anchor="ctr">
                    <a:solidFill>
                      <a:srgbClr val="FFFFFF"/>
                    </a:solidFill>
                  </a:tcPr>
                </a:tc>
                <a:tc>
                  <a:txBody>
                    <a:bodyPr wrap="square"/>
                    <a:lstStyle/>
                    <a:p>
                      <a:r>
                        <a:rPr sz="1200" b="0">
                          <a:solidFill>
                            <a:srgbClr val="374151"/>
                          </a:solidFill>
                          <a:latin typeface="Arial"/>
                        </a:rPr>
                        <a:t>2,372</a:t>
                      </a:r>
                    </a:p>
                  </a:txBody>
                  <a:tcPr marL="54864" marR="54864" marT="27432" marB="27432" anchor="ctr">
                    <a:solidFill>
                      <a:srgbClr val="FFFFFF"/>
                    </a:solidFill>
                  </a:tcPr>
                </a:tc>
                <a:tc>
                  <a:txBody>
                    <a:bodyPr wrap="square"/>
                    <a:lstStyle/>
                    <a:p>
                      <a:r>
                        <a:rPr sz="1200" b="0">
                          <a:solidFill>
                            <a:srgbClr val="374151"/>
                          </a:solidFill>
                          <a:latin typeface="Arial"/>
                        </a:rPr>
                        <a:t>1,593</a:t>
                      </a:r>
                    </a:p>
                  </a:txBody>
                  <a:tcPr marL="54864" marR="54864" marT="27432" marB="27432" anchor="ctr">
                    <a:solidFill>
                      <a:srgbClr val="FFFFFF"/>
                    </a:solidFill>
                  </a:tcPr>
                </a:tc>
                <a:tc>
                  <a:txBody>
                    <a:bodyPr wrap="square"/>
                    <a:lstStyle/>
                    <a:p>
                      <a:r>
                        <a:rPr sz="1200" b="0">
                          <a:solidFill>
                            <a:srgbClr val="374151"/>
                          </a:solidFill>
                          <a:latin typeface="Arial"/>
                        </a:rPr>
                        <a:t>1,243</a:t>
                      </a:r>
                    </a:p>
                  </a:txBody>
                  <a:tcPr marL="54864" marR="54864" marT="27432" marB="27432" anchor="ctr">
                    <a:solidFill>
                      <a:srgbClr val="FFFFFF"/>
                    </a:solidFill>
                  </a:tcPr>
                </a:tc>
                <a:tc>
                  <a:txBody>
                    <a:bodyPr wrap="square"/>
                    <a:lstStyle/>
                    <a:p>
                      <a:r>
                        <a:rPr sz="1200" b="0">
                          <a:solidFill>
                            <a:srgbClr val="374151"/>
                          </a:solidFill>
                          <a:latin typeface="Arial"/>
                        </a:rPr>
                        <a:t>339</a:t>
                      </a:r>
                    </a:p>
                  </a:txBody>
                  <a:tcPr marL="54864" marR="54864" marT="27432" marB="27432" anchor="ctr">
                    <a:solidFill>
                      <a:srgbClr val="FFFFFF"/>
                    </a:solidFill>
                  </a:tcPr>
                </a:tc>
                <a:tc>
                  <a:txBody>
                    <a:bodyPr wrap="square"/>
                    <a:lstStyle/>
                    <a:p>
                      <a:r>
                        <a:rPr sz="1200" b="0">
                          <a:solidFill>
                            <a:srgbClr val="374151"/>
                          </a:solidFill>
                          <a:latin typeface="Arial"/>
                        </a:rPr>
                        <a:t>14.3%</a:t>
                      </a:r>
                    </a:p>
                  </a:txBody>
                  <a:tcPr marL="54864" marR="54864" marT="27432" marB="27432" anchor="ctr">
                    <a:solidFill>
                      <a:srgbClr val="F5DCD0"/>
                    </a:solidFill>
                  </a:tcPr>
                </a:tc>
              </a:tr>
              <a:tr h="274320">
                <a:tc>
                  <a:txBody>
                    <a:bodyPr wrap="square"/>
                    <a:lstStyle/>
                    <a:p>
                      <a:r>
                        <a:rPr sz="1200" b="1">
                          <a:solidFill>
                            <a:srgbClr val="374151"/>
                          </a:solidFill>
                          <a:latin typeface="Arial"/>
                        </a:rPr>
                        <a:t>Full team, Theta pays the CTO</a:t>
                      </a:r>
                    </a:p>
                  </a:txBody>
                  <a:tcPr marL="54864" marR="54864" marT="27432" marB="27432" anchor="ctr">
                    <a:solidFill>
                      <a:srgbClr val="F3F5F9"/>
                    </a:solidFill>
                  </a:tcPr>
                </a:tc>
                <a:tc>
                  <a:txBody>
                    <a:bodyPr wrap="square"/>
                    <a:lstStyle/>
                    <a:p>
                      <a:r>
                        <a:rPr sz="1200" b="0">
                          <a:solidFill>
                            <a:srgbClr val="374151"/>
                          </a:solidFill>
                          <a:latin typeface="Arial"/>
                        </a:rPr>
                        <a:t>2,372</a:t>
                      </a:r>
                    </a:p>
                  </a:txBody>
                  <a:tcPr marL="54864" marR="54864" marT="27432" marB="27432" anchor="ctr">
                    <a:solidFill>
                      <a:srgbClr val="F3F5F9"/>
                    </a:solidFill>
                  </a:tcPr>
                </a:tc>
                <a:tc>
                  <a:txBody>
                    <a:bodyPr wrap="square"/>
                    <a:lstStyle/>
                    <a:p>
                      <a:r>
                        <a:rPr sz="1200" b="0">
                          <a:solidFill>
                            <a:srgbClr val="374151"/>
                          </a:solidFill>
                          <a:latin typeface="Arial"/>
                        </a:rPr>
                        <a:t>1,593</a:t>
                      </a:r>
                    </a:p>
                  </a:txBody>
                  <a:tcPr marL="54864" marR="54864" marT="27432" marB="27432" anchor="ctr">
                    <a:solidFill>
                      <a:srgbClr val="F3F5F9"/>
                    </a:solidFill>
                  </a:tcPr>
                </a:tc>
                <a:tc>
                  <a:txBody>
                    <a:bodyPr wrap="square"/>
                    <a:lstStyle/>
                    <a:p>
                      <a:r>
                        <a:rPr sz="1200" b="0">
                          <a:solidFill>
                            <a:srgbClr val="374151"/>
                          </a:solidFill>
                          <a:latin typeface="Arial"/>
                        </a:rPr>
                        <a:t>1,123</a:t>
                      </a:r>
                    </a:p>
                  </a:txBody>
                  <a:tcPr marL="54864" marR="54864" marT="27432" marB="27432" anchor="ctr">
                    <a:solidFill>
                      <a:srgbClr val="F3F5F9"/>
                    </a:solidFill>
                  </a:tcPr>
                </a:tc>
                <a:tc>
                  <a:txBody>
                    <a:bodyPr wrap="square"/>
                    <a:lstStyle/>
                    <a:p>
                      <a:r>
                        <a:rPr sz="1200" b="0">
                          <a:solidFill>
                            <a:srgbClr val="374151"/>
                          </a:solidFill>
                          <a:latin typeface="Arial"/>
                        </a:rPr>
                        <a:t>459</a:t>
                      </a:r>
                    </a:p>
                  </a:txBody>
                  <a:tcPr marL="54864" marR="54864" marT="27432" marB="27432" anchor="ctr">
                    <a:solidFill>
                      <a:srgbClr val="F3F5F9"/>
                    </a:solidFill>
                  </a:tcPr>
                </a:tc>
                <a:tc>
                  <a:txBody>
                    <a:bodyPr wrap="square"/>
                    <a:lstStyle/>
                    <a:p>
                      <a:r>
                        <a:rPr sz="1200" b="0">
                          <a:solidFill>
                            <a:srgbClr val="374151"/>
                          </a:solidFill>
                          <a:latin typeface="Arial"/>
                        </a:rPr>
                        <a:t>19.3%</a:t>
                      </a:r>
                    </a:p>
                  </a:txBody>
                  <a:tcPr marL="54864" marR="54864" marT="27432" marB="27432" anchor="ctr">
                    <a:solidFill>
                      <a:srgbClr val="DDE3EE"/>
                    </a:solidFill>
                  </a:tcPr>
                </a:tc>
              </a:tr>
            </a:tbl>
          </a:graphicData>
        </a:graphic>
      </p:graphicFrame>
      <p:graphicFrame>
        <p:nvGraphicFramePr>
          <p:cNvPr id="8" name="Table 7"/>
          <p:cNvGraphicFramePr>
            <a:graphicFrameLocks noGrp="1"/>
          </p:cNvGraphicFramePr>
          <p:nvPr/>
        </p:nvGraphicFramePr>
        <p:xfrm>
          <a:off x="457200" y="4160520"/>
          <a:ext cx="11247120" cy="2112264"/>
        </p:xfrm>
        <a:graphic>
          <a:graphicData uri="http://schemas.openxmlformats.org/drawingml/2006/table">
            <a:tbl>
              <a:tblPr firstRow="1" bandRow="1">
                <a:tableStyleId>{5C22544A-7EE6-4342-B048-85BDC9FD1C3A}</a:tableStyleId>
              </a:tblPr>
              <a:tblGrid>
                <a:gridCol w="4206240"/>
                <a:gridCol w="960120"/>
                <a:gridCol w="1051560"/>
                <a:gridCol w="1051560"/>
                <a:gridCol w="1463040"/>
                <a:gridCol w="1234440"/>
                <a:gridCol w="1280160"/>
              </a:tblGrid>
              <a:tr h="301752">
                <a:tc>
                  <a:txBody>
                    <a:bodyPr wrap="square"/>
                    <a:lstStyle/>
                    <a:p>
                      <a:r>
                        <a:rPr sz="1200" b="1">
                          <a:solidFill>
                            <a:srgbClr val="FFFFFF"/>
                          </a:solidFill>
                          <a:latin typeface="Arial"/>
                        </a:rPr>
                        <a:t>Year 2027 (model version 14)</a:t>
                      </a:r>
                    </a:p>
                  </a:txBody>
                  <a:tcPr marL="54864" marR="54864" marT="27432" marB="27432" anchor="ctr">
                    <a:solidFill>
                      <a:srgbClr val="576C94"/>
                    </a:solidFill>
                  </a:tcPr>
                </a:tc>
                <a:tc>
                  <a:txBody>
                    <a:bodyPr wrap="square"/>
                    <a:lstStyle/>
                    <a:p>
                      <a:r>
                        <a:rPr sz="1200" b="1">
                          <a:solidFill>
                            <a:srgbClr val="FFFFFF"/>
                          </a:solidFill>
                          <a:latin typeface="Arial"/>
                        </a:rPr>
                        <a:t>Sales</a:t>
                      </a:r>
                    </a:p>
                  </a:txBody>
                  <a:tcPr marL="54864" marR="54864" marT="27432" marB="27432" anchor="ctr">
                    <a:solidFill>
                      <a:srgbClr val="576C94"/>
                    </a:solidFill>
                  </a:tcPr>
                </a:tc>
                <a:tc>
                  <a:txBody>
                    <a:bodyPr wrap="square"/>
                    <a:lstStyle/>
                    <a:p>
                      <a:r>
                        <a:rPr sz="1200" b="1">
                          <a:solidFill>
                            <a:srgbClr val="FFFFFF"/>
                          </a:solidFill>
                          <a:latin typeface="Arial"/>
                        </a:rPr>
                        <a:t>Net profit</a:t>
                      </a:r>
                    </a:p>
                  </a:txBody>
                  <a:tcPr marL="54864" marR="54864" marT="27432" marB="27432" anchor="ctr">
                    <a:solidFill>
                      <a:srgbClr val="576C94"/>
                    </a:solidFill>
                  </a:tcPr>
                </a:tc>
                <a:tc>
                  <a:txBody>
                    <a:bodyPr wrap="square"/>
                    <a:lstStyle/>
                    <a:p>
                      <a:r>
                        <a:rPr sz="1200" b="1">
                          <a:solidFill>
                            <a:srgbClr val="FFFFFF"/>
                          </a:solidFill>
                          <a:latin typeface="Arial"/>
                        </a:rPr>
                        <a:t>Net margin</a:t>
                      </a:r>
                    </a:p>
                  </a:txBody>
                  <a:tcPr marL="54864" marR="54864" marT="27432" marB="27432" anchor="ctr">
                    <a:solidFill>
                      <a:srgbClr val="576C94"/>
                    </a:solidFill>
                  </a:tcPr>
                </a:tc>
                <a:tc>
                  <a:txBody>
                    <a:bodyPr wrap="square"/>
                    <a:lstStyle/>
                    <a:p>
                      <a:r>
                        <a:rPr sz="1200" b="1">
                          <a:solidFill>
                            <a:srgbClr val="FFFFFF"/>
                          </a:solidFill>
                          <a:latin typeface="Arial"/>
                        </a:rPr>
                        <a:t>Lowest cash</a:t>
                      </a:r>
                    </a:p>
                  </a:txBody>
                  <a:tcPr marL="54864" marR="54864" marT="27432" marB="27432" anchor="ctr">
                    <a:solidFill>
                      <a:srgbClr val="576C94"/>
                    </a:solidFill>
                  </a:tcPr>
                </a:tc>
                <a:tc>
                  <a:txBody>
                    <a:bodyPr wrap="square"/>
                    <a:lstStyle/>
                    <a:p>
                      <a:r>
                        <a:rPr sz="1200" b="1">
                          <a:solidFill>
                            <a:srgbClr val="FFFFFF"/>
                          </a:solidFill>
                          <a:latin typeface="Arial"/>
                        </a:rPr>
                        <a:t>Cash end 2027</a:t>
                      </a:r>
                    </a:p>
                  </a:txBody>
                  <a:tcPr marL="54864" marR="54864" marT="27432" marB="27432" anchor="ctr">
                    <a:solidFill>
                      <a:srgbClr val="576C94"/>
                    </a:solidFill>
                  </a:tcPr>
                </a:tc>
                <a:tc>
                  <a:txBody>
                    <a:bodyPr wrap="square"/>
                    <a:lstStyle/>
                    <a:p>
                      <a:r>
                        <a:rPr sz="1200" b="1">
                          <a:solidFill>
                            <a:srgbClr val="FFFFFF"/>
                          </a:solidFill>
                          <a:latin typeface="Arial"/>
                        </a:rPr>
                        <a:t>Months below floor</a:t>
                      </a:r>
                    </a:p>
                  </a:txBody>
                  <a:tcPr marL="54864" marR="54864" marT="27432" marB="27432" anchor="ctr">
                    <a:solidFill>
                      <a:srgbClr val="576C94"/>
                    </a:solidFill>
                  </a:tcPr>
                </a:tc>
              </a:tr>
              <a:tr h="301752">
                <a:tc>
                  <a:txBody>
                    <a:bodyPr wrap="square"/>
                    <a:lstStyle/>
                    <a:p>
                      <a:r>
                        <a:rPr sz="1200" b="1">
                          <a:solidFill>
                            <a:srgbClr val="374151"/>
                          </a:solidFill>
                          <a:latin typeface="Arial"/>
                        </a:rPr>
                        <a:t>Old timing (sales from Oct 2026), today's pay</a:t>
                      </a:r>
                    </a:p>
                  </a:txBody>
                  <a:tcPr marL="54864" marR="54864" marT="27432" marB="27432" anchor="ctr">
                    <a:solidFill>
                      <a:srgbClr val="F3F5F9"/>
                    </a:solidFill>
                  </a:tcPr>
                </a:tc>
                <a:tc>
                  <a:txBody>
                    <a:bodyPr wrap="square"/>
                    <a:lstStyle/>
                    <a:p>
                      <a:r>
                        <a:rPr sz="1200" b="0">
                          <a:solidFill>
                            <a:srgbClr val="374151"/>
                          </a:solidFill>
                          <a:latin typeface="Arial"/>
                        </a:rPr>
                        <a:t>1,502</a:t>
                      </a:r>
                    </a:p>
                  </a:txBody>
                  <a:tcPr marL="54864" marR="54864" marT="27432" marB="27432" anchor="ctr">
                    <a:solidFill>
                      <a:srgbClr val="F3F5F9"/>
                    </a:solidFill>
                  </a:tcPr>
                </a:tc>
                <a:tc>
                  <a:txBody>
                    <a:bodyPr wrap="square"/>
                    <a:lstStyle/>
                    <a:p>
                      <a:r>
                        <a:rPr sz="1200" b="0">
                          <a:solidFill>
                            <a:srgbClr val="374151"/>
                          </a:solidFill>
                          <a:latin typeface="Arial"/>
                        </a:rPr>
                        <a:t>378</a:t>
                      </a:r>
                    </a:p>
                  </a:txBody>
                  <a:tcPr marL="54864" marR="54864" marT="27432" marB="27432" anchor="ctr">
                    <a:solidFill>
                      <a:srgbClr val="F3F5F9"/>
                    </a:solidFill>
                  </a:tcPr>
                </a:tc>
                <a:tc>
                  <a:txBody>
                    <a:bodyPr wrap="square"/>
                    <a:lstStyle/>
                    <a:p>
                      <a:r>
                        <a:rPr sz="1200" b="0">
                          <a:solidFill>
                            <a:srgbClr val="374151"/>
                          </a:solidFill>
                          <a:latin typeface="Arial"/>
                        </a:rPr>
                        <a:t>25.2%</a:t>
                      </a:r>
                    </a:p>
                  </a:txBody>
                  <a:tcPr marL="54864" marR="54864" marT="27432" marB="27432" anchor="ctr">
                    <a:solidFill>
                      <a:srgbClr val="F3F5F9"/>
                    </a:solidFill>
                  </a:tcPr>
                </a:tc>
                <a:tc>
                  <a:txBody>
                    <a:bodyPr wrap="square"/>
                    <a:lstStyle/>
                    <a:p>
                      <a:r>
                        <a:rPr sz="1200" b="0">
                          <a:solidFill>
                            <a:srgbClr val="374151"/>
                          </a:solidFill>
                          <a:latin typeface="Arial"/>
                        </a:rPr>
                        <a:t>204 (Oct 26)</a:t>
                      </a:r>
                    </a:p>
                  </a:txBody>
                  <a:tcPr marL="54864" marR="54864" marT="27432" marB="27432" anchor="ctr">
                    <a:solidFill>
                      <a:srgbClr val="F3F5F9"/>
                    </a:solidFill>
                  </a:tcPr>
                </a:tc>
                <a:tc>
                  <a:txBody>
                    <a:bodyPr wrap="square"/>
                    <a:lstStyle/>
                    <a:p>
                      <a:r>
                        <a:rPr sz="1200" b="0">
                          <a:solidFill>
                            <a:srgbClr val="374151"/>
                          </a:solidFill>
                          <a:latin typeface="Arial"/>
                        </a:rPr>
                        <a:t>733</a:t>
                      </a:r>
                    </a:p>
                  </a:txBody>
                  <a:tcPr marL="54864" marR="54864" marT="27432" marB="27432" anchor="ctr">
                    <a:solidFill>
                      <a:srgbClr val="F3F5F9"/>
                    </a:solidFill>
                  </a:tcPr>
                </a:tc>
                <a:tc>
                  <a:txBody>
                    <a:bodyPr wrap="square"/>
                    <a:lstStyle/>
                    <a:p>
                      <a:r>
                        <a:rPr sz="1200" b="0">
                          <a:solidFill>
                            <a:srgbClr val="374151"/>
                          </a:solidFill>
                          <a:latin typeface="Arial"/>
                        </a:rPr>
                        <a:t>0</a:t>
                      </a:r>
                    </a:p>
                  </a:txBody>
                  <a:tcPr marL="54864" marR="54864" marT="27432" marB="27432" anchor="ctr">
                    <a:solidFill>
                      <a:srgbClr val="F3F5F9"/>
                    </a:solidFill>
                  </a:tcPr>
                </a:tc>
              </a:tr>
              <a:tr h="301752">
                <a:tc>
                  <a:txBody>
                    <a:bodyPr wrap="square"/>
                    <a:lstStyle/>
                    <a:p>
                      <a:r>
                        <a:rPr sz="1200" b="1">
                          <a:solidFill>
                            <a:srgbClr val="374151"/>
                          </a:solidFill>
                          <a:latin typeface="Arial"/>
                        </a:rPr>
                        <a:t>Real timing (new work from Mar 2027), today's pay</a:t>
                      </a:r>
                    </a:p>
                  </a:txBody>
                  <a:tcPr marL="54864" marR="54864" marT="27432" marB="27432" anchor="ctr">
                    <a:solidFill>
                      <a:srgbClr val="FFFFFF"/>
                    </a:solidFill>
                  </a:tcPr>
                </a:tc>
                <a:tc>
                  <a:txBody>
                    <a:bodyPr wrap="square"/>
                    <a:lstStyle/>
                    <a:p>
                      <a:r>
                        <a:rPr sz="1200" b="0">
                          <a:solidFill>
                            <a:srgbClr val="374151"/>
                          </a:solidFill>
                          <a:latin typeface="Arial"/>
                        </a:rPr>
                        <a:t>1,462</a:t>
                      </a:r>
                    </a:p>
                  </a:txBody>
                  <a:tcPr marL="54864" marR="54864" marT="27432" marB="27432" anchor="ctr">
                    <a:solidFill>
                      <a:srgbClr val="FFFFFF"/>
                    </a:solidFill>
                  </a:tcPr>
                </a:tc>
                <a:tc>
                  <a:txBody>
                    <a:bodyPr wrap="square"/>
                    <a:lstStyle/>
                    <a:p>
                      <a:r>
                        <a:rPr sz="1200" b="0">
                          <a:solidFill>
                            <a:srgbClr val="374151"/>
                          </a:solidFill>
                          <a:latin typeface="Arial"/>
                        </a:rPr>
                        <a:t>402</a:t>
                      </a:r>
                    </a:p>
                  </a:txBody>
                  <a:tcPr marL="54864" marR="54864" marT="27432" marB="27432" anchor="ctr">
                    <a:solidFill>
                      <a:srgbClr val="FFFFFF"/>
                    </a:solidFill>
                  </a:tcPr>
                </a:tc>
                <a:tc>
                  <a:txBody>
                    <a:bodyPr wrap="square"/>
                    <a:lstStyle/>
                    <a:p>
                      <a:r>
                        <a:rPr sz="1200" b="0">
                          <a:solidFill>
                            <a:srgbClr val="374151"/>
                          </a:solidFill>
                          <a:latin typeface="Arial"/>
                        </a:rPr>
                        <a:t>27.5%</a:t>
                      </a:r>
                    </a:p>
                  </a:txBody>
                  <a:tcPr marL="54864" marR="54864" marT="27432" marB="27432" anchor="ctr">
                    <a:solidFill>
                      <a:srgbClr val="FFFFFF"/>
                    </a:solidFill>
                  </a:tcPr>
                </a:tc>
                <a:tc>
                  <a:txBody>
                    <a:bodyPr wrap="square"/>
                    <a:lstStyle/>
                    <a:p>
                      <a:r>
                        <a:rPr sz="1200" b="0">
                          <a:solidFill>
                            <a:srgbClr val="374151"/>
                          </a:solidFill>
                          <a:latin typeface="Arial"/>
                        </a:rPr>
                        <a:t>92 (Apr 27)</a:t>
                      </a:r>
                    </a:p>
                  </a:txBody>
                  <a:tcPr marL="54864" marR="54864" marT="27432" marB="27432" anchor="ctr">
                    <a:solidFill>
                      <a:srgbClr val="FFFFFF"/>
                    </a:solidFill>
                  </a:tcPr>
                </a:tc>
                <a:tc>
                  <a:txBody>
                    <a:bodyPr wrap="square"/>
                    <a:lstStyle/>
                    <a:p>
                      <a:r>
                        <a:rPr sz="1200" b="0">
                          <a:solidFill>
                            <a:srgbClr val="374151"/>
                          </a:solidFill>
                          <a:latin typeface="Arial"/>
                        </a:rPr>
                        <a:t>515</a:t>
                      </a:r>
                    </a:p>
                  </a:txBody>
                  <a:tcPr marL="54864" marR="54864" marT="27432" marB="27432" anchor="ctr">
                    <a:solidFill>
                      <a:srgbClr val="FFFFFF"/>
                    </a:solidFill>
                  </a:tcPr>
                </a:tc>
                <a:tc>
                  <a:txBody>
                    <a:bodyPr wrap="square"/>
                    <a:lstStyle/>
                    <a:p>
                      <a:r>
                        <a:rPr sz="1200" b="0">
                          <a:solidFill>
                            <a:srgbClr val="374151"/>
                          </a:solidFill>
                          <a:latin typeface="Arial"/>
                        </a:rPr>
                        <a:t>0</a:t>
                      </a:r>
                    </a:p>
                  </a:txBody>
                  <a:tcPr marL="54864" marR="54864" marT="27432" marB="27432" anchor="ctr">
                    <a:solidFill>
                      <a:srgbClr val="FFFFFF"/>
                    </a:solidFill>
                  </a:tcPr>
                </a:tc>
              </a:tr>
              <a:tr h="301752">
                <a:tc>
                  <a:txBody>
                    <a:bodyPr wrap="square"/>
                    <a:lstStyle/>
                    <a:p>
                      <a:r>
                        <a:rPr sz="1200" b="1">
                          <a:solidFill>
                            <a:srgbClr val="374151"/>
                          </a:solidFill>
                          <a:latin typeface="Arial"/>
                        </a:rPr>
                        <a:t>Real timing + growth plan, founders paid from Jan</a:t>
                      </a:r>
                    </a:p>
                  </a:txBody>
                  <a:tcPr marL="54864" marR="54864" marT="27432" marB="27432" anchor="ctr">
                    <a:solidFill>
                      <a:srgbClr val="F3F5F9"/>
                    </a:solidFill>
                  </a:tcPr>
                </a:tc>
                <a:tc>
                  <a:txBody>
                    <a:bodyPr wrap="square"/>
                    <a:lstStyle/>
                    <a:p>
                      <a:r>
                        <a:rPr sz="1200" b="0">
                          <a:solidFill>
                            <a:srgbClr val="374151"/>
                          </a:solidFill>
                          <a:latin typeface="Arial"/>
                        </a:rPr>
                        <a:t>1,847</a:t>
                      </a:r>
                    </a:p>
                  </a:txBody>
                  <a:tcPr marL="54864" marR="54864" marT="27432" marB="27432" anchor="ctr">
                    <a:solidFill>
                      <a:srgbClr val="F3F5F9"/>
                    </a:solidFill>
                  </a:tcPr>
                </a:tc>
                <a:tc>
                  <a:txBody>
                    <a:bodyPr wrap="square"/>
                    <a:lstStyle/>
                    <a:p>
                      <a:r>
                        <a:rPr sz="1200" b="0">
                          <a:solidFill>
                            <a:srgbClr val="374151"/>
                          </a:solidFill>
                          <a:latin typeface="Arial"/>
                        </a:rPr>
                        <a:t>322</a:t>
                      </a:r>
                    </a:p>
                  </a:txBody>
                  <a:tcPr marL="54864" marR="54864" marT="27432" marB="27432" anchor="ctr">
                    <a:solidFill>
                      <a:srgbClr val="F3F5F9"/>
                    </a:solidFill>
                  </a:tcPr>
                </a:tc>
                <a:tc>
                  <a:txBody>
                    <a:bodyPr wrap="square"/>
                    <a:lstStyle/>
                    <a:p>
                      <a:r>
                        <a:rPr sz="1200" b="0">
                          <a:solidFill>
                            <a:srgbClr val="374151"/>
                          </a:solidFill>
                          <a:latin typeface="Arial"/>
                        </a:rPr>
                        <a:t>17.4%</a:t>
                      </a:r>
                    </a:p>
                  </a:txBody>
                  <a:tcPr marL="54864" marR="54864" marT="27432" marB="27432" anchor="ctr">
                    <a:solidFill>
                      <a:srgbClr val="F3F5F9"/>
                    </a:solidFill>
                  </a:tcPr>
                </a:tc>
                <a:tc>
                  <a:txBody>
                    <a:bodyPr wrap="square"/>
                    <a:lstStyle/>
                    <a:p>
                      <a:r>
                        <a:rPr sz="1200" b="0">
                          <a:solidFill>
                            <a:srgbClr val="374151"/>
                          </a:solidFill>
                          <a:latin typeface="Arial"/>
                        </a:rPr>
                        <a:t>8 (Apr 27)</a:t>
                      </a:r>
                    </a:p>
                  </a:txBody>
                  <a:tcPr marL="54864" marR="54864" marT="27432" marB="27432" anchor="ctr">
                    <a:solidFill>
                      <a:srgbClr val="F3F5F9"/>
                    </a:solidFill>
                  </a:tcPr>
                </a:tc>
                <a:tc>
                  <a:txBody>
                    <a:bodyPr wrap="square"/>
                    <a:lstStyle/>
                    <a:p>
                      <a:r>
                        <a:rPr sz="1200" b="0">
                          <a:solidFill>
                            <a:srgbClr val="374151"/>
                          </a:solidFill>
                          <a:latin typeface="Arial"/>
                        </a:rPr>
                        <a:t>346</a:t>
                      </a:r>
                    </a:p>
                  </a:txBody>
                  <a:tcPr marL="54864" marR="54864" marT="27432" marB="27432" anchor="ctr">
                    <a:solidFill>
                      <a:srgbClr val="F3F5F9"/>
                    </a:solidFill>
                  </a:tcPr>
                </a:tc>
                <a:tc>
                  <a:txBody>
                    <a:bodyPr wrap="square"/>
                    <a:lstStyle/>
                    <a:p>
                      <a:r>
                        <a:rPr sz="1200" b="0">
                          <a:solidFill>
                            <a:srgbClr val="374151"/>
                          </a:solidFill>
                          <a:latin typeface="Arial"/>
                        </a:rPr>
                        <a:t>10</a:t>
                      </a:r>
                    </a:p>
                  </a:txBody>
                  <a:tcPr marL="54864" marR="54864" marT="27432" marB="27432" anchor="ctr">
                    <a:solidFill>
                      <a:srgbClr val="F3F5F9"/>
                    </a:solidFill>
                  </a:tcPr>
                </a:tc>
              </a:tr>
              <a:tr h="301752">
                <a:tc>
                  <a:txBody>
                    <a:bodyPr wrap="square"/>
                    <a:lstStyle/>
                    <a:p>
                      <a:r>
                        <a:rPr sz="1200" b="1">
                          <a:solidFill>
                            <a:srgbClr val="374151"/>
                          </a:solidFill>
                          <a:latin typeface="Arial"/>
                        </a:rPr>
                        <a:t>Same, founders paid from May (our plan)</a:t>
                      </a:r>
                    </a:p>
                  </a:txBody>
                  <a:tcPr marL="54864" marR="54864" marT="27432" marB="27432" anchor="ctr">
                    <a:solidFill>
                      <a:srgbClr val="FFFFFF"/>
                    </a:solidFill>
                  </a:tcPr>
                </a:tc>
                <a:tc>
                  <a:txBody>
                    <a:bodyPr wrap="square"/>
                    <a:lstStyle/>
                    <a:p>
                      <a:r>
                        <a:rPr sz="1200" b="0">
                          <a:solidFill>
                            <a:srgbClr val="374151"/>
                          </a:solidFill>
                          <a:latin typeface="Arial"/>
                        </a:rPr>
                        <a:t>1,847</a:t>
                      </a:r>
                    </a:p>
                  </a:txBody>
                  <a:tcPr marL="54864" marR="54864" marT="27432" marB="27432" anchor="ctr">
                    <a:solidFill>
                      <a:srgbClr val="FFFFFF"/>
                    </a:solidFill>
                  </a:tcPr>
                </a:tc>
                <a:tc>
                  <a:txBody>
                    <a:bodyPr wrap="square"/>
                    <a:lstStyle/>
                    <a:p>
                      <a:r>
                        <a:rPr sz="1200" b="0">
                          <a:solidFill>
                            <a:srgbClr val="374151"/>
                          </a:solidFill>
                          <a:latin typeface="Arial"/>
                        </a:rPr>
                        <a:t>422</a:t>
                      </a:r>
                    </a:p>
                  </a:txBody>
                  <a:tcPr marL="54864" marR="54864" marT="27432" marB="27432" anchor="ctr">
                    <a:solidFill>
                      <a:srgbClr val="FFFFFF"/>
                    </a:solidFill>
                  </a:tcPr>
                </a:tc>
                <a:tc>
                  <a:txBody>
                    <a:bodyPr wrap="square"/>
                    <a:lstStyle/>
                    <a:p>
                      <a:r>
                        <a:rPr sz="1200" b="0">
                          <a:solidFill>
                            <a:srgbClr val="374151"/>
                          </a:solidFill>
                          <a:latin typeface="Arial"/>
                        </a:rPr>
                        <a:t>22.8%</a:t>
                      </a:r>
                    </a:p>
                  </a:txBody>
                  <a:tcPr marL="54864" marR="54864" marT="27432" marB="27432" anchor="ctr">
                    <a:solidFill>
                      <a:srgbClr val="FFFFFF"/>
                    </a:solidFill>
                  </a:tcPr>
                </a:tc>
                <a:tc>
                  <a:txBody>
                    <a:bodyPr wrap="square"/>
                    <a:lstStyle/>
                    <a:p>
                      <a:r>
                        <a:rPr sz="1200" b="0">
                          <a:solidFill>
                            <a:srgbClr val="374151"/>
                          </a:solidFill>
                          <a:latin typeface="Arial"/>
                        </a:rPr>
                        <a:t>108 (Apr 27)</a:t>
                      </a:r>
                    </a:p>
                  </a:txBody>
                  <a:tcPr marL="54864" marR="54864" marT="27432" marB="27432" anchor="ctr">
                    <a:solidFill>
                      <a:srgbClr val="FFFFFF"/>
                    </a:solidFill>
                  </a:tcPr>
                </a:tc>
                <a:tc>
                  <a:txBody>
                    <a:bodyPr wrap="square"/>
                    <a:lstStyle/>
                    <a:p>
                      <a:r>
                        <a:rPr sz="1200" b="0">
                          <a:solidFill>
                            <a:srgbClr val="374151"/>
                          </a:solidFill>
                          <a:latin typeface="Arial"/>
                        </a:rPr>
                        <a:t>446</a:t>
                      </a:r>
                    </a:p>
                  </a:txBody>
                  <a:tcPr marL="54864" marR="54864" marT="27432" marB="27432" anchor="ctr">
                    <a:solidFill>
                      <a:srgbClr val="FFFFFF"/>
                    </a:solidFill>
                  </a:tcPr>
                </a:tc>
                <a:tc>
                  <a:txBody>
                    <a:bodyPr wrap="square"/>
                    <a:lstStyle/>
                    <a:p>
                      <a:r>
                        <a:rPr sz="1200" b="0">
                          <a:solidFill>
                            <a:srgbClr val="374151"/>
                          </a:solidFill>
                          <a:latin typeface="Arial"/>
                        </a:rPr>
                        <a:t>1</a:t>
                      </a:r>
                    </a:p>
                  </a:txBody>
                  <a:tcPr marL="54864" marR="54864" marT="27432" marB="27432" anchor="ctr">
                    <a:solidFill>
                      <a:srgbClr val="FFFFFF"/>
                    </a:solidFill>
                  </a:tcPr>
                </a:tc>
              </a:tr>
              <a:tr h="301752">
                <a:tc>
                  <a:txBody>
                    <a:bodyPr wrap="square"/>
                    <a:lstStyle/>
                    <a:p>
                      <a:r>
                        <a:rPr sz="1200" b="1">
                          <a:solidFill>
                            <a:srgbClr val="374151"/>
                          </a:solidFill>
                          <a:latin typeface="Arial"/>
                        </a:rPr>
                        <a:t>Our plan, but no bank deal</a:t>
                      </a:r>
                    </a:p>
                  </a:txBody>
                  <a:tcPr marL="54864" marR="54864" marT="27432" marB="27432" anchor="ctr">
                    <a:solidFill>
                      <a:srgbClr val="F3F5F9"/>
                    </a:solidFill>
                  </a:tcPr>
                </a:tc>
                <a:tc>
                  <a:txBody>
                    <a:bodyPr wrap="square"/>
                    <a:lstStyle/>
                    <a:p>
                      <a:r>
                        <a:rPr sz="1200" b="0">
                          <a:solidFill>
                            <a:srgbClr val="374151"/>
                          </a:solidFill>
                          <a:latin typeface="Arial"/>
                        </a:rPr>
                        <a:t>1,686</a:t>
                      </a:r>
                    </a:p>
                  </a:txBody>
                  <a:tcPr marL="54864" marR="54864" marT="27432" marB="27432" anchor="ctr">
                    <a:solidFill>
                      <a:srgbClr val="F3F5F9"/>
                    </a:solidFill>
                  </a:tcPr>
                </a:tc>
                <a:tc>
                  <a:txBody>
                    <a:bodyPr wrap="square"/>
                    <a:lstStyle/>
                    <a:p>
                      <a:r>
                        <a:rPr sz="1200" b="0">
                          <a:solidFill>
                            <a:srgbClr val="374151"/>
                          </a:solidFill>
                          <a:latin typeface="Arial"/>
                        </a:rPr>
                        <a:t>315</a:t>
                      </a:r>
                    </a:p>
                  </a:txBody>
                  <a:tcPr marL="54864" marR="54864" marT="27432" marB="27432" anchor="ctr">
                    <a:solidFill>
                      <a:srgbClr val="F3F5F9"/>
                    </a:solidFill>
                  </a:tcPr>
                </a:tc>
                <a:tc>
                  <a:txBody>
                    <a:bodyPr wrap="square"/>
                    <a:lstStyle/>
                    <a:p>
                      <a:r>
                        <a:rPr sz="1200" b="0">
                          <a:solidFill>
                            <a:srgbClr val="374151"/>
                          </a:solidFill>
                          <a:latin typeface="Arial"/>
                        </a:rPr>
                        <a:t>18.7%</a:t>
                      </a:r>
                    </a:p>
                  </a:txBody>
                  <a:tcPr marL="54864" marR="54864" marT="27432" marB="27432" anchor="ctr">
                    <a:solidFill>
                      <a:srgbClr val="F3F5F9"/>
                    </a:solidFill>
                  </a:tcPr>
                </a:tc>
                <a:tc>
                  <a:txBody>
                    <a:bodyPr wrap="square"/>
                    <a:lstStyle/>
                    <a:p>
                      <a:r>
                        <a:rPr sz="1200" b="0">
                          <a:solidFill>
                            <a:srgbClr val="374151"/>
                          </a:solidFill>
                          <a:latin typeface="Arial"/>
                        </a:rPr>
                        <a:t>108 (Apr 27)</a:t>
                      </a:r>
                    </a:p>
                  </a:txBody>
                  <a:tcPr marL="54864" marR="54864" marT="27432" marB="27432" anchor="ctr">
                    <a:solidFill>
                      <a:srgbClr val="F3F5F9"/>
                    </a:solidFill>
                  </a:tcPr>
                </a:tc>
                <a:tc>
                  <a:txBody>
                    <a:bodyPr wrap="square"/>
                    <a:lstStyle/>
                    <a:p>
                      <a:r>
                        <a:rPr sz="1200" b="0">
                          <a:solidFill>
                            <a:srgbClr val="374151"/>
                          </a:solidFill>
                          <a:latin typeface="Arial"/>
                        </a:rPr>
                        <a:t>397</a:t>
                      </a:r>
                    </a:p>
                  </a:txBody>
                  <a:tcPr marL="54864" marR="54864" marT="27432" marB="27432" anchor="ctr">
                    <a:solidFill>
                      <a:srgbClr val="F3F5F9"/>
                    </a:solidFill>
                  </a:tcPr>
                </a:tc>
                <a:tc>
                  <a:txBody>
                    <a:bodyPr wrap="square"/>
                    <a:lstStyle/>
                    <a:p>
                      <a:r>
                        <a:rPr sz="1200" b="0">
                          <a:solidFill>
                            <a:srgbClr val="374151"/>
                          </a:solidFill>
                          <a:latin typeface="Arial"/>
                        </a:rPr>
                        <a:t>1</a:t>
                      </a:r>
                    </a:p>
                  </a:txBody>
                  <a:tcPr marL="54864" marR="54864" marT="27432" marB="27432" anchor="ctr">
                    <a:solidFill>
                      <a:srgbClr val="F3F5F9"/>
                    </a:solidFill>
                  </a:tcPr>
                </a:tc>
              </a:tr>
              <a:tr h="301752">
                <a:tc>
                  <a:txBody>
                    <a:bodyPr wrap="square"/>
                    <a:lstStyle/>
                    <a:p>
                      <a:r>
                        <a:rPr sz="1200" b="1">
                          <a:solidFill>
                            <a:srgbClr val="374151"/>
                          </a:solidFill>
                          <a:latin typeface="Arial"/>
                        </a:rPr>
                        <a:t>Our plan, but BI buys 30% less</a:t>
                      </a:r>
                    </a:p>
                  </a:txBody>
                  <a:tcPr marL="54864" marR="54864" marT="27432" marB="27432" anchor="ctr">
                    <a:solidFill>
                      <a:srgbClr val="FFFFFF"/>
                    </a:solidFill>
                  </a:tcPr>
                </a:tc>
                <a:tc>
                  <a:txBody>
                    <a:bodyPr wrap="square"/>
                    <a:lstStyle/>
                    <a:p>
                      <a:r>
                        <a:rPr sz="1200" b="0">
                          <a:solidFill>
                            <a:srgbClr val="374151"/>
                          </a:solidFill>
                          <a:latin typeface="Arial"/>
                        </a:rPr>
                        <a:t>1,573</a:t>
                      </a:r>
                    </a:p>
                  </a:txBody>
                  <a:tcPr marL="54864" marR="54864" marT="27432" marB="27432" anchor="ctr">
                    <a:solidFill>
                      <a:srgbClr val="FFFFFF"/>
                    </a:solidFill>
                  </a:tcPr>
                </a:tc>
                <a:tc>
                  <a:txBody>
                    <a:bodyPr wrap="square"/>
                    <a:lstStyle/>
                    <a:p>
                      <a:r>
                        <a:rPr sz="1200" b="0">
                          <a:solidFill>
                            <a:srgbClr val="374151"/>
                          </a:solidFill>
                          <a:latin typeface="Arial"/>
                        </a:rPr>
                        <a:t>244</a:t>
                      </a:r>
                    </a:p>
                  </a:txBody>
                  <a:tcPr marL="54864" marR="54864" marT="27432" marB="27432" anchor="ctr">
                    <a:solidFill>
                      <a:srgbClr val="FFFFFF"/>
                    </a:solidFill>
                  </a:tcPr>
                </a:tc>
                <a:tc>
                  <a:txBody>
                    <a:bodyPr wrap="square"/>
                    <a:lstStyle/>
                    <a:p>
                      <a:r>
                        <a:rPr sz="1200" b="0">
                          <a:solidFill>
                            <a:srgbClr val="374151"/>
                          </a:solidFill>
                          <a:latin typeface="Arial"/>
                        </a:rPr>
                        <a:t>15.5%</a:t>
                      </a:r>
                    </a:p>
                  </a:txBody>
                  <a:tcPr marL="54864" marR="54864" marT="27432" marB="27432" anchor="ctr">
                    <a:solidFill>
                      <a:srgbClr val="FFFFFF"/>
                    </a:solidFill>
                  </a:tcPr>
                </a:tc>
                <a:tc>
                  <a:txBody>
                    <a:bodyPr wrap="square"/>
                    <a:lstStyle/>
                    <a:p>
                      <a:r>
                        <a:rPr sz="1200" b="0">
                          <a:solidFill>
                            <a:srgbClr val="374151"/>
                          </a:solidFill>
                          <a:latin typeface="Arial"/>
                        </a:rPr>
                        <a:t>63 (Jul 27)</a:t>
                      </a:r>
                    </a:p>
                  </a:txBody>
                  <a:tcPr marL="54864" marR="54864" marT="27432" marB="27432" anchor="ctr">
                    <a:solidFill>
                      <a:srgbClr val="FFFFFF"/>
                    </a:solidFill>
                  </a:tcPr>
                </a:tc>
                <a:tc>
                  <a:txBody>
                    <a:bodyPr wrap="square"/>
                    <a:lstStyle/>
                    <a:p>
                      <a:r>
                        <a:rPr sz="1200" b="0">
                          <a:solidFill>
                            <a:srgbClr val="374151"/>
                          </a:solidFill>
                          <a:latin typeface="Arial"/>
                        </a:rPr>
                        <a:t>278</a:t>
                      </a:r>
                    </a:p>
                  </a:txBody>
                  <a:tcPr marL="54864" marR="54864" marT="27432" marB="27432" anchor="ctr">
                    <a:solidFill>
                      <a:srgbClr val="FFFFFF"/>
                    </a:solidFill>
                  </a:tcPr>
                </a:tc>
                <a:tc>
                  <a:txBody>
                    <a:bodyPr wrap="square"/>
                    <a:lstStyle/>
                    <a:p>
                      <a:r>
                        <a:rPr sz="1200" b="0">
                          <a:solidFill>
                            <a:srgbClr val="374151"/>
                          </a:solidFill>
                          <a:latin typeface="Arial"/>
                        </a:rPr>
                        <a:t>6</a:t>
                      </a:r>
                    </a:p>
                  </a:txBody>
                  <a:tcPr marL="54864" marR="54864" marT="27432" marB="27432" anchor="ctr">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457200" y="292608"/>
            <a:ext cx="9966960" cy="914400"/>
          </a:xfrm>
          <a:prstGeom prst="rect">
            <a:avLst/>
          </a:prstGeom>
          <a:noFill/>
        </p:spPr>
        <p:txBody>
          <a:bodyPr wrap="square" anchor="t" lIns="73152" rIns="73152" tIns="36576" bIns="36576">
            <a:spAutoFit/>
          </a:bodyPr>
          <a:lstStyle/>
          <a:p>
            <a:pPr algn="l">
              <a:spcAft>
                <a:spcPts val="400"/>
              </a:spcAft>
            </a:pPr>
            <a:r>
              <a:rPr sz="2400" b="1" i="0">
                <a:solidFill>
                  <a:srgbClr val="475571"/>
                </a:solidFill>
                <a:latin typeface="Arial"/>
              </a:rPr>
              <a:t>Hire in a fixed order, only when signed work pays for the person</a:t>
            </a:r>
          </a:p>
        </p:txBody>
      </p:sp>
      <p:sp>
        <p:nvSpPr>
          <p:cNvPr id="3" name="Tag"/>
          <p:cNvSpPr/>
          <p:nvPr/>
        </p:nvSpPr>
        <p:spPr>
          <a:xfrm>
            <a:off x="10561320" y="365760"/>
            <a:ext cx="1188720" cy="365760"/>
          </a:xfrm>
          <a:prstGeom prst="roundRect">
            <a:avLst>
              <a:gd name="adj" fmla="val 8000"/>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a:spcAft>
                <a:spcPts val="400"/>
              </a:spcAft>
            </a:pPr>
            <a:r>
              <a:rPr sz="1200" b="1" i="0">
                <a:solidFill>
                  <a:srgbClr val="FFFFFF"/>
                </a:solidFill>
                <a:latin typeface="Arial"/>
              </a:rPr>
              <a:t>Appendix</a:t>
            </a:r>
          </a:p>
        </p:txBody>
      </p:sp>
      <p:sp>
        <p:nvSpPr>
          <p:cNvPr id="4" name="Source"/>
          <p:cNvSpPr txBox="1"/>
          <p:nvPr/>
        </p:nvSpPr>
        <p:spPr>
          <a:xfrm>
            <a:off x="457200" y="6400800"/>
            <a:ext cx="10607040" cy="320040"/>
          </a:xfrm>
          <a:prstGeom prst="rect">
            <a:avLst/>
          </a:prstGeom>
          <a:noFill/>
        </p:spPr>
        <p:txBody>
          <a:bodyPr wrap="square" anchor="t" lIns="73152" rIns="73152" tIns="36576" bIns="36576">
            <a:spAutoFit/>
          </a:bodyPr>
          <a:lstStyle/>
          <a:p>
            <a:pPr algn="l">
              <a:spcAft>
                <a:spcPts val="400"/>
              </a:spcAft>
            </a:pPr>
            <a:r>
              <a:rPr sz="1000" b="0" i="0">
                <a:solidFill>
                  <a:srgbClr val="6B7280"/>
                </a:solidFill>
                <a:latin typeface="Arial"/>
              </a:rPr>
              <a:t>Source: Our 2027 financial model (version 13) and analysis/growth_scenarios.py. Salaries for the co-founder, CTO and second admin are estimates. Net margin is for one full year.</a:t>
            </a:r>
          </a:p>
        </p:txBody>
      </p:sp>
      <p:sp>
        <p:nvSpPr>
          <p:cNvPr id="5" name="Page"/>
          <p:cNvSpPr txBox="1"/>
          <p:nvPr/>
        </p:nvSpPr>
        <p:spPr>
          <a:xfrm>
            <a:off x="11247120" y="6400800"/>
            <a:ext cx="502920" cy="320040"/>
          </a:xfrm>
          <a:prstGeom prst="rect">
            <a:avLst/>
          </a:prstGeom>
          <a:noFill/>
        </p:spPr>
        <p:txBody>
          <a:bodyPr wrap="square" anchor="t" lIns="73152" rIns="73152" tIns="36576" bIns="36576">
            <a:spAutoFit/>
          </a:bodyPr>
          <a:lstStyle/>
          <a:p>
            <a:pPr algn="r">
              <a:spcAft>
                <a:spcPts val="400"/>
              </a:spcAft>
            </a:pPr>
            <a:r>
              <a:rPr sz="1000" b="0" i="0">
                <a:solidFill>
                  <a:srgbClr val="6B7280"/>
                </a:solidFill>
                <a:latin typeface="Arial"/>
              </a:rPr>
              <a:t>21</a:t>
            </a:r>
          </a:p>
        </p:txBody>
      </p:sp>
      <p:sp>
        <p:nvSpPr>
          <p:cNvPr id="6" name="TextBox 5"/>
          <p:cNvSpPr txBox="1"/>
          <p:nvPr/>
        </p:nvSpPr>
        <p:spPr>
          <a:xfrm>
            <a:off x="457200" y="914400"/>
            <a:ext cx="9966960" cy="365760"/>
          </a:xfrm>
          <a:prstGeom prst="rect">
            <a:avLst/>
          </a:prstGeom>
          <a:noFill/>
        </p:spPr>
        <p:txBody>
          <a:bodyPr wrap="square" anchor="t" lIns="73152" rIns="73152" tIns="36576" bIns="36576">
            <a:spAutoFit/>
          </a:bodyPr>
          <a:lstStyle/>
          <a:p>
            <a:pPr algn="l">
              <a:spcAft>
                <a:spcPts val="400"/>
              </a:spcAft>
            </a:pPr>
            <a:r>
              <a:rPr sz="1300" b="0" i="0">
                <a:solidFill>
                  <a:srgbClr val="6B7280"/>
                </a:solidFill>
                <a:latin typeface="Arial"/>
              </a:rPr>
              <a:t>Trigger = the event that tells us it is time to hire. No trigger, no hire.</a:t>
            </a:r>
          </a:p>
        </p:txBody>
      </p:sp>
      <p:graphicFrame>
        <p:nvGraphicFramePr>
          <p:cNvPr id="7" name="Table 6"/>
          <p:cNvGraphicFramePr>
            <a:graphicFrameLocks noGrp="1"/>
          </p:cNvGraphicFramePr>
          <p:nvPr/>
        </p:nvGraphicFramePr>
        <p:xfrm>
          <a:off x="457200" y="1325880"/>
          <a:ext cx="11247120" cy="4224528"/>
        </p:xfrm>
        <a:graphic>
          <a:graphicData uri="http://schemas.openxmlformats.org/drawingml/2006/table">
            <a:tbl>
              <a:tblPr firstRow="1" bandRow="1">
                <a:tableStyleId>{5C22544A-7EE6-4342-B048-85BDC9FD1C3A}</a:tableStyleId>
              </a:tblPr>
              <a:tblGrid>
                <a:gridCol w="548640"/>
                <a:gridCol w="2926080"/>
                <a:gridCol w="1280160"/>
                <a:gridCol w="2743200"/>
                <a:gridCol w="2011680"/>
                <a:gridCol w="1737360"/>
              </a:tblGrid>
              <a:tr h="603504">
                <a:tc>
                  <a:txBody>
                    <a:bodyPr wrap="square"/>
                    <a:lstStyle/>
                    <a:p>
                      <a:r>
                        <a:rPr sz="1200" b="1">
                          <a:solidFill>
                            <a:srgbClr val="FFFFFF"/>
                          </a:solidFill>
                          <a:latin typeface="Arial"/>
                        </a:rPr>
                        <a:t>Step</a:t>
                      </a:r>
                    </a:p>
                  </a:txBody>
                  <a:tcPr marL="54864" marR="54864" marT="27432" marB="27432" anchor="ctr">
                    <a:solidFill>
                      <a:srgbClr val="475571"/>
                    </a:solidFill>
                  </a:tcPr>
                </a:tc>
                <a:tc>
                  <a:txBody>
                    <a:bodyPr wrap="square"/>
                    <a:lstStyle/>
                    <a:p>
                      <a:r>
                        <a:rPr sz="1200" b="1">
                          <a:solidFill>
                            <a:srgbClr val="FFFFFF"/>
                          </a:solidFill>
                          <a:latin typeface="Arial"/>
                        </a:rPr>
                        <a:t>Role</a:t>
                      </a:r>
                    </a:p>
                  </a:txBody>
                  <a:tcPr marL="54864" marR="54864" marT="27432" marB="27432" anchor="ctr">
                    <a:solidFill>
                      <a:srgbClr val="475571"/>
                    </a:solidFill>
                  </a:tcPr>
                </a:tc>
                <a:tc>
                  <a:txBody>
                    <a:bodyPr wrap="square"/>
                    <a:lstStyle/>
                    <a:p>
                      <a:r>
                        <a:rPr sz="1200" b="1">
                          <a:solidFill>
                            <a:srgbClr val="FFFFFF"/>
                          </a:solidFill>
                          <a:latin typeface="Arial"/>
                        </a:rPr>
                        <a:t>Extra cost a month</a:t>
                      </a:r>
                    </a:p>
                  </a:txBody>
                  <a:tcPr marL="54864" marR="54864" marT="27432" marB="27432" anchor="ctr">
                    <a:solidFill>
                      <a:srgbClr val="475571"/>
                    </a:solidFill>
                  </a:tcPr>
                </a:tc>
                <a:tc>
                  <a:txBody>
                    <a:bodyPr wrap="square"/>
                    <a:lstStyle/>
                    <a:p>
                      <a:r>
                        <a:rPr sz="1200" b="1">
                          <a:solidFill>
                            <a:srgbClr val="FFFFFF"/>
                          </a:solidFill>
                          <a:latin typeface="Arial"/>
                        </a:rPr>
                        <a:t>Trigger: hire when...</a:t>
                      </a:r>
                    </a:p>
                  </a:txBody>
                  <a:tcPr marL="54864" marR="54864" marT="27432" marB="27432" anchor="ctr">
                    <a:solidFill>
                      <a:srgbClr val="475571"/>
                    </a:solidFill>
                  </a:tcPr>
                </a:tc>
                <a:tc>
                  <a:txBody>
                    <a:bodyPr wrap="square"/>
                    <a:lstStyle/>
                    <a:p>
                      <a:r>
                        <a:rPr sz="1200" b="1">
                          <a:solidFill>
                            <a:srgbClr val="FFFFFF"/>
                          </a:solidFill>
                          <a:latin typeface="Arial"/>
                        </a:rPr>
                        <a:t>What pays for it</a:t>
                      </a:r>
                    </a:p>
                  </a:txBody>
                  <a:tcPr marL="54864" marR="54864" marT="27432" marB="27432" anchor="ctr">
                    <a:solidFill>
                      <a:srgbClr val="475571"/>
                    </a:solidFill>
                  </a:tcPr>
                </a:tc>
                <a:tc>
                  <a:txBody>
                    <a:bodyPr wrap="square"/>
                    <a:lstStyle/>
                    <a:p>
                      <a:r>
                        <a:rPr sz="1200" b="1">
                          <a:solidFill>
                            <a:srgbClr val="FFFFFF"/>
                          </a:solidFill>
                          <a:latin typeface="Arial"/>
                        </a:rPr>
                        <a:t>Net margin after</a:t>
                      </a:r>
                    </a:p>
                  </a:txBody>
                  <a:tcPr marL="54864" marR="54864" marT="27432" marB="27432" anchor="ctr">
                    <a:solidFill>
                      <a:srgbClr val="475571"/>
                    </a:solidFill>
                  </a:tcPr>
                </a:tc>
              </a:tr>
              <a:tr h="603504">
                <a:tc>
                  <a:txBody>
                    <a:bodyPr wrap="square"/>
                    <a:lstStyle/>
                    <a:p>
                      <a:r>
                        <a:rPr sz="1200" b="1">
                          <a:solidFill>
                            <a:srgbClr val="374151"/>
                          </a:solidFill>
                          <a:latin typeface="Arial"/>
                        </a:rPr>
                        <a:t>1</a:t>
                      </a:r>
                    </a:p>
                  </a:txBody>
                  <a:tcPr marL="54864" marR="54864" marT="27432" marB="27432" anchor="ctr">
                    <a:solidFill>
                      <a:srgbClr val="F3F5F9"/>
                    </a:solidFill>
                  </a:tcPr>
                </a:tc>
                <a:tc>
                  <a:txBody>
                    <a:bodyPr wrap="square"/>
                    <a:lstStyle/>
                    <a:p>
                      <a:r>
                        <a:rPr sz="1200" b="0">
                          <a:solidFill>
                            <a:srgbClr val="374151"/>
                          </a:solidFill>
                          <a:latin typeface="Arial"/>
                        </a:rPr>
                        <a:t>Fair pay for admin, social media and marketing lead, plus Instagram ads</a:t>
                      </a:r>
                    </a:p>
                  </a:txBody>
                  <a:tcPr marL="54864" marR="54864" marT="27432" marB="27432" anchor="ctr">
                    <a:solidFill>
                      <a:srgbClr val="F3F5F9"/>
                    </a:solidFill>
                  </a:tcPr>
                </a:tc>
                <a:tc>
                  <a:txBody>
                    <a:bodyPr wrap="square"/>
                    <a:lstStyle/>
                    <a:p>
                      <a:r>
                        <a:rPr sz="1200" b="0">
                          <a:solidFill>
                            <a:srgbClr val="374151"/>
                          </a:solidFill>
                          <a:latin typeface="Arial"/>
                        </a:rPr>
                        <a:t>+Rp17.8M</a:t>
                      </a:r>
                    </a:p>
                  </a:txBody>
                  <a:tcPr marL="54864" marR="54864" marT="27432" marB="27432" anchor="ctr">
                    <a:solidFill>
                      <a:srgbClr val="F3F5F9"/>
                    </a:solidFill>
                  </a:tcPr>
                </a:tc>
                <a:tc>
                  <a:txBody>
                    <a:bodyPr wrap="square"/>
                    <a:lstStyle/>
                    <a:p>
                      <a:r>
                        <a:rPr sz="1200" b="0">
                          <a:solidFill>
                            <a:srgbClr val="374151"/>
                          </a:solidFill>
                          <a:latin typeface="Arial"/>
                        </a:rPr>
                        <a:t>January 2027, when the new prices start</a:t>
                      </a:r>
                    </a:p>
                  </a:txBody>
                  <a:tcPr marL="54864" marR="54864" marT="27432" marB="27432" anchor="ctr">
                    <a:solidFill>
                      <a:srgbClr val="F3F5F9"/>
                    </a:solidFill>
                  </a:tcPr>
                </a:tc>
                <a:tc>
                  <a:txBody>
                    <a:bodyPr wrap="square"/>
                    <a:lstStyle/>
                    <a:p>
                      <a:r>
                        <a:rPr sz="1200" b="0">
                          <a:solidFill>
                            <a:srgbClr val="374151"/>
                          </a:solidFill>
                          <a:latin typeface="Arial"/>
                        </a:rPr>
                        <a:t>The new prices</a:t>
                      </a:r>
                    </a:p>
                  </a:txBody>
                  <a:tcPr marL="54864" marR="54864" marT="27432" marB="27432" anchor="ctr">
                    <a:solidFill>
                      <a:srgbClr val="F3F5F9"/>
                    </a:solidFill>
                  </a:tcPr>
                </a:tc>
                <a:tc>
                  <a:txBody>
                    <a:bodyPr wrap="square"/>
                    <a:lstStyle/>
                    <a:p>
                      <a:r>
                        <a:rPr sz="1200" b="0">
                          <a:solidFill>
                            <a:srgbClr val="374151"/>
                          </a:solidFill>
                          <a:latin typeface="Arial"/>
                        </a:rPr>
                        <a:t>11% (before more EAP)</a:t>
                      </a:r>
                    </a:p>
                  </a:txBody>
                  <a:tcPr marL="54864" marR="54864" marT="27432" marB="27432" anchor="ctr">
                    <a:solidFill>
                      <a:srgbClr val="F3F5F9"/>
                    </a:solidFill>
                  </a:tcPr>
                </a:tc>
              </a:tr>
              <a:tr h="603504">
                <a:tc>
                  <a:txBody>
                    <a:bodyPr wrap="square"/>
                    <a:lstStyle/>
                    <a:p>
                      <a:r>
                        <a:rPr sz="1200" b="1">
                          <a:solidFill>
                            <a:srgbClr val="374151"/>
                          </a:solidFill>
                          <a:latin typeface="Arial"/>
                        </a:rPr>
                        <a:t>2</a:t>
                      </a:r>
                    </a:p>
                  </a:txBody>
                  <a:tcPr marL="54864" marR="54864" marT="27432" marB="27432" anchor="ctr">
                    <a:solidFill>
                      <a:srgbClr val="FFFFFF"/>
                    </a:solidFill>
                  </a:tcPr>
                </a:tc>
                <a:tc>
                  <a:txBody>
                    <a:bodyPr wrap="square"/>
                    <a:lstStyle/>
                    <a:p>
                      <a:r>
                        <a:rPr sz="1200" b="0">
                          <a:solidFill>
                            <a:srgbClr val="374151"/>
                          </a:solidFill>
                          <a:latin typeface="Arial"/>
                        </a:rPr>
                        <a:t>Full-time psychologist (replaces the part-time PIC)</a:t>
                      </a:r>
                    </a:p>
                  </a:txBody>
                  <a:tcPr marL="54864" marR="54864" marT="27432" marB="27432" anchor="ctr">
                    <a:solidFill>
                      <a:srgbClr val="FFFFFF"/>
                    </a:solidFill>
                  </a:tcPr>
                </a:tc>
                <a:tc>
                  <a:txBody>
                    <a:bodyPr wrap="square"/>
                    <a:lstStyle/>
                    <a:p>
                      <a:r>
                        <a:rPr sz="1200" b="0">
                          <a:solidFill>
                            <a:srgbClr val="374151"/>
                          </a:solidFill>
                          <a:latin typeface="Arial"/>
                        </a:rPr>
                        <a:t>+Rp8.3M</a:t>
                      </a:r>
                    </a:p>
                  </a:txBody>
                  <a:tcPr marL="54864" marR="54864" marT="27432" marB="27432" anchor="ctr">
                    <a:solidFill>
                      <a:srgbClr val="FFFFFF"/>
                    </a:solidFill>
                  </a:tcPr>
                </a:tc>
                <a:tc>
                  <a:txBody>
                    <a:bodyPr wrap="square"/>
                    <a:lstStyle/>
                    <a:p>
                      <a:r>
                        <a:rPr sz="1200" b="0">
                          <a:solidFill>
                            <a:srgbClr val="374151"/>
                          </a:solidFill>
                          <a:latin typeface="Arial"/>
                        </a:rPr>
                        <a:t>The second EAP contract is signed</a:t>
                      </a:r>
                    </a:p>
                  </a:txBody>
                  <a:tcPr marL="54864" marR="54864" marT="27432" marB="27432" anchor="ctr">
                    <a:solidFill>
                      <a:srgbClr val="FFFFFF"/>
                    </a:solidFill>
                  </a:tcPr>
                </a:tc>
                <a:tc>
                  <a:txBody>
                    <a:bodyPr wrap="square"/>
                    <a:lstStyle/>
                    <a:p>
                      <a:r>
                        <a:rPr sz="1200" b="0">
                          <a:solidFill>
                            <a:srgbClr val="374151"/>
                          </a:solidFill>
                          <a:latin typeface="Arial"/>
                        </a:rPr>
                        <a:t>Less than 1 EAP contract</a:t>
                      </a:r>
                    </a:p>
                  </a:txBody>
                  <a:tcPr marL="54864" marR="54864" marT="27432" marB="27432" anchor="ctr">
                    <a:solidFill>
                      <a:srgbClr val="FFFFFF"/>
                    </a:solidFill>
                  </a:tcPr>
                </a:tc>
                <a:tc>
                  <a:txBody>
                    <a:bodyPr wrap="square"/>
                    <a:lstStyle/>
                    <a:p>
                      <a:r>
                        <a:rPr sz="1200" b="0">
                          <a:solidFill>
                            <a:srgbClr val="374151"/>
                          </a:solidFill>
                          <a:latin typeface="Arial"/>
                        </a:rPr>
                        <a:t>16% with 2 more EAP</a:t>
                      </a:r>
                    </a:p>
                  </a:txBody>
                  <a:tcPr marL="54864" marR="54864" marT="27432" marB="27432" anchor="ctr">
                    <a:solidFill>
                      <a:srgbClr val="FFFFFF"/>
                    </a:solidFill>
                  </a:tcPr>
                </a:tc>
              </a:tr>
              <a:tr h="603504">
                <a:tc>
                  <a:txBody>
                    <a:bodyPr wrap="square"/>
                    <a:lstStyle/>
                    <a:p>
                      <a:r>
                        <a:rPr sz="1200" b="1">
                          <a:solidFill>
                            <a:srgbClr val="374151"/>
                          </a:solidFill>
                          <a:latin typeface="Arial"/>
                        </a:rPr>
                        <a:t>3</a:t>
                      </a:r>
                    </a:p>
                  </a:txBody>
                  <a:tcPr marL="54864" marR="54864" marT="27432" marB="27432" anchor="ctr">
                    <a:solidFill>
                      <a:srgbClr val="F3F5F9"/>
                    </a:solidFill>
                  </a:tcPr>
                </a:tc>
                <a:tc>
                  <a:txBody>
                    <a:bodyPr wrap="square"/>
                    <a:lstStyle/>
                    <a:p>
                      <a:r>
                        <a:rPr sz="1200" b="0">
                          <a:solidFill>
                            <a:srgbClr val="374151"/>
                          </a:solidFill>
                          <a:latin typeface="Arial"/>
                        </a:rPr>
                        <a:t>Sales co-founder (salary + shares)</a:t>
                      </a:r>
                    </a:p>
                  </a:txBody>
                  <a:tcPr marL="54864" marR="54864" marT="27432" marB="27432" anchor="ctr">
                    <a:solidFill>
                      <a:srgbClr val="F3F5F9"/>
                    </a:solidFill>
                  </a:tcPr>
                </a:tc>
                <a:tc>
                  <a:txBody>
                    <a:bodyPr wrap="square"/>
                    <a:lstStyle/>
                    <a:p>
                      <a:r>
                        <a:rPr sz="1200" b="0">
                          <a:solidFill>
                            <a:srgbClr val="374151"/>
                          </a:solidFill>
                          <a:latin typeface="Arial"/>
                        </a:rPr>
                        <a:t>+Rp8M</a:t>
                      </a:r>
                    </a:p>
                  </a:txBody>
                  <a:tcPr marL="54864" marR="54864" marT="27432" marB="27432" anchor="ctr">
                    <a:solidFill>
                      <a:srgbClr val="F3F5F9"/>
                    </a:solidFill>
                  </a:tcPr>
                </a:tc>
                <a:tc>
                  <a:txBody>
                    <a:bodyPr wrap="square"/>
                    <a:lstStyle/>
                    <a:p>
                      <a:r>
                        <a:rPr sz="1200" b="0">
                          <a:solidFill>
                            <a:srgbClr val="374151"/>
                          </a:solidFill>
                          <a:latin typeface="Arial"/>
                        </a:rPr>
                        <a:t>2 EAP contracts running and a bank, OJK or LPS offer is open</a:t>
                      </a:r>
                    </a:p>
                  </a:txBody>
                  <a:tcPr marL="54864" marR="54864" marT="27432" marB="27432" anchor="ctr">
                    <a:solidFill>
                      <a:srgbClr val="F3F5F9"/>
                    </a:solidFill>
                  </a:tcPr>
                </a:tc>
                <a:tc>
                  <a:txBody>
                    <a:bodyPr wrap="square"/>
                    <a:lstStyle/>
                    <a:p>
                      <a:r>
                        <a:rPr sz="1200" b="0">
                          <a:solidFill>
                            <a:srgbClr val="374151"/>
                          </a:solidFill>
                          <a:latin typeface="Arial"/>
                        </a:rPr>
                        <a:t>3 bank training days a year</a:t>
                      </a:r>
                    </a:p>
                  </a:txBody>
                  <a:tcPr marL="54864" marR="54864" marT="27432" marB="27432" anchor="ctr">
                    <a:solidFill>
                      <a:srgbClr val="F3F5F9"/>
                    </a:solidFill>
                  </a:tcPr>
                </a:tc>
                <a:tc>
                  <a:txBody>
                    <a:bodyPr wrap="square"/>
                    <a:lstStyle/>
                    <a:p>
                      <a:r>
                        <a:rPr sz="1200" b="0">
                          <a:solidFill>
                            <a:srgbClr val="374151"/>
                          </a:solidFill>
                          <a:latin typeface="Arial"/>
                        </a:rPr>
                        <a:t>23% with 10 bank days</a:t>
                      </a:r>
                    </a:p>
                  </a:txBody>
                  <a:tcPr marL="54864" marR="54864" marT="27432" marB="27432" anchor="ctr">
                    <a:solidFill>
                      <a:srgbClr val="F3F5F9"/>
                    </a:solidFill>
                  </a:tcPr>
                </a:tc>
              </a:tr>
              <a:tr h="603504">
                <a:tc>
                  <a:txBody>
                    <a:bodyPr wrap="square"/>
                    <a:lstStyle/>
                    <a:p>
                      <a:r>
                        <a:rPr sz="1200" b="1">
                          <a:solidFill>
                            <a:srgbClr val="374151"/>
                          </a:solidFill>
                          <a:latin typeface="Arial"/>
                        </a:rPr>
                        <a:t>4</a:t>
                      </a:r>
                    </a:p>
                  </a:txBody>
                  <a:tcPr marL="54864" marR="54864" marT="27432" marB="27432" anchor="ctr">
                    <a:solidFill>
                      <a:srgbClr val="FFFFFF"/>
                    </a:solidFill>
                  </a:tcPr>
                </a:tc>
                <a:tc>
                  <a:txBody>
                    <a:bodyPr wrap="square"/>
                    <a:lstStyle/>
                    <a:p>
                      <a:r>
                        <a:rPr sz="1200" b="0">
                          <a:solidFill>
                            <a:srgbClr val="374151"/>
                          </a:solidFill>
                          <a:latin typeface="Arial"/>
                        </a:rPr>
                        <a:t>CTO for the Theta app</a:t>
                      </a:r>
                    </a:p>
                  </a:txBody>
                  <a:tcPr marL="54864" marR="54864" marT="27432" marB="27432" anchor="ctr">
                    <a:solidFill>
                      <a:srgbClr val="FFFFFF"/>
                    </a:solidFill>
                  </a:tcPr>
                </a:tc>
                <a:tc>
                  <a:txBody>
                    <a:bodyPr wrap="square"/>
                    <a:lstStyle/>
                    <a:p>
                      <a:r>
                        <a:rPr sz="1200" b="0">
                          <a:solidFill>
                            <a:srgbClr val="374151"/>
                          </a:solidFill>
                          <a:latin typeface="Arial"/>
                        </a:rPr>
                        <a:t>+Rp10M</a:t>
                      </a:r>
                    </a:p>
                  </a:txBody>
                  <a:tcPr marL="54864" marR="54864" marT="27432" marB="27432" anchor="ctr">
                    <a:solidFill>
                      <a:srgbClr val="FFFFFF"/>
                    </a:solidFill>
                  </a:tcPr>
                </a:tc>
                <a:tc>
                  <a:txBody>
                    <a:bodyPr wrap="square"/>
                    <a:lstStyle/>
                    <a:p>
                      <a:r>
                        <a:rPr sz="1200" b="0">
                          <a:solidFill>
                            <a:srgbClr val="374151"/>
                          </a:solidFill>
                          <a:latin typeface="Arial"/>
                        </a:rPr>
                        <a:t>Theta's own income covers the salary</a:t>
                      </a:r>
                    </a:p>
                  </a:txBody>
                  <a:tcPr marL="54864" marR="54864" marT="27432" marB="27432" anchor="ctr">
                    <a:solidFill>
                      <a:srgbClr val="FFFFFF"/>
                    </a:solidFill>
                  </a:tcPr>
                </a:tc>
                <a:tc>
                  <a:txBody>
                    <a:bodyPr wrap="square"/>
                    <a:lstStyle/>
                    <a:p>
                      <a:r>
                        <a:rPr sz="1200" b="0">
                          <a:solidFill>
                            <a:srgbClr val="374151"/>
                          </a:solidFill>
                          <a:latin typeface="Arial"/>
                        </a:rPr>
                        <a:t>4 EAP contracts with Theta</a:t>
                      </a:r>
                    </a:p>
                  </a:txBody>
                  <a:tcPr marL="54864" marR="54864" marT="27432" marB="27432" anchor="ctr">
                    <a:solidFill>
                      <a:srgbClr val="FFFFFF"/>
                    </a:solidFill>
                  </a:tcPr>
                </a:tc>
                <a:tc>
                  <a:txBody>
                    <a:bodyPr wrap="square"/>
                    <a:lstStyle/>
                    <a:p>
                      <a:r>
                        <a:rPr sz="1200" b="0">
                          <a:solidFill>
                            <a:srgbClr val="374151"/>
                          </a:solidFill>
                          <a:latin typeface="Arial"/>
                        </a:rPr>
                        <a:t>Theta pays, not Teman Journey</a:t>
                      </a:r>
                    </a:p>
                  </a:txBody>
                  <a:tcPr marL="54864" marR="54864" marT="27432" marB="27432" anchor="ctr">
                    <a:solidFill>
                      <a:srgbClr val="FFFFFF"/>
                    </a:solidFill>
                  </a:tcPr>
                </a:tc>
              </a:tr>
              <a:tr h="603504">
                <a:tc>
                  <a:txBody>
                    <a:bodyPr wrap="square"/>
                    <a:lstStyle/>
                    <a:p>
                      <a:r>
                        <a:rPr sz="1200" b="1">
                          <a:solidFill>
                            <a:srgbClr val="374151"/>
                          </a:solidFill>
                          <a:latin typeface="Arial"/>
                        </a:rPr>
                        <a:t>5</a:t>
                      </a:r>
                    </a:p>
                  </a:txBody>
                  <a:tcPr marL="54864" marR="54864" marT="27432" marB="27432" anchor="ctr">
                    <a:solidFill>
                      <a:srgbClr val="F3F5F9"/>
                    </a:solidFill>
                  </a:tcPr>
                </a:tc>
                <a:tc>
                  <a:txBody>
                    <a:bodyPr wrap="square"/>
                    <a:lstStyle/>
                    <a:p>
                      <a:r>
                        <a:rPr sz="1200" b="0">
                          <a:solidFill>
                            <a:srgbClr val="374151"/>
                          </a:solidFill>
                          <a:latin typeface="Arial"/>
                        </a:rPr>
                        <a:t>Second project manager (paid per project)</a:t>
                      </a:r>
                    </a:p>
                  </a:txBody>
                  <a:tcPr marL="54864" marR="54864" marT="27432" marB="27432" anchor="ctr">
                    <a:solidFill>
                      <a:srgbClr val="F3F5F9"/>
                    </a:solidFill>
                  </a:tcPr>
                </a:tc>
                <a:tc>
                  <a:txBody>
                    <a:bodyPr wrap="square"/>
                    <a:lstStyle/>
                    <a:p>
                      <a:r>
                        <a:rPr sz="1200" b="0">
                          <a:solidFill>
                            <a:srgbClr val="374151"/>
                          </a:solidFill>
                          <a:latin typeface="Arial"/>
                        </a:rPr>
                        <a:t>Per project</a:t>
                      </a:r>
                    </a:p>
                  </a:txBody>
                  <a:tcPr marL="54864" marR="54864" marT="27432" marB="27432" anchor="ctr">
                    <a:solidFill>
                      <a:srgbClr val="F3F5F9"/>
                    </a:solidFill>
                  </a:tcPr>
                </a:tc>
                <a:tc>
                  <a:txBody>
                    <a:bodyPr wrap="square"/>
                    <a:lstStyle/>
                    <a:p>
                      <a:r>
                        <a:rPr sz="1200" b="0">
                          <a:solidFill>
                            <a:srgbClr val="374151"/>
                          </a:solidFill>
                          <a:latin typeface="Arial"/>
                        </a:rPr>
                        <a:t>More than 2 projects a month, 2 months in a row</a:t>
                      </a:r>
                    </a:p>
                  </a:txBody>
                  <a:tcPr marL="54864" marR="54864" marT="27432" marB="27432" anchor="ctr">
                    <a:solidFill>
                      <a:srgbClr val="F3F5F9"/>
                    </a:solidFill>
                  </a:tcPr>
                </a:tc>
                <a:tc>
                  <a:txBody>
                    <a:bodyPr wrap="square"/>
                    <a:lstStyle/>
                    <a:p>
                      <a:r>
                        <a:rPr sz="1200" b="0">
                          <a:solidFill>
                            <a:srgbClr val="374151"/>
                          </a:solidFill>
                          <a:latin typeface="Arial"/>
                        </a:rPr>
                        <a:t>The fee of each project</a:t>
                      </a:r>
                    </a:p>
                  </a:txBody>
                  <a:tcPr marL="54864" marR="54864" marT="27432" marB="27432" anchor="ctr">
                    <a:solidFill>
                      <a:srgbClr val="F3F5F9"/>
                    </a:solidFill>
                  </a:tcPr>
                </a:tc>
                <a:tc>
                  <a:txBody>
                    <a:bodyPr wrap="square"/>
                    <a:lstStyle/>
                    <a:p>
                      <a:r>
                        <a:rPr sz="1200" b="0">
                          <a:solidFill>
                            <a:srgbClr val="374151"/>
                          </a:solidFill>
                          <a:latin typeface="Arial"/>
                        </a:rPr>
                        <a:t>No change</a:t>
                      </a:r>
                    </a:p>
                  </a:txBody>
                  <a:tcPr marL="54864" marR="54864" marT="27432" marB="27432" anchor="ctr">
                    <a:solidFill>
                      <a:srgbClr val="F3F5F9"/>
                    </a:solidFill>
                  </a:tcPr>
                </a:tc>
              </a:tr>
              <a:tr h="603504">
                <a:tc>
                  <a:txBody>
                    <a:bodyPr wrap="square"/>
                    <a:lstStyle/>
                    <a:p>
                      <a:r>
                        <a:rPr sz="1200" b="1">
                          <a:solidFill>
                            <a:srgbClr val="374151"/>
                          </a:solidFill>
                          <a:latin typeface="Arial"/>
                        </a:rPr>
                        <a:t>6</a:t>
                      </a:r>
                    </a:p>
                  </a:txBody>
                  <a:tcPr marL="54864" marR="54864" marT="27432" marB="27432" anchor="ctr">
                    <a:solidFill>
                      <a:srgbClr val="FFFFFF"/>
                    </a:solidFill>
                  </a:tcPr>
                </a:tc>
                <a:tc>
                  <a:txBody>
                    <a:bodyPr wrap="square"/>
                    <a:lstStyle/>
                    <a:p>
                      <a:r>
                        <a:rPr sz="1200" b="0">
                          <a:solidFill>
                            <a:srgbClr val="374151"/>
                          </a:solidFill>
                          <a:latin typeface="Arial"/>
                        </a:rPr>
                        <a:t>Second admin</a:t>
                      </a:r>
                    </a:p>
                  </a:txBody>
                  <a:tcPr marL="54864" marR="54864" marT="27432" marB="27432" anchor="ctr">
                    <a:solidFill>
                      <a:srgbClr val="FFFFFF"/>
                    </a:solidFill>
                  </a:tcPr>
                </a:tc>
                <a:tc>
                  <a:txBody>
                    <a:bodyPr wrap="square"/>
                    <a:lstStyle/>
                    <a:p>
                      <a:r>
                        <a:rPr sz="1200" b="0">
                          <a:solidFill>
                            <a:srgbClr val="374151"/>
                          </a:solidFill>
                          <a:latin typeface="Arial"/>
                        </a:rPr>
                        <a:t>+Rp6.8M</a:t>
                      </a:r>
                    </a:p>
                  </a:txBody>
                  <a:tcPr marL="54864" marR="54864" marT="27432" marB="27432" anchor="ctr">
                    <a:solidFill>
                      <a:srgbClr val="FFFFFF"/>
                    </a:solidFill>
                  </a:tcPr>
                </a:tc>
                <a:tc>
                  <a:txBody>
                    <a:bodyPr wrap="square"/>
                    <a:lstStyle/>
                    <a:p>
                      <a:r>
                        <a:rPr sz="1200" b="0">
                          <a:solidFill>
                            <a:srgbClr val="374151"/>
                          </a:solidFill>
                          <a:latin typeface="Arial"/>
                        </a:rPr>
                        <a:t>Over 12 invoices or 6 business events a month, for 3 months</a:t>
                      </a:r>
                    </a:p>
                  </a:txBody>
                  <a:tcPr marL="54864" marR="54864" marT="27432" marB="27432" anchor="ctr">
                    <a:solidFill>
                      <a:srgbClr val="FFFFFF"/>
                    </a:solidFill>
                  </a:tcPr>
                </a:tc>
                <a:tc>
                  <a:txBody>
                    <a:bodyPr wrap="square"/>
                    <a:lstStyle/>
                    <a:p>
                      <a:r>
                        <a:rPr sz="1200" b="0">
                          <a:solidFill>
                            <a:srgbClr val="374151"/>
                          </a:solidFill>
                          <a:latin typeface="Arial"/>
                        </a:rPr>
                        <a:t>Until then, a daily freelancer</a:t>
                      </a:r>
                    </a:p>
                  </a:txBody>
                  <a:tcPr marL="54864" marR="54864" marT="27432" marB="27432" anchor="ctr">
                    <a:solidFill>
                      <a:srgbClr val="FFFFFF"/>
                    </a:solidFill>
                  </a:tcPr>
                </a:tc>
                <a:tc>
                  <a:txBody>
                    <a:bodyPr wrap="square"/>
                    <a:lstStyle/>
                    <a:p>
                      <a:r>
                        <a:rPr sz="1200" b="0">
                          <a:solidFill>
                            <a:srgbClr val="374151"/>
                          </a:solidFill>
                          <a:latin typeface="Arial"/>
                        </a:rPr>
                        <a:t>19% with the full team</a:t>
                      </a:r>
                    </a:p>
                  </a:txBody>
                  <a:tcPr marL="54864" marR="54864" marT="27432" marB="27432" anchor="ctr">
                    <a:solidFill>
                      <a:srgbClr val="FFFFFF"/>
                    </a:solidFill>
                  </a:tcPr>
                </a:tc>
              </a:tr>
            </a:tbl>
          </a:graphicData>
        </a:graphic>
      </p:graphicFrame>
      <p:sp>
        <p:nvSpPr>
          <p:cNvPr id="8" name="Rounded Rectangle 7"/>
          <p:cNvSpPr/>
          <p:nvPr/>
        </p:nvSpPr>
        <p:spPr>
          <a:xfrm>
            <a:off x="457200" y="5669280"/>
            <a:ext cx="11247120" cy="640080"/>
          </a:xfrm>
          <a:prstGeom prst="roundRect">
            <a:avLst>
              <a:gd name="adj" fmla="val 8000"/>
            </a:avLst>
          </a:prstGeom>
          <a:solidFill>
            <a:srgbClr val="F1DEB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36576" bIns="36576"/>
          <a:lstStyle/>
          <a:p>
            <a:pPr algn="l">
              <a:spcAft>
                <a:spcPts val="400"/>
              </a:spcAft>
            </a:pPr>
            <a:r>
              <a:rPr sz="1300" b="1" i="0">
                <a:solidFill>
                  <a:srgbClr val="374151"/>
                </a:solidFill>
                <a:latin typeface="Arial"/>
              </a:rPr>
              <a:t>PIC = person in charge. </a:t>
            </a:r>
            <a:r>
              <a:rPr sz="1300" b="0" i="0">
                <a:solidFill>
                  <a:srgbClr val="374151"/>
                </a:solidFill>
                <a:latin typeface="Arial"/>
              </a:rPr>
              <a:t>Today a part-time psychologist leads our clinical work; step 2 makes this a full-time role.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457200" y="292608"/>
            <a:ext cx="9966960" cy="914400"/>
          </a:xfrm>
          <a:prstGeom prst="rect">
            <a:avLst/>
          </a:prstGeom>
          <a:noFill/>
        </p:spPr>
        <p:txBody>
          <a:bodyPr wrap="square" anchor="t" lIns="73152" rIns="73152" tIns="36576" bIns="36576">
            <a:spAutoFit/>
          </a:bodyPr>
          <a:lstStyle/>
          <a:p>
            <a:pPr algn="l">
              <a:spcAft>
                <a:spcPts val="400"/>
              </a:spcAft>
            </a:pPr>
            <a:r>
              <a:rPr sz="2400" b="1" i="0">
                <a:solidFill>
                  <a:srgbClr val="475571"/>
                </a:solidFill>
                <a:latin typeface="Arial"/>
              </a:rPr>
              <a:t>Fair pay: what each full-time role costs at market pay</a:t>
            </a:r>
          </a:p>
        </p:txBody>
      </p:sp>
      <p:sp>
        <p:nvSpPr>
          <p:cNvPr id="3" name="Tag"/>
          <p:cNvSpPr/>
          <p:nvPr/>
        </p:nvSpPr>
        <p:spPr>
          <a:xfrm>
            <a:off x="10561320" y="365760"/>
            <a:ext cx="1188720" cy="365760"/>
          </a:xfrm>
          <a:prstGeom prst="roundRect">
            <a:avLst>
              <a:gd name="adj" fmla="val 8000"/>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a:spcAft>
                <a:spcPts val="400"/>
              </a:spcAft>
            </a:pPr>
            <a:r>
              <a:rPr sz="1200" b="1" i="0">
                <a:solidFill>
                  <a:srgbClr val="FFFFFF"/>
                </a:solidFill>
                <a:latin typeface="Arial"/>
              </a:rPr>
              <a:t>Appendix</a:t>
            </a:r>
          </a:p>
        </p:txBody>
      </p:sp>
      <p:sp>
        <p:nvSpPr>
          <p:cNvPr id="4" name="Source"/>
          <p:cNvSpPr txBox="1"/>
          <p:nvPr/>
        </p:nvSpPr>
        <p:spPr>
          <a:xfrm>
            <a:off x="457200" y="6400800"/>
            <a:ext cx="10607040" cy="320040"/>
          </a:xfrm>
          <a:prstGeom prst="rect">
            <a:avLst/>
          </a:prstGeom>
          <a:noFill/>
        </p:spPr>
        <p:txBody>
          <a:bodyPr wrap="square" anchor="t" lIns="73152" rIns="73152" tIns="36576" bIns="36576">
            <a:spAutoFit/>
          </a:bodyPr>
          <a:lstStyle/>
          <a:p>
            <a:pPr algn="l">
              <a:spcAft>
                <a:spcPts val="400"/>
              </a:spcAft>
            </a:pPr>
            <a:r>
              <a:rPr sz="1000" b="0" i="0">
                <a:solidFill>
                  <a:srgbClr val="6B7280"/>
                </a:solidFill>
                <a:latin typeface="Arial"/>
              </a:rPr>
              <a:t>Source: Our 2027 budget; Jakarta minimum wage 2026 Rp5,729,876; psychologist pay Rp7M to Rp13M (JobStreet); BPJS + THR 18% (estimate).</a:t>
            </a:r>
          </a:p>
        </p:txBody>
      </p:sp>
      <p:sp>
        <p:nvSpPr>
          <p:cNvPr id="5" name="Page"/>
          <p:cNvSpPr txBox="1"/>
          <p:nvPr/>
        </p:nvSpPr>
        <p:spPr>
          <a:xfrm>
            <a:off x="11247120" y="6400800"/>
            <a:ext cx="502920" cy="320040"/>
          </a:xfrm>
          <a:prstGeom prst="rect">
            <a:avLst/>
          </a:prstGeom>
          <a:noFill/>
        </p:spPr>
        <p:txBody>
          <a:bodyPr wrap="square" anchor="t" lIns="73152" rIns="73152" tIns="36576" bIns="36576">
            <a:spAutoFit/>
          </a:bodyPr>
          <a:lstStyle/>
          <a:p>
            <a:pPr algn="r">
              <a:spcAft>
                <a:spcPts val="400"/>
              </a:spcAft>
            </a:pPr>
            <a:r>
              <a:rPr sz="1000" b="0" i="0">
                <a:solidFill>
                  <a:srgbClr val="6B7280"/>
                </a:solidFill>
                <a:latin typeface="Arial"/>
              </a:rPr>
              <a:t>22</a:t>
            </a:r>
          </a:p>
        </p:txBody>
      </p:sp>
      <p:graphicFrame>
        <p:nvGraphicFramePr>
          <p:cNvPr id="6" name="Table 5"/>
          <p:cNvGraphicFramePr>
            <a:graphicFrameLocks noGrp="1"/>
          </p:cNvGraphicFramePr>
          <p:nvPr/>
        </p:nvGraphicFramePr>
        <p:xfrm>
          <a:off x="457200" y="1325880"/>
          <a:ext cx="11247120" cy="3657600"/>
        </p:xfrm>
        <a:graphic>
          <a:graphicData uri="http://schemas.openxmlformats.org/drawingml/2006/table">
            <a:tbl>
              <a:tblPr firstRow="1" bandRow="1">
                <a:tableStyleId>{5C22544A-7EE6-4342-B048-85BDC9FD1C3A}</a:tableStyleId>
              </a:tblPr>
              <a:tblGrid>
                <a:gridCol w="3291840"/>
                <a:gridCol w="1645920"/>
                <a:gridCol w="1188720"/>
                <a:gridCol w="1737360"/>
                <a:gridCol w="1097280"/>
                <a:gridCol w="2286000"/>
              </a:tblGrid>
              <a:tr h="457200">
                <a:tc>
                  <a:txBody>
                    <a:bodyPr wrap="square"/>
                    <a:lstStyle/>
                    <a:p>
                      <a:r>
                        <a:rPr sz="1200" b="1">
                          <a:solidFill>
                            <a:srgbClr val="FFFFFF"/>
                          </a:solidFill>
                          <a:latin typeface="Arial"/>
                        </a:rPr>
                        <a:t>Role</a:t>
                      </a:r>
                    </a:p>
                  </a:txBody>
                  <a:tcPr marL="54864" marR="54864" marT="27432" marB="27432" anchor="ctr">
                    <a:solidFill>
                      <a:srgbClr val="475571"/>
                    </a:solidFill>
                  </a:tcPr>
                </a:tc>
                <a:tc>
                  <a:txBody>
                    <a:bodyPr wrap="square"/>
                    <a:lstStyle/>
                    <a:p>
                      <a:r>
                        <a:rPr sz="1200" b="1">
                          <a:solidFill>
                            <a:srgbClr val="FFFFFF"/>
                          </a:solidFill>
                          <a:latin typeface="Arial"/>
                        </a:rPr>
                        <a:t>Pay today (Rp M a month)</a:t>
                      </a:r>
                    </a:p>
                  </a:txBody>
                  <a:tcPr marL="54864" marR="54864" marT="27432" marB="27432" anchor="ctr">
                    <a:solidFill>
                      <a:srgbClr val="475571"/>
                    </a:solidFill>
                  </a:tcPr>
                </a:tc>
                <a:tc>
                  <a:txBody>
                    <a:bodyPr wrap="square"/>
                    <a:lstStyle/>
                    <a:p>
                      <a:r>
                        <a:rPr sz="1200" b="1">
                          <a:solidFill>
                            <a:srgbClr val="FFFFFF"/>
                          </a:solidFill>
                          <a:latin typeface="Arial"/>
                        </a:rPr>
                        <a:t>Fair pay</a:t>
                      </a:r>
                    </a:p>
                  </a:txBody>
                  <a:tcPr marL="54864" marR="54864" marT="27432" marB="27432" anchor="ctr">
                    <a:solidFill>
                      <a:srgbClr val="475571"/>
                    </a:solidFill>
                  </a:tcPr>
                </a:tc>
                <a:tc>
                  <a:txBody>
                    <a:bodyPr wrap="square"/>
                    <a:lstStyle/>
                    <a:p>
                      <a:r>
                        <a:rPr sz="1200" b="1">
                          <a:solidFill>
                            <a:srgbClr val="FFFFFF"/>
                          </a:solidFill>
                          <a:latin typeface="Arial"/>
                        </a:rPr>
                        <a:t>Fair pay + BPJS and THR</a:t>
                      </a:r>
                    </a:p>
                  </a:txBody>
                  <a:tcPr marL="54864" marR="54864" marT="27432" marB="27432" anchor="ctr">
                    <a:solidFill>
                      <a:srgbClr val="475571"/>
                    </a:solidFill>
                  </a:tcPr>
                </a:tc>
                <a:tc>
                  <a:txBody>
                    <a:bodyPr wrap="square"/>
                    <a:lstStyle/>
                    <a:p>
                      <a:r>
                        <a:rPr sz="1200" b="1">
                          <a:solidFill>
                            <a:srgbClr val="FFFFFF"/>
                          </a:solidFill>
                          <a:latin typeface="Arial"/>
                        </a:rPr>
                        <a:t>Increase</a:t>
                      </a:r>
                    </a:p>
                  </a:txBody>
                  <a:tcPr marL="54864" marR="54864" marT="27432" marB="27432" anchor="ctr">
                    <a:solidFill>
                      <a:srgbClr val="475571"/>
                    </a:solidFill>
                  </a:tcPr>
                </a:tc>
                <a:tc>
                  <a:txBody>
                    <a:bodyPr wrap="square"/>
                    <a:lstStyle/>
                    <a:p>
                      <a:r>
                        <a:rPr sz="1200" b="1">
                          <a:solidFill>
                            <a:srgbClr val="FFFFFF"/>
                          </a:solidFill>
                          <a:latin typeface="Arial"/>
                        </a:rPr>
                        <a:t>Based on</a:t>
                      </a:r>
                    </a:p>
                  </a:txBody>
                  <a:tcPr marL="54864" marR="54864" marT="27432" marB="27432" anchor="ctr">
                    <a:solidFill>
                      <a:srgbClr val="475571"/>
                    </a:solidFill>
                  </a:tcPr>
                </a:tc>
              </a:tr>
              <a:tr h="457200">
                <a:tc>
                  <a:txBody>
                    <a:bodyPr wrap="square"/>
                    <a:lstStyle/>
                    <a:p>
                      <a:r>
                        <a:rPr sz="1200" b="1">
                          <a:solidFill>
                            <a:srgbClr val="374151"/>
                          </a:solidFill>
                          <a:latin typeface="Arial"/>
                        </a:rPr>
                        <a:t>Admin</a:t>
                      </a:r>
                    </a:p>
                  </a:txBody>
                  <a:tcPr marL="54864" marR="54864" marT="27432" marB="27432" anchor="ctr">
                    <a:solidFill>
                      <a:srgbClr val="F3F5F9"/>
                    </a:solidFill>
                  </a:tcPr>
                </a:tc>
                <a:tc>
                  <a:txBody>
                    <a:bodyPr wrap="square"/>
                    <a:lstStyle/>
                    <a:p>
                      <a:r>
                        <a:rPr sz="1200" b="0">
                          <a:solidFill>
                            <a:srgbClr val="374151"/>
                          </a:solidFill>
                          <a:latin typeface="Arial"/>
                        </a:rPr>
                        <a:t>3.0</a:t>
                      </a:r>
                    </a:p>
                  </a:txBody>
                  <a:tcPr marL="54864" marR="54864" marT="27432" marB="27432" anchor="ctr">
                    <a:solidFill>
                      <a:srgbClr val="F3F5F9"/>
                    </a:solidFill>
                  </a:tcPr>
                </a:tc>
                <a:tc>
                  <a:txBody>
                    <a:bodyPr wrap="square"/>
                    <a:lstStyle/>
                    <a:p>
                      <a:r>
                        <a:rPr sz="1200" b="0">
                          <a:solidFill>
                            <a:srgbClr val="374151"/>
                          </a:solidFill>
                          <a:latin typeface="Arial"/>
                        </a:rPr>
                        <a:t>5.7</a:t>
                      </a:r>
                    </a:p>
                  </a:txBody>
                  <a:tcPr marL="54864" marR="54864" marT="27432" marB="27432" anchor="ctr">
                    <a:solidFill>
                      <a:srgbClr val="F3F5F9"/>
                    </a:solidFill>
                  </a:tcPr>
                </a:tc>
                <a:tc>
                  <a:txBody>
                    <a:bodyPr wrap="square"/>
                    <a:lstStyle/>
                    <a:p>
                      <a:r>
                        <a:rPr sz="1200" b="0">
                          <a:solidFill>
                            <a:srgbClr val="374151"/>
                          </a:solidFill>
                          <a:latin typeface="Arial"/>
                        </a:rPr>
                        <a:t>6.8</a:t>
                      </a:r>
                    </a:p>
                  </a:txBody>
                  <a:tcPr marL="54864" marR="54864" marT="27432" marB="27432" anchor="ctr">
                    <a:solidFill>
                      <a:srgbClr val="F3F5F9"/>
                    </a:solidFill>
                  </a:tcPr>
                </a:tc>
                <a:tc>
                  <a:txBody>
                    <a:bodyPr wrap="square"/>
                    <a:lstStyle/>
                    <a:p>
                      <a:r>
                        <a:rPr sz="1200" b="0">
                          <a:solidFill>
                            <a:srgbClr val="374151"/>
                          </a:solidFill>
                          <a:latin typeface="Arial"/>
                        </a:rPr>
                        <a:t>+3.8</a:t>
                      </a:r>
                    </a:p>
                  </a:txBody>
                  <a:tcPr marL="54864" marR="54864" marT="27432" marB="27432" anchor="ctr">
                    <a:solidFill>
                      <a:srgbClr val="F3F5F9"/>
                    </a:solidFill>
                  </a:tcPr>
                </a:tc>
                <a:tc>
                  <a:txBody>
                    <a:bodyPr wrap="square"/>
                    <a:lstStyle/>
                    <a:p>
                      <a:r>
                        <a:rPr sz="1200" b="0">
                          <a:solidFill>
                            <a:srgbClr val="374151"/>
                          </a:solidFill>
                          <a:latin typeface="Arial"/>
                        </a:rPr>
                        <a:t>Jakarta minimum wage</a:t>
                      </a:r>
                    </a:p>
                  </a:txBody>
                  <a:tcPr marL="54864" marR="54864" marT="27432" marB="27432" anchor="ctr">
                    <a:solidFill>
                      <a:srgbClr val="F3F5F9"/>
                    </a:solidFill>
                  </a:tcPr>
                </a:tc>
              </a:tr>
              <a:tr h="457200">
                <a:tc>
                  <a:txBody>
                    <a:bodyPr wrap="square"/>
                    <a:lstStyle/>
                    <a:p>
                      <a:r>
                        <a:rPr sz="1200" b="1">
                          <a:solidFill>
                            <a:srgbClr val="374151"/>
                          </a:solidFill>
                          <a:latin typeface="Arial"/>
                        </a:rPr>
                        <a:t>Social media staff</a:t>
                      </a:r>
                    </a:p>
                  </a:txBody>
                  <a:tcPr marL="54864" marR="54864" marT="27432" marB="27432" anchor="ctr">
                    <a:solidFill>
                      <a:srgbClr val="FFFFFF"/>
                    </a:solidFill>
                  </a:tcPr>
                </a:tc>
                <a:tc>
                  <a:txBody>
                    <a:bodyPr wrap="square"/>
                    <a:lstStyle/>
                    <a:p>
                      <a:r>
                        <a:rPr sz="1200" b="0">
                          <a:solidFill>
                            <a:srgbClr val="374151"/>
                          </a:solidFill>
                          <a:latin typeface="Arial"/>
                        </a:rPr>
                        <a:t>1.5</a:t>
                      </a:r>
                    </a:p>
                  </a:txBody>
                  <a:tcPr marL="54864" marR="54864" marT="27432" marB="27432" anchor="ctr">
                    <a:solidFill>
                      <a:srgbClr val="FFFFFF"/>
                    </a:solidFill>
                  </a:tcPr>
                </a:tc>
                <a:tc>
                  <a:txBody>
                    <a:bodyPr wrap="square"/>
                    <a:lstStyle/>
                    <a:p>
                      <a:r>
                        <a:rPr sz="1200" b="0">
                          <a:solidFill>
                            <a:srgbClr val="374151"/>
                          </a:solidFill>
                          <a:latin typeface="Arial"/>
                        </a:rPr>
                        <a:t>5.7</a:t>
                      </a:r>
                    </a:p>
                  </a:txBody>
                  <a:tcPr marL="54864" marR="54864" marT="27432" marB="27432" anchor="ctr">
                    <a:solidFill>
                      <a:srgbClr val="FFFFFF"/>
                    </a:solidFill>
                  </a:tcPr>
                </a:tc>
                <a:tc>
                  <a:txBody>
                    <a:bodyPr wrap="square"/>
                    <a:lstStyle/>
                    <a:p>
                      <a:r>
                        <a:rPr sz="1200" b="0">
                          <a:solidFill>
                            <a:srgbClr val="374151"/>
                          </a:solidFill>
                          <a:latin typeface="Arial"/>
                        </a:rPr>
                        <a:t>6.8</a:t>
                      </a:r>
                    </a:p>
                  </a:txBody>
                  <a:tcPr marL="54864" marR="54864" marT="27432" marB="27432" anchor="ctr">
                    <a:solidFill>
                      <a:srgbClr val="FFFFFF"/>
                    </a:solidFill>
                  </a:tcPr>
                </a:tc>
                <a:tc>
                  <a:txBody>
                    <a:bodyPr wrap="square"/>
                    <a:lstStyle/>
                    <a:p>
                      <a:r>
                        <a:rPr sz="1200" b="0">
                          <a:solidFill>
                            <a:srgbClr val="374151"/>
                          </a:solidFill>
                          <a:latin typeface="Arial"/>
                        </a:rPr>
                        <a:t>+5.3</a:t>
                      </a:r>
                    </a:p>
                  </a:txBody>
                  <a:tcPr marL="54864" marR="54864" marT="27432" marB="27432" anchor="ctr">
                    <a:solidFill>
                      <a:srgbClr val="FFFFFF"/>
                    </a:solidFill>
                  </a:tcPr>
                </a:tc>
                <a:tc>
                  <a:txBody>
                    <a:bodyPr wrap="square"/>
                    <a:lstStyle/>
                    <a:p>
                      <a:r>
                        <a:rPr sz="1200" b="0">
                          <a:solidFill>
                            <a:srgbClr val="374151"/>
                          </a:solidFill>
                          <a:latin typeface="Arial"/>
                        </a:rPr>
                        <a:t>Jakarta minimum wage</a:t>
                      </a:r>
                    </a:p>
                  </a:txBody>
                  <a:tcPr marL="54864" marR="54864" marT="27432" marB="27432" anchor="ctr">
                    <a:solidFill>
                      <a:srgbClr val="FFFFFF"/>
                    </a:solidFill>
                  </a:tcPr>
                </a:tc>
              </a:tr>
              <a:tr h="457200">
                <a:tc>
                  <a:txBody>
                    <a:bodyPr wrap="square"/>
                    <a:lstStyle/>
                    <a:p>
                      <a:r>
                        <a:rPr sz="1200" b="1">
                          <a:solidFill>
                            <a:srgbClr val="374151"/>
                          </a:solidFill>
                          <a:latin typeface="Arial"/>
                        </a:rPr>
                        <a:t>Marketing lead</a:t>
                      </a:r>
                    </a:p>
                  </a:txBody>
                  <a:tcPr marL="54864" marR="54864" marT="27432" marB="27432" anchor="ctr">
                    <a:solidFill>
                      <a:srgbClr val="F3F5F9"/>
                    </a:solidFill>
                  </a:tcPr>
                </a:tc>
                <a:tc>
                  <a:txBody>
                    <a:bodyPr wrap="square"/>
                    <a:lstStyle/>
                    <a:p>
                      <a:r>
                        <a:rPr sz="1200" b="0">
                          <a:solidFill>
                            <a:srgbClr val="374151"/>
                          </a:solidFill>
                          <a:latin typeface="Arial"/>
                        </a:rPr>
                        <a:t>2.5</a:t>
                      </a:r>
                    </a:p>
                  </a:txBody>
                  <a:tcPr marL="54864" marR="54864" marT="27432" marB="27432" anchor="ctr">
                    <a:solidFill>
                      <a:srgbClr val="F3F5F9"/>
                    </a:solidFill>
                  </a:tcPr>
                </a:tc>
                <a:tc>
                  <a:txBody>
                    <a:bodyPr wrap="square"/>
                    <a:lstStyle/>
                    <a:p>
                      <a:r>
                        <a:rPr sz="1200" b="0">
                          <a:solidFill>
                            <a:srgbClr val="374151"/>
                          </a:solidFill>
                          <a:latin typeface="Arial"/>
                        </a:rPr>
                        <a:t>7.0</a:t>
                      </a:r>
                    </a:p>
                  </a:txBody>
                  <a:tcPr marL="54864" marR="54864" marT="27432" marB="27432" anchor="ctr">
                    <a:solidFill>
                      <a:srgbClr val="F3F5F9"/>
                    </a:solidFill>
                  </a:tcPr>
                </a:tc>
                <a:tc>
                  <a:txBody>
                    <a:bodyPr wrap="square"/>
                    <a:lstStyle/>
                    <a:p>
                      <a:r>
                        <a:rPr sz="1200" b="0">
                          <a:solidFill>
                            <a:srgbClr val="374151"/>
                          </a:solidFill>
                          <a:latin typeface="Arial"/>
                        </a:rPr>
                        <a:t>8.3</a:t>
                      </a:r>
                    </a:p>
                  </a:txBody>
                  <a:tcPr marL="54864" marR="54864" marT="27432" marB="27432" anchor="ctr">
                    <a:solidFill>
                      <a:srgbClr val="F3F5F9"/>
                    </a:solidFill>
                  </a:tcPr>
                </a:tc>
                <a:tc>
                  <a:txBody>
                    <a:bodyPr wrap="square"/>
                    <a:lstStyle/>
                    <a:p>
                      <a:r>
                        <a:rPr sz="1200" b="0">
                          <a:solidFill>
                            <a:srgbClr val="374151"/>
                          </a:solidFill>
                          <a:latin typeface="Arial"/>
                        </a:rPr>
                        <a:t>+5.8</a:t>
                      </a:r>
                    </a:p>
                  </a:txBody>
                  <a:tcPr marL="54864" marR="54864" marT="27432" marB="27432" anchor="ctr">
                    <a:solidFill>
                      <a:srgbClr val="F3F5F9"/>
                    </a:solidFill>
                  </a:tcPr>
                </a:tc>
                <a:tc>
                  <a:txBody>
                    <a:bodyPr wrap="square"/>
                    <a:lstStyle/>
                    <a:p>
                      <a:r>
                        <a:rPr sz="1200" b="0">
                          <a:solidFill>
                            <a:srgbClr val="374151"/>
                          </a:solidFill>
                          <a:latin typeface="Arial"/>
                        </a:rPr>
                        <a:t>Minimum wage + 22% for a lead role</a:t>
                      </a:r>
                    </a:p>
                  </a:txBody>
                  <a:tcPr marL="54864" marR="54864" marT="27432" marB="27432" anchor="ctr">
                    <a:solidFill>
                      <a:srgbClr val="F3F5F9"/>
                    </a:solidFill>
                  </a:tcPr>
                </a:tc>
              </a:tr>
              <a:tr h="457200">
                <a:tc>
                  <a:txBody>
                    <a:bodyPr wrap="square"/>
                    <a:lstStyle/>
                    <a:p>
                      <a:r>
                        <a:rPr sz="1200" b="1">
                          <a:solidFill>
                            <a:srgbClr val="374151"/>
                          </a:solidFill>
                          <a:latin typeface="Arial"/>
                        </a:rPr>
                        <a:t>Full-time psychologist (was part-time)</a:t>
                      </a:r>
                    </a:p>
                  </a:txBody>
                  <a:tcPr marL="54864" marR="54864" marT="27432" marB="27432" anchor="ctr">
                    <a:solidFill>
                      <a:srgbClr val="FFFFFF"/>
                    </a:solidFill>
                  </a:tcPr>
                </a:tc>
                <a:tc>
                  <a:txBody>
                    <a:bodyPr wrap="square"/>
                    <a:lstStyle/>
                    <a:p>
                      <a:r>
                        <a:rPr sz="1200" b="0">
                          <a:solidFill>
                            <a:srgbClr val="374151"/>
                          </a:solidFill>
                          <a:latin typeface="Arial"/>
                        </a:rPr>
                        <a:t>2.3</a:t>
                      </a:r>
                    </a:p>
                  </a:txBody>
                  <a:tcPr marL="54864" marR="54864" marT="27432" marB="27432" anchor="ctr">
                    <a:solidFill>
                      <a:srgbClr val="FFFFFF"/>
                    </a:solidFill>
                  </a:tcPr>
                </a:tc>
                <a:tc>
                  <a:txBody>
                    <a:bodyPr wrap="square"/>
                    <a:lstStyle/>
                    <a:p>
                      <a:r>
                        <a:rPr sz="1200" b="0">
                          <a:solidFill>
                            <a:srgbClr val="374151"/>
                          </a:solidFill>
                          <a:latin typeface="Arial"/>
                        </a:rPr>
                        <a:t>9.0</a:t>
                      </a:r>
                    </a:p>
                  </a:txBody>
                  <a:tcPr marL="54864" marR="54864" marT="27432" marB="27432" anchor="ctr">
                    <a:solidFill>
                      <a:srgbClr val="FFFFFF"/>
                    </a:solidFill>
                  </a:tcPr>
                </a:tc>
                <a:tc>
                  <a:txBody>
                    <a:bodyPr wrap="square"/>
                    <a:lstStyle/>
                    <a:p>
                      <a:r>
                        <a:rPr sz="1200" b="0">
                          <a:solidFill>
                            <a:srgbClr val="374151"/>
                          </a:solidFill>
                          <a:latin typeface="Arial"/>
                        </a:rPr>
                        <a:t>10.6</a:t>
                      </a:r>
                    </a:p>
                  </a:txBody>
                  <a:tcPr marL="54864" marR="54864" marT="27432" marB="27432" anchor="ctr">
                    <a:solidFill>
                      <a:srgbClr val="FFFFFF"/>
                    </a:solidFill>
                  </a:tcPr>
                </a:tc>
                <a:tc>
                  <a:txBody>
                    <a:bodyPr wrap="square"/>
                    <a:lstStyle/>
                    <a:p>
                      <a:r>
                        <a:rPr sz="1200" b="0">
                          <a:solidFill>
                            <a:srgbClr val="374151"/>
                          </a:solidFill>
                          <a:latin typeface="Arial"/>
                        </a:rPr>
                        <a:t>+8.3</a:t>
                      </a:r>
                    </a:p>
                  </a:txBody>
                  <a:tcPr marL="54864" marR="54864" marT="27432" marB="27432" anchor="ctr">
                    <a:solidFill>
                      <a:srgbClr val="FFFFFF"/>
                    </a:solidFill>
                  </a:tcPr>
                </a:tc>
                <a:tc>
                  <a:txBody>
                    <a:bodyPr wrap="square"/>
                    <a:lstStyle/>
                    <a:p>
                      <a:r>
                        <a:rPr sz="1200" b="0">
                          <a:solidFill>
                            <a:srgbClr val="374151"/>
                          </a:solidFill>
                          <a:latin typeface="Arial"/>
                        </a:rPr>
                        <a:t>Psychologist market pay (low end)</a:t>
                      </a:r>
                    </a:p>
                  </a:txBody>
                  <a:tcPr marL="54864" marR="54864" marT="27432" marB="27432" anchor="ctr">
                    <a:solidFill>
                      <a:srgbClr val="FFFFFF"/>
                    </a:solidFill>
                  </a:tcPr>
                </a:tc>
              </a:tr>
              <a:tr h="457200">
                <a:tc>
                  <a:txBody>
                    <a:bodyPr wrap="square"/>
                    <a:lstStyle/>
                    <a:p>
                      <a:r>
                        <a:rPr sz="1200" b="1">
                          <a:solidFill>
                            <a:srgbClr val="374151"/>
                          </a:solidFill>
                          <a:latin typeface="Arial"/>
                        </a:rPr>
                        <a:t>2 interns (marketing, operations)</a:t>
                      </a:r>
                    </a:p>
                  </a:txBody>
                  <a:tcPr marL="54864" marR="54864" marT="27432" marB="27432" anchor="ctr">
                    <a:solidFill>
                      <a:srgbClr val="F3F5F9"/>
                    </a:solidFill>
                  </a:tcPr>
                </a:tc>
                <a:tc>
                  <a:txBody>
                    <a:bodyPr wrap="square"/>
                    <a:lstStyle/>
                    <a:p>
                      <a:r>
                        <a:rPr sz="1200" b="0">
                          <a:solidFill>
                            <a:srgbClr val="374151"/>
                          </a:solidFill>
                          <a:latin typeface="Arial"/>
                        </a:rPr>
                        <a:t>2.0</a:t>
                      </a:r>
                    </a:p>
                  </a:txBody>
                  <a:tcPr marL="54864" marR="54864" marT="27432" marB="27432" anchor="ctr">
                    <a:solidFill>
                      <a:srgbClr val="F3F5F9"/>
                    </a:solidFill>
                  </a:tcPr>
                </a:tc>
                <a:tc>
                  <a:txBody>
                    <a:bodyPr wrap="square"/>
                    <a:lstStyle/>
                    <a:p>
                      <a:r>
                        <a:rPr sz="1200" b="0">
                          <a:solidFill>
                            <a:srgbClr val="374151"/>
                          </a:solidFill>
                          <a:latin typeface="Arial"/>
                        </a:rPr>
                        <a:t>2.0</a:t>
                      </a:r>
                    </a:p>
                  </a:txBody>
                  <a:tcPr marL="54864" marR="54864" marT="27432" marB="27432" anchor="ctr">
                    <a:solidFill>
                      <a:srgbClr val="F3F5F9"/>
                    </a:solidFill>
                  </a:tcPr>
                </a:tc>
                <a:tc>
                  <a:txBody>
                    <a:bodyPr wrap="square"/>
                    <a:lstStyle/>
                    <a:p>
                      <a:r>
                        <a:rPr sz="1200" b="0">
                          <a:solidFill>
                            <a:srgbClr val="374151"/>
                          </a:solidFill>
                          <a:latin typeface="Arial"/>
                        </a:rPr>
                        <a:t>2.0</a:t>
                      </a:r>
                    </a:p>
                  </a:txBody>
                  <a:tcPr marL="54864" marR="54864" marT="27432" marB="27432" anchor="ctr">
                    <a:solidFill>
                      <a:srgbClr val="F3F5F9"/>
                    </a:solidFill>
                  </a:tcPr>
                </a:tc>
                <a:tc>
                  <a:txBody>
                    <a:bodyPr wrap="square"/>
                    <a:lstStyle/>
                    <a:p>
                      <a:r>
                        <a:rPr sz="1200" b="0">
                          <a:solidFill>
                            <a:srgbClr val="374151"/>
                          </a:solidFill>
                          <a:latin typeface="Arial"/>
                        </a:rPr>
                        <a:t>+0.0</a:t>
                      </a:r>
                    </a:p>
                  </a:txBody>
                  <a:tcPr marL="54864" marR="54864" marT="27432" marB="27432" anchor="ctr">
                    <a:solidFill>
                      <a:srgbClr val="F3F5F9"/>
                    </a:solidFill>
                  </a:tcPr>
                </a:tc>
                <a:tc>
                  <a:txBody>
                    <a:bodyPr wrap="square"/>
                    <a:lstStyle/>
                    <a:p>
                      <a:r>
                        <a:rPr sz="1200" b="0">
                          <a:solidFill>
                            <a:srgbClr val="374151"/>
                          </a:solidFill>
                          <a:latin typeface="Arial"/>
                        </a:rPr>
                        <a:t>Intern allowance, no change</a:t>
                      </a:r>
                    </a:p>
                  </a:txBody>
                  <a:tcPr marL="54864" marR="54864" marT="27432" marB="27432" anchor="ctr">
                    <a:solidFill>
                      <a:srgbClr val="F3F5F9"/>
                    </a:solidFill>
                  </a:tcPr>
                </a:tc>
              </a:tr>
              <a:tr h="457200">
                <a:tc>
                  <a:txBody>
                    <a:bodyPr wrap="square"/>
                    <a:lstStyle/>
                    <a:p>
                      <a:r>
                        <a:rPr sz="1200" b="1">
                          <a:solidFill>
                            <a:srgbClr val="374151"/>
                          </a:solidFill>
                          <a:latin typeface="Arial"/>
                        </a:rPr>
                        <a:t>More Instagram ads and content</a:t>
                      </a:r>
                    </a:p>
                  </a:txBody>
                  <a:tcPr marL="54864" marR="54864" marT="27432" marB="27432" anchor="ctr">
                    <a:solidFill>
                      <a:srgbClr val="FFFFFF"/>
                    </a:solidFill>
                  </a:tcPr>
                </a:tc>
                <a:tc>
                  <a:txBody>
                    <a:bodyPr wrap="square"/>
                    <a:lstStyle/>
                    <a:p>
                      <a:r>
                        <a:rPr sz="1200" b="0">
                          <a:solidFill>
                            <a:srgbClr val="374151"/>
                          </a:solidFill>
                          <a:latin typeface="Arial"/>
                        </a:rPr>
                        <a:t/>
                      </a:r>
                    </a:p>
                  </a:txBody>
                  <a:tcPr marL="54864" marR="54864" marT="27432" marB="27432" anchor="ctr">
                    <a:solidFill>
                      <a:srgbClr val="FFFFFF"/>
                    </a:solidFill>
                  </a:tcPr>
                </a:tc>
                <a:tc>
                  <a:txBody>
                    <a:bodyPr wrap="square"/>
                    <a:lstStyle/>
                    <a:p>
                      <a:r>
                        <a:rPr sz="1200" b="0">
                          <a:solidFill>
                            <a:srgbClr val="374151"/>
                          </a:solidFill>
                          <a:latin typeface="Arial"/>
                        </a:rPr>
                        <a:t/>
                      </a:r>
                    </a:p>
                  </a:txBody>
                  <a:tcPr marL="54864" marR="54864" marT="27432" marB="27432" anchor="ctr">
                    <a:solidFill>
                      <a:srgbClr val="FFFFFF"/>
                    </a:solidFill>
                  </a:tcPr>
                </a:tc>
                <a:tc>
                  <a:txBody>
                    <a:bodyPr wrap="square"/>
                    <a:lstStyle/>
                    <a:p>
                      <a:r>
                        <a:rPr sz="1200" b="0">
                          <a:solidFill>
                            <a:srgbClr val="374151"/>
                          </a:solidFill>
                          <a:latin typeface="Arial"/>
                        </a:rPr>
                        <a:t>3.0</a:t>
                      </a:r>
                    </a:p>
                  </a:txBody>
                  <a:tcPr marL="54864" marR="54864" marT="27432" marB="27432" anchor="ctr">
                    <a:solidFill>
                      <a:srgbClr val="FFFFFF"/>
                    </a:solidFill>
                  </a:tcPr>
                </a:tc>
                <a:tc>
                  <a:txBody>
                    <a:bodyPr wrap="square"/>
                    <a:lstStyle/>
                    <a:p>
                      <a:r>
                        <a:rPr sz="1200" b="0">
                          <a:solidFill>
                            <a:srgbClr val="374151"/>
                          </a:solidFill>
                          <a:latin typeface="Arial"/>
                        </a:rPr>
                        <a:t>+3.0</a:t>
                      </a:r>
                    </a:p>
                  </a:txBody>
                  <a:tcPr marL="54864" marR="54864" marT="27432" marB="27432" anchor="ctr">
                    <a:solidFill>
                      <a:srgbClr val="FFFFFF"/>
                    </a:solidFill>
                  </a:tcPr>
                </a:tc>
                <a:tc>
                  <a:txBody>
                    <a:bodyPr wrap="square"/>
                    <a:lstStyle/>
                    <a:p>
                      <a:r>
                        <a:rPr sz="1200" b="0">
                          <a:solidFill>
                            <a:srgbClr val="374151"/>
                          </a:solidFill>
                          <a:latin typeface="Arial"/>
                        </a:rPr>
                        <a:t>Founders' budget choice</a:t>
                      </a:r>
                    </a:p>
                  </a:txBody>
                  <a:tcPr marL="54864" marR="54864" marT="27432" marB="27432" anchor="ctr">
                    <a:solidFill>
                      <a:srgbClr val="FFFFFF"/>
                    </a:solidFill>
                  </a:tcPr>
                </a:tc>
              </a:tr>
              <a:tr h="457200">
                <a:tc>
                  <a:txBody>
                    <a:bodyPr wrap="square"/>
                    <a:lstStyle/>
                    <a:p>
                      <a:r>
                        <a:rPr sz="1200" b="1">
                          <a:solidFill>
                            <a:srgbClr val="374151"/>
                          </a:solidFill>
                          <a:latin typeface="Arial"/>
                        </a:rPr>
                        <a:t>Total</a:t>
                      </a:r>
                    </a:p>
                  </a:txBody>
                  <a:tcPr marL="54864" marR="54864" marT="27432" marB="27432" anchor="ctr">
                    <a:solidFill>
                      <a:srgbClr val="F3F5F9"/>
                    </a:solidFill>
                  </a:tcPr>
                </a:tc>
                <a:tc>
                  <a:txBody>
                    <a:bodyPr wrap="square"/>
                    <a:lstStyle/>
                    <a:p>
                      <a:r>
                        <a:rPr sz="1200" b="0">
                          <a:solidFill>
                            <a:srgbClr val="374151"/>
                          </a:solidFill>
                          <a:latin typeface="Arial"/>
                        </a:rPr>
                        <a:t>11.3</a:t>
                      </a:r>
                    </a:p>
                  </a:txBody>
                  <a:tcPr marL="54864" marR="54864" marT="27432" marB="27432" anchor="ctr">
                    <a:solidFill>
                      <a:srgbClr val="F3F5F9"/>
                    </a:solidFill>
                  </a:tcPr>
                </a:tc>
                <a:tc>
                  <a:txBody>
                    <a:bodyPr wrap="square"/>
                    <a:lstStyle/>
                    <a:p>
                      <a:r>
                        <a:rPr sz="1200" b="0">
                          <a:solidFill>
                            <a:srgbClr val="374151"/>
                          </a:solidFill>
                          <a:latin typeface="Arial"/>
                        </a:rPr>
                        <a:t/>
                      </a:r>
                    </a:p>
                  </a:txBody>
                  <a:tcPr marL="54864" marR="54864" marT="27432" marB="27432" anchor="ctr">
                    <a:solidFill>
                      <a:srgbClr val="F3F5F9"/>
                    </a:solidFill>
                  </a:tcPr>
                </a:tc>
                <a:tc>
                  <a:txBody>
                    <a:bodyPr wrap="square"/>
                    <a:lstStyle/>
                    <a:p>
                      <a:r>
                        <a:rPr sz="1200" b="0">
                          <a:solidFill>
                            <a:srgbClr val="374151"/>
                          </a:solidFill>
                          <a:latin typeface="Arial"/>
                        </a:rPr>
                        <a:t>37.4</a:t>
                      </a:r>
                    </a:p>
                  </a:txBody>
                  <a:tcPr marL="54864" marR="54864" marT="27432" marB="27432" anchor="ctr">
                    <a:solidFill>
                      <a:srgbClr val="F3F5F9"/>
                    </a:solidFill>
                  </a:tcPr>
                </a:tc>
                <a:tc>
                  <a:txBody>
                    <a:bodyPr wrap="square"/>
                    <a:lstStyle/>
                    <a:p>
                      <a:r>
                        <a:rPr sz="1200" b="0">
                          <a:solidFill>
                            <a:srgbClr val="374151"/>
                          </a:solidFill>
                          <a:latin typeface="Arial"/>
                        </a:rPr>
                        <a:t>+26.1</a:t>
                      </a:r>
                    </a:p>
                  </a:txBody>
                  <a:tcPr marL="54864" marR="54864" marT="27432" marB="27432" anchor="ctr">
                    <a:solidFill>
                      <a:srgbClr val="F3F5F9"/>
                    </a:solidFill>
                  </a:tcPr>
                </a:tc>
                <a:tc>
                  <a:txBody>
                    <a:bodyPr wrap="square"/>
                    <a:lstStyle/>
                    <a:p>
                      <a:r>
                        <a:rPr sz="1200" b="0">
                          <a:solidFill>
                            <a:srgbClr val="374151"/>
                          </a:solidFill>
                          <a:latin typeface="Arial"/>
                        </a:rPr>
                        <a:t/>
                      </a:r>
                    </a:p>
                  </a:txBody>
                  <a:tcPr marL="54864" marR="54864" marT="27432" marB="27432" anchor="ctr">
                    <a:solidFill>
                      <a:srgbClr val="F3F5F9"/>
                    </a:solidFill>
                  </a:tcPr>
                </a:tc>
              </a:tr>
            </a:tbl>
          </a:graphicData>
        </a:graphic>
      </p:graphicFrame>
      <p:sp>
        <p:nvSpPr>
          <p:cNvPr id="7" name="Rounded Rectangle 6"/>
          <p:cNvSpPr/>
          <p:nvPr/>
        </p:nvSpPr>
        <p:spPr>
          <a:xfrm>
            <a:off x="457200" y="5120640"/>
            <a:ext cx="11247120" cy="1005840"/>
          </a:xfrm>
          <a:prstGeom prst="roundRect">
            <a:avLst>
              <a:gd name="adj" fmla="val 8000"/>
            </a:avLst>
          </a:prstGeom>
          <a:solidFill>
            <a:srgbClr val="F1DEB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36576" bIns="36576"/>
          <a:lstStyle/>
          <a:p>
            <a:pPr algn="l">
              <a:spcAft>
                <a:spcPts val="400"/>
              </a:spcAft>
            </a:pPr>
            <a:r>
              <a:rPr sz="1400" b="1" i="0">
                <a:solidFill>
                  <a:srgbClr val="374151"/>
                </a:solidFill>
                <a:latin typeface="Arial"/>
              </a:rPr>
              <a:t>In short: </a:t>
            </a:r>
            <a:r>
              <a:rPr sz="1400" b="0" i="0">
                <a:solidFill>
                  <a:srgbClr val="374151"/>
                </a:solidFill>
                <a:latin typeface="Arial"/>
              </a:rPr>
              <a:t>fixed costs rise from Rp52.7M to Rp78.8M a month (founders included). To keep 15% profit, we need about Rp1,801M of sales a year. Our plan has Rp1,502M. EAP and the bank deal must close this gap.</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457200" y="292608"/>
            <a:ext cx="9966960" cy="914400"/>
          </a:xfrm>
          <a:prstGeom prst="rect">
            <a:avLst/>
          </a:prstGeom>
          <a:noFill/>
        </p:spPr>
        <p:txBody>
          <a:bodyPr wrap="square" anchor="t" lIns="73152" rIns="73152" tIns="36576" bIns="36576">
            <a:spAutoFit/>
          </a:bodyPr>
          <a:lstStyle/>
          <a:p>
            <a:pPr algn="l">
              <a:spcAft>
                <a:spcPts val="400"/>
              </a:spcAft>
            </a:pPr>
            <a:r>
              <a:rPr sz="2400" b="1" i="0">
                <a:solidFill>
                  <a:srgbClr val="475571"/>
                </a:solidFill>
                <a:latin typeface="Arial"/>
              </a:rPr>
              <a:t>Word list: the business words in this deck, in simple terms</a:t>
            </a:r>
          </a:p>
        </p:txBody>
      </p:sp>
      <p:sp>
        <p:nvSpPr>
          <p:cNvPr id="3" name="Tag"/>
          <p:cNvSpPr/>
          <p:nvPr/>
        </p:nvSpPr>
        <p:spPr>
          <a:xfrm>
            <a:off x="10561320" y="365760"/>
            <a:ext cx="1188720" cy="365760"/>
          </a:xfrm>
          <a:prstGeom prst="roundRect">
            <a:avLst>
              <a:gd name="adj" fmla="val 8000"/>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a:spcAft>
                <a:spcPts val="400"/>
              </a:spcAft>
            </a:pPr>
            <a:r>
              <a:rPr sz="1200" b="1" i="0">
                <a:solidFill>
                  <a:srgbClr val="FFFFFF"/>
                </a:solidFill>
                <a:latin typeface="Arial"/>
              </a:rPr>
              <a:t>Appendix</a:t>
            </a:r>
          </a:p>
        </p:txBody>
      </p:sp>
      <p:sp>
        <p:nvSpPr>
          <p:cNvPr id="4" name="Source"/>
          <p:cNvSpPr txBox="1"/>
          <p:nvPr/>
        </p:nvSpPr>
        <p:spPr>
          <a:xfrm>
            <a:off x="457200" y="6400800"/>
            <a:ext cx="10607040" cy="320040"/>
          </a:xfrm>
          <a:prstGeom prst="rect">
            <a:avLst/>
          </a:prstGeom>
          <a:noFill/>
        </p:spPr>
        <p:txBody>
          <a:bodyPr wrap="square" anchor="t" lIns="73152" rIns="73152" tIns="36576" bIns="36576">
            <a:spAutoFit/>
          </a:bodyPr>
          <a:lstStyle/>
          <a:p>
            <a:pPr algn="l">
              <a:spcAft>
                <a:spcPts val="400"/>
              </a:spcAft>
            </a:pPr>
            <a:r>
              <a:rPr sz="1000" b="0" i="0">
                <a:solidFill>
                  <a:srgbClr val="6B7280"/>
                </a:solidFill>
                <a:latin typeface="Arial"/>
              </a:rPr>
              <a:t>Source: Example numbers use one EAP contract: the client pays Rp15M a month and the work costs us Rp5M.</a:t>
            </a:r>
          </a:p>
        </p:txBody>
      </p:sp>
      <p:sp>
        <p:nvSpPr>
          <p:cNvPr id="5" name="Page"/>
          <p:cNvSpPr txBox="1"/>
          <p:nvPr/>
        </p:nvSpPr>
        <p:spPr>
          <a:xfrm>
            <a:off x="11247120" y="6400800"/>
            <a:ext cx="502920" cy="320040"/>
          </a:xfrm>
          <a:prstGeom prst="rect">
            <a:avLst/>
          </a:prstGeom>
          <a:noFill/>
        </p:spPr>
        <p:txBody>
          <a:bodyPr wrap="square" anchor="t" lIns="73152" rIns="73152" tIns="36576" bIns="36576">
            <a:spAutoFit/>
          </a:bodyPr>
          <a:lstStyle/>
          <a:p>
            <a:pPr algn="r">
              <a:spcAft>
                <a:spcPts val="400"/>
              </a:spcAft>
            </a:pPr>
            <a:r>
              <a:rPr sz="1000" b="0" i="0">
                <a:solidFill>
                  <a:srgbClr val="6B7280"/>
                </a:solidFill>
                <a:latin typeface="Arial"/>
              </a:rPr>
              <a:t>23</a:t>
            </a:r>
          </a:p>
        </p:txBody>
      </p:sp>
      <p:graphicFrame>
        <p:nvGraphicFramePr>
          <p:cNvPr id="6" name="Table 5"/>
          <p:cNvGraphicFramePr>
            <a:graphicFrameLocks noGrp="1"/>
          </p:cNvGraphicFramePr>
          <p:nvPr/>
        </p:nvGraphicFramePr>
        <p:xfrm>
          <a:off x="457200" y="1325880"/>
          <a:ext cx="5486400" cy="4754880"/>
        </p:xfrm>
        <a:graphic>
          <a:graphicData uri="http://schemas.openxmlformats.org/drawingml/2006/table">
            <a:tbl>
              <a:tblPr firstRow="1" bandRow="1">
                <a:tableStyleId>{5C22544A-7EE6-4342-B048-85BDC9FD1C3A}</a:tableStyleId>
              </a:tblPr>
              <a:tblGrid>
                <a:gridCol w="1645920"/>
                <a:gridCol w="3840480"/>
              </a:tblGrid>
              <a:tr h="475488">
                <a:tc>
                  <a:txBody>
                    <a:bodyPr wrap="square"/>
                    <a:lstStyle/>
                    <a:p>
                      <a:r>
                        <a:rPr sz="1200" b="1">
                          <a:solidFill>
                            <a:srgbClr val="FFFFFF"/>
                          </a:solidFill>
                          <a:latin typeface="Arial"/>
                        </a:rPr>
                        <a:t>Word</a:t>
                      </a:r>
                    </a:p>
                  </a:txBody>
                  <a:tcPr marL="54864" marR="54864" marT="27432" marB="27432" anchor="ctr">
                    <a:solidFill>
                      <a:srgbClr val="475571"/>
                    </a:solidFill>
                  </a:tcPr>
                </a:tc>
                <a:tc>
                  <a:txBody>
                    <a:bodyPr wrap="square"/>
                    <a:lstStyle/>
                    <a:p>
                      <a:r>
                        <a:rPr sz="1200" b="1">
                          <a:solidFill>
                            <a:srgbClr val="FFFFFF"/>
                          </a:solidFill>
                          <a:latin typeface="Arial"/>
                        </a:rPr>
                        <a:t>What it means</a:t>
                      </a:r>
                    </a:p>
                  </a:txBody>
                  <a:tcPr marL="54864" marR="54864" marT="27432" marB="27432" anchor="ctr">
                    <a:solidFill>
                      <a:srgbClr val="475571"/>
                    </a:solidFill>
                  </a:tcPr>
                </a:tc>
              </a:tr>
              <a:tr h="475488">
                <a:tc>
                  <a:txBody>
                    <a:bodyPr wrap="square"/>
                    <a:lstStyle/>
                    <a:p>
                      <a:r>
                        <a:rPr sz="1200" b="1">
                          <a:solidFill>
                            <a:srgbClr val="374151"/>
                          </a:solidFill>
                          <a:latin typeface="Arial"/>
                        </a:rPr>
                        <a:t>Sales (revenue)</a:t>
                      </a:r>
                    </a:p>
                  </a:txBody>
                  <a:tcPr marL="54864" marR="54864" marT="27432" marB="27432" anchor="ctr">
                    <a:solidFill>
                      <a:srgbClr val="F3F5F9"/>
                    </a:solidFill>
                  </a:tcPr>
                </a:tc>
                <a:tc>
                  <a:txBody>
                    <a:bodyPr wrap="square"/>
                    <a:lstStyle/>
                    <a:p>
                      <a:r>
                        <a:rPr sz="1200" b="0">
                          <a:solidFill>
                            <a:srgbClr val="374151"/>
                          </a:solidFill>
                          <a:latin typeface="Arial"/>
                        </a:rPr>
                        <a:t>All the money clients pay us</a:t>
                      </a:r>
                    </a:p>
                  </a:txBody>
                  <a:tcPr marL="54864" marR="54864" marT="27432" marB="27432" anchor="ctr">
                    <a:solidFill>
                      <a:srgbClr val="F3F5F9"/>
                    </a:solidFill>
                  </a:tcPr>
                </a:tc>
              </a:tr>
              <a:tr h="475488">
                <a:tc>
                  <a:txBody>
                    <a:bodyPr wrap="square"/>
                    <a:lstStyle/>
                    <a:p>
                      <a:r>
                        <a:rPr sz="1200" b="1">
                          <a:solidFill>
                            <a:srgbClr val="374151"/>
                          </a:solidFill>
                          <a:latin typeface="Arial"/>
                        </a:rPr>
                        <a:t>Delivery cost</a:t>
                      </a:r>
                    </a:p>
                  </a:txBody>
                  <a:tcPr marL="54864" marR="54864" marT="27432" marB="27432" anchor="ctr">
                    <a:solidFill>
                      <a:srgbClr val="FFFFFF"/>
                    </a:solidFill>
                  </a:tcPr>
                </a:tc>
                <a:tc>
                  <a:txBody>
                    <a:bodyPr wrap="square"/>
                    <a:lstStyle/>
                    <a:p>
                      <a:r>
                        <a:rPr sz="1200" b="0">
                          <a:solidFill>
                            <a:srgbClr val="374151"/>
                          </a:solidFill>
                          <a:latin typeface="Arial"/>
                        </a:rPr>
                        <a:t>What one job costs us: psychologist and trainer fees, materials</a:t>
                      </a:r>
                    </a:p>
                  </a:txBody>
                  <a:tcPr marL="54864" marR="54864" marT="27432" marB="27432" anchor="ctr">
                    <a:solidFill>
                      <a:srgbClr val="FFFFFF"/>
                    </a:solidFill>
                  </a:tcPr>
                </a:tc>
              </a:tr>
              <a:tr h="475488">
                <a:tc>
                  <a:txBody>
                    <a:bodyPr wrap="square"/>
                    <a:lstStyle/>
                    <a:p>
                      <a:r>
                        <a:rPr sz="1200" b="1">
                          <a:solidFill>
                            <a:srgbClr val="374151"/>
                          </a:solidFill>
                          <a:latin typeface="Arial"/>
                        </a:rPr>
                        <a:t>Gross profit</a:t>
                      </a:r>
                    </a:p>
                  </a:txBody>
                  <a:tcPr marL="54864" marR="54864" marT="27432" marB="27432" anchor="ctr">
                    <a:solidFill>
                      <a:srgbClr val="F3F5F9"/>
                    </a:solidFill>
                  </a:tcPr>
                </a:tc>
                <a:tc>
                  <a:txBody>
                    <a:bodyPr wrap="square"/>
                    <a:lstStyle/>
                    <a:p>
                      <a:r>
                        <a:rPr sz="1200" b="0">
                          <a:solidFill>
                            <a:srgbClr val="374151"/>
                          </a:solidFill>
                          <a:latin typeface="Arial"/>
                        </a:rPr>
                        <a:t>Sales minus delivery cost. One EAP contract: 15 - 5 = Rp10M a month</a:t>
                      </a:r>
                    </a:p>
                  </a:txBody>
                  <a:tcPr marL="54864" marR="54864" marT="27432" marB="27432" anchor="ctr">
                    <a:solidFill>
                      <a:srgbClr val="F3F5F9"/>
                    </a:solidFill>
                  </a:tcPr>
                </a:tc>
              </a:tr>
              <a:tr h="475488">
                <a:tc>
                  <a:txBody>
                    <a:bodyPr wrap="square"/>
                    <a:lstStyle/>
                    <a:p>
                      <a:r>
                        <a:rPr sz="1200" b="1">
                          <a:solidFill>
                            <a:srgbClr val="374151"/>
                          </a:solidFill>
                          <a:latin typeface="Arial"/>
                        </a:rPr>
                        <a:t>Fixed cost</a:t>
                      </a:r>
                    </a:p>
                  </a:txBody>
                  <a:tcPr marL="54864" marR="54864" marT="27432" marB="27432" anchor="ctr">
                    <a:solidFill>
                      <a:srgbClr val="FFFFFF"/>
                    </a:solidFill>
                  </a:tcPr>
                </a:tc>
                <a:tc>
                  <a:txBody>
                    <a:bodyPr wrap="square"/>
                    <a:lstStyle/>
                    <a:p>
                      <a:r>
                        <a:rPr sz="1200" b="0">
                          <a:solidFill>
                            <a:srgbClr val="374151"/>
                          </a:solidFill>
                          <a:latin typeface="Arial"/>
                        </a:rPr>
                        <a:t>What we pay every month, even with no work: salaries, office, software</a:t>
                      </a:r>
                    </a:p>
                  </a:txBody>
                  <a:tcPr marL="54864" marR="54864" marT="27432" marB="27432" anchor="ctr">
                    <a:solidFill>
                      <a:srgbClr val="FFFFFF"/>
                    </a:solidFill>
                  </a:tcPr>
                </a:tc>
              </a:tr>
              <a:tr h="475488">
                <a:tc>
                  <a:txBody>
                    <a:bodyPr wrap="square"/>
                    <a:lstStyle/>
                    <a:p>
                      <a:r>
                        <a:rPr sz="1200" b="1">
                          <a:solidFill>
                            <a:srgbClr val="374151"/>
                          </a:solidFill>
                          <a:latin typeface="Arial"/>
                        </a:rPr>
                        <a:t>Net profit</a:t>
                      </a:r>
                    </a:p>
                  </a:txBody>
                  <a:tcPr marL="54864" marR="54864" marT="27432" marB="27432" anchor="ctr">
                    <a:solidFill>
                      <a:srgbClr val="F3F5F9"/>
                    </a:solidFill>
                  </a:tcPr>
                </a:tc>
                <a:tc>
                  <a:txBody>
                    <a:bodyPr wrap="square"/>
                    <a:lstStyle/>
                    <a:p>
                      <a:r>
                        <a:rPr sz="1200" b="0">
                          <a:solidFill>
                            <a:srgbClr val="374151"/>
                          </a:solidFill>
                          <a:latin typeface="Arial"/>
                        </a:rPr>
                        <a:t>Gross profit minus fixed cost and tax: what we really keep</a:t>
                      </a:r>
                    </a:p>
                  </a:txBody>
                  <a:tcPr marL="54864" marR="54864" marT="27432" marB="27432" anchor="ctr">
                    <a:solidFill>
                      <a:srgbClr val="F3F5F9"/>
                    </a:solidFill>
                  </a:tcPr>
                </a:tc>
              </a:tr>
              <a:tr h="475488">
                <a:tc>
                  <a:txBody>
                    <a:bodyPr wrap="square"/>
                    <a:lstStyle/>
                    <a:p>
                      <a:r>
                        <a:rPr sz="1200" b="1">
                          <a:solidFill>
                            <a:srgbClr val="374151"/>
                          </a:solidFill>
                          <a:latin typeface="Arial"/>
                        </a:rPr>
                        <a:t>Net margin</a:t>
                      </a:r>
                    </a:p>
                  </a:txBody>
                  <a:tcPr marL="54864" marR="54864" marT="27432" marB="27432" anchor="ctr">
                    <a:solidFill>
                      <a:srgbClr val="FFFFFF"/>
                    </a:solidFill>
                  </a:tcPr>
                </a:tc>
                <a:tc>
                  <a:txBody>
                    <a:bodyPr wrap="square"/>
                    <a:lstStyle/>
                    <a:p>
                      <a:r>
                        <a:rPr sz="1200" b="0">
                          <a:solidFill>
                            <a:srgbClr val="374151"/>
                          </a:solidFill>
                          <a:latin typeface="Arial"/>
                        </a:rPr>
                        <a:t>Net profit as a share of sales. 15% = we keep Rp15 of every Rp100</a:t>
                      </a:r>
                    </a:p>
                  </a:txBody>
                  <a:tcPr marL="54864" marR="54864" marT="27432" marB="27432" anchor="ctr">
                    <a:solidFill>
                      <a:srgbClr val="FFFFFF"/>
                    </a:solidFill>
                  </a:tcPr>
                </a:tc>
              </a:tr>
              <a:tr h="475488">
                <a:tc>
                  <a:txBody>
                    <a:bodyPr wrap="square"/>
                    <a:lstStyle/>
                    <a:p>
                      <a:r>
                        <a:rPr sz="1200" b="1">
                          <a:solidFill>
                            <a:srgbClr val="374151"/>
                          </a:solidFill>
                          <a:latin typeface="Arial"/>
                        </a:rPr>
                        <a:t>Break-even</a:t>
                      </a:r>
                    </a:p>
                  </a:txBody>
                  <a:tcPr marL="54864" marR="54864" marT="27432" marB="27432" anchor="ctr">
                    <a:solidFill>
                      <a:srgbClr val="F3F5F9"/>
                    </a:solidFill>
                  </a:tcPr>
                </a:tc>
                <a:tc>
                  <a:txBody>
                    <a:bodyPr wrap="square"/>
                    <a:lstStyle/>
                    <a:p>
                      <a:r>
                        <a:rPr sz="1200" b="0">
                          <a:solidFill>
                            <a:srgbClr val="374151"/>
                          </a:solidFill>
                          <a:latin typeface="Arial"/>
                        </a:rPr>
                        <a:t>The point where income covers a cost exactly; after it, we make profit</a:t>
                      </a:r>
                    </a:p>
                  </a:txBody>
                  <a:tcPr marL="54864" marR="54864" marT="27432" marB="27432" anchor="ctr">
                    <a:solidFill>
                      <a:srgbClr val="F3F5F9"/>
                    </a:solidFill>
                  </a:tcPr>
                </a:tc>
              </a:tr>
              <a:tr h="475488">
                <a:tc>
                  <a:txBody>
                    <a:bodyPr wrap="square"/>
                    <a:lstStyle/>
                    <a:p>
                      <a:r>
                        <a:rPr sz="1200" b="1">
                          <a:solidFill>
                            <a:srgbClr val="374151"/>
                          </a:solidFill>
                          <a:latin typeface="Arial"/>
                        </a:rPr>
                        <a:t>Cash</a:t>
                      </a:r>
                    </a:p>
                  </a:txBody>
                  <a:tcPr marL="54864" marR="54864" marT="27432" marB="27432" anchor="ctr">
                    <a:solidFill>
                      <a:srgbClr val="FFFFFF"/>
                    </a:solidFill>
                  </a:tcPr>
                </a:tc>
                <a:tc>
                  <a:txBody>
                    <a:bodyPr wrap="square"/>
                    <a:lstStyle/>
                    <a:p>
                      <a:r>
                        <a:rPr sz="1200" b="0">
                          <a:solidFill>
                            <a:srgbClr val="374151"/>
                          </a:solidFill>
                          <a:latin typeface="Arial"/>
                        </a:rPr>
                        <a:t>Money in the bank today. Profit is not cash until the client pays</a:t>
                      </a:r>
                    </a:p>
                  </a:txBody>
                  <a:tcPr marL="54864" marR="54864" marT="27432" marB="27432" anchor="ctr">
                    <a:solidFill>
                      <a:srgbClr val="FFFFFF"/>
                    </a:solidFill>
                  </a:tcPr>
                </a:tc>
              </a:tr>
              <a:tr h="475488">
                <a:tc>
                  <a:txBody>
                    <a:bodyPr wrap="square"/>
                    <a:lstStyle/>
                    <a:p>
                      <a:r>
                        <a:rPr sz="1200" b="1">
                          <a:solidFill>
                            <a:srgbClr val="374151"/>
                          </a:solidFill>
                          <a:latin typeface="Arial"/>
                        </a:rPr>
                        <a:t>Cash cushion</a:t>
                      </a:r>
                    </a:p>
                  </a:txBody>
                  <a:tcPr marL="54864" marR="54864" marT="27432" marB="27432" anchor="ctr">
                    <a:solidFill>
                      <a:srgbClr val="F3F5F9"/>
                    </a:solidFill>
                  </a:tcPr>
                </a:tc>
                <a:tc>
                  <a:txBody>
                    <a:bodyPr wrap="square"/>
                    <a:lstStyle/>
                    <a:p>
                      <a:r>
                        <a:rPr sz="1200" b="0">
                          <a:solidFill>
                            <a:srgbClr val="374151"/>
                          </a:solidFill>
                          <a:latin typeface="Arial"/>
                        </a:rPr>
                        <a:t>Money we keep for bad times: 6 months of fixed cost</a:t>
                      </a:r>
                    </a:p>
                  </a:txBody>
                  <a:tcPr marL="54864" marR="54864" marT="27432" marB="27432" anchor="ctr">
                    <a:solidFill>
                      <a:srgbClr val="F3F5F9"/>
                    </a:solidFill>
                  </a:tcPr>
                </a:tc>
              </a:tr>
            </a:tbl>
          </a:graphicData>
        </a:graphic>
      </p:graphicFrame>
      <p:graphicFrame>
        <p:nvGraphicFramePr>
          <p:cNvPr id="7" name="Table 6"/>
          <p:cNvGraphicFramePr>
            <a:graphicFrameLocks noGrp="1"/>
          </p:cNvGraphicFramePr>
          <p:nvPr/>
        </p:nvGraphicFramePr>
        <p:xfrm>
          <a:off x="6217920" y="1325880"/>
          <a:ext cx="5486400" cy="4754880"/>
        </p:xfrm>
        <a:graphic>
          <a:graphicData uri="http://schemas.openxmlformats.org/drawingml/2006/table">
            <a:tbl>
              <a:tblPr firstRow="1" bandRow="1">
                <a:tableStyleId>{5C22544A-7EE6-4342-B048-85BDC9FD1C3A}</a:tableStyleId>
              </a:tblPr>
              <a:tblGrid>
                <a:gridCol w="1645920"/>
                <a:gridCol w="3840480"/>
              </a:tblGrid>
              <a:tr h="475488">
                <a:tc>
                  <a:txBody>
                    <a:bodyPr wrap="square"/>
                    <a:lstStyle/>
                    <a:p>
                      <a:r>
                        <a:rPr sz="1200" b="1">
                          <a:solidFill>
                            <a:srgbClr val="FFFFFF"/>
                          </a:solidFill>
                          <a:latin typeface="Arial"/>
                        </a:rPr>
                        <a:t>Word</a:t>
                      </a:r>
                    </a:p>
                  </a:txBody>
                  <a:tcPr marL="54864" marR="54864" marT="27432" marB="27432" anchor="ctr">
                    <a:solidFill>
                      <a:srgbClr val="475571"/>
                    </a:solidFill>
                  </a:tcPr>
                </a:tc>
                <a:tc>
                  <a:txBody>
                    <a:bodyPr wrap="square"/>
                    <a:lstStyle/>
                    <a:p>
                      <a:r>
                        <a:rPr sz="1200" b="1">
                          <a:solidFill>
                            <a:srgbClr val="FFFFFF"/>
                          </a:solidFill>
                          <a:latin typeface="Arial"/>
                        </a:rPr>
                        <a:t>What it means</a:t>
                      </a:r>
                    </a:p>
                  </a:txBody>
                  <a:tcPr marL="54864" marR="54864" marT="27432" marB="27432" anchor="ctr">
                    <a:solidFill>
                      <a:srgbClr val="475571"/>
                    </a:solidFill>
                  </a:tcPr>
                </a:tc>
              </a:tr>
              <a:tr h="475488">
                <a:tc>
                  <a:txBody>
                    <a:bodyPr wrap="square"/>
                    <a:lstStyle/>
                    <a:p>
                      <a:r>
                        <a:rPr sz="1200" b="1">
                          <a:solidFill>
                            <a:srgbClr val="374151"/>
                          </a:solidFill>
                          <a:latin typeface="Arial"/>
                        </a:rPr>
                        <a:t>Fair pay</a:t>
                      </a:r>
                    </a:p>
                  </a:txBody>
                  <a:tcPr marL="54864" marR="54864" marT="27432" marB="27432" anchor="ctr">
                    <a:solidFill>
                      <a:srgbClr val="F3F5F9"/>
                    </a:solidFill>
                  </a:tcPr>
                </a:tc>
                <a:tc>
                  <a:txBody>
                    <a:bodyPr wrap="square"/>
                    <a:lstStyle/>
                    <a:p>
                      <a:r>
                        <a:rPr sz="1200" b="0">
                          <a:solidFill>
                            <a:srgbClr val="374151"/>
                          </a:solidFill>
                          <a:latin typeface="Arial"/>
                        </a:rPr>
                        <a:t>At least the minimum wage, plus BPJS and THR, for full-time staff</a:t>
                      </a:r>
                    </a:p>
                  </a:txBody>
                  <a:tcPr marL="54864" marR="54864" marT="27432" marB="27432" anchor="ctr">
                    <a:solidFill>
                      <a:srgbClr val="F3F5F9"/>
                    </a:solidFill>
                  </a:tcPr>
                </a:tc>
              </a:tr>
              <a:tr h="475488">
                <a:tc>
                  <a:txBody>
                    <a:bodyPr wrap="square"/>
                    <a:lstStyle/>
                    <a:p>
                      <a:r>
                        <a:rPr sz="1200" b="1">
                          <a:solidFill>
                            <a:srgbClr val="374151"/>
                          </a:solidFill>
                          <a:latin typeface="Arial"/>
                        </a:rPr>
                        <a:t>UMP, BPJS, THR</a:t>
                      </a:r>
                    </a:p>
                  </a:txBody>
                  <a:tcPr marL="54864" marR="54864" marT="27432" marB="27432" anchor="ctr">
                    <a:solidFill>
                      <a:srgbClr val="FFFFFF"/>
                    </a:solidFill>
                  </a:tcPr>
                </a:tc>
                <a:tc>
                  <a:txBody>
                    <a:bodyPr wrap="square"/>
                    <a:lstStyle/>
                    <a:p>
                      <a:r>
                        <a:rPr sz="1200" b="0">
                          <a:solidFill>
                            <a:srgbClr val="374151"/>
                          </a:solidFill>
                          <a:latin typeface="Arial"/>
                        </a:rPr>
                        <a:t>Minimum wage; state health and work insurance; holiday bonus</a:t>
                      </a:r>
                    </a:p>
                  </a:txBody>
                  <a:tcPr marL="54864" marR="54864" marT="27432" marB="27432" anchor="ctr">
                    <a:solidFill>
                      <a:srgbClr val="FFFFFF"/>
                    </a:solidFill>
                  </a:tcPr>
                </a:tc>
              </a:tr>
              <a:tr h="475488">
                <a:tc>
                  <a:txBody>
                    <a:bodyPr wrap="square"/>
                    <a:lstStyle/>
                    <a:p>
                      <a:r>
                        <a:rPr sz="1200" b="1">
                          <a:solidFill>
                            <a:srgbClr val="374151"/>
                          </a:solidFill>
                          <a:latin typeface="Arial"/>
                        </a:rPr>
                        <a:t>EAP</a:t>
                      </a:r>
                    </a:p>
                  </a:txBody>
                  <a:tcPr marL="54864" marR="54864" marT="27432" marB="27432" anchor="ctr">
                    <a:solidFill>
                      <a:srgbClr val="F3F5F9"/>
                    </a:solidFill>
                  </a:tcPr>
                </a:tc>
                <a:tc>
                  <a:txBody>
                    <a:bodyPr wrap="square"/>
                    <a:lstStyle/>
                    <a:p>
                      <a:r>
                        <a:rPr sz="1200" b="0">
                          <a:solidFill>
                            <a:srgbClr val="374151"/>
                          </a:solidFill>
                          <a:latin typeface="Arial"/>
                        </a:rPr>
                        <a:t>A company pays us monthly; we support its staff with counseling</a:t>
                      </a:r>
                    </a:p>
                  </a:txBody>
                  <a:tcPr marL="54864" marR="54864" marT="27432" marB="27432" anchor="ctr">
                    <a:solidFill>
                      <a:srgbClr val="F3F5F9"/>
                    </a:solidFill>
                  </a:tcPr>
                </a:tc>
              </a:tr>
              <a:tr h="475488">
                <a:tc>
                  <a:txBody>
                    <a:bodyPr wrap="square"/>
                    <a:lstStyle/>
                    <a:p>
                      <a:r>
                        <a:rPr sz="1200" b="1">
                          <a:solidFill>
                            <a:srgbClr val="374151"/>
                          </a:solidFill>
                          <a:latin typeface="Arial"/>
                        </a:rPr>
                        <a:t>Recurring income</a:t>
                      </a:r>
                    </a:p>
                  </a:txBody>
                  <a:tcPr marL="54864" marR="54864" marT="27432" marB="27432" anchor="ctr">
                    <a:solidFill>
                      <a:srgbClr val="FFFFFF"/>
                    </a:solidFill>
                  </a:tcPr>
                </a:tc>
                <a:tc>
                  <a:txBody>
                    <a:bodyPr wrap="square"/>
                    <a:lstStyle/>
                    <a:p>
                      <a:r>
                        <a:rPr sz="1200" b="0">
                          <a:solidFill>
                            <a:srgbClr val="374151"/>
                          </a:solidFill>
                          <a:latin typeface="Arial"/>
                        </a:rPr>
                        <a:t>Money that comes every month without a new sale, like EAP</a:t>
                      </a:r>
                    </a:p>
                  </a:txBody>
                  <a:tcPr marL="54864" marR="54864" marT="27432" marB="27432" anchor="ctr">
                    <a:solidFill>
                      <a:srgbClr val="FFFFFF"/>
                    </a:solidFill>
                  </a:tcPr>
                </a:tc>
              </a:tr>
              <a:tr h="475488">
                <a:tc>
                  <a:txBody>
                    <a:bodyPr wrap="square"/>
                    <a:lstStyle/>
                    <a:p>
                      <a:r>
                        <a:rPr sz="1200" b="1">
                          <a:solidFill>
                            <a:srgbClr val="374151"/>
                          </a:solidFill>
                          <a:latin typeface="Arial"/>
                        </a:rPr>
                        <a:t>Trigger</a:t>
                      </a:r>
                    </a:p>
                  </a:txBody>
                  <a:tcPr marL="54864" marR="54864" marT="27432" marB="27432" anchor="ctr">
                    <a:solidFill>
                      <a:srgbClr val="F3F5F9"/>
                    </a:solidFill>
                  </a:tcPr>
                </a:tc>
                <a:tc>
                  <a:txBody>
                    <a:bodyPr wrap="square"/>
                    <a:lstStyle/>
                    <a:p>
                      <a:r>
                        <a:rPr sz="1200" b="0">
                          <a:solidFill>
                            <a:srgbClr val="374151"/>
                          </a:solidFill>
                          <a:latin typeface="Arial"/>
                        </a:rPr>
                        <a:t>The event that tells us it is time to hire</a:t>
                      </a:r>
                    </a:p>
                  </a:txBody>
                  <a:tcPr marL="54864" marR="54864" marT="27432" marB="27432" anchor="ctr">
                    <a:solidFill>
                      <a:srgbClr val="F3F5F9"/>
                    </a:solidFill>
                  </a:tcPr>
                </a:tc>
              </a:tr>
              <a:tr h="475488">
                <a:tc>
                  <a:txBody>
                    <a:bodyPr wrap="square"/>
                    <a:lstStyle/>
                    <a:p>
                      <a:r>
                        <a:rPr sz="1200" b="1">
                          <a:solidFill>
                            <a:srgbClr val="374151"/>
                          </a:solidFill>
                          <a:latin typeface="Arial"/>
                        </a:rPr>
                        <a:t>Co-founder, shares</a:t>
                      </a:r>
                    </a:p>
                  </a:txBody>
                  <a:tcPr marL="54864" marR="54864" marT="27432" marB="27432" anchor="ctr">
                    <a:solidFill>
                      <a:srgbClr val="FFFFFF"/>
                    </a:solidFill>
                  </a:tcPr>
                </a:tc>
                <a:tc>
                  <a:txBody>
                    <a:bodyPr wrap="square"/>
                    <a:lstStyle/>
                    <a:p>
                      <a:r>
                        <a:rPr sz="1200" b="0">
                          <a:solidFill>
                            <a:srgbClr val="374151"/>
                          </a:solidFill>
                          <a:latin typeface="Arial"/>
                        </a:rPr>
                        <a:t>A partner who owns part of the company; shares are earned over years</a:t>
                      </a:r>
                    </a:p>
                  </a:txBody>
                  <a:tcPr marL="54864" marR="54864" marT="27432" marB="27432" anchor="ctr">
                    <a:solidFill>
                      <a:srgbClr val="FFFFFF"/>
                    </a:solidFill>
                  </a:tcPr>
                </a:tc>
              </a:tr>
              <a:tr h="475488">
                <a:tc>
                  <a:txBody>
                    <a:bodyPr wrap="square"/>
                    <a:lstStyle/>
                    <a:p>
                      <a:r>
                        <a:rPr sz="1200" b="1">
                          <a:solidFill>
                            <a:srgbClr val="374151"/>
                          </a:solidFill>
                          <a:latin typeface="Arial"/>
                        </a:rPr>
                        <a:t>Business unit</a:t>
                      </a:r>
                    </a:p>
                  </a:txBody>
                  <a:tcPr marL="54864" marR="54864" marT="27432" marB="27432" anchor="ctr">
                    <a:solidFill>
                      <a:srgbClr val="F3F5F9"/>
                    </a:solidFill>
                  </a:tcPr>
                </a:tc>
                <a:tc>
                  <a:txBody>
                    <a:bodyPr wrap="square"/>
                    <a:lstStyle/>
                    <a:p>
                      <a:r>
                        <a:rPr sz="1200" b="0">
                          <a:solidFill>
                            <a:srgbClr val="374151"/>
                          </a:solidFill>
                          <a:latin typeface="Arial"/>
                        </a:rPr>
                        <a:t>A separate part of the business, for example Theta or Coreitera</a:t>
                      </a:r>
                    </a:p>
                  </a:txBody>
                  <a:tcPr marL="54864" marR="54864" marT="27432" marB="27432" anchor="ctr">
                    <a:solidFill>
                      <a:srgbClr val="F3F5F9"/>
                    </a:solidFill>
                  </a:tcPr>
                </a:tc>
              </a:tr>
              <a:tr h="475488">
                <a:tc>
                  <a:txBody>
                    <a:bodyPr wrap="square"/>
                    <a:lstStyle/>
                    <a:p>
                      <a:r>
                        <a:rPr sz="1200" b="1">
                          <a:solidFill>
                            <a:srgbClr val="374151"/>
                          </a:solidFill>
                          <a:latin typeface="Arial"/>
                        </a:rPr>
                        <a:t>Framework, SPK</a:t>
                      </a:r>
                    </a:p>
                  </a:txBody>
                  <a:tcPr marL="54864" marR="54864" marT="27432" marB="27432" anchor="ctr">
                    <a:solidFill>
                      <a:srgbClr val="FFFFFF"/>
                    </a:solidFill>
                  </a:tcPr>
                </a:tc>
                <a:tc>
                  <a:txBody>
                    <a:bodyPr wrap="square"/>
                    <a:lstStyle/>
                    <a:p>
                      <a:r>
                        <a:rPr sz="1200" b="0">
                          <a:solidFill>
                            <a:srgbClr val="374151"/>
                          </a:solidFill>
                          <a:latin typeface="Arial"/>
                        </a:rPr>
                        <a:t>A yearly agreement with a client; a work order for one job under it</a:t>
                      </a:r>
                    </a:p>
                  </a:txBody>
                  <a:tcPr marL="54864" marR="54864" marT="27432" marB="27432" anchor="ctr">
                    <a:solidFill>
                      <a:srgbClr val="FFFFFF"/>
                    </a:solidFill>
                  </a:tcPr>
                </a:tc>
              </a:tr>
              <a:tr h="475488">
                <a:tc>
                  <a:txBody>
                    <a:bodyPr wrap="square"/>
                    <a:lstStyle/>
                    <a:p>
                      <a:r>
                        <a:rPr sz="1200" b="1">
                          <a:solidFill>
                            <a:srgbClr val="374151"/>
                          </a:solidFill>
                          <a:latin typeface="Arial"/>
                        </a:rPr>
                        <a:t>Client share</a:t>
                      </a:r>
                    </a:p>
                  </a:txBody>
                  <a:tcPr marL="54864" marR="54864" marT="27432" marB="27432" anchor="ctr">
                    <a:solidFill>
                      <a:srgbClr val="F3F5F9"/>
                    </a:solidFill>
                  </a:tcPr>
                </a:tc>
                <a:tc>
                  <a:txBody>
                    <a:bodyPr wrap="square"/>
                    <a:lstStyle/>
                    <a:p>
                      <a:r>
                        <a:rPr sz="1200" b="0">
                          <a:solidFill>
                            <a:srgbClr val="374151"/>
                          </a:solidFill>
                          <a:latin typeface="Arial"/>
                        </a:rPr>
                        <a:t>How much of our sales comes from one client, such as BI</a:t>
                      </a:r>
                    </a:p>
                  </a:txBody>
                  <a:tcPr marL="54864" marR="54864" marT="27432" marB="27432" anchor="ctr">
                    <a:solidFill>
                      <a:srgbClr val="F3F5F9"/>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457200" y="292608"/>
            <a:ext cx="9966960" cy="914400"/>
          </a:xfrm>
          <a:prstGeom prst="rect">
            <a:avLst/>
          </a:prstGeom>
          <a:noFill/>
        </p:spPr>
        <p:txBody>
          <a:bodyPr wrap="square" anchor="t" lIns="73152" rIns="73152" tIns="36576" bIns="36576">
            <a:spAutoFit/>
          </a:bodyPr>
          <a:lstStyle/>
          <a:p>
            <a:pPr algn="l">
              <a:spcAft>
                <a:spcPts val="400"/>
              </a:spcAft>
            </a:pPr>
            <a:r>
              <a:rPr sz="2400" b="1" i="0">
                <a:solidFill>
                  <a:srgbClr val="475571"/>
                </a:solidFill>
                <a:latin typeface="Arial"/>
              </a:rPr>
              <a:t>Risks in our people supply, and how we respond</a:t>
            </a:r>
          </a:p>
        </p:txBody>
      </p:sp>
      <p:sp>
        <p:nvSpPr>
          <p:cNvPr id="3" name="Tag"/>
          <p:cNvSpPr/>
          <p:nvPr/>
        </p:nvSpPr>
        <p:spPr>
          <a:xfrm>
            <a:off x="10561320" y="365760"/>
            <a:ext cx="1188720" cy="365760"/>
          </a:xfrm>
          <a:prstGeom prst="roundRect">
            <a:avLst>
              <a:gd name="adj" fmla="val 8000"/>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a:spcAft>
                <a:spcPts val="400"/>
              </a:spcAft>
            </a:pPr>
            <a:r>
              <a:rPr sz="1200" b="1" i="0">
                <a:solidFill>
                  <a:srgbClr val="FFFFFF"/>
                </a:solidFill>
                <a:latin typeface="Arial"/>
              </a:rPr>
              <a:t>Appendix</a:t>
            </a:r>
          </a:p>
        </p:txBody>
      </p:sp>
      <p:sp>
        <p:nvSpPr>
          <p:cNvPr id="4" name="Source"/>
          <p:cNvSpPr txBox="1"/>
          <p:nvPr/>
        </p:nvSpPr>
        <p:spPr>
          <a:xfrm>
            <a:off x="457200" y="6400800"/>
            <a:ext cx="10607040" cy="320040"/>
          </a:xfrm>
          <a:prstGeom prst="rect">
            <a:avLst/>
          </a:prstGeom>
          <a:noFill/>
        </p:spPr>
        <p:txBody>
          <a:bodyPr wrap="square" anchor="t" lIns="73152" rIns="73152" tIns="36576" bIns="36576">
            <a:spAutoFit/>
          </a:bodyPr>
          <a:lstStyle/>
          <a:p>
            <a:pPr algn="l">
              <a:spcAft>
                <a:spcPts val="400"/>
              </a:spcAft>
            </a:pPr>
            <a:r>
              <a:rPr sz="1000" b="0" i="0">
                <a:solidFill>
                  <a:srgbClr val="6B7280"/>
                </a:solidFill>
                <a:latin typeface="Arial"/>
              </a:rPr>
              <a:t>Source: Chance and impact are our own judgement. Review this list every 3 months.</a:t>
            </a:r>
          </a:p>
        </p:txBody>
      </p:sp>
      <p:sp>
        <p:nvSpPr>
          <p:cNvPr id="5" name="Page"/>
          <p:cNvSpPr txBox="1"/>
          <p:nvPr/>
        </p:nvSpPr>
        <p:spPr>
          <a:xfrm>
            <a:off x="11247120" y="6400800"/>
            <a:ext cx="502920" cy="320040"/>
          </a:xfrm>
          <a:prstGeom prst="rect">
            <a:avLst/>
          </a:prstGeom>
          <a:noFill/>
        </p:spPr>
        <p:txBody>
          <a:bodyPr wrap="square" anchor="t" lIns="73152" rIns="73152" tIns="36576" bIns="36576">
            <a:spAutoFit/>
          </a:bodyPr>
          <a:lstStyle/>
          <a:p>
            <a:pPr algn="r">
              <a:spcAft>
                <a:spcPts val="400"/>
              </a:spcAft>
            </a:pPr>
            <a:r>
              <a:rPr sz="1000" b="0" i="0">
                <a:solidFill>
                  <a:srgbClr val="6B7280"/>
                </a:solidFill>
                <a:latin typeface="Arial"/>
              </a:rPr>
              <a:t>24</a:t>
            </a:r>
          </a:p>
        </p:txBody>
      </p:sp>
      <p:sp>
        <p:nvSpPr>
          <p:cNvPr id="6" name="TextBox 5"/>
          <p:cNvSpPr txBox="1"/>
          <p:nvPr/>
        </p:nvSpPr>
        <p:spPr>
          <a:xfrm>
            <a:off x="457200" y="914400"/>
            <a:ext cx="9966960" cy="320040"/>
          </a:xfrm>
          <a:prstGeom prst="rect">
            <a:avLst/>
          </a:prstGeom>
          <a:noFill/>
        </p:spPr>
        <p:txBody>
          <a:bodyPr wrap="square" anchor="t" lIns="73152" rIns="73152" tIns="36576" bIns="36576">
            <a:spAutoFit/>
          </a:bodyPr>
          <a:lstStyle/>
          <a:p>
            <a:pPr algn="l">
              <a:spcAft>
                <a:spcPts val="400"/>
              </a:spcAft>
            </a:pPr>
            <a:r>
              <a:rPr sz="1200" b="0" i="0">
                <a:solidFill>
                  <a:srgbClr val="6B7280"/>
                </a:solidFill>
                <a:latin typeface="Arial"/>
              </a:rPr>
              <a:t>Ways to respond: reduce the risk, share it (for example with insurance), accept it, or stop the activity.</a:t>
            </a:r>
          </a:p>
        </p:txBody>
      </p:sp>
      <p:graphicFrame>
        <p:nvGraphicFramePr>
          <p:cNvPr id="7" name="Table 6"/>
          <p:cNvGraphicFramePr>
            <a:graphicFrameLocks noGrp="1"/>
          </p:cNvGraphicFramePr>
          <p:nvPr/>
        </p:nvGraphicFramePr>
        <p:xfrm>
          <a:off x="457200" y="1325880"/>
          <a:ext cx="11247120" cy="4352544"/>
        </p:xfrm>
        <a:graphic>
          <a:graphicData uri="http://schemas.openxmlformats.org/drawingml/2006/table">
            <a:tbl>
              <a:tblPr firstRow="1" bandRow="1">
                <a:tableStyleId>{5C22544A-7EE6-4342-B048-85BDC9FD1C3A}</a:tableStyleId>
              </a:tblPr>
              <a:tblGrid>
                <a:gridCol w="2377440"/>
                <a:gridCol w="914400"/>
                <a:gridCol w="822960"/>
                <a:gridCol w="1280160"/>
                <a:gridCol w="3566160"/>
                <a:gridCol w="2286000"/>
              </a:tblGrid>
              <a:tr h="621792">
                <a:tc>
                  <a:txBody>
                    <a:bodyPr wrap="square"/>
                    <a:lstStyle/>
                    <a:p>
                      <a:r>
                        <a:rPr sz="1200" b="1">
                          <a:solidFill>
                            <a:srgbClr val="FFFFFF"/>
                          </a:solidFill>
                          <a:latin typeface="Arial"/>
                        </a:rPr>
                        <a:t>Risk</a:t>
                      </a:r>
                    </a:p>
                  </a:txBody>
                  <a:tcPr marL="54864" marR="54864" marT="27432" marB="27432" anchor="ctr">
                    <a:solidFill>
                      <a:srgbClr val="475571"/>
                    </a:solidFill>
                  </a:tcPr>
                </a:tc>
                <a:tc>
                  <a:txBody>
                    <a:bodyPr wrap="square"/>
                    <a:lstStyle/>
                    <a:p>
                      <a:r>
                        <a:rPr sz="1200" b="1">
                          <a:solidFill>
                            <a:srgbClr val="FFFFFF"/>
                          </a:solidFill>
                          <a:latin typeface="Arial"/>
                        </a:rPr>
                        <a:t>Chance</a:t>
                      </a:r>
                    </a:p>
                  </a:txBody>
                  <a:tcPr marL="54864" marR="54864" marT="27432" marB="27432" anchor="ctr">
                    <a:solidFill>
                      <a:srgbClr val="475571"/>
                    </a:solidFill>
                  </a:tcPr>
                </a:tc>
                <a:tc>
                  <a:txBody>
                    <a:bodyPr wrap="square"/>
                    <a:lstStyle/>
                    <a:p>
                      <a:r>
                        <a:rPr sz="1200" b="1">
                          <a:solidFill>
                            <a:srgbClr val="FFFFFF"/>
                          </a:solidFill>
                          <a:latin typeface="Arial"/>
                        </a:rPr>
                        <a:t>Impact</a:t>
                      </a:r>
                    </a:p>
                  </a:txBody>
                  <a:tcPr marL="54864" marR="54864" marT="27432" marB="27432" anchor="ctr">
                    <a:solidFill>
                      <a:srgbClr val="475571"/>
                    </a:solidFill>
                  </a:tcPr>
                </a:tc>
                <a:tc>
                  <a:txBody>
                    <a:bodyPr wrap="square"/>
                    <a:lstStyle/>
                    <a:p>
                      <a:r>
                        <a:rPr sz="1200" b="1">
                          <a:solidFill>
                            <a:srgbClr val="FFFFFF"/>
                          </a:solidFill>
                          <a:latin typeface="Arial"/>
                        </a:rPr>
                        <a:t>Response</a:t>
                      </a:r>
                    </a:p>
                  </a:txBody>
                  <a:tcPr marL="54864" marR="54864" marT="27432" marB="27432" anchor="ctr">
                    <a:solidFill>
                      <a:srgbClr val="475571"/>
                    </a:solidFill>
                  </a:tcPr>
                </a:tc>
                <a:tc>
                  <a:txBody>
                    <a:bodyPr wrap="square"/>
                    <a:lstStyle/>
                    <a:p>
                      <a:r>
                        <a:rPr sz="1200" b="1">
                          <a:solidFill>
                            <a:srgbClr val="FFFFFF"/>
                          </a:solidFill>
                          <a:latin typeface="Arial"/>
                        </a:rPr>
                        <a:t>Action</a:t>
                      </a:r>
                    </a:p>
                  </a:txBody>
                  <a:tcPr marL="54864" marR="54864" marT="27432" marB="27432" anchor="ctr">
                    <a:solidFill>
                      <a:srgbClr val="475571"/>
                    </a:solidFill>
                  </a:tcPr>
                </a:tc>
                <a:tc>
                  <a:txBody>
                    <a:bodyPr wrap="square"/>
                    <a:lstStyle/>
                    <a:p>
                      <a:r>
                        <a:rPr sz="1200" b="1">
                          <a:solidFill>
                            <a:srgbClr val="FFFFFF"/>
                          </a:solidFill>
                          <a:latin typeface="Arial"/>
                        </a:rPr>
                        <a:t>Who watches, and when to act</a:t>
                      </a:r>
                    </a:p>
                  </a:txBody>
                  <a:tcPr marL="54864" marR="54864" marT="27432" marB="27432" anchor="ctr">
                    <a:solidFill>
                      <a:srgbClr val="475571"/>
                    </a:solidFill>
                  </a:tcPr>
                </a:tc>
              </a:tr>
              <a:tr h="621792">
                <a:tc>
                  <a:txBody>
                    <a:bodyPr wrap="square"/>
                    <a:lstStyle/>
                    <a:p>
                      <a:r>
                        <a:rPr sz="1200" b="1">
                          <a:solidFill>
                            <a:srgbClr val="374151"/>
                          </a:solidFill>
                          <a:latin typeface="Arial"/>
                        </a:rPr>
                        <a:t>One project manager has too much work</a:t>
                      </a:r>
                    </a:p>
                  </a:txBody>
                  <a:tcPr marL="54864" marR="54864" marT="27432" marB="27432" anchor="ctr">
                    <a:solidFill>
                      <a:srgbClr val="F3F5F9"/>
                    </a:solidFill>
                  </a:tcPr>
                </a:tc>
                <a:tc>
                  <a:txBody>
                    <a:bodyPr wrap="square"/>
                    <a:lstStyle/>
                    <a:p>
                      <a:r>
                        <a:rPr sz="1200" b="0">
                          <a:solidFill>
                            <a:srgbClr val="374151"/>
                          </a:solidFill>
                          <a:latin typeface="Arial"/>
                        </a:rPr>
                        <a:t>High</a:t>
                      </a:r>
                    </a:p>
                  </a:txBody>
                  <a:tcPr marL="54864" marR="54864" marT="27432" marB="27432" anchor="ctr">
                    <a:solidFill>
                      <a:srgbClr val="F3F5F9"/>
                    </a:solidFill>
                  </a:tcPr>
                </a:tc>
                <a:tc>
                  <a:txBody>
                    <a:bodyPr wrap="square"/>
                    <a:lstStyle/>
                    <a:p>
                      <a:r>
                        <a:rPr sz="1200" b="0">
                          <a:solidFill>
                            <a:srgbClr val="374151"/>
                          </a:solidFill>
                          <a:latin typeface="Arial"/>
                        </a:rPr>
                        <a:t>High</a:t>
                      </a:r>
                    </a:p>
                  </a:txBody>
                  <a:tcPr marL="54864" marR="54864" marT="27432" marB="27432" anchor="ctr">
                    <a:solidFill>
                      <a:srgbClr val="F3F5F9"/>
                    </a:solidFill>
                  </a:tcPr>
                </a:tc>
                <a:tc>
                  <a:txBody>
                    <a:bodyPr wrap="square"/>
                    <a:lstStyle/>
                    <a:p>
                      <a:r>
                        <a:rPr sz="1200" b="0">
                          <a:solidFill>
                            <a:srgbClr val="374151"/>
                          </a:solidFill>
                          <a:latin typeface="Arial"/>
                        </a:rPr>
                        <a:t>Reduce</a:t>
                      </a:r>
                    </a:p>
                  </a:txBody>
                  <a:tcPr marL="54864" marR="54864" marT="27432" marB="27432" anchor="ctr">
                    <a:solidFill>
                      <a:srgbClr val="F3F5F9"/>
                    </a:solidFill>
                  </a:tcPr>
                </a:tc>
                <a:tc>
                  <a:txBody>
                    <a:bodyPr wrap="square"/>
                    <a:lstStyle/>
                    <a:p>
                      <a:r>
                        <a:rPr sz="1200" b="0">
                          <a:solidFill>
                            <a:srgbClr val="374151"/>
                          </a:solidFill>
                          <a:latin typeface="Arial"/>
                        </a:rPr>
                        <a:t>Second project manager on standby; written guide (slide 12)</a:t>
                      </a:r>
                    </a:p>
                  </a:txBody>
                  <a:tcPr marL="54864" marR="54864" marT="27432" marB="27432" anchor="ctr">
                    <a:solidFill>
                      <a:srgbClr val="F3F5F9"/>
                    </a:solidFill>
                  </a:tcPr>
                </a:tc>
                <a:tc>
                  <a:txBody>
                    <a:bodyPr wrap="square"/>
                    <a:lstStyle/>
                    <a:p>
                      <a:r>
                        <a:rPr sz="1200" b="0">
                          <a:solidFill>
                            <a:srgbClr val="374151"/>
                          </a:solidFill>
                          <a:latin typeface="Arial"/>
                        </a:rPr>
                        <a:t>Operations lead; 3 or more projects in a month</a:t>
                      </a:r>
                    </a:p>
                  </a:txBody>
                  <a:tcPr marL="54864" marR="54864" marT="27432" marB="27432" anchor="ctr">
                    <a:solidFill>
                      <a:srgbClr val="F3F5F9"/>
                    </a:solidFill>
                  </a:tcPr>
                </a:tc>
              </a:tr>
              <a:tr h="621792">
                <a:tc>
                  <a:txBody>
                    <a:bodyPr wrap="square"/>
                    <a:lstStyle/>
                    <a:p>
                      <a:r>
                        <a:rPr sz="1200" b="1">
                          <a:solidFill>
                            <a:srgbClr val="374151"/>
                          </a:solidFill>
                          <a:latin typeface="Arial"/>
                        </a:rPr>
                        <a:t>A certified trainer leaves</a:t>
                      </a:r>
                    </a:p>
                  </a:txBody>
                  <a:tcPr marL="54864" marR="54864" marT="27432" marB="27432" anchor="ctr">
                    <a:solidFill>
                      <a:srgbClr val="FFFFFF"/>
                    </a:solidFill>
                  </a:tcPr>
                </a:tc>
                <a:tc>
                  <a:txBody>
                    <a:bodyPr wrap="square"/>
                    <a:lstStyle/>
                    <a:p>
                      <a:r>
                        <a:rPr sz="1200" b="0">
                          <a:solidFill>
                            <a:srgbClr val="374151"/>
                          </a:solidFill>
                          <a:latin typeface="Arial"/>
                        </a:rPr>
                        <a:t>Medium</a:t>
                      </a:r>
                    </a:p>
                  </a:txBody>
                  <a:tcPr marL="54864" marR="54864" marT="27432" marB="27432" anchor="ctr">
                    <a:solidFill>
                      <a:srgbClr val="FFFFFF"/>
                    </a:solidFill>
                  </a:tcPr>
                </a:tc>
                <a:tc>
                  <a:txBody>
                    <a:bodyPr wrap="square"/>
                    <a:lstStyle/>
                    <a:p>
                      <a:r>
                        <a:rPr sz="1200" b="0">
                          <a:solidFill>
                            <a:srgbClr val="374151"/>
                          </a:solidFill>
                          <a:latin typeface="Arial"/>
                        </a:rPr>
                        <a:t>High</a:t>
                      </a:r>
                    </a:p>
                  </a:txBody>
                  <a:tcPr marL="54864" marR="54864" marT="27432" marB="27432" anchor="ctr">
                    <a:solidFill>
                      <a:srgbClr val="FFFFFF"/>
                    </a:solidFill>
                  </a:tcPr>
                </a:tc>
                <a:tc>
                  <a:txBody>
                    <a:bodyPr wrap="square"/>
                    <a:lstStyle/>
                    <a:p>
                      <a:r>
                        <a:rPr sz="1200" b="0">
                          <a:solidFill>
                            <a:srgbClr val="374151"/>
                          </a:solidFill>
                          <a:latin typeface="Arial"/>
                        </a:rPr>
                        <a:t>Reduce</a:t>
                      </a:r>
                    </a:p>
                  </a:txBody>
                  <a:tcPr marL="54864" marR="54864" marT="27432" marB="27432" anchor="ctr">
                    <a:solidFill>
                      <a:srgbClr val="FFFFFF"/>
                    </a:solidFill>
                  </a:tcPr>
                </a:tc>
                <a:tc>
                  <a:txBody>
                    <a:bodyPr wrap="square"/>
                    <a:lstStyle/>
                    <a:p>
                      <a:r>
                        <a:rPr sz="1200" b="0">
                          <a:solidFill>
                            <a:srgbClr val="374151"/>
                          </a:solidFill>
                          <a:latin typeface="Arial"/>
                        </a:rPr>
                        <a:t>Yearly agreement; trainer repays training cost; train up to 8</a:t>
                      </a:r>
                    </a:p>
                  </a:txBody>
                  <a:tcPr marL="54864" marR="54864" marT="27432" marB="27432" anchor="ctr">
                    <a:solidFill>
                      <a:srgbClr val="FFFFFF"/>
                    </a:solidFill>
                  </a:tcPr>
                </a:tc>
                <a:tc>
                  <a:txBody>
                    <a:bodyPr wrap="square"/>
                    <a:lstStyle/>
                    <a:p>
                      <a:r>
                        <a:rPr sz="1200" b="0">
                          <a:solidFill>
                            <a:srgbClr val="374151"/>
                          </a:solidFill>
                          <a:latin typeface="Arial"/>
                        </a:rPr>
                        <a:t>Galih; fewer trainers than the busiest month needs + 1</a:t>
                      </a:r>
                    </a:p>
                  </a:txBody>
                  <a:tcPr marL="54864" marR="54864" marT="27432" marB="27432" anchor="ctr">
                    <a:solidFill>
                      <a:srgbClr val="FFFFFF"/>
                    </a:solidFill>
                  </a:tcPr>
                </a:tc>
              </a:tr>
              <a:tr h="621792">
                <a:tc>
                  <a:txBody>
                    <a:bodyPr wrap="square"/>
                    <a:lstStyle/>
                    <a:p>
                      <a:r>
                        <a:rPr sz="1200" b="1">
                          <a:solidFill>
                            <a:srgbClr val="374151"/>
                          </a:solidFill>
                          <a:latin typeface="Arial"/>
                        </a:rPr>
                        <a:t>A client hires our trainer directly</a:t>
                      </a:r>
                    </a:p>
                  </a:txBody>
                  <a:tcPr marL="54864" marR="54864" marT="27432" marB="27432" anchor="ctr">
                    <a:solidFill>
                      <a:srgbClr val="F3F5F9"/>
                    </a:solidFill>
                  </a:tcPr>
                </a:tc>
                <a:tc>
                  <a:txBody>
                    <a:bodyPr wrap="square"/>
                    <a:lstStyle/>
                    <a:p>
                      <a:r>
                        <a:rPr sz="1200" b="0">
                          <a:solidFill>
                            <a:srgbClr val="374151"/>
                          </a:solidFill>
                          <a:latin typeface="Arial"/>
                        </a:rPr>
                        <a:t>Medium</a:t>
                      </a:r>
                    </a:p>
                  </a:txBody>
                  <a:tcPr marL="54864" marR="54864" marT="27432" marB="27432" anchor="ctr">
                    <a:solidFill>
                      <a:srgbClr val="F3F5F9"/>
                    </a:solidFill>
                  </a:tcPr>
                </a:tc>
                <a:tc>
                  <a:txBody>
                    <a:bodyPr wrap="square"/>
                    <a:lstStyle/>
                    <a:p>
                      <a:r>
                        <a:rPr sz="1200" b="0">
                          <a:solidFill>
                            <a:srgbClr val="374151"/>
                          </a:solidFill>
                          <a:latin typeface="Arial"/>
                        </a:rPr>
                        <a:t>Medium</a:t>
                      </a:r>
                    </a:p>
                  </a:txBody>
                  <a:tcPr marL="54864" marR="54864" marT="27432" marB="27432" anchor="ctr">
                    <a:solidFill>
                      <a:srgbClr val="F3F5F9"/>
                    </a:solidFill>
                  </a:tcPr>
                </a:tc>
                <a:tc>
                  <a:txBody>
                    <a:bodyPr wrap="square"/>
                    <a:lstStyle/>
                    <a:p>
                      <a:r>
                        <a:rPr sz="1200" b="0">
                          <a:solidFill>
                            <a:srgbClr val="374151"/>
                          </a:solidFill>
                          <a:latin typeface="Arial"/>
                        </a:rPr>
                        <a:t>Reduce</a:t>
                      </a:r>
                    </a:p>
                  </a:txBody>
                  <a:tcPr marL="54864" marR="54864" marT="27432" marB="27432" anchor="ctr">
                    <a:solidFill>
                      <a:srgbClr val="F3F5F9"/>
                    </a:solidFill>
                  </a:tcPr>
                </a:tc>
                <a:tc>
                  <a:txBody>
                    <a:bodyPr wrap="square"/>
                    <a:lstStyle/>
                    <a:p>
                      <a:r>
                        <a:rPr sz="1200" b="0">
                          <a:solidFill>
                            <a:srgbClr val="374151"/>
                          </a:solidFill>
                          <a:latin typeface="Arial"/>
                        </a:rPr>
                        <a:t>No direct work with our clients for 12 months; we own the material</a:t>
                      </a:r>
                    </a:p>
                  </a:txBody>
                  <a:tcPr marL="54864" marR="54864" marT="27432" marB="27432" anchor="ctr">
                    <a:solidFill>
                      <a:srgbClr val="F3F5F9"/>
                    </a:solidFill>
                  </a:tcPr>
                </a:tc>
                <a:tc>
                  <a:txBody>
                    <a:bodyPr wrap="square"/>
                    <a:lstStyle/>
                    <a:p>
                      <a:r>
                        <a:rPr sz="1200" b="0">
                          <a:solidFill>
                            <a:srgbClr val="374151"/>
                          </a:solidFill>
                          <a:latin typeface="Arial"/>
                        </a:rPr>
                        <a:t>Co-founder; any direct approach</a:t>
                      </a:r>
                    </a:p>
                  </a:txBody>
                  <a:tcPr marL="54864" marR="54864" marT="27432" marB="27432" anchor="ctr">
                    <a:solidFill>
                      <a:srgbClr val="F3F5F9"/>
                    </a:solidFill>
                  </a:tcPr>
                </a:tc>
              </a:tr>
              <a:tr h="621792">
                <a:tc>
                  <a:txBody>
                    <a:bodyPr wrap="square"/>
                    <a:lstStyle/>
                    <a:p>
                      <a:r>
                        <a:rPr sz="1200" b="1">
                          <a:solidFill>
                            <a:srgbClr val="374151"/>
                          </a:solidFill>
                          <a:latin typeface="Arial"/>
                        </a:rPr>
                        <a:t>A clinical or ethics problem</a:t>
                      </a:r>
                    </a:p>
                  </a:txBody>
                  <a:tcPr marL="54864" marR="54864" marT="27432" marB="27432" anchor="ctr">
                    <a:solidFill>
                      <a:srgbClr val="FFFFFF"/>
                    </a:solidFill>
                  </a:tcPr>
                </a:tc>
                <a:tc>
                  <a:txBody>
                    <a:bodyPr wrap="square"/>
                    <a:lstStyle/>
                    <a:p>
                      <a:r>
                        <a:rPr sz="1200" b="0">
                          <a:solidFill>
                            <a:srgbClr val="374151"/>
                          </a:solidFill>
                          <a:latin typeface="Arial"/>
                        </a:rPr>
                        <a:t>Low</a:t>
                      </a:r>
                    </a:p>
                  </a:txBody>
                  <a:tcPr marL="54864" marR="54864" marT="27432" marB="27432" anchor="ctr">
                    <a:solidFill>
                      <a:srgbClr val="FFFFFF"/>
                    </a:solidFill>
                  </a:tcPr>
                </a:tc>
                <a:tc>
                  <a:txBody>
                    <a:bodyPr wrap="square"/>
                    <a:lstStyle/>
                    <a:p>
                      <a:r>
                        <a:rPr sz="1200" b="0">
                          <a:solidFill>
                            <a:srgbClr val="374151"/>
                          </a:solidFill>
                          <a:latin typeface="Arial"/>
                        </a:rPr>
                        <a:t>High</a:t>
                      </a:r>
                    </a:p>
                  </a:txBody>
                  <a:tcPr marL="54864" marR="54864" marT="27432" marB="27432" anchor="ctr">
                    <a:solidFill>
                      <a:srgbClr val="FFFFFF"/>
                    </a:solidFill>
                  </a:tcPr>
                </a:tc>
                <a:tc>
                  <a:txBody>
                    <a:bodyPr wrap="square"/>
                    <a:lstStyle/>
                    <a:p>
                      <a:r>
                        <a:rPr sz="1200" b="0">
                          <a:solidFill>
                            <a:srgbClr val="374151"/>
                          </a:solidFill>
                          <a:latin typeface="Arial"/>
                        </a:rPr>
                        <a:t>Share + reduce</a:t>
                      </a:r>
                    </a:p>
                  </a:txBody>
                  <a:tcPr marL="54864" marR="54864" marT="27432" marB="27432" anchor="ctr">
                    <a:solidFill>
                      <a:srgbClr val="FFFFFF"/>
                    </a:solidFill>
                  </a:tcPr>
                </a:tc>
                <a:tc>
                  <a:txBody>
                    <a:bodyPr wrap="square"/>
                    <a:lstStyle/>
                    <a:p>
                      <a:r>
                        <a:rPr sz="1200" b="0">
                          <a:solidFill>
                            <a:srgbClr val="374151"/>
                          </a:solidFill>
                          <a:latin typeface="Arial"/>
                        </a:rPr>
                        <a:t>Insurance; senior supervision; clear steps to escalate</a:t>
                      </a:r>
                    </a:p>
                  </a:txBody>
                  <a:tcPr marL="54864" marR="54864" marT="27432" marB="27432" anchor="ctr">
                    <a:solidFill>
                      <a:srgbClr val="FFFFFF"/>
                    </a:solidFill>
                  </a:tcPr>
                </a:tc>
                <a:tc>
                  <a:txBody>
                    <a:bodyPr wrap="square"/>
                    <a:lstStyle/>
                    <a:p>
                      <a:r>
                        <a:rPr sz="1200" b="0">
                          <a:solidFill>
                            <a:srgbClr val="374151"/>
                          </a:solidFill>
                          <a:latin typeface="Arial"/>
                        </a:rPr>
                        <a:t>Full-time psychologist; any case</a:t>
                      </a:r>
                    </a:p>
                  </a:txBody>
                  <a:tcPr marL="54864" marR="54864" marT="27432" marB="27432" anchor="ctr">
                    <a:solidFill>
                      <a:srgbClr val="FFFFFF"/>
                    </a:solidFill>
                  </a:tcPr>
                </a:tc>
              </a:tr>
              <a:tr h="621792">
                <a:tc>
                  <a:txBody>
                    <a:bodyPr wrap="square"/>
                    <a:lstStyle/>
                    <a:p>
                      <a:r>
                        <a:rPr sz="1200" b="1">
                          <a:solidFill>
                            <a:srgbClr val="374151"/>
                          </a:solidFill>
                          <a:latin typeface="Arial"/>
                        </a:rPr>
                        <a:t>Staff data leaks (EAP, Theta)</a:t>
                      </a:r>
                    </a:p>
                  </a:txBody>
                  <a:tcPr marL="54864" marR="54864" marT="27432" marB="27432" anchor="ctr">
                    <a:solidFill>
                      <a:srgbClr val="F3F5F9"/>
                    </a:solidFill>
                  </a:tcPr>
                </a:tc>
                <a:tc>
                  <a:txBody>
                    <a:bodyPr wrap="square"/>
                    <a:lstStyle/>
                    <a:p>
                      <a:r>
                        <a:rPr sz="1200" b="0">
                          <a:solidFill>
                            <a:srgbClr val="374151"/>
                          </a:solidFill>
                          <a:latin typeface="Arial"/>
                        </a:rPr>
                        <a:t>Low</a:t>
                      </a:r>
                    </a:p>
                  </a:txBody>
                  <a:tcPr marL="54864" marR="54864" marT="27432" marB="27432" anchor="ctr">
                    <a:solidFill>
                      <a:srgbClr val="F3F5F9"/>
                    </a:solidFill>
                  </a:tcPr>
                </a:tc>
                <a:tc>
                  <a:txBody>
                    <a:bodyPr wrap="square"/>
                    <a:lstStyle/>
                    <a:p>
                      <a:r>
                        <a:rPr sz="1200" b="0">
                          <a:solidFill>
                            <a:srgbClr val="374151"/>
                          </a:solidFill>
                          <a:latin typeface="Arial"/>
                        </a:rPr>
                        <a:t>High</a:t>
                      </a:r>
                    </a:p>
                  </a:txBody>
                  <a:tcPr marL="54864" marR="54864" marT="27432" marB="27432" anchor="ctr">
                    <a:solidFill>
                      <a:srgbClr val="F3F5F9"/>
                    </a:solidFill>
                  </a:tcPr>
                </a:tc>
                <a:tc>
                  <a:txBody>
                    <a:bodyPr wrap="square"/>
                    <a:lstStyle/>
                    <a:p>
                      <a:r>
                        <a:rPr sz="1200" b="0">
                          <a:solidFill>
                            <a:srgbClr val="374151"/>
                          </a:solidFill>
                          <a:latin typeface="Arial"/>
                        </a:rPr>
                        <a:t>Reduce</a:t>
                      </a:r>
                    </a:p>
                  </a:txBody>
                  <a:tcPr marL="54864" marR="54864" marT="27432" marB="27432" anchor="ctr">
                    <a:solidFill>
                      <a:srgbClr val="F3F5F9"/>
                    </a:solidFill>
                  </a:tcPr>
                </a:tc>
                <a:tc>
                  <a:txBody>
                    <a:bodyPr wrap="square"/>
                    <a:lstStyle/>
                    <a:p>
                      <a:r>
                        <a:rPr sz="1200" b="0">
                          <a:solidFill>
                            <a:srgbClr val="374151"/>
                          </a:solidFill>
                          <a:latin typeface="Arial"/>
                        </a:rPr>
                        <a:t>Consent, access control, data agreement (data protection law)</a:t>
                      </a:r>
                    </a:p>
                  </a:txBody>
                  <a:tcPr marL="54864" marR="54864" marT="27432" marB="27432" anchor="ctr">
                    <a:solidFill>
                      <a:srgbClr val="F3F5F9"/>
                    </a:solidFill>
                  </a:tcPr>
                </a:tc>
                <a:tc>
                  <a:txBody>
                    <a:bodyPr wrap="square"/>
                    <a:lstStyle/>
                    <a:p>
                      <a:r>
                        <a:rPr sz="1200" b="0">
                          <a:solidFill>
                            <a:srgbClr val="374151"/>
                          </a:solidFill>
                          <a:latin typeface="Arial"/>
                        </a:rPr>
                        <a:t>CTO; check every 3 months</a:t>
                      </a:r>
                    </a:p>
                  </a:txBody>
                  <a:tcPr marL="54864" marR="54864" marT="27432" marB="27432" anchor="ctr">
                    <a:solidFill>
                      <a:srgbClr val="F3F5F9"/>
                    </a:solidFill>
                  </a:tcPr>
                </a:tc>
              </a:tr>
              <a:tr h="621792">
                <a:tc>
                  <a:txBody>
                    <a:bodyPr wrap="square"/>
                    <a:lstStyle/>
                    <a:p>
                      <a:r>
                        <a:rPr sz="1200" b="1">
                          <a:solidFill>
                            <a:srgbClr val="374151"/>
                          </a:solidFill>
                          <a:latin typeface="Arial"/>
                        </a:rPr>
                        <a:t>BI cuts its budget</a:t>
                      </a:r>
                    </a:p>
                  </a:txBody>
                  <a:tcPr marL="54864" marR="54864" marT="27432" marB="27432" anchor="ctr">
                    <a:solidFill>
                      <a:srgbClr val="FFFFFF"/>
                    </a:solidFill>
                  </a:tcPr>
                </a:tc>
                <a:tc>
                  <a:txBody>
                    <a:bodyPr wrap="square"/>
                    <a:lstStyle/>
                    <a:p>
                      <a:r>
                        <a:rPr sz="1200" b="0">
                          <a:solidFill>
                            <a:srgbClr val="374151"/>
                          </a:solidFill>
                          <a:latin typeface="Arial"/>
                        </a:rPr>
                        <a:t>Medium</a:t>
                      </a:r>
                    </a:p>
                  </a:txBody>
                  <a:tcPr marL="54864" marR="54864" marT="27432" marB="27432" anchor="ctr">
                    <a:solidFill>
                      <a:srgbClr val="FFFFFF"/>
                    </a:solidFill>
                  </a:tcPr>
                </a:tc>
                <a:tc>
                  <a:txBody>
                    <a:bodyPr wrap="square"/>
                    <a:lstStyle/>
                    <a:p>
                      <a:r>
                        <a:rPr sz="1200" b="0">
                          <a:solidFill>
                            <a:srgbClr val="374151"/>
                          </a:solidFill>
                          <a:latin typeface="Arial"/>
                        </a:rPr>
                        <a:t>High</a:t>
                      </a:r>
                    </a:p>
                  </a:txBody>
                  <a:tcPr marL="54864" marR="54864" marT="27432" marB="27432" anchor="ctr">
                    <a:solidFill>
                      <a:srgbClr val="FFFFFF"/>
                    </a:solidFill>
                  </a:tcPr>
                </a:tc>
                <a:tc>
                  <a:txBody>
                    <a:bodyPr wrap="square"/>
                    <a:lstStyle/>
                    <a:p>
                      <a:r>
                        <a:rPr sz="1200" b="0">
                          <a:solidFill>
                            <a:srgbClr val="374151"/>
                          </a:solidFill>
                          <a:latin typeface="Arial"/>
                        </a:rPr>
                        <a:t>Reduce</a:t>
                      </a:r>
                    </a:p>
                  </a:txBody>
                  <a:tcPr marL="54864" marR="54864" marT="27432" marB="27432" anchor="ctr">
                    <a:solidFill>
                      <a:srgbClr val="FFFFFF"/>
                    </a:solidFill>
                  </a:tcPr>
                </a:tc>
                <a:tc>
                  <a:txBody>
                    <a:bodyPr wrap="square"/>
                    <a:lstStyle/>
                    <a:p>
                      <a:r>
                        <a:rPr sz="1200" b="0">
                          <a:solidFill>
                            <a:srgbClr val="374151"/>
                          </a:solidFill>
                          <a:latin typeface="Arial"/>
                        </a:rPr>
                        <a:t>Grow EAP and banks: BI share of sales from 61% to 38%</a:t>
                      </a:r>
                    </a:p>
                  </a:txBody>
                  <a:tcPr marL="54864" marR="54864" marT="27432" marB="27432" anchor="ctr">
                    <a:solidFill>
                      <a:srgbClr val="FFFFFF"/>
                    </a:solidFill>
                  </a:tcPr>
                </a:tc>
                <a:tc>
                  <a:txBody>
                    <a:bodyPr wrap="square"/>
                    <a:lstStyle/>
                    <a:p>
                      <a:r>
                        <a:rPr sz="1200" b="0">
                          <a:solidFill>
                            <a:srgbClr val="374151"/>
                          </a:solidFill>
                          <a:latin typeface="Arial"/>
                        </a:rPr>
                        <a:t>Founders; BI below plan for 2 months</a:t>
                      </a:r>
                    </a:p>
                  </a:txBody>
                  <a:tcPr marL="54864" marR="54864" marT="27432" marB="27432" anchor="ctr">
                    <a:solidFill>
                      <a:srgbClr val="FFFFFF"/>
                    </a:solidFill>
                  </a:tcPr>
                </a:tc>
              </a:tr>
            </a:tbl>
          </a:graphicData>
        </a:graphic>
      </p:graphicFrame>
      <p:sp>
        <p:nvSpPr>
          <p:cNvPr id="8" name="TextBox 7"/>
          <p:cNvSpPr txBox="1"/>
          <p:nvPr/>
        </p:nvSpPr>
        <p:spPr>
          <a:xfrm>
            <a:off x="457200" y="5760720"/>
            <a:ext cx="11247120" cy="548640"/>
          </a:xfrm>
          <a:prstGeom prst="rect">
            <a:avLst/>
          </a:prstGeom>
          <a:noFill/>
        </p:spPr>
        <p:txBody>
          <a:bodyPr wrap="square" anchor="t" lIns="73152" rIns="73152" tIns="36576" bIns="36576">
            <a:spAutoFit/>
          </a:bodyPr>
          <a:lstStyle/>
          <a:p>
            <a:pPr algn="l">
              <a:spcAft>
                <a:spcPts val="400"/>
              </a:spcAft>
            </a:pPr>
            <a:r>
              <a:rPr sz="1200" b="1" i="0">
                <a:solidFill>
                  <a:srgbClr val="374151"/>
                </a:solidFill>
                <a:latin typeface="Arial"/>
              </a:rPr>
              <a:t>Bad-year check: </a:t>
            </a:r>
            <a:r>
              <a:rPr sz="1200" b="0" i="0">
                <a:solidFill>
                  <a:srgbClr val="374151"/>
                </a:solidFill>
                <a:latin typeface="Arial"/>
              </a:rPr>
              <a:t>in the model's worst case (no new business January to June, BI buys 30% less), margin is 8% with today's pay. Do not start hiring step 3 or later while this risk is real.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457200" y="292608"/>
            <a:ext cx="9966960" cy="914400"/>
          </a:xfrm>
          <a:prstGeom prst="rect">
            <a:avLst/>
          </a:prstGeom>
          <a:noFill/>
        </p:spPr>
        <p:txBody>
          <a:bodyPr wrap="square" anchor="t" lIns="73152" rIns="73152" tIns="36576" bIns="36576">
            <a:spAutoFit/>
          </a:bodyPr>
          <a:lstStyle/>
          <a:p>
            <a:pPr algn="l">
              <a:spcAft>
                <a:spcPts val="400"/>
              </a:spcAft>
            </a:pPr>
            <a:r>
              <a:rPr sz="2400" b="1" i="0">
                <a:solidFill>
                  <a:srgbClr val="475571"/>
                </a:solidFill>
                <a:latin typeface="Arial"/>
              </a:rPr>
              <a:t>What v14 fixed, what is still open, and the estimates to check</a:t>
            </a:r>
          </a:p>
        </p:txBody>
      </p:sp>
      <p:sp>
        <p:nvSpPr>
          <p:cNvPr id="3" name="Tag"/>
          <p:cNvSpPr/>
          <p:nvPr/>
        </p:nvSpPr>
        <p:spPr>
          <a:xfrm>
            <a:off x="10561320" y="365760"/>
            <a:ext cx="1188720" cy="365760"/>
          </a:xfrm>
          <a:prstGeom prst="roundRect">
            <a:avLst>
              <a:gd name="adj" fmla="val 8000"/>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a:spcAft>
                <a:spcPts val="400"/>
              </a:spcAft>
            </a:pPr>
            <a:r>
              <a:rPr sz="1200" b="1" i="0">
                <a:solidFill>
                  <a:srgbClr val="FFFFFF"/>
                </a:solidFill>
                <a:latin typeface="Arial"/>
              </a:rPr>
              <a:t>Appendix</a:t>
            </a:r>
          </a:p>
        </p:txBody>
      </p:sp>
      <p:sp>
        <p:nvSpPr>
          <p:cNvPr id="4" name="Source"/>
          <p:cNvSpPr txBox="1"/>
          <p:nvPr/>
        </p:nvSpPr>
        <p:spPr>
          <a:xfrm>
            <a:off x="457200" y="6400800"/>
            <a:ext cx="10607040" cy="320040"/>
          </a:xfrm>
          <a:prstGeom prst="rect">
            <a:avLst/>
          </a:prstGeom>
          <a:noFill/>
        </p:spPr>
        <p:txBody>
          <a:bodyPr wrap="square" anchor="t" lIns="73152" rIns="73152" tIns="36576" bIns="36576">
            <a:spAutoFit/>
          </a:bodyPr>
          <a:lstStyle/>
          <a:p>
            <a:pPr algn="l">
              <a:spcAft>
                <a:spcPts val="400"/>
              </a:spcAft>
            </a:pPr>
            <a:r>
              <a:rPr sz="1000" b="0" i="0">
                <a:solidFill>
                  <a:srgbClr val="6B7280"/>
                </a:solidFill>
                <a:latin typeface="Arial"/>
              </a:rPr>
              <a:t>Source: Review of model versions 13 and 14 and the projection guide, 5 October 2026.</a:t>
            </a:r>
          </a:p>
        </p:txBody>
      </p:sp>
      <p:sp>
        <p:nvSpPr>
          <p:cNvPr id="5" name="Page"/>
          <p:cNvSpPr txBox="1"/>
          <p:nvPr/>
        </p:nvSpPr>
        <p:spPr>
          <a:xfrm>
            <a:off x="11247120" y="6400800"/>
            <a:ext cx="502920" cy="320040"/>
          </a:xfrm>
          <a:prstGeom prst="rect">
            <a:avLst/>
          </a:prstGeom>
          <a:noFill/>
        </p:spPr>
        <p:txBody>
          <a:bodyPr wrap="square" anchor="t" lIns="73152" rIns="73152" tIns="36576" bIns="36576">
            <a:spAutoFit/>
          </a:bodyPr>
          <a:lstStyle/>
          <a:p>
            <a:pPr algn="r">
              <a:spcAft>
                <a:spcPts val="400"/>
              </a:spcAft>
            </a:pPr>
            <a:r>
              <a:rPr sz="1000" b="0" i="0">
                <a:solidFill>
                  <a:srgbClr val="6B7280"/>
                </a:solidFill>
                <a:latin typeface="Arial"/>
              </a:rPr>
              <a:t>25</a:t>
            </a:r>
          </a:p>
        </p:txBody>
      </p:sp>
      <p:sp>
        <p:nvSpPr>
          <p:cNvPr id="6" name="Rounded Rectangle 5"/>
          <p:cNvSpPr/>
          <p:nvPr/>
        </p:nvSpPr>
        <p:spPr>
          <a:xfrm>
            <a:off x="457200" y="1325880"/>
            <a:ext cx="4206240" cy="4983480"/>
          </a:xfrm>
          <a:prstGeom prst="roundRect">
            <a:avLst>
              <a:gd name="adj" fmla="val 8000"/>
            </a:avLst>
          </a:prstGeom>
          <a:solidFill>
            <a:srgbClr val="F3F5F9"/>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36576" bIns="36576"/>
          <a:lstStyle/>
          <a:p>
            <a:pPr algn="l">
              <a:spcAft>
                <a:spcPts val="500"/>
              </a:spcAft>
            </a:pPr>
            <a:r>
              <a:rPr sz="1500" b="1" i="0">
                <a:solidFill>
                  <a:srgbClr val="475571"/>
                </a:solidFill>
                <a:latin typeface="Arial"/>
              </a:rPr>
              <a:t>What model version 14 fixed</a:t>
            </a:r>
          </a:p>
          <a:p>
            <a:pPr algn="l">
              <a:spcAft>
                <a:spcPts val="500"/>
              </a:spcAft>
            </a:pPr>
            <a:r>
              <a:rPr sz="1200" b="0" i="0">
                <a:solidFill>
                  <a:srgbClr val="374151"/>
                </a:solidFill>
                <a:latin typeface="Arial"/>
              </a:rPr>
              <a:t>Real timing: no new sales before March 2027 (switch in Inputs)</a:t>
            </a:r>
          </a:p>
          <a:p>
            <a:pPr algn="l">
              <a:spcAft>
                <a:spcPts val="500"/>
              </a:spcAft>
            </a:pPr>
            <a:r>
              <a:rPr sz="1200" b="0" i="0">
                <a:solidFill>
                  <a:srgbClr val="374151"/>
                </a:solidFill>
                <a:latin typeface="Arial"/>
              </a:rPr>
              <a:t>Fair pay, new EAP, co-founder and bank days are inside the model</a:t>
            </a:r>
          </a:p>
          <a:p>
            <a:pPr algn="l">
              <a:spcAft>
                <a:spcPts val="500"/>
              </a:spcAft>
            </a:pPr>
            <a:r>
              <a:rPr sz="1200" b="0" i="0">
                <a:solidFill>
                  <a:srgbClr val="374151"/>
                </a:solidFill>
                <a:latin typeface="Arial"/>
              </a:rPr>
              <a:t>New Outlook sheet: sales, costs and cash in one chart</a:t>
            </a:r>
          </a:p>
          <a:p>
            <a:pPr algn="l">
              <a:spcAft>
                <a:spcPts val="500"/>
              </a:spcAft>
            </a:pPr>
            <a:r>
              <a:rPr sz="1500" b="1" i="0">
                <a:solidFill>
                  <a:srgbClr val="9B3809"/>
                </a:solidFill>
                <a:latin typeface="Arial"/>
              </a:rPr>
              <a:t>Still open</a:t>
            </a:r>
          </a:p>
          <a:p>
            <a:pPr algn="l">
              <a:spcAft>
                <a:spcPts val="500"/>
              </a:spcAft>
            </a:pPr>
            <a:r>
              <a:rPr sz="1200" b="0" i="0">
                <a:solidFill>
                  <a:srgbClr val="374151"/>
                </a:solidFill>
                <a:latin typeface="Arial"/>
              </a:rPr>
              <a:t>Project manager is a fixed salary in the model; she is paid per project</a:t>
            </a:r>
          </a:p>
          <a:p>
            <a:pPr algn="l">
              <a:spcAft>
                <a:spcPts val="500"/>
              </a:spcAft>
            </a:pPr>
            <a:r>
              <a:rPr sz="1200" b="0" i="0">
                <a:solidFill>
                  <a:srgbClr val="374151"/>
                </a:solidFill>
                <a:latin typeface="Arial"/>
              </a:rPr>
              <a:t>Theta and CTO costs are in no model</a:t>
            </a:r>
          </a:p>
          <a:p>
            <a:pPr algn="l">
              <a:spcAft>
                <a:spcPts val="500"/>
              </a:spcAft>
            </a:pPr>
            <a:r>
              <a:rPr sz="1200" b="0" i="0">
                <a:solidFill>
                  <a:srgbClr val="374151"/>
                </a:solidFill>
                <a:latin typeface="Arial"/>
              </a:rPr>
              <a:t>Is our current EAP contract active, and for how many staff?</a:t>
            </a:r>
          </a:p>
          <a:p>
            <a:pPr algn="l">
              <a:spcAft>
                <a:spcPts val="500"/>
              </a:spcAft>
            </a:pPr>
            <a:r>
              <a:rPr sz="1200" b="0" i="0">
                <a:solidFill>
                  <a:srgbClr val="374151"/>
                </a:solidFill>
                <a:latin typeface="Arial"/>
              </a:rPr>
              <a:t>Will BI accept the new 2027 prices?</a:t>
            </a:r>
          </a:p>
          <a:p>
            <a:pPr algn="l">
              <a:spcAft>
                <a:spcPts val="500"/>
              </a:spcAft>
            </a:pPr>
            <a:r>
              <a:rPr sz="1200" b="0" i="0">
                <a:solidFill>
                  <a:srgbClr val="374151"/>
                </a:solidFill>
                <a:latin typeface="Arial"/>
              </a:rPr>
              <a:t>Tax: does the 0.5% small-business tax still apply as sales grow?</a:t>
            </a:r>
          </a:p>
        </p:txBody>
      </p:sp>
      <p:graphicFrame>
        <p:nvGraphicFramePr>
          <p:cNvPr id="7" name="Table 6"/>
          <p:cNvGraphicFramePr>
            <a:graphicFrameLocks noGrp="1"/>
          </p:cNvGraphicFramePr>
          <p:nvPr/>
        </p:nvGraphicFramePr>
        <p:xfrm>
          <a:off x="4846320" y="1325880"/>
          <a:ext cx="6858000" cy="4928616"/>
        </p:xfrm>
        <a:graphic>
          <a:graphicData uri="http://schemas.openxmlformats.org/drawingml/2006/table">
            <a:tbl>
              <a:tblPr firstRow="1" bandRow="1">
                <a:tableStyleId>{5C22544A-7EE6-4342-B048-85BDC9FD1C3A}</a:tableStyleId>
              </a:tblPr>
              <a:tblGrid>
                <a:gridCol w="2468880"/>
                <a:gridCol w="2377440"/>
                <a:gridCol w="2011680"/>
              </a:tblGrid>
              <a:tr h="448056">
                <a:tc>
                  <a:txBody>
                    <a:bodyPr wrap="square"/>
                    <a:lstStyle/>
                    <a:p>
                      <a:r>
                        <a:rPr sz="1200" b="1">
                          <a:solidFill>
                            <a:srgbClr val="FFFFFF"/>
                          </a:solidFill>
                          <a:latin typeface="Arial"/>
                        </a:rPr>
                        <a:t>Estimate</a:t>
                      </a:r>
                    </a:p>
                  </a:txBody>
                  <a:tcPr marL="54864" marR="54864" marT="27432" marB="27432" anchor="ctr">
                    <a:solidFill>
                      <a:srgbClr val="475571"/>
                    </a:solidFill>
                  </a:tcPr>
                </a:tc>
                <a:tc>
                  <a:txBody>
                    <a:bodyPr wrap="square"/>
                    <a:lstStyle/>
                    <a:p>
                      <a:r>
                        <a:rPr sz="1200" b="1">
                          <a:solidFill>
                            <a:srgbClr val="FFFFFF"/>
                          </a:solidFill>
                          <a:latin typeface="Arial"/>
                        </a:rPr>
                        <a:t>Value we used</a:t>
                      </a:r>
                    </a:p>
                  </a:txBody>
                  <a:tcPr marL="54864" marR="54864" marT="27432" marB="27432" anchor="ctr">
                    <a:solidFill>
                      <a:srgbClr val="475571"/>
                    </a:solidFill>
                  </a:tcPr>
                </a:tc>
                <a:tc>
                  <a:txBody>
                    <a:bodyPr wrap="square"/>
                    <a:lstStyle/>
                    <a:p>
                      <a:r>
                        <a:rPr sz="1200" b="1">
                          <a:solidFill>
                            <a:srgbClr val="FFFFFF"/>
                          </a:solidFill>
                          <a:latin typeface="Arial"/>
                        </a:rPr>
                        <a:t>How to check</a:t>
                      </a:r>
                    </a:p>
                  </a:txBody>
                  <a:tcPr marL="54864" marR="54864" marT="27432" marB="27432" anchor="ctr">
                    <a:solidFill>
                      <a:srgbClr val="475571"/>
                    </a:solidFill>
                  </a:tcPr>
                </a:tc>
              </a:tr>
              <a:tr h="448056">
                <a:tc>
                  <a:txBody>
                    <a:bodyPr wrap="square"/>
                    <a:lstStyle/>
                    <a:p>
                      <a:r>
                        <a:rPr sz="1200" b="1">
                          <a:solidFill>
                            <a:srgbClr val="374151"/>
                          </a:solidFill>
                          <a:latin typeface="Arial"/>
                        </a:rPr>
                        <a:t>BPJS and THR on top of salary</a:t>
                      </a:r>
                    </a:p>
                  </a:txBody>
                  <a:tcPr marL="54864" marR="54864" marT="27432" marB="27432" anchor="ctr">
                    <a:solidFill>
                      <a:srgbClr val="F3F5F9"/>
                    </a:solidFill>
                  </a:tcPr>
                </a:tc>
                <a:tc>
                  <a:txBody>
                    <a:bodyPr wrap="square"/>
                    <a:lstStyle/>
                    <a:p>
                      <a:r>
                        <a:rPr sz="1200" b="0">
                          <a:solidFill>
                            <a:srgbClr val="374151"/>
                          </a:solidFill>
                          <a:latin typeface="Arial"/>
                        </a:rPr>
                        <a:t>18% of salary</a:t>
                      </a:r>
                    </a:p>
                  </a:txBody>
                  <a:tcPr marL="54864" marR="54864" marT="27432" marB="27432" anchor="ctr">
                    <a:solidFill>
                      <a:srgbClr val="F3F5F9"/>
                    </a:solidFill>
                  </a:tcPr>
                </a:tc>
                <a:tc>
                  <a:txBody>
                    <a:bodyPr wrap="square"/>
                    <a:lstStyle/>
                    <a:p>
                      <a:r>
                        <a:rPr sz="1200" b="0">
                          <a:solidFill>
                            <a:srgbClr val="374151"/>
                          </a:solidFill>
                          <a:latin typeface="Arial"/>
                        </a:rPr>
                        <a:t>Payroll provider quote</a:t>
                      </a:r>
                    </a:p>
                  </a:txBody>
                  <a:tcPr marL="54864" marR="54864" marT="27432" marB="27432" anchor="ctr">
                    <a:solidFill>
                      <a:srgbClr val="F3F5F9"/>
                    </a:solidFill>
                  </a:tcPr>
                </a:tc>
              </a:tr>
              <a:tr h="448056">
                <a:tc>
                  <a:txBody>
                    <a:bodyPr wrap="square"/>
                    <a:lstStyle/>
                    <a:p>
                      <a:r>
                        <a:rPr sz="1200" b="1">
                          <a:solidFill>
                            <a:srgbClr val="374151"/>
                          </a:solidFill>
                          <a:latin typeface="Arial"/>
                        </a:rPr>
                        <a:t>Full-time psychologist salary</a:t>
                      </a:r>
                    </a:p>
                  </a:txBody>
                  <a:tcPr marL="54864" marR="54864" marT="27432" marB="27432" anchor="ctr">
                    <a:solidFill>
                      <a:srgbClr val="FFFFFF"/>
                    </a:solidFill>
                  </a:tcPr>
                </a:tc>
                <a:tc>
                  <a:txBody>
                    <a:bodyPr wrap="square"/>
                    <a:lstStyle/>
                    <a:p>
                      <a:r>
                        <a:rPr sz="1200" b="0">
                          <a:solidFill>
                            <a:srgbClr val="374151"/>
                          </a:solidFill>
                          <a:latin typeface="Arial"/>
                        </a:rPr>
                        <a:t>Rp9M a month</a:t>
                      </a:r>
                    </a:p>
                  </a:txBody>
                  <a:tcPr marL="54864" marR="54864" marT="27432" marB="27432" anchor="ctr">
                    <a:solidFill>
                      <a:srgbClr val="FFFFFF"/>
                    </a:solidFill>
                  </a:tcPr>
                </a:tc>
                <a:tc>
                  <a:txBody>
                    <a:bodyPr wrap="square"/>
                    <a:lstStyle/>
                    <a:p>
                      <a:r>
                        <a:rPr sz="1200" b="0">
                          <a:solidFill>
                            <a:srgbClr val="374151"/>
                          </a:solidFill>
                          <a:latin typeface="Arial"/>
                        </a:rPr>
                        <a:t>3 job ads or offers</a:t>
                      </a:r>
                    </a:p>
                  </a:txBody>
                  <a:tcPr marL="54864" marR="54864" marT="27432" marB="27432" anchor="ctr">
                    <a:solidFill>
                      <a:srgbClr val="FFFFFF"/>
                    </a:solidFill>
                  </a:tcPr>
                </a:tc>
              </a:tr>
              <a:tr h="448056">
                <a:tc>
                  <a:txBody>
                    <a:bodyPr wrap="square"/>
                    <a:lstStyle/>
                    <a:p>
                      <a:r>
                        <a:rPr sz="1200" b="1">
                          <a:solidFill>
                            <a:srgbClr val="374151"/>
                          </a:solidFill>
                          <a:latin typeface="Arial"/>
                        </a:rPr>
                        <a:t>EAP price per employee</a:t>
                      </a:r>
                    </a:p>
                  </a:txBody>
                  <a:tcPr marL="54864" marR="54864" marT="27432" marB="27432" anchor="ctr">
                    <a:solidFill>
                      <a:srgbClr val="F3F5F9"/>
                    </a:solidFill>
                  </a:tcPr>
                </a:tc>
                <a:tc>
                  <a:txBody>
                    <a:bodyPr wrap="square"/>
                    <a:lstStyle/>
                    <a:p>
                      <a:r>
                        <a:rPr sz="1200" b="0">
                          <a:solidFill>
                            <a:srgbClr val="374151"/>
                          </a:solidFill>
                          <a:latin typeface="Arial"/>
                        </a:rPr>
                        <a:t>Rp30k a month, 500 staff</a:t>
                      </a:r>
                    </a:p>
                  </a:txBody>
                  <a:tcPr marL="54864" marR="54864" marT="27432" marB="27432" anchor="ctr">
                    <a:solidFill>
                      <a:srgbClr val="F3F5F9"/>
                    </a:solidFill>
                  </a:tcPr>
                </a:tc>
                <a:tc>
                  <a:txBody>
                    <a:bodyPr wrap="square"/>
                    <a:lstStyle/>
                    <a:p>
                      <a:r>
                        <a:rPr sz="1200" b="0">
                          <a:solidFill>
                            <a:srgbClr val="374151"/>
                          </a:solidFill>
                          <a:latin typeface="Arial"/>
                        </a:rPr>
                        <a:t>Ask 2 bank HR heads</a:t>
                      </a:r>
                    </a:p>
                  </a:txBody>
                  <a:tcPr marL="54864" marR="54864" marT="27432" marB="27432" anchor="ctr">
                    <a:solidFill>
                      <a:srgbClr val="F3F5F9"/>
                    </a:solidFill>
                  </a:tcPr>
                </a:tc>
              </a:tr>
              <a:tr h="448056">
                <a:tc>
                  <a:txBody>
                    <a:bodyPr wrap="square"/>
                    <a:lstStyle/>
                    <a:p>
                      <a:r>
                        <a:rPr sz="1200" b="1">
                          <a:solidFill>
                            <a:srgbClr val="374151"/>
                          </a:solidFill>
                          <a:latin typeface="Arial"/>
                        </a:rPr>
                        <a:t>Theta access per employee</a:t>
                      </a:r>
                    </a:p>
                  </a:txBody>
                  <a:tcPr marL="54864" marR="54864" marT="27432" marB="27432" anchor="ctr">
                    <a:solidFill>
                      <a:srgbClr val="FFFFFF"/>
                    </a:solidFill>
                  </a:tcPr>
                </a:tc>
                <a:tc>
                  <a:txBody>
                    <a:bodyPr wrap="square"/>
                    <a:lstStyle/>
                    <a:p>
                      <a:r>
                        <a:rPr sz="1200" b="0">
                          <a:solidFill>
                            <a:srgbClr val="374151"/>
                          </a:solidFill>
                          <a:latin typeface="Arial"/>
                        </a:rPr>
                        <a:t>Rp5k a month</a:t>
                      </a:r>
                    </a:p>
                  </a:txBody>
                  <a:tcPr marL="54864" marR="54864" marT="27432" marB="27432" anchor="ctr">
                    <a:solidFill>
                      <a:srgbClr val="FFFFFF"/>
                    </a:solidFill>
                  </a:tcPr>
                </a:tc>
                <a:tc>
                  <a:txBody>
                    <a:bodyPr wrap="square"/>
                    <a:lstStyle/>
                    <a:p>
                      <a:r>
                        <a:rPr sz="1200" b="0">
                          <a:solidFill>
                            <a:srgbClr val="374151"/>
                          </a:solidFill>
                          <a:latin typeface="Arial"/>
                        </a:rPr>
                        <a:t>Same 2 bank HR heads</a:t>
                      </a:r>
                    </a:p>
                  </a:txBody>
                  <a:tcPr marL="54864" marR="54864" marT="27432" marB="27432" anchor="ctr">
                    <a:solidFill>
                      <a:srgbClr val="FFFFFF"/>
                    </a:solidFill>
                  </a:tcPr>
                </a:tc>
              </a:tr>
              <a:tr h="448056">
                <a:tc>
                  <a:txBody>
                    <a:bodyPr wrap="square"/>
                    <a:lstStyle/>
                    <a:p>
                      <a:r>
                        <a:rPr sz="1200" b="1">
                          <a:solidFill>
                            <a:srgbClr val="374151"/>
                          </a:solidFill>
                          <a:latin typeface="Arial"/>
                        </a:rPr>
                        <a:t>Sales co-founder salary</a:t>
                      </a:r>
                    </a:p>
                  </a:txBody>
                  <a:tcPr marL="54864" marR="54864" marT="27432" marB="27432" anchor="ctr">
                    <a:solidFill>
                      <a:srgbClr val="F3F5F9"/>
                    </a:solidFill>
                  </a:tcPr>
                </a:tc>
                <a:tc>
                  <a:txBody>
                    <a:bodyPr wrap="square"/>
                    <a:lstStyle/>
                    <a:p>
                      <a:r>
                        <a:rPr sz="1200" b="0">
                          <a:solidFill>
                            <a:srgbClr val="374151"/>
                          </a:solidFill>
                          <a:latin typeface="Arial"/>
                        </a:rPr>
                        <a:t>Rp8M a month + shares</a:t>
                      </a:r>
                    </a:p>
                  </a:txBody>
                  <a:tcPr marL="54864" marR="54864" marT="27432" marB="27432" anchor="ctr">
                    <a:solidFill>
                      <a:srgbClr val="F3F5F9"/>
                    </a:solidFill>
                  </a:tcPr>
                </a:tc>
                <a:tc>
                  <a:txBody>
                    <a:bodyPr wrap="square"/>
                    <a:lstStyle/>
                    <a:p>
                      <a:r>
                        <a:rPr sz="1200" b="0">
                          <a:solidFill>
                            <a:srgbClr val="374151"/>
                          </a:solidFill>
                          <a:latin typeface="Arial"/>
                        </a:rPr>
                        <a:t>Talks with candidates</a:t>
                      </a:r>
                    </a:p>
                  </a:txBody>
                  <a:tcPr marL="54864" marR="54864" marT="27432" marB="27432" anchor="ctr">
                    <a:solidFill>
                      <a:srgbClr val="F3F5F9"/>
                    </a:solidFill>
                  </a:tcPr>
                </a:tc>
              </a:tr>
              <a:tr h="448056">
                <a:tc>
                  <a:txBody>
                    <a:bodyPr wrap="square"/>
                    <a:lstStyle/>
                    <a:p>
                      <a:r>
                        <a:rPr sz="1200" b="1">
                          <a:solidFill>
                            <a:srgbClr val="374151"/>
                          </a:solidFill>
                          <a:latin typeface="Arial"/>
                        </a:rPr>
                        <a:t>CTO salary</a:t>
                      </a:r>
                    </a:p>
                  </a:txBody>
                  <a:tcPr marL="54864" marR="54864" marT="27432" marB="27432" anchor="ctr">
                    <a:solidFill>
                      <a:srgbClr val="FFFFFF"/>
                    </a:solidFill>
                  </a:tcPr>
                </a:tc>
                <a:tc>
                  <a:txBody>
                    <a:bodyPr wrap="square"/>
                    <a:lstStyle/>
                    <a:p>
                      <a:r>
                        <a:rPr sz="1200" b="0">
                          <a:solidFill>
                            <a:srgbClr val="374151"/>
                          </a:solidFill>
                          <a:latin typeface="Arial"/>
                        </a:rPr>
                        <a:t>Rp10M a month</a:t>
                      </a:r>
                    </a:p>
                  </a:txBody>
                  <a:tcPr marL="54864" marR="54864" marT="27432" marB="27432" anchor="ctr">
                    <a:solidFill>
                      <a:srgbClr val="FFFFFF"/>
                    </a:solidFill>
                  </a:tcPr>
                </a:tc>
                <a:tc>
                  <a:txBody>
                    <a:bodyPr wrap="square"/>
                    <a:lstStyle/>
                    <a:p>
                      <a:r>
                        <a:rPr sz="1200" b="0">
                          <a:solidFill>
                            <a:srgbClr val="374151"/>
                          </a:solidFill>
                          <a:latin typeface="Arial"/>
                        </a:rPr>
                        <a:t>CTO's expectation</a:t>
                      </a:r>
                    </a:p>
                  </a:txBody>
                  <a:tcPr marL="54864" marR="54864" marT="27432" marB="27432" anchor="ctr">
                    <a:solidFill>
                      <a:srgbClr val="FFFFFF"/>
                    </a:solidFill>
                  </a:tcPr>
                </a:tc>
              </a:tr>
              <a:tr h="448056">
                <a:tc>
                  <a:txBody>
                    <a:bodyPr wrap="square"/>
                    <a:lstStyle/>
                    <a:p>
                      <a:r>
                        <a:rPr sz="1200" b="1">
                          <a:solidFill>
                            <a:srgbClr val="374151"/>
                          </a:solidFill>
                          <a:latin typeface="Arial"/>
                        </a:rPr>
                        <a:t>Bank deal</a:t>
                      </a:r>
                    </a:p>
                  </a:txBody>
                  <a:tcPr marL="54864" marR="54864" marT="27432" marB="27432" anchor="ctr">
                    <a:solidFill>
                      <a:srgbClr val="F3F5F9"/>
                    </a:solidFill>
                  </a:tcPr>
                </a:tc>
                <a:tc>
                  <a:txBody>
                    <a:bodyPr wrap="square"/>
                    <a:lstStyle/>
                    <a:p>
                      <a:r>
                        <a:rPr sz="1200" b="0">
                          <a:solidFill>
                            <a:srgbClr val="374151"/>
                          </a:solidFill>
                          <a:latin typeface="Arial"/>
                        </a:rPr>
                        <a:t>1 training day a month from Oct 2027</a:t>
                      </a:r>
                    </a:p>
                  </a:txBody>
                  <a:tcPr marL="54864" marR="54864" marT="27432" marB="27432" anchor="ctr">
                    <a:solidFill>
                      <a:srgbClr val="F3F5F9"/>
                    </a:solidFill>
                  </a:tcPr>
                </a:tc>
                <a:tc>
                  <a:txBody>
                    <a:bodyPr wrap="square"/>
                    <a:lstStyle/>
                    <a:p>
                      <a:r>
                        <a:rPr sz="1200" b="0">
                          <a:solidFill>
                            <a:srgbClr val="374151"/>
                          </a:solidFill>
                          <a:latin typeface="Arial"/>
                        </a:rPr>
                        <a:t>First bank proposal</a:t>
                      </a:r>
                    </a:p>
                  </a:txBody>
                  <a:tcPr marL="54864" marR="54864" marT="27432" marB="27432" anchor="ctr">
                    <a:solidFill>
                      <a:srgbClr val="F3F5F9"/>
                    </a:solidFill>
                  </a:tcPr>
                </a:tc>
              </a:tr>
              <a:tr h="448056">
                <a:tc>
                  <a:txBody>
                    <a:bodyPr wrap="square"/>
                    <a:lstStyle/>
                    <a:p>
                      <a:r>
                        <a:rPr sz="1200" b="1">
                          <a:solidFill>
                            <a:srgbClr val="374151"/>
                          </a:solidFill>
                          <a:latin typeface="Arial"/>
                        </a:rPr>
                        <a:t>Bank payment timing</a:t>
                      </a:r>
                    </a:p>
                  </a:txBody>
                  <a:tcPr marL="54864" marR="54864" marT="27432" marB="27432" anchor="ctr">
                    <a:solidFill>
                      <a:srgbClr val="FFFFFF"/>
                    </a:solidFill>
                  </a:tcPr>
                </a:tc>
                <a:tc>
                  <a:txBody>
                    <a:bodyPr wrap="square"/>
                    <a:lstStyle/>
                    <a:p>
                      <a:r>
                        <a:rPr sz="1200" b="0">
                          <a:solidFill>
                            <a:srgbClr val="374151"/>
                          </a:solidFill>
                          <a:latin typeface="Arial"/>
                        </a:rPr>
                        <a:t>20% / 50% / 30% over 60 days</a:t>
                      </a:r>
                    </a:p>
                  </a:txBody>
                  <a:tcPr marL="54864" marR="54864" marT="27432" marB="27432" anchor="ctr">
                    <a:solidFill>
                      <a:srgbClr val="FFFFFF"/>
                    </a:solidFill>
                  </a:tcPr>
                </a:tc>
                <a:tc>
                  <a:txBody>
                    <a:bodyPr wrap="square"/>
                    <a:lstStyle/>
                    <a:p>
                      <a:r>
                        <a:rPr sz="1200" b="0">
                          <a:solidFill>
                            <a:srgbClr val="374151"/>
                          </a:solidFill>
                          <a:latin typeface="Arial"/>
                        </a:rPr>
                        <a:t>First bank contract</a:t>
                      </a:r>
                    </a:p>
                  </a:txBody>
                  <a:tcPr marL="54864" marR="54864" marT="27432" marB="27432" anchor="ctr">
                    <a:solidFill>
                      <a:srgbClr val="FFFFFF"/>
                    </a:solidFill>
                  </a:tcPr>
                </a:tc>
              </a:tr>
              <a:tr h="448056">
                <a:tc>
                  <a:txBody>
                    <a:bodyPr wrap="square"/>
                    <a:lstStyle/>
                    <a:p>
                      <a:r>
                        <a:rPr sz="1200" b="1">
                          <a:solidFill>
                            <a:srgbClr val="374151"/>
                          </a:solidFill>
                          <a:latin typeface="Arial"/>
                        </a:rPr>
                        <a:t>New work starts</a:t>
                      </a:r>
                    </a:p>
                  </a:txBody>
                  <a:tcPr marL="54864" marR="54864" marT="27432" marB="27432" anchor="ctr">
                    <a:solidFill>
                      <a:srgbClr val="F3F5F9"/>
                    </a:solidFill>
                  </a:tcPr>
                </a:tc>
                <a:tc>
                  <a:txBody>
                    <a:bodyPr wrap="square"/>
                    <a:lstStyle/>
                    <a:p>
                      <a:r>
                        <a:rPr sz="1200" b="0">
                          <a:solidFill>
                            <a:srgbClr val="374151"/>
                          </a:solidFill>
                          <a:latin typeface="Arial"/>
                        </a:rPr>
                        <a:t>March 2027</a:t>
                      </a:r>
                    </a:p>
                  </a:txBody>
                  <a:tcPr marL="54864" marR="54864" marT="27432" marB="27432" anchor="ctr">
                    <a:solidFill>
                      <a:srgbClr val="F3F5F9"/>
                    </a:solidFill>
                  </a:tcPr>
                </a:tc>
                <a:tc>
                  <a:txBody>
                    <a:bodyPr wrap="square"/>
                    <a:lstStyle/>
                    <a:p>
                      <a:r>
                        <a:rPr sz="1200" b="0">
                          <a:solidFill>
                            <a:srgbClr val="374151"/>
                          </a:solidFill>
                          <a:latin typeface="Arial"/>
                        </a:rPr>
                        <a:t>Signed contracts by February</a:t>
                      </a:r>
                    </a:p>
                  </a:txBody>
                  <a:tcPr marL="54864" marR="54864" marT="27432" marB="27432" anchor="ctr">
                    <a:solidFill>
                      <a:srgbClr val="F3F5F9"/>
                    </a:solidFill>
                  </a:tcPr>
                </a:tc>
              </a:tr>
              <a:tr h="448056">
                <a:tc>
                  <a:txBody>
                    <a:bodyPr wrap="square"/>
                    <a:lstStyle/>
                    <a:p>
                      <a:r>
                        <a:rPr sz="1200" b="1">
                          <a:solidFill>
                            <a:srgbClr val="374151"/>
                          </a:solidFill>
                          <a:latin typeface="Arial"/>
                        </a:rPr>
                        <a:t>Income tax</a:t>
                      </a:r>
                    </a:p>
                  </a:txBody>
                  <a:tcPr marL="54864" marR="54864" marT="27432" marB="27432" anchor="ctr">
                    <a:solidFill>
                      <a:srgbClr val="FFFFFF"/>
                    </a:solidFill>
                  </a:tcPr>
                </a:tc>
                <a:tc>
                  <a:txBody>
                    <a:bodyPr wrap="square"/>
                    <a:lstStyle/>
                    <a:p>
                      <a:r>
                        <a:rPr sz="1200" b="0">
                          <a:solidFill>
                            <a:srgbClr val="374151"/>
                          </a:solidFill>
                          <a:latin typeface="Arial"/>
                        </a:rPr>
                        <a:t>0.5% of sales</a:t>
                      </a:r>
                    </a:p>
                  </a:txBody>
                  <a:tcPr marL="54864" marR="54864" marT="27432" marB="27432" anchor="ctr">
                    <a:solidFill>
                      <a:srgbClr val="FFFFFF"/>
                    </a:solidFill>
                  </a:tcPr>
                </a:tc>
                <a:tc>
                  <a:txBody>
                    <a:bodyPr wrap="square"/>
                    <a:lstStyle/>
                    <a:p>
                      <a:r>
                        <a:rPr sz="1200" b="0">
                          <a:solidFill>
                            <a:srgbClr val="374151"/>
                          </a:solidFill>
                          <a:latin typeface="Arial"/>
                        </a:rPr>
                        <a:t>Tax consultant</a:t>
                      </a:r>
                    </a:p>
                  </a:txBody>
                  <a:tcPr marL="54864" marR="54864" marT="27432" marB="27432" anchor="ctr">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