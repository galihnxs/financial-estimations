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Net profit each month, Oct 2026 to Dec 2027 (Rp M). Red = a loss.</a:t>
            </a:r>
          </a:p>
        </c:rich>
      </c:tx>
      <c:layout/>
      <c:overlay val="0"/>
    </c:title>
    <c:autoTitleDeleted val="0"/>
    <c:plotArea>
      <c:barChart>
        <c:barDir val="col"/>
        <c:grouping val="clustered"/>
        <c:ser>
          <c:idx val="0"/>
          <c:order val="0"/>
          <c:tx>
            <c:strRef>
              <c:f>Sheet1!$B$1</c:f>
              <c:strCache>
                <c:ptCount val="1"/>
                <c:pt idx="0">
                  <c:v>Net profit</c:v>
                </c:pt>
              </c:strCache>
            </c:strRef>
          </c:tx>
          <c:invertIfNegative val="0"/>
          <c:dPt>
            <c:idx val="0"/>
            <c:invertIfNegative val="0"/>
            <c:spPr>
              <a:solidFill>
                <a:srgbClr val="9B3809"/>
              </a:solidFill>
            </c:spPr>
          </c:dPt>
          <c:dPt>
            <c:idx val="1"/>
            <c:invertIfNegative val="0"/>
            <c:spPr>
              <a:solidFill>
                <a:srgbClr val="9B3809"/>
              </a:solidFill>
            </c:spPr>
          </c:dPt>
          <c:dPt>
            <c:idx val="2"/>
            <c:invertIfNegative val="0"/>
            <c:spPr>
              <a:solidFill>
                <a:srgbClr val="9B3809"/>
              </a:solidFill>
            </c:spPr>
          </c:dPt>
          <c:dPt>
            <c:idx val="3"/>
            <c:invertIfNegative val="0"/>
            <c:spPr>
              <a:solidFill>
                <a:srgbClr val="9B3809"/>
              </a:solidFill>
            </c:spPr>
          </c:dPt>
          <c:dPt>
            <c:idx val="4"/>
            <c:invertIfNegative val="0"/>
            <c:spPr>
              <a:solidFill>
                <a:srgbClr val="9B3809"/>
              </a:solidFill>
            </c:spPr>
          </c:dPt>
          <c:dPt>
            <c:idx val="5"/>
            <c:invertIfNegative val="0"/>
            <c:spPr>
              <a:solidFill>
                <a:srgbClr val="576C94"/>
              </a:solidFill>
            </c:spPr>
          </c:dPt>
          <c:dPt>
            <c:idx val="6"/>
            <c:invertIfNegative val="0"/>
            <c:spPr>
              <a:solidFill>
                <a:srgbClr val="576C94"/>
              </a:solidFill>
            </c:spPr>
          </c:dPt>
          <c:dPt>
            <c:idx val="7"/>
            <c:invertIfNegative val="0"/>
            <c:spPr>
              <a:solidFill>
                <a:srgbClr val="576C94"/>
              </a:solidFill>
            </c:spPr>
          </c:dPt>
          <c:dPt>
            <c:idx val="8"/>
            <c:invertIfNegative val="0"/>
            <c:spPr>
              <a:solidFill>
                <a:srgbClr val="9B3809"/>
              </a:solidFill>
            </c:spPr>
          </c:dPt>
          <c:dPt>
            <c:idx val="9"/>
            <c:invertIfNegative val="0"/>
            <c:spPr>
              <a:solidFill>
                <a:srgbClr val="576C94"/>
              </a:solidFill>
            </c:spPr>
          </c:dPt>
          <c:dPt>
            <c:idx val="10"/>
            <c:invertIfNegative val="0"/>
            <c:spPr>
              <a:solidFill>
                <a:srgbClr val="9B3809"/>
              </a:solidFill>
            </c:spPr>
          </c:dPt>
          <c:dPt>
            <c:idx val="11"/>
            <c:invertIfNegative val="0"/>
            <c:spPr>
              <a:solidFill>
                <a:srgbClr val="576C94"/>
              </a:solidFill>
            </c:spPr>
          </c:dPt>
          <c:dPt>
            <c:idx val="12"/>
            <c:invertIfNegative val="0"/>
            <c:spPr>
              <a:solidFill>
                <a:srgbClr val="576C94"/>
              </a:solidFill>
            </c:spPr>
          </c:dPt>
          <c:dPt>
            <c:idx val="13"/>
            <c:invertIfNegative val="0"/>
            <c:spPr>
              <a:solidFill>
                <a:srgbClr val="576C94"/>
              </a:solidFill>
            </c:spPr>
          </c:dPt>
          <c:dPt>
            <c:idx val="14"/>
            <c:invertIfNegative val="0"/>
            <c:spPr>
              <a:solidFill>
                <a:srgbClr val="576C94"/>
              </a:solidFill>
            </c:spPr>
          </c:dPt>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-20.5</c:v>
                </c:pt>
                <c:pt idx="1">
                  <c:v>-20.5</c:v>
                </c:pt>
                <c:pt idx="2">
                  <c:v>-20.4</c:v>
                </c:pt>
                <c:pt idx="3">
                  <c:v>-30.0</c:v>
                </c:pt>
                <c:pt idx="4">
                  <c:v>-6.4</c:v>
                </c:pt>
                <c:pt idx="5">
                  <c:v>52.4</c:v>
                </c:pt>
                <c:pt idx="6">
                  <c:v>6.6</c:v>
                </c:pt>
                <c:pt idx="7">
                  <c:v>50.3</c:v>
                </c:pt>
                <c:pt idx="8">
                  <c:v>-16.4</c:v>
                </c:pt>
                <c:pt idx="9">
                  <c:v>94.3</c:v>
                </c:pt>
                <c:pt idx="10">
                  <c:v>-18.1</c:v>
                </c:pt>
                <c:pt idx="11">
                  <c:v>63.1</c:v>
                </c:pt>
                <c:pt idx="12">
                  <c:v>79.4</c:v>
                </c:pt>
                <c:pt idx="13">
                  <c:v>165.6</c:v>
                </c:pt>
                <c:pt idx="14">
                  <c:v>91.3</c:v>
                </c:pt>
              </c:numCache>
            </c:numRef>
          </c:val>
        </c:ser>
        <c:dLbls>
          <c:numFmt formatCode="#,##0" sourceLinked="0"/>
          <c:txPr>
            <a:bodyPr/>
            <a:lstStyle/>
            <a:p>
              <a:pPr>
                <a:defRPr sz="1100" b="1">
                  <a:solidFill>
                    <a:srgbClr val="1E2A3A"/>
                  </a:solidFill>
                  <a:latin typeface="Aria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low"/>
        <c:spPr>
          <a:ln>
            <a:solidFill>
              <a:srgbClr val="E3DED3"/>
            </a:solidFill>
          </a:ln>
        </c:spPr>
        <c:txPr>
          <a:bodyPr/>
          <a:lstStyle/>
          <a:p>
            <a:pPr>
              <a:defRPr sz="1000">
                <a:solidFill>
                  <a:srgbClr val="3D4F6A"/>
                </a:solidFill>
                <a:latin typeface="Arial"/>
              </a:defRPr>
            </a:pPr>
          </a:p>
        </c:txPr>
        <c:crossAx val="-2113994440"/>
        <c:crosses val="autoZero"/>
        <c:auto val="1"/>
        <c:lblAlgn val="ctr"/>
        <c:lblOffset val="100"/>
        <c:noMultiLvlLbl val="0"/>
      </c:catAx>
      <c:valAx>
        <c:axId val="-2113994440"/>
        <c:scaling>
          <c:max val="207.0"/>
          <c:min val="-40.5"/>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Net margin in a normal full year (blue = 15% or more)</a:t>
            </a:r>
          </a:p>
        </c:rich>
      </c:tx>
      <c:layout/>
      <c:overlay val="0"/>
    </c:title>
    <c:autoTitleDeleted val="0"/>
    <c:plotArea>
      <c:barChart>
        <c:barDir val="col"/>
        <c:grouping val="clustered"/>
        <c:ser>
          <c:idx val="0"/>
          <c:order val="0"/>
          <c:tx>
            <c:strRef>
              <c:f>Sheet1!$B$1</c:f>
              <c:strCache>
                <c:ptCount val="1"/>
                <c:pt idx="0">
                  <c:v>Net margin</c:v>
                </c:pt>
              </c:strCache>
            </c:strRef>
          </c:tx>
          <c:invertIfNegative val="0"/>
          <c:dPt>
            <c:idx val="0"/>
            <c:invertIfNegative val="0"/>
            <c:spPr>
              <a:solidFill>
                <a:srgbClr val="9B3809"/>
              </a:solidFill>
            </c:spPr>
          </c:dPt>
          <c:dPt>
            <c:idx val="1"/>
            <c:invertIfNegative val="0"/>
            <c:spPr>
              <a:solidFill>
                <a:srgbClr val="576C94"/>
              </a:solidFill>
            </c:spPr>
          </c:dPt>
          <c:dPt>
            <c:idx val="2"/>
            <c:invertIfNegative val="0"/>
            <c:spPr>
              <a:solidFill>
                <a:srgbClr val="9B3809"/>
              </a:solidFill>
            </c:spPr>
          </c:dPt>
          <c:dPt>
            <c:idx val="3"/>
            <c:invertIfNegative val="0"/>
            <c:spPr>
              <a:solidFill>
                <a:srgbClr val="576C94"/>
              </a:solidFill>
            </c:spPr>
          </c:dPt>
          <c:dPt>
            <c:idx val="4"/>
            <c:invertIfNegative val="0"/>
            <c:spPr>
              <a:solidFill>
                <a:srgbClr val="576C94"/>
              </a:solidFill>
            </c:spPr>
          </c:dPt>
          <c:cat>
            <c:strRef>
              <c:f>Sheet1!$A$2:$A$6</c:f>
              <c:strCache>
                <c:ptCount val="5"/>
                <c:pt idx="0">
                  <c:v>Old prices</c:v>
                </c:pt>
                <c:pt idx="1">
                  <c:v>New prices</c:v>
                </c:pt>
                <c:pt idx="2">
                  <c:v>+ fair pay</c:v>
                </c:pt>
                <c:pt idx="3">
                  <c:v>+ 2 EAP</c:v>
                </c:pt>
                <c:pt idx="4">
                  <c:v>+ co-founder and bank deal</c:v>
                </c:pt>
              </c:strCache>
            </c:strRef>
          </c:cat>
          <c:val>
            <c:numRef>
              <c:f>Sheet1!$B$2:$B$6</c:f>
              <c:numCache>
                <c:formatCode>General</c:formatCode>
                <c:ptCount val="5"/>
                <c:pt idx="0">
                  <c:v>0.12549668874172185</c:v>
                </c:pt>
                <c:pt idx="1">
                  <c:v>0.25200366300366267</c:v>
                </c:pt>
                <c:pt idx="2">
                  <c:v>0.0662949716949714</c:v>
                </c:pt>
                <c:pt idx="3">
                  <c:v>0.181435347837765</c:v>
                </c:pt>
                <c:pt idx="4">
                  <c:v>0.24423019186169073</c:v>
                </c:pt>
              </c:numCache>
            </c:numRef>
          </c:val>
        </c:ser>
        <c:dLbls>
          <c:numFmt formatCode="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0.3150045787545783"/>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Each month, Rp M: sales and costs (bars), cash (lines)</a:t>
            </a:r>
          </a:p>
        </c:rich>
      </c:tx>
      <c:layout/>
      <c:overlay val="0"/>
    </c:title>
    <c:autoTitleDeleted val="0"/>
    <c:plotArea>
      <c:barChart>
        <c:barDir val="col"/>
        <c:grouping val="clustered"/>
        <c:ser>
          <c:idx val="0"/>
          <c:order val="0"/>
          <c:tx>
            <c:strRef>
              <c:f>Sheet1!$B$1</c:f>
              <c:strCache>
                <c:ptCount val="1"/>
                <c:pt idx="0">
                  <c:v>Sales</c:v>
                </c:pt>
              </c:strCache>
            </c:strRef>
          </c:tx>
          <c:spPr>
            <a:solidFill>
              <a:srgbClr val="576C94"/>
            </a:solidFill>
          </c:spPr>
          <c:invertIfNegative val="0"/>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17</c:v>
                </c:pt>
                <c:pt idx="1">
                  <c:v>17</c:v>
                </c:pt>
                <c:pt idx="2">
                  <c:v>17</c:v>
                </c:pt>
                <c:pt idx="3">
                  <c:v>18</c:v>
                </c:pt>
                <c:pt idx="4">
                  <c:v>54</c:v>
                </c:pt>
                <c:pt idx="5">
                  <c:v>163</c:v>
                </c:pt>
                <c:pt idx="6">
                  <c:v>94</c:v>
                </c:pt>
                <c:pt idx="7">
                  <c:v>169</c:v>
                </c:pt>
                <c:pt idx="8">
                  <c:v>70</c:v>
                </c:pt>
                <c:pt idx="9">
                  <c:v>244</c:v>
                </c:pt>
                <c:pt idx="10">
                  <c:v>92</c:v>
                </c:pt>
                <c:pt idx="11">
                  <c:v>221</c:v>
                </c:pt>
                <c:pt idx="12">
                  <c:v>250</c:v>
                </c:pt>
                <c:pt idx="13">
                  <c:v>380</c:v>
                </c:pt>
                <c:pt idx="14">
                  <c:v>285</c:v>
                </c:pt>
              </c:numCache>
            </c:numRef>
          </c:val>
        </c:ser>
        <c:ser>
          <c:idx val="1"/>
          <c:order val="1"/>
          <c:tx>
            <c:strRef>
              <c:f>Sheet1!$C$1</c:f>
              <c:strCache>
                <c:ptCount val="1"/>
                <c:pt idx="0">
                  <c:v>All costs</c:v>
                </c:pt>
              </c:strCache>
            </c:strRef>
          </c:tx>
          <c:spPr>
            <a:solidFill>
              <a:srgbClr val="C3C9D4"/>
            </a:solidFill>
          </c:spPr>
          <c:invertIfNegative val="0"/>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Sheet1!$C$2:$C$16</c:f>
              <c:numCache>
                <c:formatCode>General</c:formatCode>
                <c:ptCount val="15"/>
                <c:pt idx="0">
                  <c:v>38</c:v>
                </c:pt>
                <c:pt idx="1">
                  <c:v>38</c:v>
                </c:pt>
                <c:pt idx="2">
                  <c:v>38</c:v>
                </c:pt>
                <c:pt idx="3">
                  <c:v>48</c:v>
                </c:pt>
                <c:pt idx="4">
                  <c:v>60</c:v>
                </c:pt>
                <c:pt idx="5">
                  <c:v>110</c:v>
                </c:pt>
                <c:pt idx="6">
                  <c:v>87</c:v>
                </c:pt>
                <c:pt idx="7">
                  <c:v>119</c:v>
                </c:pt>
                <c:pt idx="8">
                  <c:v>86</c:v>
                </c:pt>
                <c:pt idx="9">
                  <c:v>150</c:v>
                </c:pt>
                <c:pt idx="10">
                  <c:v>110</c:v>
                </c:pt>
                <c:pt idx="11">
                  <c:v>158</c:v>
                </c:pt>
                <c:pt idx="12">
                  <c:v>171</c:v>
                </c:pt>
                <c:pt idx="13">
                  <c:v>214</c:v>
                </c:pt>
                <c:pt idx="14">
                  <c:v>193</c:v>
                </c:pt>
              </c:numCache>
            </c:numRef>
          </c:val>
        </c:ser>
        <c:gapWidth val="60"/>
        <c:overlap val="-10"/>
        <c:axId val="-2068027336"/>
        <c:axId val="-2113994440"/>
      </c:barChart>
      <c:lineChart>
        <c:grouping val="standard"/>
        <c:varyColors val="0"/>
        <c:ser>
          <c:idx val="2"/>
          <c:order val="2"/>
          <c:tx>
            <c:strRef>
              <c:f>Sheet1!$D$1</c:f>
              <c:strCache>
                <c:ptCount val="1"/>
                <c:pt idx="0">
                  <c:v>Cash in the bank</c:v>
                </c:pt>
              </c:strCache>
            </c:strRef>
          </c:tx>
          <c:spPr>
            <a:ln w="38100" cap="rnd">
              <a:solidFill>
                <a:srgbClr val="1E2A3A"/>
              </a:solidFill>
              <a:round/>
            </a:ln>
          </c:spPr>
          <c:marker>
            <c:symbol val="none"/>
          </c:marker>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Sheet1!$D$2:$D$16</c:f>
              <c:numCache>
                <c:formatCode>General</c:formatCode>
                <c:ptCount val="15"/>
                <c:pt idx="0">
                  <c:v>175</c:v>
                </c:pt>
                <c:pt idx="1">
                  <c:v>154</c:v>
                </c:pt>
                <c:pt idx="2">
                  <c:v>134</c:v>
                </c:pt>
                <c:pt idx="3">
                  <c:v>104</c:v>
                </c:pt>
                <c:pt idx="4">
                  <c:v>82</c:v>
                </c:pt>
                <c:pt idx="5">
                  <c:v>90</c:v>
                </c:pt>
                <c:pt idx="6">
                  <c:v>89</c:v>
                </c:pt>
                <c:pt idx="7">
                  <c:v>131</c:v>
                </c:pt>
                <c:pt idx="8">
                  <c:v>160</c:v>
                </c:pt>
                <c:pt idx="9">
                  <c:v>167</c:v>
                </c:pt>
                <c:pt idx="10">
                  <c:v>205</c:v>
                </c:pt>
                <c:pt idx="11">
                  <c:v>249</c:v>
                </c:pt>
                <c:pt idx="12">
                  <c:v>273</c:v>
                </c:pt>
                <c:pt idx="13">
                  <c:v>372</c:v>
                </c:pt>
                <c:pt idx="14">
                  <c:v>524</c:v>
                </c:pt>
              </c:numCache>
            </c:numRef>
          </c:val>
          <c:smooth val="0"/>
        </c:ser>
        <c:ser>
          <c:idx val="3"/>
          <c:order val="3"/>
          <c:tx>
            <c:strRef>
              <c:f>Sheet1!$E$1</c:f>
              <c:strCache>
                <c:ptCount val="1"/>
                <c:pt idx="0">
                  <c:v>Safety floor (1 month of costs)</c:v>
                </c:pt>
              </c:strCache>
            </c:strRef>
          </c:tx>
          <c:spPr>
            <a:ln w="38100" cap="rnd">
              <a:solidFill>
                <a:srgbClr val="9B3809"/>
              </a:solidFill>
              <a:prstDash val="dash"/>
              <a:round/>
            </a:ln>
          </c:spPr>
          <c:marker>
            <c:symbol val="none"/>
          </c:marker>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Sheet1!$E$2:$E$16</c:f>
              <c:numCache>
                <c:formatCode>General</c:formatCode>
                <c:ptCount val="15"/>
                <c:pt idx="0">
                  <c:v>38</c:v>
                </c:pt>
                <c:pt idx="1">
                  <c:v>38</c:v>
                </c:pt>
                <c:pt idx="2">
                  <c:v>38</c:v>
                </c:pt>
                <c:pt idx="3">
                  <c:v>48</c:v>
                </c:pt>
                <c:pt idx="4">
                  <c:v>60</c:v>
                </c:pt>
                <c:pt idx="5">
                  <c:v>109</c:v>
                </c:pt>
                <c:pt idx="6">
                  <c:v>87</c:v>
                </c:pt>
                <c:pt idx="7">
                  <c:v>118</c:v>
                </c:pt>
                <c:pt idx="8">
                  <c:v>86</c:v>
                </c:pt>
                <c:pt idx="9">
                  <c:v>149</c:v>
                </c:pt>
                <c:pt idx="10">
                  <c:v>109</c:v>
                </c:pt>
                <c:pt idx="11">
                  <c:v>157</c:v>
                </c:pt>
                <c:pt idx="12">
                  <c:v>170</c:v>
                </c:pt>
                <c:pt idx="13">
                  <c:v>212</c:v>
                </c:pt>
                <c:pt idx="14">
                  <c:v>192</c:v>
                </c:pt>
              </c:numCache>
            </c:numRef>
          </c:val>
          <c:smooth val="0"/>
        </c:ser>
        <c:marker val="1"/>
        <c:axId val="-2068027336"/>
        <c:axId val="-2113994440"/>
      </c:lineChart>
      <c:catAx>
        <c:axId val="-2068027336"/>
        <c:scaling>
          <c:orientation val="minMax"/>
        </c:scaling>
        <c:delete val="0"/>
        <c:axPos val="b"/>
        <c:majorTickMark val="out"/>
        <c:minorTickMark val="none"/>
        <c:tickLblPos val="nextTo"/>
        <c:spPr>
          <a:ln>
            <a:solidFill>
              <a:srgbClr val="E3DED3"/>
            </a:solidFill>
          </a:ln>
        </c:spPr>
        <c:txPr>
          <a:bodyPr/>
          <a:lstStyle/>
          <a:p>
            <a:pPr>
              <a:defRPr sz="1000">
                <a:solidFill>
                  <a:srgbClr val="6B7A99"/>
                </a:solidFill>
                <a:latin typeface="Arial"/>
              </a:defRPr>
            </a:pPr>
          </a:p>
        </c:txPr>
        <c:crossAx val="-2113994440"/>
        <c:crosses val="autoZero"/>
        <c:auto val="1"/>
        <c:lblAlgn val="ctr"/>
        <c:lblOffset val="100"/>
        <c:noMultiLvlLbl val="0"/>
      </c:catAx>
      <c:valAx>
        <c:axId val="-2113994440"/>
        <c:scaling>
          <c:min val="0.0"/>
        </c:scaling>
        <c:delete val="0"/>
        <c:axPos val="l"/>
        <c:majorGridlines>
          <c:spPr>
            <a:ln>
              <a:solidFill>
                <a:srgbClr val="E3DED3"/>
              </a:solidFill>
            </a:ln>
          </c:spPr>
        </c:majorGridlines>
        <c:numFmt formatCode="#,##0" sourceLinked="0"/>
        <c:majorTickMark val="out"/>
        <c:minorTickMark val="none"/>
        <c:tickLblPos val="nextTo"/>
        <c:spPr>
          <a:ln>
            <a:noFill/>
          </a:ln>
        </c:spPr>
        <c:txPr>
          <a:bodyPr/>
          <a:lstStyle/>
          <a:p>
            <a:pPr>
              <a:defRPr sz="1000">
                <a:solidFill>
                  <a:srgbClr val="6B7A99"/>
                </a:solidFill>
                <a:latin typeface="Arial"/>
              </a:defRPr>
            </a:pPr>
          </a:p>
        </c:txPr>
        <c:crossAx val="-2068027336"/>
        <c:crosses val="autoZero"/>
      </c:valAx>
    </c:plotArea>
    <c:legend>
      <c:legendPos val="t"/>
      <c:overlay val="0"/>
      <c:txPr>
        <a:bodyPr/>
        <a:lstStyle/>
        <a:p>
          <a:pPr>
            <a:defRPr sz="11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Regional training, Rp M a day</a:t>
            </a:r>
          </a:p>
        </c:rich>
      </c:tx>
      <c:layout/>
      <c:overlay val="0"/>
    </c:title>
    <c:autoTitleDeleted val="0"/>
    <c:plotArea>
      <c:barChart>
        <c:barDir val="col"/>
        <c:grouping val="stacked"/>
        <c:ser>
          <c:idx val="0"/>
          <c:order val="0"/>
          <c:tx>
            <c:strRef>
              <c:f>Sheet1!$B$1</c:f>
              <c:strCache>
                <c:ptCount val="1"/>
                <c:pt idx="0">
                  <c:v>Delivery cost</c:v>
                </c:pt>
              </c:strCache>
            </c:strRef>
          </c:tx>
          <c:spPr>
            <a:solidFill>
              <a:srgbClr val="C3C9D4"/>
            </a:solidFill>
          </c:spPr>
          <c:invertIfNegative val="0"/>
          <c:dLbls>
            <c:dLbl>
              <c:idx val="0"/>
              <c:tx>
                <c:rich>
                  <a:bodyPr/>
                  <a:lstStyle/>
                  <a:p>
                    <a:r>
                      <a:rPr sz="1100" b="1">
                        <a:solidFill>
                          <a:srgbClr val="FFFFFF"/>
                        </a:solidFill>
                        <a:latin typeface="Arial"/>
                      </a:rPr>
                      <a:t>Cost 8</a:t>
                    </a:r>
                  </a:p>
                </c:rich>
              </c:tx>
              <c:showLegendKey val="0"/>
              <c:showVal val="1"/>
              <c:showCatName val="0"/>
              <c:showSerName val="0"/>
              <c:showPercent val="0"/>
              <c:showBubbleSize val="0"/>
            </c:dLbl>
            <c:dLbl>
              <c:idx val="1"/>
              <c:tx>
                <c:rich>
                  <a:bodyPr/>
                  <a:lstStyle/>
                  <a:p>
                    <a:r>
                      <a:rPr sz="1100" b="1">
                        <a:solidFill>
                          <a:srgbClr val="FFFFFF"/>
                        </a:solidFill>
                        <a:latin typeface="Arial"/>
                      </a:rPr>
                      <a:t>Cost 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Today</c:v>
                </c:pt>
                <c:pt idx="1">
                  <c:v>From Jan 2027</c:v>
                </c:pt>
              </c:strCache>
            </c:strRef>
          </c:cat>
          <c:val>
            <c:numRef>
              <c:f>Sheet1!$B$2:$B$3</c:f>
              <c:numCache>
                <c:formatCode>General</c:formatCode>
                <c:ptCount val="2"/>
                <c:pt idx="0">
                  <c:v>8</c:v>
                </c:pt>
                <c:pt idx="1">
                  <c:v>8</c:v>
                </c:pt>
              </c:numCache>
            </c:numRef>
          </c:val>
        </c:ser>
        <c:ser>
          <c:idx val="1"/>
          <c:order val="1"/>
          <c:tx>
            <c:strRef>
              <c:f>Sheet1!$C$1</c:f>
              <c:strCache>
                <c:ptCount val="1"/>
                <c:pt idx="0">
                  <c:v>Margin: training</c:v>
                </c:pt>
              </c:strCache>
            </c:strRef>
          </c:tx>
          <c:spPr>
            <a:solidFill>
              <a:srgbClr val="576C94"/>
            </a:solidFill>
          </c:spPr>
          <c:invertIfNegative val="0"/>
          <c:dLbls>
            <c:dLbl>
              <c:idx val="0"/>
              <c:tx>
                <c:rich>
                  <a:bodyPr/>
                  <a:lstStyle/>
                  <a:p>
                    <a:r>
                      <a:rPr sz="1100" b="1">
                        <a:solidFill>
                          <a:srgbClr val="FFFFFF"/>
                        </a:solidFill>
                        <a:latin typeface="Arial"/>
                      </a:rPr>
                      <a:t>Margin 12</a:t>
                    </a:r>
                  </a:p>
                </c:rich>
              </c:tx>
              <c:showLegendKey val="0"/>
              <c:showVal val="1"/>
              <c:showCatName val="0"/>
              <c:showSerName val="0"/>
              <c:showPercent val="0"/>
              <c:showBubbleSize val="0"/>
            </c:dLbl>
            <c:dLbl>
              <c:idx val="1"/>
              <c:tx>
                <c:rich>
                  <a:bodyPr/>
                  <a:lstStyle/>
                  <a:p>
                    <a:r>
                      <a:rPr sz="1100" b="1">
                        <a:solidFill>
                          <a:srgbClr val="FFFFFF"/>
                        </a:solidFill>
                        <a:latin typeface="Arial"/>
                      </a:rPr>
                      <a:t>Training 16</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Today</c:v>
                </c:pt>
                <c:pt idx="1">
                  <c:v>From Jan 2027</c:v>
                </c:pt>
              </c:strCache>
            </c:strRef>
          </c:cat>
          <c:val>
            <c:numRef>
              <c:f>Sheet1!$C$2:$C$3</c:f>
              <c:numCache>
                <c:formatCode>General</c:formatCode>
                <c:ptCount val="2"/>
                <c:pt idx="0">
                  <c:v>12</c:v>
                </c:pt>
                <c:pt idx="1">
                  <c:v>16</c:v>
                </c:pt>
              </c:numCache>
            </c:numRef>
          </c:val>
        </c:ser>
        <c:ser>
          <c:idx val="2"/>
          <c:order val="2"/>
          <c:tx>
            <c:strRef>
              <c:f>Sheet1!$D$1</c:f>
              <c:strCache>
                <c:ptCount val="1"/>
                <c:pt idx="0">
                  <c:v>Margin: assessment</c:v>
                </c:pt>
              </c:strCache>
            </c:strRef>
          </c:tx>
          <c:spPr>
            <a:solidFill>
              <a:srgbClr val="9B3809"/>
            </a:solidFill>
          </c:spPr>
          <c:invertIfNegative val="0"/>
          <c:dLbls>
            <c:dLbl>
              <c:idx val="0"/>
              <c:tx>
                <c:rich>
                  <a:bodyPr/>
                  <a:lstStyle/>
                  <a:p/>
                </c:rich>
              </c:tx>
              <c:showLegendKey val="0"/>
              <c:showVal val="1"/>
              <c:showCatName val="0"/>
              <c:showSerName val="0"/>
              <c:showPercent val="0"/>
              <c:showBubbleSize val="0"/>
            </c:dLbl>
            <c:dLbl>
              <c:idx val="1"/>
              <c:tx>
                <c:rich>
                  <a:bodyPr/>
                  <a:lstStyle/>
                  <a:p>
                    <a:r>
                      <a:rPr sz="1100" b="1">
                        <a:solidFill>
                          <a:srgbClr val="FFFFFF"/>
                        </a:solidFill>
                        <a:latin typeface="Arial"/>
                      </a:rPr>
                      <a:t>Report 4.5</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Today</c:v>
                </c:pt>
                <c:pt idx="1">
                  <c:v>From Jan 2027</c:v>
                </c:pt>
              </c:strCache>
            </c:strRef>
          </c:cat>
          <c:val>
            <c:numRef>
              <c:f>Sheet1!$D$2:$D$3</c:f>
              <c:numCache>
                <c:formatCode>General</c:formatCode>
                <c:ptCount val="2"/>
                <c:pt idx="0">
                  <c:v>0</c:v>
                </c:pt>
                <c:pt idx="1">
                  <c:v>4.5</c:v>
                </c:pt>
              </c:numCache>
            </c:numRef>
          </c:val>
        </c:ser>
        <c:dLbls>
          <c:numFmt formatCode="0%" sourceLinked="0"/>
          <c:txPr>
            <a:bodyPr/>
            <a:lstStyle/>
            <a:p>
              <a:pPr>
                <a:defRPr sz="1100" b="1">
                  <a:solidFill>
                    <a:srgbClr val="FFFFFF"/>
                  </a:solidFill>
                  <a:latin typeface="Arial"/>
                </a:defRPr>
              </a:pPr>
            </a:p>
          </c:txPr>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100">
                <a:solidFill>
                  <a:srgbClr val="3D4F6A"/>
                </a:solidFill>
                <a:latin typeface="Arial"/>
              </a:defRPr>
            </a:pPr>
          </a:p>
        </c:txPr>
        <c:crossAx val="-2113994440"/>
        <c:crosses val="autoZero"/>
        <c:auto val="1"/>
        <c:lblAlgn val="ctr"/>
        <c:lblOffset val="100"/>
        <c:noMultiLvlLbl val="0"/>
      </c:catAx>
      <c:valAx>
        <c:axId val="-2113994440"/>
        <c:scaling>
          <c:max val="35.625"/>
          <c:min val="0.0"/>
        </c:scaling>
        <c:delete/>
        <c:axPos val="l"/>
        <c:majorTickMark val="out"/>
        <c:minorTickMark val="none"/>
        <c:tickLblPos val="nextTo"/>
        <c:crossAx val="-2068027336"/>
        <c:crosses val="autoZero"/>
      </c:valAx>
    </c:plotArea>
    <c:legend>
      <c:legendPos val="b"/>
      <c:overlay val="0"/>
      <c:txPr>
        <a:bodyPr/>
        <a:lstStyle/>
        <a:p>
          <a:pPr>
            <a:defRPr sz="11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Price for one training day (Rp M)</a:t>
            </a:r>
          </a:p>
        </c:rich>
      </c:tx>
      <c:layout/>
      <c:overlay val="0"/>
    </c:title>
    <c:autoTitleDeleted val="0"/>
    <c:plotArea>
      <c:barChart>
        <c:barDir val="bar"/>
        <c:grouping val="clustered"/>
        <c:ser>
          <c:idx val="0"/>
          <c:order val="0"/>
          <c:tx>
            <c:strRef>
              <c:f>Sheet1!$B$1</c:f>
              <c:strCache>
                <c:ptCount val="1"/>
                <c:pt idx="0">
                  <c:v>Rp M per day</c:v>
                </c:pt>
              </c:strCache>
            </c:strRef>
          </c:tx>
          <c:invertIfNegative val="0"/>
          <c:dPt>
            <c:idx val="0"/>
            <c:invertIfNegative val="0"/>
            <c:spPr>
              <a:solidFill>
                <a:srgbClr val="C3C9D4"/>
              </a:solidFill>
            </c:spPr>
          </c:dPt>
          <c:dPt>
            <c:idx val="1"/>
            <c:invertIfNegative val="0"/>
            <c:spPr>
              <a:solidFill>
                <a:srgbClr val="576C94"/>
              </a:solidFill>
            </c:spPr>
          </c:dPt>
          <c:dPt>
            <c:idx val="2"/>
            <c:invertIfNegative val="0"/>
            <c:spPr>
              <a:solidFill>
                <a:srgbClr val="576C94"/>
              </a:solidFill>
            </c:spPr>
          </c:dPt>
          <c:dPt>
            <c:idx val="3"/>
            <c:invertIfNegative val="0"/>
            <c:spPr>
              <a:solidFill>
                <a:srgbClr val="576C94"/>
              </a:solidFill>
            </c:spPr>
          </c:dPt>
          <c:dPt>
            <c:idx val="4"/>
            <c:invertIfNegative val="0"/>
            <c:spPr>
              <a:solidFill>
                <a:srgbClr val="576C94"/>
              </a:solidFill>
            </c:spPr>
          </c:dPt>
          <c:dPt>
            <c:idx val="5"/>
            <c:invertIfNegative val="0"/>
            <c:spPr>
              <a:solidFill>
                <a:srgbClr val="C3C9D4"/>
              </a:solidFill>
            </c:spPr>
          </c:dPt>
          <c:dLbls>
            <c:dLbl>
              <c:idx val="0"/>
              <c:tx>
                <c:rich>
                  <a:bodyPr/>
                  <a:lstStyle/>
                  <a:p>
                    <a:r>
                      <a:rPr sz="1300" b="1">
                        <a:solidFill>
                          <a:srgbClr val="1E2A3A"/>
                        </a:solidFill>
                        <a:latin typeface="Arial"/>
                      </a:rPr>
                      <a:t>12.6</a:t>
                    </a:r>
                  </a:p>
                </c:rich>
              </c:tx>
              <c:showLegendKey val="0"/>
              <c:showVal val="1"/>
              <c:showCatName val="0"/>
              <c:showSerName val="0"/>
              <c:showPercent val="0"/>
              <c:showBubbleSize val="0"/>
            </c:dLbl>
            <c:dLbl>
              <c:idx val="1"/>
              <c:tx>
                <c:rich>
                  <a:bodyPr/>
                  <a:lstStyle/>
                  <a:p>
                    <a:r>
                      <a:rPr sz="1300" b="1">
                        <a:solidFill>
                          <a:srgbClr val="1E2A3A"/>
                        </a:solidFill>
                        <a:latin typeface="Arial"/>
                      </a:rPr>
                      <a:t>28.5</a:t>
                    </a:r>
                  </a:p>
                </c:rich>
              </c:tx>
              <c:showLegendKey val="0"/>
              <c:showVal val="1"/>
              <c:showCatName val="0"/>
              <c:showSerName val="0"/>
              <c:showPercent val="0"/>
              <c:showBubbleSize val="0"/>
            </c:dLbl>
            <c:dLbl>
              <c:idx val="2"/>
              <c:tx>
                <c:rich>
                  <a:bodyPr/>
                  <a:lstStyle/>
                  <a:p>
                    <a:r>
                      <a:rPr sz="1300" b="1">
                        <a:solidFill>
                          <a:srgbClr val="1E2A3A"/>
                        </a:solidFill>
                        <a:latin typeface="Arial"/>
                      </a:rPr>
                      <a:t>33.3</a:t>
                    </a:r>
                  </a:p>
                </c:rich>
              </c:tx>
              <c:showLegendKey val="0"/>
              <c:showVal val="1"/>
              <c:showCatName val="0"/>
              <c:showSerName val="0"/>
              <c:showPercent val="0"/>
              <c:showBubbleSize val="0"/>
            </c:dLbl>
            <c:dLbl>
              <c:idx val="3"/>
              <c:tx>
                <c:rich>
                  <a:bodyPr/>
                  <a:lstStyle/>
                  <a:p>
                    <a:r>
                      <a:rPr sz="1300" b="1">
                        <a:solidFill>
                          <a:srgbClr val="1E2A3A"/>
                        </a:solidFill>
                        <a:latin typeface="Arial"/>
                      </a:rPr>
                      <a:t>51.0</a:t>
                    </a:r>
                  </a:p>
                </c:rich>
              </c:tx>
              <c:showLegendKey val="0"/>
              <c:showVal val="1"/>
              <c:showCatName val="0"/>
              <c:showSerName val="0"/>
              <c:showPercent val="0"/>
              <c:showBubbleSize val="0"/>
            </c:dLbl>
            <c:dLbl>
              <c:idx val="4"/>
              <c:tx>
                <c:rich>
                  <a:bodyPr/>
                  <a:lstStyle/>
                  <a:p>
                    <a:r>
                      <a:rPr sz="1300" b="1">
                        <a:solidFill>
                          <a:srgbClr val="1E2A3A"/>
                        </a:solidFill>
                        <a:latin typeface="Arial"/>
                      </a:rPr>
                      <a:t>61.0</a:t>
                    </a:r>
                  </a:p>
                </c:rich>
              </c:tx>
              <c:showLegendKey val="0"/>
              <c:showVal val="1"/>
              <c:showCatName val="0"/>
              <c:showSerName val="0"/>
              <c:showPercent val="0"/>
              <c:showBubbleSize val="0"/>
            </c:dLbl>
            <c:dLbl>
              <c:idx val="5"/>
              <c:tx>
                <c:rich>
                  <a:bodyPr/>
                  <a:lstStyle/>
                  <a:p>
                    <a:r>
                      <a:rPr sz="1300" b="1">
                        <a:solidFill>
                          <a:srgbClr val="1E2A3A"/>
                        </a:solidFill>
                        <a:latin typeface="Arial"/>
                      </a:rPr>
                      <a:t>87.5</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State fee guide, 1 day</c:v>
                </c:pt>
                <c:pt idx="1">
                  <c:v>Our regional program</c:v>
                </c:pt>
                <c:pt idx="2">
                  <c:v>Our 3-day program, per day</c:v>
                </c:pt>
                <c:pt idx="3">
                  <c:v>Our state bank price</c:v>
                </c:pt>
                <c:pt idx="4">
                  <c:v>Our private bank price</c:v>
                </c:pt>
                <c:pt idx="5">
                  <c:v>Big training firms (banks)</c:v>
                </c:pt>
              </c:strCache>
            </c:strRef>
          </c:cat>
          <c:val>
            <c:numRef>
              <c:f>Sheet1!$B$2:$B$7</c:f>
              <c:numCache>
                <c:formatCode>General</c:formatCode>
                <c:ptCount val="6"/>
                <c:pt idx="0">
                  <c:v>12.6</c:v>
                </c:pt>
                <c:pt idx="1">
                  <c:v>28.5</c:v>
                </c:pt>
                <c:pt idx="2">
                  <c:v>33.3</c:v>
                </c:pt>
                <c:pt idx="3">
                  <c:v>51.0</c:v>
                </c:pt>
                <c:pt idx="4">
                  <c:v>61.0</c:v>
                </c:pt>
                <c:pt idx="5">
                  <c:v>87.5</c:v>
                </c:pt>
              </c:numCache>
            </c:numRef>
          </c:val>
        </c:ser>
        <c:dLbls>
          <c:numFmt formatCode="#,##0.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109.375"/>
          <c:min val="0.0"/>
        </c:scaling>
        <c:delete/>
        <c:axPos val="b"/>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Price divided by our cost (rule: 3 or more)</a:t>
            </a:r>
          </a:p>
        </c:rich>
      </c:tx>
      <c:layout/>
      <c:overlay val="0"/>
    </c:title>
    <c:autoTitleDeleted val="0"/>
    <c:plotArea>
      <c:barChart>
        <c:barDir val="bar"/>
        <c:grouping val="clustered"/>
        <c:ser>
          <c:idx val="0"/>
          <c:order val="0"/>
          <c:tx>
            <c:strRef>
              <c:f>Sheet1!$B$1</c:f>
              <c:strCache>
                <c:ptCount val="1"/>
                <c:pt idx="0">
                  <c:v>Times our cost</c:v>
                </c:pt>
              </c:strCache>
            </c:strRef>
          </c:tx>
          <c:invertIfNegative val="0"/>
          <c:dPt>
            <c:idx val="0"/>
            <c:invertIfNegative val="0"/>
            <c:spPr>
              <a:solidFill>
                <a:srgbClr val="576C94"/>
              </a:solidFill>
            </c:spPr>
          </c:dPt>
          <c:dPt>
            <c:idx val="1"/>
            <c:invertIfNegative val="0"/>
            <c:spPr>
              <a:solidFill>
                <a:srgbClr val="576C94"/>
              </a:solidFill>
            </c:spPr>
          </c:dPt>
          <c:dPt>
            <c:idx val="2"/>
            <c:invertIfNegative val="0"/>
            <c:spPr>
              <a:solidFill>
                <a:srgbClr val="576C94"/>
              </a:solidFill>
            </c:spPr>
          </c:dPt>
          <c:dPt>
            <c:idx val="3"/>
            <c:invertIfNegative val="0"/>
            <c:spPr>
              <a:solidFill>
                <a:srgbClr val="576C94"/>
              </a:solidFill>
            </c:spPr>
          </c:dPt>
          <c:dPt>
            <c:idx val="4"/>
            <c:invertIfNegative val="0"/>
            <c:spPr>
              <a:solidFill>
                <a:srgbClr val="576C94"/>
              </a:solidFill>
            </c:spPr>
          </c:dPt>
          <c:dPt>
            <c:idx val="5"/>
            <c:invertIfNegative val="0"/>
            <c:spPr>
              <a:solidFill>
                <a:srgbClr val="9B3809"/>
              </a:solidFill>
            </c:spPr>
          </c:dPt>
          <c:dPt>
            <c:idx val="6"/>
            <c:invertIfNegative val="0"/>
            <c:spPr>
              <a:solidFill>
                <a:srgbClr val="9B3809"/>
              </a:solidFill>
            </c:spPr>
          </c:dPt>
          <c:dLbls>
            <c:dLbl>
              <c:idx val="0"/>
              <c:tx>
                <c:rich>
                  <a:bodyPr/>
                  <a:lstStyle/>
                  <a:p>
                    <a:r>
                      <a:rPr sz="1300" b="1">
                        <a:solidFill>
                          <a:srgbClr val="1E2A3A"/>
                        </a:solidFill>
                        <a:latin typeface="Arial"/>
                      </a:rPr>
                      <a:t>4.0x</a:t>
                    </a:r>
                  </a:p>
                </c:rich>
              </c:tx>
              <c:showLegendKey val="0"/>
              <c:showVal val="1"/>
              <c:showCatName val="0"/>
              <c:showSerName val="0"/>
              <c:showPercent val="0"/>
              <c:showBubbleSize val="0"/>
            </c:dLbl>
            <c:dLbl>
              <c:idx val="1"/>
              <c:tx>
                <c:rich>
                  <a:bodyPr/>
                  <a:lstStyle/>
                  <a:p>
                    <a:r>
                      <a:rPr sz="1300" b="1">
                        <a:solidFill>
                          <a:srgbClr val="1E2A3A"/>
                        </a:solidFill>
                        <a:latin typeface="Arial"/>
                      </a:rPr>
                      <a:t>3.6x</a:t>
                    </a:r>
                  </a:p>
                </c:rich>
              </c:tx>
              <c:showLegendKey val="0"/>
              <c:showVal val="1"/>
              <c:showCatName val="0"/>
              <c:showSerName val="0"/>
              <c:showPercent val="0"/>
              <c:showBubbleSize val="0"/>
            </c:dLbl>
            <c:dLbl>
              <c:idx val="2"/>
              <c:tx>
                <c:rich>
                  <a:bodyPr/>
                  <a:lstStyle/>
                  <a:p>
                    <a:r>
                      <a:rPr sz="1300" b="1">
                        <a:solidFill>
                          <a:srgbClr val="1E2A3A"/>
                        </a:solidFill>
                        <a:latin typeface="Arial"/>
                      </a:rPr>
                      <a:t>4.2x</a:t>
                    </a:r>
                  </a:p>
                </c:rich>
              </c:tx>
              <c:showLegendKey val="0"/>
              <c:showVal val="1"/>
              <c:showCatName val="0"/>
              <c:showSerName val="0"/>
              <c:showPercent val="0"/>
              <c:showBubbleSize val="0"/>
            </c:dLbl>
            <c:dLbl>
              <c:idx val="3"/>
              <c:tx>
                <c:rich>
                  <a:bodyPr/>
                  <a:lstStyle/>
                  <a:p>
                    <a:r>
                      <a:rPr sz="1300" b="1">
                        <a:solidFill>
                          <a:srgbClr val="1E2A3A"/>
                        </a:solidFill>
                        <a:latin typeface="Arial"/>
                      </a:rPr>
                      <a:t>5.1x</a:t>
                    </a:r>
                  </a:p>
                </c:rich>
              </c:tx>
              <c:showLegendKey val="0"/>
              <c:showVal val="1"/>
              <c:showCatName val="0"/>
              <c:showSerName val="0"/>
              <c:showPercent val="0"/>
              <c:showBubbleSize val="0"/>
            </c:dLbl>
            <c:dLbl>
              <c:idx val="4"/>
              <c:tx>
                <c:rich>
                  <a:bodyPr/>
                  <a:lstStyle/>
                  <a:p>
                    <a:r>
                      <a:rPr sz="1300" b="1">
                        <a:solidFill>
                          <a:srgbClr val="1E2A3A"/>
                        </a:solidFill>
                        <a:latin typeface="Arial"/>
                      </a:rPr>
                      <a:t>3.0x</a:t>
                    </a:r>
                  </a:p>
                </c:rich>
              </c:tx>
              <c:showLegendKey val="0"/>
              <c:showVal val="1"/>
              <c:showCatName val="0"/>
              <c:showSerName val="0"/>
              <c:showPercent val="0"/>
              <c:showBubbleSize val="0"/>
            </c:dLbl>
            <c:dLbl>
              <c:idx val="5"/>
              <c:tx>
                <c:rich>
                  <a:bodyPr/>
                  <a:lstStyle/>
                  <a:p>
                    <a:r>
                      <a:rPr sz="1300" b="1">
                        <a:solidFill>
                          <a:srgbClr val="1E2A3A"/>
                        </a:solidFill>
                        <a:latin typeface="Arial"/>
                      </a:rPr>
                      <a:t>2.5x</a:t>
                    </a:r>
                  </a:p>
                </c:rich>
              </c:tx>
              <c:showLegendKey val="0"/>
              <c:showVal val="1"/>
              <c:showCatName val="0"/>
              <c:showSerName val="0"/>
              <c:showPercent val="0"/>
              <c:showBubbleSize val="0"/>
            </c:dLbl>
            <c:dLbl>
              <c:idx val="6"/>
              <c:tx>
                <c:rich>
                  <a:bodyPr/>
                  <a:lstStyle/>
                  <a:p>
                    <a:r>
                      <a:rPr sz="1300" b="1">
                        <a:solidFill>
                          <a:srgbClr val="1E2A3A"/>
                        </a:solidFill>
                        <a:latin typeface="Arial"/>
                      </a:rPr>
                      <a:t>2.5x</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3-day program</c:v>
                </c:pt>
                <c:pt idx="1">
                  <c:v>Regional program</c:v>
                </c:pt>
                <c:pt idx="2">
                  <c:v>State bank</c:v>
                </c:pt>
                <c:pt idx="3">
                  <c:v>Private bank</c:v>
                </c:pt>
                <c:pt idx="4">
                  <c:v>EAP</c:v>
                </c:pt>
                <c:pt idx="5">
                  <c:v>Public event</c:v>
                </c:pt>
                <c:pt idx="6">
                  <c:v>Counseling</c:v>
                </c:pt>
              </c:strCache>
            </c:strRef>
          </c:cat>
          <c:val>
            <c:numRef>
              <c:f>Sheet1!$B$2:$B$8</c:f>
              <c:numCache>
                <c:formatCode>General</c:formatCode>
                <c:ptCount val="7"/>
                <c:pt idx="0">
                  <c:v>4.0</c:v>
                </c:pt>
                <c:pt idx="1">
                  <c:v>3.56</c:v>
                </c:pt>
                <c:pt idx="2">
                  <c:v>4.25</c:v>
                </c:pt>
                <c:pt idx="3">
                  <c:v>5.08</c:v>
                </c:pt>
                <c:pt idx="4">
                  <c:v>3.0</c:v>
                </c:pt>
                <c:pt idx="5">
                  <c:v>2.5</c:v>
                </c:pt>
                <c:pt idx="6">
                  <c:v>2.5</c:v>
                </c:pt>
              </c:numCache>
            </c:numRef>
          </c:val>
        </c:ser>
        <c:dLbls>
          <c:numFmt formatCode="0.0&quot;x&quot;"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6.35"/>
          <c:min val="0.0"/>
        </c:scaling>
        <c:delete/>
        <c:axPos val="b"/>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Sales for one year by type of client (Rp M)</a:t>
            </a:r>
          </a:p>
        </c:rich>
      </c:tx>
      <c:layout/>
      <c:overlay val="0"/>
    </c:title>
    <c:autoTitleDeleted val="0"/>
    <c:plotArea>
      <c:barChart>
        <c:barDir val="col"/>
        <c:grouping val="stacked"/>
        <c:ser>
          <c:idx val="0"/>
          <c:order val="0"/>
          <c:tx>
            <c:strRef>
              <c:f>Sheet1!$B$1</c:f>
              <c:strCache>
                <c:ptCount val="1"/>
                <c:pt idx="0">
                  <c:v>BI (Bank Indonesia)</c:v>
                </c:pt>
              </c:strCache>
            </c:strRef>
          </c:tx>
          <c:spPr>
            <a:solidFill>
              <a:srgbClr val="1E2A3A"/>
            </a:solidFill>
          </c:spPr>
          <c:invertIfNegative val="0"/>
          <c:cat>
            <c:strRef>
              <c:f>Sheet1!$A$2:$A$3</c:f>
              <c:strCache>
                <c:ptCount val="2"/>
                <c:pt idx="0">
                  <c:v>2027 plan</c:v>
                </c:pt>
                <c:pt idx="1">
                  <c:v>With growth</c:v>
                </c:pt>
              </c:strCache>
            </c:strRef>
          </c:cat>
          <c:val>
            <c:numRef>
              <c:f>Sheet1!$B$2:$B$3</c:f>
              <c:numCache>
                <c:formatCode>General</c:formatCode>
                <c:ptCount val="2"/>
                <c:pt idx="0">
                  <c:v>912</c:v>
                </c:pt>
                <c:pt idx="1">
                  <c:v>912</c:v>
                </c:pt>
              </c:numCache>
            </c:numRef>
          </c:val>
        </c:ser>
        <c:ser>
          <c:idx val="1"/>
          <c:order val="1"/>
          <c:tx>
            <c:strRef>
              <c:f>Sheet1!$C$1</c:f>
              <c:strCache>
                <c:ptCount val="1"/>
                <c:pt idx="0">
                  <c:v>Other regulators and banks</c:v>
                </c:pt>
              </c:strCache>
            </c:strRef>
          </c:tx>
          <c:spPr>
            <a:solidFill>
              <a:srgbClr val="576C94"/>
            </a:solidFill>
          </c:spPr>
          <c:invertIfNegative val="0"/>
          <c:cat>
            <c:strRef>
              <c:f>Sheet1!$A$2:$A$3</c:f>
              <c:strCache>
                <c:ptCount val="2"/>
                <c:pt idx="0">
                  <c:v>2027 plan</c:v>
                </c:pt>
                <c:pt idx="1">
                  <c:v>With growth</c:v>
                </c:pt>
              </c:strCache>
            </c:strRef>
          </c:cat>
          <c:val>
            <c:numRef>
              <c:f>Sheet1!$C$2:$C$3</c:f>
              <c:numCache>
                <c:formatCode>General</c:formatCode>
                <c:ptCount val="2"/>
                <c:pt idx="0">
                  <c:v>287</c:v>
                </c:pt>
                <c:pt idx="1">
                  <c:v>797</c:v>
                </c:pt>
              </c:numCache>
            </c:numRef>
          </c:val>
        </c:ser>
        <c:ser>
          <c:idx val="2"/>
          <c:order val="2"/>
          <c:tx>
            <c:strRef>
              <c:f>Sheet1!$D$1</c:f>
              <c:strCache>
                <c:ptCount val="1"/>
                <c:pt idx="0">
                  <c:v>EAP (monthly)</c:v>
                </c:pt>
              </c:strCache>
            </c:strRef>
          </c:tx>
          <c:spPr>
            <a:solidFill>
              <a:srgbClr val="9B3809"/>
            </a:solidFill>
          </c:spPr>
          <c:invertIfNegative val="0"/>
          <c:cat>
            <c:strRef>
              <c:f>Sheet1!$A$2:$A$3</c:f>
              <c:strCache>
                <c:ptCount val="2"/>
                <c:pt idx="0">
                  <c:v>2027 plan</c:v>
                </c:pt>
                <c:pt idx="1">
                  <c:v>With growth</c:v>
                </c:pt>
              </c:strCache>
            </c:strRef>
          </c:cat>
          <c:val>
            <c:numRef>
              <c:f>Sheet1!$D$2:$D$3</c:f>
              <c:numCache>
                <c:formatCode>General</c:formatCode>
                <c:ptCount val="2"/>
                <c:pt idx="0">
                  <c:v>180</c:v>
                </c:pt>
                <c:pt idx="1">
                  <c:v>540</c:v>
                </c:pt>
              </c:numCache>
            </c:numRef>
          </c:val>
        </c:ser>
        <c:ser>
          <c:idx val="3"/>
          <c:order val="3"/>
          <c:tx>
            <c:strRef>
              <c:f>Sheet1!$E$1</c:f>
              <c:strCache>
                <c:ptCount val="1"/>
                <c:pt idx="0">
                  <c:v>Public events and counseling</c:v>
                </c:pt>
              </c:strCache>
            </c:strRef>
          </c:tx>
          <c:spPr>
            <a:solidFill>
              <a:srgbClr val="C3C9D4"/>
            </a:solidFill>
          </c:spPr>
          <c:invertIfNegative val="0"/>
          <c:cat>
            <c:strRef>
              <c:f>Sheet1!$A$2:$A$3</c:f>
              <c:strCache>
                <c:ptCount val="2"/>
                <c:pt idx="0">
                  <c:v>2027 plan</c:v>
                </c:pt>
                <c:pt idx="1">
                  <c:v>With growth</c:v>
                </c:pt>
              </c:strCache>
            </c:strRef>
          </c:cat>
          <c:val>
            <c:numRef>
              <c:f>Sheet1!$E$2:$E$3</c:f>
              <c:numCache>
                <c:formatCode>General</c:formatCode>
                <c:ptCount val="2"/>
                <c:pt idx="0">
                  <c:v>123</c:v>
                </c:pt>
                <c:pt idx="1">
                  <c:v>123</c:v>
                </c:pt>
              </c:numCache>
            </c:numRef>
          </c:val>
        </c:ser>
        <c:dLbls>
          <c:numFmt formatCode="#,##0" sourceLinked="0"/>
          <c:txPr>
            <a:bodyPr/>
            <a:lstStyle/>
            <a:p>
              <a:pPr>
                <a:defRPr sz="1200" b="1">
                  <a:solidFill>
                    <a:srgbClr val="FFFFFF"/>
                  </a:solidFill>
                  <a:latin typeface="Arial"/>
                </a:defRPr>
              </a:pPr>
            </a:p>
          </c:txPr>
          <c:dLblPos val="ctr"/>
          <c:showLegendKey val="0"/>
          <c:showVal val="1"/>
          <c:showCatName val="0"/>
          <c:showSerName val="0"/>
          <c:showPercent val="0"/>
          <c:showBubbleSize val="0"/>
          <c:showLeaderLines val="1"/>
        </c:dLbls>
        <c:gapWidth val="80"/>
        <c:overlap val="10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2965.0"/>
          <c:min val="0.0"/>
        </c:scaling>
        <c:delete/>
        <c:axPos val="l"/>
        <c:majorTickMark val="out"/>
        <c:minorTickMark val="none"/>
        <c:tickLblPos val="nextTo"/>
        <c:crossAx val="-2068027336"/>
        <c:crosses val="autoZero"/>
      </c:valAx>
    </c:plotArea>
    <c:legend>
      <c:legendPos val="b"/>
      <c:overlay val="0"/>
      <c:txPr>
        <a:bodyPr/>
        <a:lstStyle/>
        <a:p>
          <a:pPr>
            <a:defRPr sz="12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One year (Rp M)</a:t>
            </a:r>
          </a:p>
        </c:rich>
      </c:tx>
      <c:layout/>
      <c:overlay val="0"/>
    </c:title>
    <c:autoTitleDeleted val="0"/>
    <c:plotArea>
      <c:barChart>
        <c:barDir val="col"/>
        <c:grouping val="clustered"/>
        <c:ser>
          <c:idx val="0"/>
          <c:order val="0"/>
          <c:tx>
            <c:strRef>
              <c:f>Sheet1!$B$1</c:f>
              <c:strCache>
                <c:ptCount val="1"/>
                <c:pt idx="0">
                  <c:v>Rp M a year</c:v>
                </c:pt>
              </c:strCache>
            </c:strRef>
          </c:tx>
          <c:invertIfNegative val="0"/>
          <c:dPt>
            <c:idx val="0"/>
            <c:invertIfNegative val="0"/>
            <c:spPr>
              <a:solidFill>
                <a:srgbClr val="9B3809"/>
              </a:solidFill>
            </c:spPr>
          </c:dPt>
          <c:dPt>
            <c:idx val="1"/>
            <c:invertIfNegative val="0"/>
            <c:spPr>
              <a:solidFill>
                <a:srgbClr val="576C94"/>
              </a:solidFill>
            </c:spPr>
          </c:dPt>
          <c:dPt>
            <c:idx val="2"/>
            <c:invertIfNegative val="0"/>
            <c:spPr>
              <a:solidFill>
                <a:srgbClr val="576C94"/>
              </a:solidFill>
            </c:spPr>
          </c:dPt>
          <c:cat>
            <c:strRef>
              <c:f>Sheet1!$A$2:$A$4</c:f>
              <c:strCache>
                <c:ptCount val="3"/>
                <c:pt idx="0">
                  <c:v>Co-founder cost</c:v>
                </c:pt>
                <c:pt idx="1">
                  <c:v>Profit, 3 bank days</c:v>
                </c:pt>
                <c:pt idx="2">
                  <c:v>Profit, 10 bank days</c:v>
                </c:pt>
              </c:strCache>
            </c:strRef>
          </c:cat>
          <c:val>
            <c:numRef>
              <c:f>Sheet1!$B$2:$B$4</c:f>
              <c:numCache>
                <c:formatCode>General</c:formatCode>
                <c:ptCount val="3"/>
                <c:pt idx="0">
                  <c:v>96.0</c:v>
                </c:pt>
                <c:pt idx="1">
                  <c:v>102.0</c:v>
                </c:pt>
                <c:pt idx="2">
                  <c:v>340.0</c:v>
                </c:pt>
              </c:numCache>
            </c:numRef>
          </c:val>
        </c:ser>
        <c:dLbls>
          <c:numFmt formatCode="#,##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425.0"/>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Revenue per quarter (Rp M)</a:t>
            </a:r>
          </a:p>
        </c:rich>
      </c:tx>
      <c:layout/>
      <c:overlay val="0"/>
    </c:title>
    <c:autoTitleDeleted val="0"/>
    <c:plotArea>
      <c:barChart>
        <c:barDir val="col"/>
        <c:grouping val="stacked"/>
        <c:ser>
          <c:idx val="0"/>
          <c:order val="0"/>
          <c:tx>
            <c:strRef>
              <c:f>Sheet1!$B$1</c:f>
              <c:strCache>
                <c:ptCount val="1"/>
                <c:pt idx="0">
                  <c:v>B2B: regulators, banks, EAP</c:v>
                </c:pt>
              </c:strCache>
            </c:strRef>
          </c:tx>
          <c:spPr>
            <a:solidFill>
              <a:srgbClr val="1E2A3A"/>
            </a:solidFill>
          </c:spPr>
          <c:invertIfNegative val="0"/>
          <c:dLbls>
            <c:dLbl>
              <c:idx val="0"/>
              <c:tx>
                <c:rich>
                  <a:bodyPr/>
                  <a:lstStyle/>
                  <a:p>
                    <a:r>
                      <a:rPr sz="1200" b="1">
                        <a:solidFill>
                          <a:srgbClr val="FFFFFF"/>
                        </a:solidFill>
                        <a:latin typeface="Arial"/>
                      </a:rPr>
                      <a:t>45</a:t>
                    </a:r>
                  </a:p>
                </c:rich>
              </c:tx>
              <c:showLegendKey val="0"/>
              <c:showVal val="1"/>
              <c:showCatName val="0"/>
              <c:showSerName val="0"/>
              <c:showPercent val="0"/>
              <c:showBubbleSize val="0"/>
            </c:dLbl>
            <c:dLbl>
              <c:idx val="1"/>
              <c:tx>
                <c:rich>
                  <a:bodyPr/>
                  <a:lstStyle/>
                  <a:p>
                    <a:r>
                      <a:rPr sz="1200" b="1">
                        <a:solidFill>
                          <a:srgbClr val="FFFFFF"/>
                        </a:solidFill>
                        <a:latin typeface="Arial"/>
                      </a:rPr>
                      <a:t>204</a:t>
                    </a:r>
                  </a:p>
                </c:rich>
              </c:tx>
              <c:showLegendKey val="0"/>
              <c:showVal val="1"/>
              <c:showCatName val="0"/>
              <c:showSerName val="0"/>
              <c:showPercent val="0"/>
              <c:showBubbleSize val="0"/>
            </c:dLbl>
            <c:dLbl>
              <c:idx val="2"/>
              <c:tx>
                <c:rich>
                  <a:bodyPr/>
                  <a:lstStyle/>
                  <a:p>
                    <a:r>
                      <a:rPr sz="1200" b="1">
                        <a:solidFill>
                          <a:srgbClr val="FFFFFF"/>
                        </a:solidFill>
                        <a:latin typeface="Arial"/>
                      </a:rPr>
                      <a:t>300</a:t>
                    </a:r>
                  </a:p>
                </c:rich>
              </c:tx>
              <c:showLegendKey val="0"/>
              <c:showVal val="1"/>
              <c:showCatName val="0"/>
              <c:showSerName val="0"/>
              <c:showPercent val="0"/>
              <c:showBubbleSize val="0"/>
            </c:dLbl>
            <c:dLbl>
              <c:idx val="3"/>
              <c:tx>
                <c:rich>
                  <a:bodyPr/>
                  <a:lstStyle/>
                  <a:p>
                    <a:r>
                      <a:rPr sz="1200" b="1">
                        <a:solidFill>
                          <a:srgbClr val="FFFFFF"/>
                        </a:solidFill>
                        <a:latin typeface="Arial"/>
                      </a:rPr>
                      <a:t>502</a:t>
                    </a:r>
                  </a:p>
                </c:rich>
              </c:tx>
              <c:showLegendKey val="0"/>
              <c:showVal val="1"/>
              <c:showCatName val="0"/>
              <c:showSerName val="0"/>
              <c:showPercent val="0"/>
              <c:showBubbleSize val="0"/>
            </c:dLbl>
            <c:dLbl>
              <c:idx val="4"/>
              <c:tx>
                <c:rich>
                  <a:bodyPr/>
                  <a:lstStyle/>
                  <a:p>
                    <a:r>
                      <a:rPr sz="1200" b="1">
                        <a:solidFill>
                          <a:srgbClr val="FFFFFF"/>
                        </a:solidFill>
                        <a:latin typeface="Arial"/>
                      </a:rPr>
                      <a:t>788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Q4 2026</c:v>
                </c:pt>
                <c:pt idx="1">
                  <c:v>Q1 2027</c:v>
                </c:pt>
                <c:pt idx="2">
                  <c:v>Q2 2027</c:v>
                </c:pt>
                <c:pt idx="3">
                  <c:v>Q3 2027</c:v>
                </c:pt>
                <c:pt idx="4">
                  <c:v>Q4 2027</c:v>
                </c:pt>
              </c:strCache>
            </c:strRef>
          </c:cat>
          <c:val>
            <c:numRef>
              <c:f>Sheet1!$B$2:$B$6</c:f>
              <c:numCache>
                <c:formatCode>General</c:formatCode>
                <c:ptCount val="5"/>
                <c:pt idx="0">
                  <c:v>45</c:v>
                </c:pt>
                <c:pt idx="1">
                  <c:v>204</c:v>
                </c:pt>
                <c:pt idx="2">
                  <c:v>300</c:v>
                </c:pt>
                <c:pt idx="3">
                  <c:v>502</c:v>
                </c:pt>
                <c:pt idx="4">
                  <c:v>788</c:v>
                </c:pt>
              </c:numCache>
            </c:numRef>
          </c:val>
        </c:ser>
        <c:ser>
          <c:idx val="1"/>
          <c:order val="1"/>
          <c:tx>
            <c:strRef>
              <c:f>Sheet1!$C$1</c:f>
              <c:strCache>
                <c:ptCount val="1"/>
                <c:pt idx="0">
                  <c:v>B2C: counseling and public events</c:v>
                </c:pt>
              </c:strCache>
            </c:strRef>
          </c:tx>
          <c:spPr>
            <a:solidFill>
              <a:srgbClr val="9B3809"/>
            </a:solidFill>
          </c:spPr>
          <c:invertIfNegative val="0"/>
          <c:dLbls>
            <c:dLbl>
              <c:idx val="0"/>
              <c:tx>
                <c:rich>
                  <a:bodyPr/>
                  <a:lstStyle/>
                  <a:p/>
                </c:rich>
              </c:tx>
              <c:showLegendKey val="0"/>
              <c:showVal val="1"/>
              <c:showCatName val="0"/>
              <c:showSerName val="0"/>
              <c:showPercent val="0"/>
              <c:showBubbleSize val="0"/>
            </c:dLbl>
            <c:dLbl>
              <c:idx val="1"/>
              <c:tx>
                <c:rich>
                  <a:bodyPr/>
                  <a:lstStyle/>
                  <a:p>
                    <a:r>
                      <a:rPr sz="1200" b="1">
                        <a:solidFill>
                          <a:srgbClr val="FFFFFF"/>
                        </a:solidFill>
                        <a:latin typeface="Arial"/>
                      </a:rPr>
                      <a:t>31</a:t>
                    </a:r>
                  </a:p>
                </c:rich>
              </c:tx>
              <c:showLegendKey val="0"/>
              <c:showVal val="1"/>
              <c:showCatName val="0"/>
              <c:showSerName val="0"/>
              <c:showPercent val="0"/>
              <c:showBubbleSize val="0"/>
            </c:dLbl>
            <c:dLbl>
              <c:idx val="2"/>
              <c:tx>
                <c:rich>
                  <a:bodyPr/>
                  <a:lstStyle/>
                  <a:p>
                    <a:r>
                      <a:rPr sz="1200" b="1">
                        <a:solidFill>
                          <a:srgbClr val="FFFFFF"/>
                        </a:solidFill>
                        <a:latin typeface="Arial"/>
                      </a:rPr>
                      <a:t>33</a:t>
                    </a:r>
                  </a:p>
                </c:rich>
              </c:tx>
              <c:showLegendKey val="0"/>
              <c:showVal val="1"/>
              <c:showCatName val="0"/>
              <c:showSerName val="0"/>
              <c:showPercent val="0"/>
              <c:showBubbleSize val="0"/>
            </c:dLbl>
            <c:dLbl>
              <c:idx val="3"/>
              <c:tx>
                <c:rich>
                  <a:bodyPr/>
                  <a:lstStyle/>
                  <a:p>
                    <a:r>
                      <a:rPr sz="1200" b="1">
                        <a:solidFill>
                          <a:srgbClr val="FFFFFF"/>
                        </a:solidFill>
                        <a:latin typeface="Arial"/>
                      </a:rPr>
                      <a:t>55</a:t>
                    </a:r>
                  </a:p>
                </c:rich>
              </c:tx>
              <c:showLegendKey val="0"/>
              <c:showVal val="1"/>
              <c:showCatName val="0"/>
              <c:showSerName val="0"/>
              <c:showPercent val="0"/>
              <c:showBubbleSize val="0"/>
            </c:dLbl>
            <c:dLbl>
              <c:idx val="4"/>
              <c:tx>
                <c:rich>
                  <a:bodyPr/>
                  <a:lstStyle/>
                  <a:p>
                    <a:r>
                      <a:rPr sz="1200" b="1">
                        <a:solidFill>
                          <a:srgbClr val="FFFFFF"/>
                        </a:solidFill>
                        <a:latin typeface="Arial"/>
                      </a:rPr>
                      <a:t>127</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Q4 2026</c:v>
                </c:pt>
                <c:pt idx="1">
                  <c:v>Q1 2027</c:v>
                </c:pt>
                <c:pt idx="2">
                  <c:v>Q2 2027</c:v>
                </c:pt>
                <c:pt idx="3">
                  <c:v>Q3 2027</c:v>
                </c:pt>
                <c:pt idx="4">
                  <c:v>Q4 2027</c:v>
                </c:pt>
              </c:strCache>
            </c:strRef>
          </c:cat>
          <c:val>
            <c:numRef>
              <c:f>Sheet1!$C$2:$C$6</c:f>
              <c:numCache>
                <c:formatCode>General</c:formatCode>
                <c:ptCount val="5"/>
                <c:pt idx="0">
                  <c:v>7</c:v>
                </c:pt>
                <c:pt idx="1">
                  <c:v>31</c:v>
                </c:pt>
                <c:pt idx="2">
                  <c:v>33</c:v>
                </c:pt>
                <c:pt idx="3">
                  <c:v>55</c:v>
                </c:pt>
                <c:pt idx="4">
                  <c:v>127</c:v>
                </c:pt>
              </c:numCache>
            </c:numRef>
          </c:val>
        </c:ser>
        <c:dLbls>
          <c:numFmt formatCode="#,##0" sourceLinked="0"/>
          <c:txPr>
            <a:bodyPr/>
            <a:lstStyle/>
            <a:p>
              <a:pPr>
                <a:defRPr sz="1200" b="1">
                  <a:solidFill>
                    <a:srgbClr val="FFFFFF"/>
                  </a:solidFill>
                  <a:latin typeface="Aria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1143.75"/>
          <c:min val="0.0"/>
        </c:scaling>
        <c:delete/>
        <c:axPos val="l"/>
        <c:majorTickMark val="out"/>
        <c:minorTickMark val="none"/>
        <c:tickLblPos val="nextTo"/>
        <c:crossAx val="-2068027336"/>
        <c:crosses val="autoZero"/>
      </c:valAx>
    </c:plotArea>
    <c:legend>
      <c:legendPos val="b"/>
      <c:overlay val="0"/>
      <c:txPr>
        <a:bodyPr/>
        <a:lstStyle/>
        <a:p>
          <a:pPr>
            <a:defRPr sz="12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Profit per client vs cost to win one client (Rp thousand)</a:t>
            </a:r>
          </a:p>
        </c:rich>
      </c:tx>
      <c:layout/>
      <c:overlay val="0"/>
    </c:title>
    <c:autoTitleDeleted val="0"/>
    <c:plotArea>
      <c:barChart>
        <c:barDir val="bar"/>
        <c:grouping val="clustered"/>
        <c:ser>
          <c:idx val="0"/>
          <c:order val="0"/>
          <c:tx>
            <c:strRef>
              <c:f>Sheet1!$B$1</c:f>
              <c:strCache>
                <c:ptCount val="1"/>
                <c:pt idx="0">
                  <c:v>Rp thousand</c:v>
                </c:pt>
              </c:strCache>
            </c:strRef>
          </c:tx>
          <c:invertIfNegative val="0"/>
          <c:dPt>
            <c:idx val="0"/>
            <c:invertIfNegative val="0"/>
            <c:spPr>
              <a:solidFill>
                <a:srgbClr val="1E2A3A"/>
              </a:solidFill>
            </c:spPr>
          </c:dPt>
          <c:dPt>
            <c:idx val="1"/>
            <c:invertIfNegative val="0"/>
            <c:spPr>
              <a:solidFill>
                <a:srgbClr val="C3C9D4"/>
              </a:solidFill>
            </c:spPr>
          </c:dPt>
          <c:dPt>
            <c:idx val="2"/>
            <c:invertIfNegative val="0"/>
            <c:spPr>
              <a:solidFill>
                <a:srgbClr val="C3C9D4"/>
              </a:solidFill>
            </c:spPr>
          </c:dPt>
          <c:dPt>
            <c:idx val="3"/>
            <c:invertIfNegative val="0"/>
            <c:spPr>
              <a:solidFill>
                <a:srgbClr val="9B3809"/>
              </a:solidFill>
            </c:spPr>
          </c:dPt>
          <c:dLbls>
            <c:dLbl>
              <c:idx val="0"/>
              <c:tx>
                <c:rich>
                  <a:bodyPr/>
                  <a:lstStyle/>
                  <a:p>
                    <a:r>
                      <a:rPr sz="1300" b="1">
                        <a:solidFill>
                          <a:srgbClr val="1E2A3A"/>
                        </a:solidFill>
                        <a:latin typeface="Arial"/>
                      </a:rPr>
                      <a:t>840</a:t>
                    </a:r>
                  </a:p>
                </c:rich>
              </c:tx>
              <c:showLegendKey val="0"/>
              <c:showVal val="1"/>
              <c:showCatName val="0"/>
              <c:showSerName val="0"/>
              <c:showPercent val="0"/>
              <c:showBubbleSize val="0"/>
            </c:dLbl>
            <c:dLbl>
              <c:idx val="1"/>
              <c:tx>
                <c:rich>
                  <a:bodyPr/>
                  <a:lstStyle/>
                  <a:p>
                    <a:r>
                      <a:rPr sz="1300" b="1">
                        <a:solidFill>
                          <a:srgbClr val="1E2A3A"/>
                        </a:solidFill>
                        <a:latin typeface="Arial"/>
                      </a:rPr>
                      <a:t>837</a:t>
                    </a:r>
                  </a:p>
                </c:rich>
              </c:tx>
              <c:showLegendKey val="0"/>
              <c:showVal val="1"/>
              <c:showCatName val="0"/>
              <c:showSerName val="0"/>
              <c:showPercent val="0"/>
              <c:showBubbleSize val="0"/>
            </c:dLbl>
            <c:dLbl>
              <c:idx val="2"/>
              <c:tx>
                <c:rich>
                  <a:bodyPr/>
                  <a:lstStyle/>
                  <a:p>
                    <a:r>
                      <a:rPr sz="1300" b="1">
                        <a:solidFill>
                          <a:srgbClr val="1E2A3A"/>
                        </a:solidFill>
                        <a:latin typeface="Arial"/>
                      </a:rPr>
                      <a:t>448</a:t>
                    </a:r>
                  </a:p>
                </c:rich>
              </c:tx>
              <c:showLegendKey val="0"/>
              <c:showVal val="1"/>
              <c:showCatName val="0"/>
              <c:showSerName val="0"/>
              <c:showPercent val="0"/>
              <c:showBubbleSize val="0"/>
            </c:dLbl>
            <c:dLbl>
              <c:idx val="3"/>
              <c:tx>
                <c:rich>
                  <a:bodyPr/>
                  <a:lstStyle/>
                  <a:p>
                    <a:r>
                      <a:rPr sz="1300" b="1">
                        <a:solidFill>
                          <a:srgbClr val="1E2A3A"/>
                        </a:solidFill>
                        <a:latin typeface="Arial"/>
                      </a:rPr>
                      <a:t>200</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Profit per client (LTV)</c:v>
                </c:pt>
                <c:pt idx="1">
                  <c:v>Instagram client, Jun 2027</c:v>
                </c:pt>
                <c:pt idx="2">
                  <c:v>Instagram client, Dec 2027</c:v>
                </c:pt>
                <c:pt idx="3">
                  <c:v>Referred client</c:v>
                </c:pt>
              </c:strCache>
            </c:strRef>
          </c:cat>
          <c:val>
            <c:numRef>
              <c:f>Sheet1!$B$2:$B$5</c:f>
              <c:numCache>
                <c:formatCode>General</c:formatCode>
                <c:ptCount val="4"/>
                <c:pt idx="0">
                  <c:v>840</c:v>
                </c:pt>
                <c:pt idx="1">
                  <c:v>837</c:v>
                </c:pt>
                <c:pt idx="2">
                  <c:v>448</c:v>
                </c:pt>
                <c:pt idx="3">
                  <c:v>200</c:v>
                </c:pt>
              </c:numCache>
            </c:numRef>
          </c:val>
        </c:ser>
        <c:dLbls>
          <c:numFmt formatCode="#,##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1050.0"/>
          <c:min val="0.0"/>
        </c:scaling>
        <c:delete/>
        <c:axPos val="b"/>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Net margin after each hiring step</a:t>
            </a:r>
          </a:p>
        </c:rich>
      </c:tx>
      <c:layout/>
      <c:overlay val="0"/>
    </c:title>
    <c:autoTitleDeleted val="0"/>
    <c:plotArea>
      <c:barChart>
        <c:barDir val="col"/>
        <c:grouping val="clustered"/>
        <c:ser>
          <c:idx val="0"/>
          <c:order val="0"/>
          <c:tx>
            <c:strRef>
              <c:f>Sheet1!$B$1</c:f>
              <c:strCache>
                <c:ptCount val="1"/>
                <c:pt idx="0">
                  <c:v>Net margin</c:v>
                </c:pt>
              </c:strCache>
            </c:strRef>
          </c:tx>
          <c:invertIfNegative val="0"/>
          <c:dPt>
            <c:idx val="0"/>
            <c:invertIfNegative val="0"/>
            <c:spPr>
              <a:solidFill>
                <a:srgbClr val="576C94"/>
              </a:solidFill>
            </c:spPr>
          </c:dPt>
          <c:dPt>
            <c:idx val="1"/>
            <c:invertIfNegative val="0"/>
            <c:spPr>
              <a:solidFill>
                <a:srgbClr val="9B3809"/>
              </a:solidFill>
            </c:spPr>
          </c:dPt>
          <c:dPt>
            <c:idx val="2"/>
            <c:invertIfNegative val="0"/>
            <c:spPr>
              <a:solidFill>
                <a:srgbClr val="576C94"/>
              </a:solidFill>
            </c:spPr>
          </c:dPt>
          <c:dPt>
            <c:idx val="3"/>
            <c:invertIfNegative val="0"/>
            <c:spPr>
              <a:solidFill>
                <a:srgbClr val="576C94"/>
              </a:solidFill>
            </c:spPr>
          </c:dPt>
          <c:dPt>
            <c:idx val="4"/>
            <c:invertIfNegative val="0"/>
            <c:spPr>
              <a:solidFill>
                <a:srgbClr val="576C94"/>
              </a:solidFill>
            </c:spPr>
          </c:dPt>
          <c:dPt>
            <c:idx val="5"/>
            <c:invertIfNegative val="0"/>
            <c:spPr>
              <a:solidFill>
                <a:srgbClr val="576C94"/>
              </a:solidFill>
            </c:spPr>
          </c:dPt>
          <c:dLbls>
            <c:dLbl>
              <c:idx val="0"/>
              <c:tx>
                <c:rich>
                  <a:bodyPr/>
                  <a:lstStyle/>
                  <a:p>
                    <a:r>
                      <a:rPr sz="1300" b="1">
                        <a:solidFill>
                          <a:srgbClr val="1E2A3A"/>
                        </a:solidFill>
                        <a:latin typeface="Arial"/>
                      </a:rPr>
                      <a:t>25.2%</a:t>
                    </a:r>
                  </a:p>
                </c:rich>
              </c:tx>
              <c:showLegendKey val="0"/>
              <c:showVal val="1"/>
              <c:showCatName val="0"/>
              <c:showSerName val="0"/>
              <c:showPercent val="0"/>
              <c:showBubbleSize val="0"/>
            </c:dLbl>
            <c:dLbl>
              <c:idx val="1"/>
              <c:tx>
                <c:rich>
                  <a:bodyPr/>
                  <a:lstStyle/>
                  <a:p>
                    <a:r>
                      <a:rPr sz="1300" b="1">
                        <a:solidFill>
                          <a:srgbClr val="1E2A3A"/>
                        </a:solidFill>
                        <a:latin typeface="Arial"/>
                      </a:rPr>
                      <a:t>12.3%</a:t>
                    </a:r>
                  </a:p>
                </c:rich>
              </c:tx>
              <c:showLegendKey val="0"/>
              <c:showVal val="1"/>
              <c:showCatName val="0"/>
              <c:showSerName val="0"/>
              <c:showPercent val="0"/>
              <c:showBubbleSize val="0"/>
            </c:dLbl>
            <c:dLbl>
              <c:idx val="2"/>
              <c:tx>
                <c:rich>
                  <a:bodyPr/>
                  <a:lstStyle/>
                  <a:p>
                    <a:r>
                      <a:rPr sz="1300" b="1">
                        <a:solidFill>
                          <a:srgbClr val="1E2A3A"/>
                        </a:solidFill>
                        <a:latin typeface="Arial"/>
                      </a:rPr>
                      <a:t>18.1%</a:t>
                    </a:r>
                  </a:p>
                </c:rich>
              </c:tx>
              <c:showLegendKey val="0"/>
              <c:showVal val="1"/>
              <c:showCatName val="0"/>
              <c:showSerName val="0"/>
              <c:showPercent val="0"/>
              <c:showBubbleSize val="0"/>
            </c:dLbl>
            <c:dLbl>
              <c:idx val="3"/>
              <c:tx>
                <c:rich>
                  <a:bodyPr/>
                  <a:lstStyle/>
                  <a:p>
                    <a:r>
                      <a:rPr sz="1300" b="1">
                        <a:solidFill>
                          <a:srgbClr val="1E2A3A"/>
                        </a:solidFill>
                        <a:latin typeface="Arial"/>
                      </a:rPr>
                      <a:t>24.4%</a:t>
                    </a:r>
                  </a:p>
                </c:rich>
              </c:tx>
              <c:showLegendKey val="0"/>
              <c:showVal val="1"/>
              <c:showCatName val="0"/>
              <c:showSerName val="0"/>
              <c:showPercent val="0"/>
              <c:showBubbleSize val="0"/>
            </c:dLbl>
            <c:dLbl>
              <c:idx val="4"/>
              <c:tx>
                <c:rich>
                  <a:bodyPr/>
                  <a:lstStyle/>
                  <a:p>
                    <a:r>
                      <a:rPr sz="1300" b="1">
                        <a:solidFill>
                          <a:srgbClr val="1E2A3A"/>
                        </a:solidFill>
                        <a:latin typeface="Arial"/>
                      </a:rPr>
                      <a:t>21.0%</a:t>
                    </a:r>
                  </a:p>
                </c:rich>
              </c:tx>
              <c:showLegendKey val="0"/>
              <c:showVal val="1"/>
              <c:showCatName val="0"/>
              <c:showSerName val="0"/>
              <c:showPercent val="0"/>
              <c:showBubbleSize val="0"/>
            </c:dLbl>
            <c:dLbl>
              <c:idx val="5"/>
              <c:tx>
                <c:rich>
                  <a:bodyPr/>
                  <a:lstStyle/>
                  <a:p>
                    <a:r>
                      <a:rPr sz="1300" b="1">
                        <a:solidFill>
                          <a:srgbClr val="1E2A3A"/>
                        </a:solidFill>
                        <a:latin typeface="Arial"/>
                      </a:rPr>
                      <a:t>15.9%</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New prices, today's pay</c:v>
                </c:pt>
                <c:pt idx="1">
                  <c:v>1. Fair pay for staff</c:v>
                </c:pt>
                <c:pt idx="2">
                  <c:v>2. + Lead Partnership and 2 EAP</c:v>
                </c:pt>
                <c:pt idx="3">
                  <c:v>3. + co-founder and bank deal</c:v>
                </c:pt>
                <c:pt idx="4">
                  <c:v>4 to 6. Full team, Theta pays CTO</c:v>
                </c:pt>
                <c:pt idx="5">
                  <c:v>If we paid the CTO</c:v>
                </c:pt>
              </c:strCache>
            </c:strRef>
          </c:cat>
          <c:val>
            <c:numRef>
              <c:f>Sheet1!$B$2:$B$7</c:f>
              <c:numCache>
                <c:formatCode>General</c:formatCode>
                <c:ptCount val="6"/>
                <c:pt idx="0">
                  <c:v>0.25200366300366267</c:v>
                </c:pt>
                <c:pt idx="1">
                  <c:v>0.12287838827838798</c:v>
                </c:pt>
                <c:pt idx="2">
                  <c:v>0.181435347837765</c:v>
                </c:pt>
                <c:pt idx="3">
                  <c:v>0.24423019186169073</c:v>
                </c:pt>
                <c:pt idx="4">
                  <c:v>0.21001690912924284</c:v>
                </c:pt>
                <c:pt idx="5">
                  <c:v>0.15941602361374643</c:v>
                </c:pt>
              </c:numCache>
            </c:numRef>
          </c:val>
        </c:ser>
        <c:dLbls>
          <c:numFmt formatCode="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0.3150045787545783"/>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Projects per month (one project manager runs 2)</a:t>
            </a:r>
          </a:p>
        </c:rich>
      </c:tx>
      <c:layout/>
      <c:overlay val="0"/>
    </c:title>
    <c:autoTitleDeleted val="0"/>
    <c:plotArea>
      <c:barChart>
        <c:barDir val="col"/>
        <c:grouping val="clustered"/>
        <c:ser>
          <c:idx val="0"/>
          <c:order val="0"/>
          <c:tx>
            <c:strRef>
              <c:f>Sheet1!$B$1</c:f>
              <c:strCache>
                <c:ptCount val="1"/>
                <c:pt idx="0">
                  <c:v>Projects</c:v>
                </c:pt>
              </c:strCache>
            </c:strRef>
          </c:tx>
          <c:invertIfNegative val="0"/>
          <c:dPt>
            <c:idx val="0"/>
            <c:invertIfNegative val="0"/>
            <c:spPr>
              <a:solidFill>
                <a:srgbClr val="576C94"/>
              </a:solidFill>
            </c:spPr>
          </c:dPt>
          <c:dPt>
            <c:idx val="1"/>
            <c:invertIfNegative val="0"/>
            <c:spPr>
              <a:solidFill>
                <a:srgbClr val="576C94"/>
              </a:solidFill>
            </c:spPr>
          </c:dPt>
          <c:dPt>
            <c:idx val="2"/>
            <c:invertIfNegative val="0"/>
            <c:spPr>
              <a:solidFill>
                <a:srgbClr val="576C94"/>
              </a:solidFill>
            </c:spPr>
          </c:dPt>
          <c:dPt>
            <c:idx val="3"/>
            <c:invertIfNegative val="0"/>
            <c:spPr>
              <a:solidFill>
                <a:srgbClr val="576C94"/>
              </a:solidFill>
            </c:spPr>
          </c:dPt>
          <c:dPt>
            <c:idx val="4"/>
            <c:invertIfNegative val="0"/>
            <c:spPr>
              <a:solidFill>
                <a:srgbClr val="576C94"/>
              </a:solidFill>
            </c:spPr>
          </c:dPt>
          <c:dPt>
            <c:idx val="5"/>
            <c:invertIfNegative val="0"/>
            <c:spPr>
              <a:solidFill>
                <a:srgbClr val="576C94"/>
              </a:solidFill>
            </c:spPr>
          </c:dPt>
          <c:dPt>
            <c:idx val="6"/>
            <c:invertIfNegative val="0"/>
            <c:spPr>
              <a:solidFill>
                <a:srgbClr val="576C94"/>
              </a:solidFill>
            </c:spPr>
          </c:dPt>
          <c:dPt>
            <c:idx val="7"/>
            <c:invertIfNegative val="0"/>
            <c:spPr>
              <a:solidFill>
                <a:srgbClr val="576C94"/>
              </a:solidFill>
            </c:spPr>
          </c:dPt>
          <c:dPt>
            <c:idx val="8"/>
            <c:invertIfNegative val="0"/>
            <c:spPr>
              <a:solidFill>
                <a:srgbClr val="576C94"/>
              </a:solidFill>
            </c:spPr>
          </c:dPt>
          <c:dPt>
            <c:idx val="9"/>
            <c:invertIfNegative val="0"/>
            <c:spPr>
              <a:solidFill>
                <a:srgbClr val="9B3809"/>
              </a:solidFill>
            </c:spPr>
          </c:dPt>
          <c:dPt>
            <c:idx val="10"/>
            <c:invertIfNegative val="0"/>
            <c:spPr>
              <a:solidFill>
                <a:srgbClr val="576C94"/>
              </a:solidFill>
            </c:spPr>
          </c:dPt>
          <c:dPt>
            <c:idx val="11"/>
            <c:invertIfNegative val="0"/>
            <c:spPr>
              <a:solidFill>
                <a:srgbClr val="9B3809"/>
              </a:solidFill>
            </c:spPr>
          </c:dPt>
          <c:dPt>
            <c:idx val="12"/>
            <c:invertIfNegative val="0"/>
            <c:spPr>
              <a:solidFill>
                <a:srgbClr val="9B3809"/>
              </a:solidFill>
            </c:spPr>
          </c:dPt>
          <c:dPt>
            <c:idx val="13"/>
            <c:invertIfNegative val="0"/>
            <c:spPr>
              <a:solidFill>
                <a:srgbClr val="9B3809"/>
              </a:solidFill>
            </c:spPr>
          </c:dPt>
          <c:dPt>
            <c:idx val="14"/>
            <c:invertIfNegative val="0"/>
            <c:spPr>
              <a:solidFill>
                <a:srgbClr val="9B3809"/>
              </a:solidFill>
            </c:spPr>
          </c:dPt>
          <c:dLbls>
            <c:dLbl>
              <c:idx val="0"/>
              <c:tx>
                <c:rich>
                  <a:bodyPr/>
                  <a:lstStyle/>
                  <a:p/>
                </c:rich>
              </c:tx>
              <c:showLegendKey val="0"/>
              <c:showVal val="1"/>
              <c:showCatName val="0"/>
              <c:showSerName val="0"/>
              <c:showPercent val="0"/>
              <c:showBubbleSize val="0"/>
            </c:dLbl>
            <c:dLbl>
              <c:idx val="1"/>
              <c:tx>
                <c:rich>
                  <a:bodyPr/>
                  <a:lstStyle/>
                  <a:p/>
                </c:rich>
              </c:tx>
              <c:showLegendKey val="0"/>
              <c:showVal val="1"/>
              <c:showCatName val="0"/>
              <c:showSerName val="0"/>
              <c:showPercent val="0"/>
              <c:showBubbleSize val="0"/>
            </c:dLbl>
            <c:dLbl>
              <c:idx val="2"/>
              <c:tx>
                <c:rich>
                  <a:bodyPr/>
                  <a:lstStyle/>
                  <a:p/>
                </c:rich>
              </c:tx>
              <c:showLegendKey val="0"/>
              <c:showVal val="1"/>
              <c:showCatName val="0"/>
              <c:showSerName val="0"/>
              <c:showPercent val="0"/>
              <c:showBubbleSize val="0"/>
            </c:dLbl>
            <c:dLbl>
              <c:idx val="3"/>
              <c:tx>
                <c:rich>
                  <a:bodyPr/>
                  <a:lstStyle/>
                  <a:p/>
                </c:rich>
              </c:tx>
              <c:showLegendKey val="0"/>
              <c:showVal val="1"/>
              <c:showCatName val="0"/>
              <c:showSerName val="0"/>
              <c:showPercent val="0"/>
              <c:showBubbleSize val="0"/>
            </c:dLbl>
            <c:dLbl>
              <c:idx val="4"/>
              <c:tx>
                <c:rich>
                  <a:bodyPr/>
                  <a:lstStyle/>
                  <a:p/>
                </c:rich>
              </c:tx>
              <c:showLegendKey val="0"/>
              <c:showVal val="1"/>
              <c:showCatName val="0"/>
              <c:showSerName val="0"/>
              <c:showPercent val="0"/>
              <c:showBubbleSize val="0"/>
            </c:dLbl>
            <c:dLbl>
              <c:idx val="5"/>
              <c:tx>
                <c:rich>
                  <a:bodyPr/>
                  <a:lstStyle/>
                  <a:p>
                    <a:r>
                      <a:rPr sz="1100" b="1">
                        <a:solidFill>
                          <a:srgbClr val="1E2A3A"/>
                        </a:solidFill>
                        <a:latin typeface="Arial"/>
                      </a:rPr>
                      <a:t>2</a:t>
                    </a:r>
                  </a:p>
                </c:rich>
              </c:tx>
              <c:showLegendKey val="0"/>
              <c:showVal val="1"/>
              <c:showCatName val="0"/>
              <c:showSerName val="0"/>
              <c:showPercent val="0"/>
              <c:showBubbleSize val="0"/>
            </c:dLbl>
            <c:dLbl>
              <c:idx val="6"/>
              <c:tx>
                <c:rich>
                  <a:bodyPr/>
                  <a:lstStyle/>
                  <a:p>
                    <a:r>
                      <a:rPr sz="1100" b="1">
                        <a:solidFill>
                          <a:srgbClr val="1E2A3A"/>
                        </a:solidFill>
                        <a:latin typeface="Arial"/>
                      </a:rPr>
                      <a:t>1</a:t>
                    </a:r>
                  </a:p>
                </c:rich>
              </c:tx>
              <c:showLegendKey val="0"/>
              <c:showVal val="1"/>
              <c:showCatName val="0"/>
              <c:showSerName val="0"/>
              <c:showPercent val="0"/>
              <c:showBubbleSize val="0"/>
            </c:dLbl>
            <c:dLbl>
              <c:idx val="7"/>
              <c:tx>
                <c:rich>
                  <a:bodyPr/>
                  <a:lstStyle/>
                  <a:p>
                    <a:r>
                      <a:rPr sz="1100" b="1">
                        <a:solidFill>
                          <a:srgbClr val="1E2A3A"/>
                        </a:solidFill>
                        <a:latin typeface="Arial"/>
                      </a:rPr>
                      <a:t>2</a:t>
                    </a:r>
                  </a:p>
                </c:rich>
              </c:tx>
              <c:showLegendKey val="0"/>
              <c:showVal val="1"/>
              <c:showCatName val="0"/>
              <c:showSerName val="0"/>
              <c:showPercent val="0"/>
              <c:showBubbleSize val="0"/>
            </c:dLbl>
            <c:dLbl>
              <c:idx val="8"/>
              <c:tx>
                <c:rich>
                  <a:bodyPr/>
                  <a:lstStyle/>
                  <a:p>
                    <a:r>
                      <a:rPr sz="1100" b="1">
                        <a:solidFill>
                          <a:srgbClr val="1E2A3A"/>
                        </a:solidFill>
                        <a:latin typeface="Arial"/>
                      </a:rPr>
                      <a:t>1</a:t>
                    </a:r>
                  </a:p>
                </c:rich>
              </c:tx>
              <c:showLegendKey val="0"/>
              <c:showVal val="1"/>
              <c:showCatName val="0"/>
              <c:showSerName val="0"/>
              <c:showPercent val="0"/>
              <c:showBubbleSize val="0"/>
            </c:dLbl>
            <c:dLbl>
              <c:idx val="9"/>
              <c:tx>
                <c:rich>
                  <a:bodyPr/>
                  <a:lstStyle/>
                  <a:p>
                    <a:r>
                      <a:rPr sz="1100" b="1">
                        <a:solidFill>
                          <a:srgbClr val="1E2A3A"/>
                        </a:solidFill>
                        <a:latin typeface="Arial"/>
                      </a:rPr>
                      <a:t>3</a:t>
                    </a:r>
                  </a:p>
                </c:rich>
              </c:tx>
              <c:showLegendKey val="0"/>
              <c:showVal val="1"/>
              <c:showCatName val="0"/>
              <c:showSerName val="0"/>
              <c:showPercent val="0"/>
              <c:showBubbleSize val="0"/>
            </c:dLbl>
            <c:dLbl>
              <c:idx val="10"/>
              <c:tx>
                <c:rich>
                  <a:bodyPr/>
                  <a:lstStyle/>
                  <a:p>
                    <a:r>
                      <a:rPr sz="1100" b="1">
                        <a:solidFill>
                          <a:srgbClr val="1E2A3A"/>
                        </a:solidFill>
                        <a:latin typeface="Arial"/>
                      </a:rPr>
                      <a:t>1</a:t>
                    </a:r>
                  </a:p>
                </c:rich>
              </c:tx>
              <c:showLegendKey val="0"/>
              <c:showVal val="1"/>
              <c:showCatName val="0"/>
              <c:showSerName val="0"/>
              <c:showPercent val="0"/>
              <c:showBubbleSize val="0"/>
            </c:dLbl>
            <c:dLbl>
              <c:idx val="11"/>
              <c:tx>
                <c:rich>
                  <a:bodyPr/>
                  <a:lstStyle/>
                  <a:p>
                    <a:r>
                      <a:rPr sz="1100" b="1">
                        <a:solidFill>
                          <a:srgbClr val="1E2A3A"/>
                        </a:solidFill>
                        <a:latin typeface="Arial"/>
                      </a:rPr>
                      <a:t>3</a:t>
                    </a:r>
                  </a:p>
                </c:rich>
              </c:tx>
              <c:showLegendKey val="0"/>
              <c:showVal val="1"/>
              <c:showCatName val="0"/>
              <c:showSerName val="0"/>
              <c:showPercent val="0"/>
              <c:showBubbleSize val="0"/>
            </c:dLbl>
            <c:dLbl>
              <c:idx val="12"/>
              <c:tx>
                <c:rich>
                  <a:bodyPr/>
                  <a:lstStyle/>
                  <a:p>
                    <a:r>
                      <a:rPr sz="1100" b="1">
                        <a:solidFill>
                          <a:srgbClr val="1E2A3A"/>
                        </a:solidFill>
                        <a:latin typeface="Arial"/>
                      </a:rPr>
                      <a:t>4</a:t>
                    </a:r>
                  </a:p>
                </c:rich>
              </c:tx>
              <c:showLegendKey val="0"/>
              <c:showVal val="1"/>
              <c:showCatName val="0"/>
              <c:showSerName val="0"/>
              <c:showPercent val="0"/>
              <c:showBubbleSize val="0"/>
            </c:dLbl>
            <c:dLbl>
              <c:idx val="13"/>
              <c:tx>
                <c:rich>
                  <a:bodyPr/>
                  <a:lstStyle/>
                  <a:p>
                    <a:r>
                      <a:rPr sz="1100" b="1">
                        <a:solidFill>
                          <a:srgbClr val="1E2A3A"/>
                        </a:solidFill>
                        <a:latin typeface="Arial"/>
                      </a:rPr>
                      <a:t>6</a:t>
                    </a:r>
                  </a:p>
                </c:rich>
              </c:tx>
              <c:showLegendKey val="0"/>
              <c:showVal val="1"/>
              <c:showCatName val="0"/>
              <c:showSerName val="0"/>
              <c:showPercent val="0"/>
              <c:showBubbleSize val="0"/>
            </c:dLbl>
            <c:dLbl>
              <c:idx val="14"/>
              <c:tx>
                <c:rich>
                  <a:bodyPr/>
                  <a:lstStyle/>
                  <a:p>
                    <a:r>
                      <a:rPr sz="1100" b="1">
                        <a:solidFill>
                          <a:srgbClr val="1E2A3A"/>
                        </a:solidFill>
                        <a:latin typeface="Arial"/>
                      </a:rPr>
                      <a:t>6</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0</c:v>
                </c:pt>
                <c:pt idx="1">
                  <c:v>0</c:v>
                </c:pt>
                <c:pt idx="2">
                  <c:v>0</c:v>
                </c:pt>
                <c:pt idx="3">
                  <c:v>0</c:v>
                </c:pt>
                <c:pt idx="4">
                  <c:v>0</c:v>
                </c:pt>
                <c:pt idx="5">
                  <c:v>2</c:v>
                </c:pt>
                <c:pt idx="6">
                  <c:v>1</c:v>
                </c:pt>
                <c:pt idx="7">
                  <c:v>2</c:v>
                </c:pt>
                <c:pt idx="8">
                  <c:v>1</c:v>
                </c:pt>
                <c:pt idx="9">
                  <c:v>3</c:v>
                </c:pt>
                <c:pt idx="10">
                  <c:v>1</c:v>
                </c:pt>
                <c:pt idx="11">
                  <c:v>3</c:v>
                </c:pt>
                <c:pt idx="12">
                  <c:v>4</c:v>
                </c:pt>
                <c:pt idx="13">
                  <c:v>6</c:v>
                </c:pt>
                <c:pt idx="14">
                  <c:v>6</c:v>
                </c:pt>
              </c:numCache>
            </c:numRef>
          </c:val>
        </c:ser>
        <c:dLbls>
          <c:numFmt formatCode="0" sourceLinked="0"/>
          <c:txPr>
            <a:bodyPr/>
            <a:lstStyle/>
            <a:p>
              <a:pPr>
                <a:defRPr sz="1100" b="1">
                  <a:solidFill>
                    <a:srgbClr val="1E2A3A"/>
                  </a:solidFill>
                  <a:latin typeface="Aria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000">
                <a:solidFill>
                  <a:srgbClr val="3D4F6A"/>
                </a:solidFill>
                <a:latin typeface="Arial"/>
              </a:defRPr>
            </a:pPr>
          </a:p>
        </c:txPr>
        <c:crossAx val="-2113994440"/>
        <c:crosses val="autoZero"/>
        <c:auto val="1"/>
        <c:lblAlgn val="ctr"/>
        <c:lblOffset val="100"/>
        <c:noMultiLvlLbl val="0"/>
      </c:catAx>
      <c:valAx>
        <c:axId val="-2113994440"/>
        <c:scaling>
          <c:max val="7.5"/>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Trainers needed (blue) and new trainers certified 2 months earlier (sand)</a:t>
            </a:r>
          </a:p>
        </c:rich>
      </c:tx>
      <c:layout/>
      <c:overlay val="0"/>
    </c:title>
    <c:autoTitleDeleted val="0"/>
    <c:plotArea>
      <c:barChart>
        <c:barDir val="col"/>
        <c:grouping val="clustered"/>
        <c:ser>
          <c:idx val="0"/>
          <c:order val="0"/>
          <c:tx>
            <c:strRef>
              <c:f>Sheet1!$B$1</c:f>
              <c:strCache>
                <c:ptCount val="1"/>
                <c:pt idx="0">
                  <c:v>Trainers needed</c:v>
                </c:pt>
              </c:strCache>
            </c:strRef>
          </c:tx>
          <c:spPr>
            <a:solidFill>
              <a:srgbClr val="576C94"/>
            </a:solidFill>
          </c:spPr>
          <c:invertIfNegative val="0"/>
          <c:dLbls>
            <c:dLbl>
              <c:idx val="0"/>
              <c:tx>
                <c:rich>
                  <a:bodyPr/>
                  <a:lstStyle/>
                  <a:p/>
                </c:rich>
              </c:tx>
              <c:showLegendKey val="0"/>
              <c:showVal val="1"/>
              <c:showCatName val="0"/>
              <c:showSerName val="0"/>
              <c:showPercent val="0"/>
              <c:showBubbleSize val="0"/>
            </c:dLbl>
            <c:dLbl>
              <c:idx val="1"/>
              <c:tx>
                <c:rich>
                  <a:bodyPr/>
                  <a:lstStyle/>
                  <a:p/>
                </c:rich>
              </c:tx>
              <c:showLegendKey val="0"/>
              <c:showVal val="1"/>
              <c:showCatName val="0"/>
              <c:showSerName val="0"/>
              <c:showPercent val="0"/>
              <c:showBubbleSize val="0"/>
            </c:dLbl>
            <c:dLbl>
              <c:idx val="2"/>
              <c:tx>
                <c:rich>
                  <a:bodyPr/>
                  <a:lstStyle/>
                  <a:p/>
                </c:rich>
              </c:tx>
              <c:showLegendKey val="0"/>
              <c:showVal val="1"/>
              <c:showCatName val="0"/>
              <c:showSerName val="0"/>
              <c:showPercent val="0"/>
              <c:showBubbleSize val="0"/>
            </c:dLbl>
            <c:dLbl>
              <c:idx val="3"/>
              <c:tx>
                <c:rich>
                  <a:bodyPr/>
                  <a:lstStyle/>
                  <a:p/>
                </c:rich>
              </c:tx>
              <c:showLegendKey val="0"/>
              <c:showVal val="1"/>
              <c:showCatName val="0"/>
              <c:showSerName val="0"/>
              <c:showPercent val="0"/>
              <c:showBubbleSize val="0"/>
            </c:dLbl>
            <c:dLbl>
              <c:idx val="4"/>
              <c:tx>
                <c:rich>
                  <a:bodyPr/>
                  <a:lstStyle/>
                  <a:p>
                    <a:r>
                      <a:rPr sz="1100" b="1">
                        <a:solidFill>
                          <a:srgbClr val="1E2A3A"/>
                        </a:solidFill>
                        <a:latin typeface="Arial"/>
                      </a:rPr>
                      <a:t>1</a:t>
                    </a:r>
                  </a:p>
                </c:rich>
              </c:tx>
              <c:showLegendKey val="0"/>
              <c:showVal val="1"/>
              <c:showCatName val="0"/>
              <c:showSerName val="0"/>
              <c:showPercent val="0"/>
              <c:showBubbleSize val="0"/>
            </c:dLbl>
            <c:dLbl>
              <c:idx val="5"/>
              <c:tx>
                <c:rich>
                  <a:bodyPr/>
                  <a:lstStyle/>
                  <a:p>
                    <a:r>
                      <a:rPr sz="1100" b="1">
                        <a:solidFill>
                          <a:srgbClr val="1E2A3A"/>
                        </a:solidFill>
                        <a:latin typeface="Arial"/>
                      </a:rPr>
                      <a:t>3</a:t>
                    </a:r>
                  </a:p>
                </c:rich>
              </c:tx>
              <c:showLegendKey val="0"/>
              <c:showVal val="1"/>
              <c:showCatName val="0"/>
              <c:showSerName val="0"/>
              <c:showPercent val="0"/>
              <c:showBubbleSize val="0"/>
            </c:dLbl>
            <c:dLbl>
              <c:idx val="6"/>
              <c:tx>
                <c:rich>
                  <a:bodyPr/>
                  <a:lstStyle/>
                  <a:p>
                    <a:r>
                      <a:rPr sz="1100" b="1">
                        <a:solidFill>
                          <a:srgbClr val="1E2A3A"/>
                        </a:solidFill>
                        <a:latin typeface="Arial"/>
                      </a:rPr>
                      <a:t>1</a:t>
                    </a:r>
                  </a:p>
                </c:rich>
              </c:tx>
              <c:showLegendKey val="0"/>
              <c:showVal val="1"/>
              <c:showCatName val="0"/>
              <c:showSerName val="0"/>
              <c:showPercent val="0"/>
              <c:showBubbleSize val="0"/>
            </c:dLbl>
            <c:dLbl>
              <c:idx val="7"/>
              <c:tx>
                <c:rich>
                  <a:bodyPr/>
                  <a:lstStyle/>
                  <a:p>
                    <a:r>
                      <a:rPr sz="1100" b="1">
                        <a:solidFill>
                          <a:srgbClr val="1E2A3A"/>
                        </a:solidFill>
                        <a:latin typeface="Arial"/>
                      </a:rPr>
                      <a:t>3</a:t>
                    </a:r>
                  </a:p>
                </c:rich>
              </c:tx>
              <c:showLegendKey val="0"/>
              <c:showVal val="1"/>
              <c:showCatName val="0"/>
              <c:showSerName val="0"/>
              <c:showPercent val="0"/>
              <c:showBubbleSize val="0"/>
            </c:dLbl>
            <c:dLbl>
              <c:idx val="8"/>
              <c:tx>
                <c:rich>
                  <a:bodyPr/>
                  <a:lstStyle/>
                  <a:p>
                    <a:r>
                      <a:rPr sz="1100" b="1">
                        <a:solidFill>
                          <a:srgbClr val="1E2A3A"/>
                        </a:solidFill>
                        <a:latin typeface="Arial"/>
                      </a:rPr>
                      <a:t>1</a:t>
                    </a:r>
                  </a:p>
                </c:rich>
              </c:tx>
              <c:showLegendKey val="0"/>
              <c:showVal val="1"/>
              <c:showCatName val="0"/>
              <c:showSerName val="0"/>
              <c:showPercent val="0"/>
              <c:showBubbleSize val="0"/>
            </c:dLbl>
            <c:dLbl>
              <c:idx val="9"/>
              <c:tx>
                <c:rich>
                  <a:bodyPr/>
                  <a:lstStyle/>
                  <a:p>
                    <a:r>
                      <a:rPr sz="1100" b="1">
                        <a:solidFill>
                          <a:srgbClr val="1E2A3A"/>
                        </a:solidFill>
                        <a:latin typeface="Arial"/>
                      </a:rPr>
                      <a:t>4</a:t>
                    </a:r>
                  </a:p>
                </c:rich>
              </c:tx>
              <c:showLegendKey val="0"/>
              <c:showVal val="1"/>
              <c:showCatName val="0"/>
              <c:showSerName val="0"/>
              <c:showPercent val="0"/>
              <c:showBubbleSize val="0"/>
            </c:dLbl>
            <c:dLbl>
              <c:idx val="10"/>
              <c:tx>
                <c:rich>
                  <a:bodyPr/>
                  <a:lstStyle/>
                  <a:p>
                    <a:r>
                      <a:rPr sz="1100" b="1">
                        <a:solidFill>
                          <a:srgbClr val="1E2A3A"/>
                        </a:solidFill>
                        <a:latin typeface="Arial"/>
                      </a:rPr>
                      <a:t>1</a:t>
                    </a:r>
                  </a:p>
                </c:rich>
              </c:tx>
              <c:showLegendKey val="0"/>
              <c:showVal val="1"/>
              <c:showCatName val="0"/>
              <c:showSerName val="0"/>
              <c:showPercent val="0"/>
              <c:showBubbleSize val="0"/>
            </c:dLbl>
            <c:dLbl>
              <c:idx val="11"/>
              <c:tx>
                <c:rich>
                  <a:bodyPr/>
                  <a:lstStyle/>
                  <a:p>
                    <a:r>
                      <a:rPr sz="1100" b="1">
                        <a:solidFill>
                          <a:srgbClr val="1E2A3A"/>
                        </a:solidFill>
                        <a:latin typeface="Arial"/>
                      </a:rPr>
                      <a:t>4</a:t>
                    </a:r>
                  </a:p>
                </c:rich>
              </c:tx>
              <c:showLegendKey val="0"/>
              <c:showVal val="1"/>
              <c:showCatName val="0"/>
              <c:showSerName val="0"/>
              <c:showPercent val="0"/>
              <c:showBubbleSize val="0"/>
            </c:dLbl>
            <c:dLbl>
              <c:idx val="12"/>
              <c:tx>
                <c:rich>
                  <a:bodyPr/>
                  <a:lstStyle/>
                  <a:p>
                    <a:r>
                      <a:rPr sz="1100" b="1">
                        <a:solidFill>
                          <a:srgbClr val="1E2A3A"/>
                        </a:solidFill>
                        <a:latin typeface="Arial"/>
                      </a:rPr>
                      <a:t>5</a:t>
                    </a:r>
                  </a:p>
                </c:rich>
              </c:tx>
              <c:showLegendKey val="0"/>
              <c:showVal val="1"/>
              <c:showCatName val="0"/>
              <c:showSerName val="0"/>
              <c:showPercent val="0"/>
              <c:showBubbleSize val="0"/>
            </c:dLbl>
            <c:dLbl>
              <c:idx val="13"/>
              <c:tx>
                <c:rich>
                  <a:bodyPr/>
                  <a:lstStyle/>
                  <a:p>
                    <a:r>
                      <a:rPr sz="1100" b="1">
                        <a:solidFill>
                          <a:srgbClr val="1E2A3A"/>
                        </a:solidFill>
                        <a:latin typeface="Arial"/>
                      </a:rPr>
                      <a:t>8</a:t>
                    </a:r>
                  </a:p>
                </c:rich>
              </c:tx>
              <c:showLegendKey val="0"/>
              <c:showVal val="1"/>
              <c:showCatName val="0"/>
              <c:showSerName val="0"/>
              <c:showPercent val="0"/>
              <c:showBubbleSize val="0"/>
            </c:dLbl>
            <c:dLbl>
              <c:idx val="14"/>
              <c:tx>
                <c:rich>
                  <a:bodyPr/>
                  <a:lstStyle/>
                  <a:p>
                    <a:r>
                      <a:rPr sz="1100" b="1">
                        <a:solidFill>
                          <a:srgbClr val="1E2A3A"/>
                        </a:solidFill>
                        <a:latin typeface="Arial"/>
                      </a:rPr>
                      <a:t>7</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0</c:v>
                </c:pt>
                <c:pt idx="1">
                  <c:v>0</c:v>
                </c:pt>
                <c:pt idx="2">
                  <c:v>0</c:v>
                </c:pt>
                <c:pt idx="3">
                  <c:v>0</c:v>
                </c:pt>
                <c:pt idx="4">
                  <c:v>1</c:v>
                </c:pt>
                <c:pt idx="5">
                  <c:v>3</c:v>
                </c:pt>
                <c:pt idx="6">
                  <c:v>1</c:v>
                </c:pt>
                <c:pt idx="7">
                  <c:v>3</c:v>
                </c:pt>
                <c:pt idx="8">
                  <c:v>1</c:v>
                </c:pt>
                <c:pt idx="9">
                  <c:v>4</c:v>
                </c:pt>
                <c:pt idx="10">
                  <c:v>1</c:v>
                </c:pt>
                <c:pt idx="11">
                  <c:v>4</c:v>
                </c:pt>
                <c:pt idx="12">
                  <c:v>5</c:v>
                </c:pt>
                <c:pt idx="13">
                  <c:v>8</c:v>
                </c:pt>
                <c:pt idx="14">
                  <c:v>7</c:v>
                </c:pt>
              </c:numCache>
            </c:numRef>
          </c:val>
        </c:ser>
        <c:ser>
          <c:idx val="1"/>
          <c:order val="1"/>
          <c:tx>
            <c:strRef>
              <c:f>Sheet1!$C$1</c:f>
              <c:strCache>
                <c:ptCount val="1"/>
                <c:pt idx="0">
                  <c:v>Trainers certified that month</c:v>
                </c:pt>
              </c:strCache>
            </c:strRef>
          </c:tx>
          <c:spPr>
            <a:solidFill>
              <a:srgbClr val="C9B78D"/>
            </a:solidFill>
          </c:spPr>
          <c:invertIfNegative val="0"/>
          <c:dLbls>
            <c:dLbl>
              <c:idx val="0"/>
              <c:tx>
                <c:rich>
                  <a:bodyPr/>
                  <a:lstStyle/>
                  <a:p/>
                </c:rich>
              </c:tx>
              <c:showLegendKey val="0"/>
              <c:showVal val="1"/>
              <c:showCatName val="0"/>
              <c:showSerName val="0"/>
              <c:showPercent val="0"/>
              <c:showBubbleSize val="0"/>
            </c:dLbl>
            <c:dLbl>
              <c:idx val="1"/>
              <c:tx>
                <c:rich>
                  <a:bodyPr/>
                  <a:lstStyle/>
                  <a:p/>
                </c:rich>
              </c:tx>
              <c:showLegendKey val="0"/>
              <c:showVal val="1"/>
              <c:showCatName val="0"/>
              <c:showSerName val="0"/>
              <c:showPercent val="0"/>
              <c:showBubbleSize val="0"/>
            </c:dLbl>
            <c:dLbl>
              <c:idx val="2"/>
              <c:tx>
                <c:rich>
                  <a:bodyPr/>
                  <a:lstStyle/>
                  <a:p/>
                </c:rich>
              </c:tx>
              <c:showLegendKey val="0"/>
              <c:showVal val="1"/>
              <c:showCatName val="0"/>
              <c:showSerName val="0"/>
              <c:showPercent val="0"/>
              <c:showBubbleSize val="0"/>
            </c:dLbl>
            <c:dLbl>
              <c:idx val="3"/>
              <c:tx>
                <c:rich>
                  <a:bodyPr/>
                  <a:lstStyle/>
                  <a:p>
                    <a:r>
                      <a:rPr sz="1100" b="1">
                        <a:solidFill>
                          <a:srgbClr val="1E2A3A"/>
                        </a:solidFill>
                        <a:latin typeface="Arial"/>
                      </a:rPr>
                      <a:t>1</a:t>
                    </a:r>
                  </a:p>
                </c:rich>
              </c:tx>
              <c:showLegendKey val="0"/>
              <c:showVal val="1"/>
              <c:showCatName val="0"/>
              <c:showSerName val="0"/>
              <c:showPercent val="0"/>
              <c:showBubbleSize val="0"/>
            </c:dLbl>
            <c:dLbl>
              <c:idx val="4"/>
              <c:tx>
                <c:rich>
                  <a:bodyPr/>
                  <a:lstStyle/>
                  <a:p/>
                </c:rich>
              </c:tx>
              <c:showLegendKey val="0"/>
              <c:showVal val="1"/>
              <c:showCatName val="0"/>
              <c:showSerName val="0"/>
              <c:showPercent val="0"/>
              <c:showBubbleSize val="0"/>
            </c:dLbl>
            <c:dLbl>
              <c:idx val="5"/>
              <c:tx>
                <c:rich>
                  <a:bodyPr/>
                  <a:lstStyle/>
                  <a:p/>
                </c:rich>
              </c:tx>
              <c:showLegendKey val="0"/>
              <c:showVal val="1"/>
              <c:showCatName val="0"/>
              <c:showSerName val="0"/>
              <c:showPercent val="0"/>
              <c:showBubbleSize val="0"/>
            </c:dLbl>
            <c:dLbl>
              <c:idx val="6"/>
              <c:tx>
                <c:rich>
                  <a:bodyPr/>
                  <a:lstStyle/>
                  <a:p/>
                </c:rich>
              </c:tx>
              <c:showLegendKey val="0"/>
              <c:showVal val="1"/>
              <c:showCatName val="0"/>
              <c:showSerName val="0"/>
              <c:showPercent val="0"/>
              <c:showBubbleSize val="0"/>
            </c:dLbl>
            <c:dLbl>
              <c:idx val="7"/>
              <c:tx>
                <c:rich>
                  <a:bodyPr/>
                  <a:lstStyle/>
                  <a:p>
                    <a:r>
                      <a:rPr sz="1100" b="1">
                        <a:solidFill>
                          <a:srgbClr val="1E2A3A"/>
                        </a:solidFill>
                        <a:latin typeface="Arial"/>
                      </a:rPr>
                      <a:t>1</a:t>
                    </a:r>
                  </a:p>
                </c:rich>
              </c:tx>
              <c:showLegendKey val="0"/>
              <c:showVal val="1"/>
              <c:showCatName val="0"/>
              <c:showSerName val="0"/>
              <c:showPercent val="0"/>
              <c:showBubbleSize val="0"/>
            </c:dLbl>
            <c:dLbl>
              <c:idx val="8"/>
              <c:tx>
                <c:rich>
                  <a:bodyPr/>
                  <a:lstStyle/>
                  <a:p/>
                </c:rich>
              </c:tx>
              <c:showLegendKey val="0"/>
              <c:showVal val="1"/>
              <c:showCatName val="0"/>
              <c:showSerName val="0"/>
              <c:showPercent val="0"/>
              <c:showBubbleSize val="0"/>
            </c:dLbl>
            <c:dLbl>
              <c:idx val="9"/>
              <c:tx>
                <c:rich>
                  <a:bodyPr/>
                  <a:lstStyle/>
                  <a:p/>
                </c:rich>
              </c:tx>
              <c:showLegendKey val="0"/>
              <c:showVal val="1"/>
              <c:showCatName val="0"/>
              <c:showSerName val="0"/>
              <c:showPercent val="0"/>
              <c:showBubbleSize val="0"/>
            </c:dLbl>
            <c:dLbl>
              <c:idx val="10"/>
              <c:tx>
                <c:rich>
                  <a:bodyPr/>
                  <a:lstStyle/>
                  <a:p>
                    <a:r>
                      <a:rPr sz="1100" b="1">
                        <a:solidFill>
                          <a:srgbClr val="1E2A3A"/>
                        </a:solidFill>
                        <a:latin typeface="Arial"/>
                      </a:rPr>
                      <a:t>1</a:t>
                    </a:r>
                  </a:p>
                </c:rich>
              </c:tx>
              <c:showLegendKey val="0"/>
              <c:showVal val="1"/>
              <c:showCatName val="0"/>
              <c:showSerName val="0"/>
              <c:showPercent val="0"/>
              <c:showBubbleSize val="0"/>
            </c:dLbl>
            <c:dLbl>
              <c:idx val="11"/>
              <c:tx>
                <c:rich>
                  <a:bodyPr/>
                  <a:lstStyle/>
                  <a:p>
                    <a:r>
                      <a:rPr sz="1100" b="1">
                        <a:solidFill>
                          <a:srgbClr val="1E2A3A"/>
                        </a:solidFill>
                        <a:latin typeface="Arial"/>
                      </a:rPr>
                      <a:t>3</a:t>
                    </a:r>
                  </a:p>
                </c:rich>
              </c:tx>
              <c:showLegendKey val="0"/>
              <c:showVal val="1"/>
              <c:showCatName val="0"/>
              <c:showSerName val="0"/>
              <c:showPercent val="0"/>
              <c:showBubbleSize val="0"/>
            </c:dLbl>
            <c:dLbl>
              <c:idx val="12"/>
              <c:tx>
                <c:rich>
                  <a:bodyPr/>
                  <a:lstStyle/>
                  <a:p/>
                </c:rich>
              </c:tx>
              <c:showLegendKey val="0"/>
              <c:showVal val="1"/>
              <c:showCatName val="0"/>
              <c:showSerName val="0"/>
              <c:showPercent val="0"/>
              <c:showBubbleSize val="0"/>
            </c:dLbl>
            <c:dLbl>
              <c:idx val="13"/>
              <c:tx>
                <c:rich>
                  <a:bodyPr/>
                  <a:lstStyle/>
                  <a:p/>
                </c:rich>
              </c:tx>
              <c:showLegendKey val="0"/>
              <c:showVal val="1"/>
              <c:showCatName val="0"/>
              <c:showSerName val="0"/>
              <c:showPercent val="0"/>
              <c:showBubbleSize val="0"/>
            </c:dLbl>
            <c:dLbl>
              <c:idx val="14"/>
              <c:tx>
                <c:rich>
                  <a:bodyPr/>
                  <a:lstStyle/>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Sheet1!$C$2:$C$16</c:f>
              <c:numCache>
                <c:formatCode>General</c:formatCode>
                <c:ptCount val="15"/>
                <c:pt idx="0">
                  <c:v>0</c:v>
                </c:pt>
                <c:pt idx="1">
                  <c:v>0</c:v>
                </c:pt>
                <c:pt idx="2">
                  <c:v>0</c:v>
                </c:pt>
                <c:pt idx="3">
                  <c:v>1</c:v>
                </c:pt>
                <c:pt idx="4">
                  <c:v>0</c:v>
                </c:pt>
                <c:pt idx="5">
                  <c:v>0</c:v>
                </c:pt>
                <c:pt idx="6">
                  <c:v>0</c:v>
                </c:pt>
                <c:pt idx="7">
                  <c:v>1</c:v>
                </c:pt>
                <c:pt idx="8">
                  <c:v>0</c:v>
                </c:pt>
                <c:pt idx="9">
                  <c:v>0</c:v>
                </c:pt>
                <c:pt idx="10">
                  <c:v>1</c:v>
                </c:pt>
                <c:pt idx="11">
                  <c:v>3</c:v>
                </c:pt>
                <c:pt idx="12">
                  <c:v>0</c:v>
                </c:pt>
                <c:pt idx="13">
                  <c:v>0</c:v>
                </c:pt>
                <c:pt idx="14">
                  <c:v>0</c:v>
                </c:pt>
              </c:numCache>
            </c:numRef>
          </c:val>
        </c:ser>
        <c:dLbls>
          <c:numFmt formatCode="0" sourceLinked="0"/>
          <c:txPr>
            <a:bodyPr/>
            <a:lstStyle/>
            <a:p>
              <a:pPr>
                <a:defRPr sz="1100" b="1">
                  <a:solidFill>
                    <a:srgbClr val="1E2A3A"/>
                  </a:solidFill>
                  <a:latin typeface="Aria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000">
                <a:solidFill>
                  <a:srgbClr val="3D4F6A"/>
                </a:solidFill>
                <a:latin typeface="Arial"/>
              </a:defRPr>
            </a:pPr>
          </a:p>
        </c:txPr>
        <c:crossAx val="-2113994440"/>
        <c:crosses val="autoZero"/>
        <c:auto val="1"/>
        <c:lblAlgn val="ctr"/>
        <c:lblOffset val="100"/>
        <c:noMultiLvlLbl val="0"/>
      </c:catAx>
      <c:valAx>
        <c:axId val="-2113994440"/>
        <c:scaling>
          <c:max val="10.0"/>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Net margin 2027 (target: 15% or more)</a:t>
            </a:r>
          </a:p>
        </c:rich>
      </c:tx>
      <c:layout/>
      <c:overlay val="0"/>
    </c:title>
    <c:autoTitleDeleted val="0"/>
    <c:plotArea>
      <c:barChart>
        <c:barDir val="col"/>
        <c:grouping val="clustered"/>
        <c:ser>
          <c:idx val="0"/>
          <c:order val="0"/>
          <c:tx>
            <c:strRef>
              <c:f>Sheet1!$B$1</c:f>
              <c:strCache>
                <c:ptCount val="1"/>
                <c:pt idx="0">
                  <c:v>Net margin</c:v>
                </c:pt>
              </c:strCache>
            </c:strRef>
          </c:tx>
          <c:invertIfNegative val="0"/>
          <c:dPt>
            <c:idx val="0"/>
            <c:invertIfNegative val="0"/>
            <c:spPr>
              <a:solidFill>
                <a:srgbClr val="C3C9D4"/>
              </a:solidFill>
            </c:spPr>
          </c:dPt>
          <c:dPt>
            <c:idx val="1"/>
            <c:invertIfNegative val="0"/>
            <c:spPr>
              <a:solidFill>
                <a:srgbClr val="1E2A3A"/>
              </a:solidFill>
            </c:spPr>
          </c:dPt>
          <c:dPt>
            <c:idx val="2"/>
            <c:invertIfNegative val="0"/>
            <c:spPr>
              <a:solidFill>
                <a:srgbClr val="576C94"/>
              </a:solidFill>
            </c:spPr>
          </c:dPt>
          <c:dLbls>
            <c:dLbl>
              <c:idx val="0"/>
              <c:tx>
                <c:rich>
                  <a:bodyPr/>
                  <a:lstStyle/>
                  <a:p>
                    <a:r>
                      <a:rPr sz="1300" b="1">
                        <a:solidFill>
                          <a:srgbClr val="1E2A3A"/>
                        </a:solidFill>
                        <a:latin typeface="Arial"/>
                      </a:rPr>
                      <a:t>16.6%</a:t>
                    </a:r>
                  </a:p>
                </c:rich>
              </c:tx>
              <c:showLegendKey val="0"/>
              <c:showVal val="1"/>
              <c:showCatName val="0"/>
              <c:showSerName val="0"/>
              <c:showPercent val="0"/>
              <c:showBubbleSize val="0"/>
            </c:dLbl>
            <c:dLbl>
              <c:idx val="1"/>
              <c:tx>
                <c:rich>
                  <a:bodyPr/>
                  <a:lstStyle/>
                  <a:p>
                    <a:r>
                      <a:rPr sz="1300" b="1">
                        <a:solidFill>
                          <a:srgbClr val="1E2A3A"/>
                        </a:solidFill>
                        <a:latin typeface="Arial"/>
                      </a:rPr>
                      <a:t>26.1%</a:t>
                    </a:r>
                  </a:p>
                </c:rich>
              </c:tx>
              <c:showLegendKey val="0"/>
              <c:showVal val="1"/>
              <c:showCatName val="0"/>
              <c:showSerName val="0"/>
              <c:showPercent val="0"/>
              <c:showBubbleSize val="0"/>
            </c:dLbl>
            <c:dLbl>
              <c:idx val="2"/>
              <c:tx>
                <c:rich>
                  <a:bodyPr/>
                  <a:lstStyle/>
                  <a:p>
                    <a:r>
                      <a:rPr sz="1300" b="1">
                        <a:solidFill>
                          <a:srgbClr val="1E2A3A"/>
                        </a:solidFill>
                        <a:latin typeface="Arial"/>
                      </a:rPr>
                      <a:t>33.5%</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Conservative</c:v>
                </c:pt>
                <c:pt idx="1">
                  <c:v>Current</c:v>
                </c:pt>
                <c:pt idx="2">
                  <c:v>Aggressive</c:v>
                </c:pt>
              </c:strCache>
            </c:strRef>
          </c:cat>
          <c:val>
            <c:numRef>
              <c:f>Sheet1!$B$2:$B$4</c:f>
              <c:numCache>
                <c:formatCode>General</c:formatCode>
                <c:ptCount val="3"/>
                <c:pt idx="0">
                  <c:v>0.1664885302278267</c:v>
                </c:pt>
                <c:pt idx="1">
                  <c:v>0.2608899423005533</c:v>
                </c:pt>
                <c:pt idx="2">
                  <c:v>0.33529873213060324</c:v>
                </c:pt>
              </c:numCache>
            </c:numRef>
          </c:val>
        </c:ser>
        <c:dLbls>
          <c:numFmt formatCode="0.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0.419123415163254"/>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Cash at the end of each month (Rp M)</a:t>
            </a:r>
          </a:p>
        </c:rich>
      </c:tx>
      <c:layout/>
      <c:overlay val="0"/>
    </c:title>
    <c:autoTitleDeleted val="0"/>
    <c:plotArea>
      <c:lineChart>
        <c:grouping val="standard"/>
        <c:varyColors val="0"/>
        <c:ser>
          <c:idx val="0"/>
          <c:order val="0"/>
          <c:tx>
            <c:strRef>
              <c:f>Sheet1!$B$1</c:f>
              <c:strCache>
                <c:ptCount val="1"/>
                <c:pt idx="0">
                  <c:v>Cash in the bank (current estimate)</c:v>
                </c:pt>
              </c:strCache>
            </c:strRef>
          </c:tx>
          <c:spPr>
            <a:ln w="38100">
              <a:solidFill>
                <a:srgbClr val="1E2A3A"/>
              </a:solidFill>
            </a:ln>
          </c:spPr>
          <c:marker>
            <c:spPr>
              <a:solidFill>
                <a:srgbClr val="1E2A3A"/>
              </a:solidFill>
              <a:ln>
                <a:solidFill>
                  <a:srgbClr val="1E2A3A"/>
                </a:solidFill>
              </a:ln>
            </c:spPr>
          </c:marker>
          <c:dLbls>
            <c:dLbl>
              <c:idx val="0"/>
              <c:spPr/>
              <c:txPr>
                <a:bodyPr/>
                <a:lstStyle/>
                <a:p>
                  <a:pPr>
                    <a:defRPr sz="1200" b="1">
                      <a:latin typeface="Arial"/>
                    </a:defRPr>
                  </a:pPr>
                </a:p>
              </c:txPr>
              <c:dLblPos val="t"/>
              <c:showLegendKey val="0"/>
              <c:showVal val="1"/>
              <c:showCatName val="0"/>
              <c:showSerName val="0"/>
              <c:showPercent val="0"/>
              <c:showBubbleSize val="0"/>
            </c:dLbl>
            <c:dLbl>
              <c:idx val="14"/>
              <c:spPr/>
              <c:txPr>
                <a:bodyPr/>
                <a:lstStyle/>
                <a:p>
                  <a:pPr>
                    <a:defRPr sz="1200" b="1">
                      <a:latin typeface="Arial"/>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175</c:v>
                </c:pt>
                <c:pt idx="1">
                  <c:v>154</c:v>
                </c:pt>
                <c:pt idx="2">
                  <c:v>134</c:v>
                </c:pt>
                <c:pt idx="3">
                  <c:v>104</c:v>
                </c:pt>
                <c:pt idx="4">
                  <c:v>82</c:v>
                </c:pt>
                <c:pt idx="5">
                  <c:v>90</c:v>
                </c:pt>
                <c:pt idx="6">
                  <c:v>89</c:v>
                </c:pt>
                <c:pt idx="7">
                  <c:v>131</c:v>
                </c:pt>
                <c:pt idx="8">
                  <c:v>160</c:v>
                </c:pt>
                <c:pt idx="9">
                  <c:v>167</c:v>
                </c:pt>
                <c:pt idx="10">
                  <c:v>205</c:v>
                </c:pt>
                <c:pt idx="11">
                  <c:v>249</c:v>
                </c:pt>
                <c:pt idx="12">
                  <c:v>273</c:v>
                </c:pt>
                <c:pt idx="13">
                  <c:v>372</c:v>
                </c:pt>
                <c:pt idx="14">
                  <c:v>524</c:v>
                </c:pt>
              </c:numCache>
            </c:numRef>
          </c:val>
          <c:smooth val="0"/>
        </c:ser>
        <c:ser>
          <c:idx val="1"/>
          <c:order val="1"/>
          <c:tx>
            <c:strRef>
              <c:f>Sheet1!$C$1</c:f>
              <c:strCache>
                <c:ptCount val="1"/>
                <c:pt idx="0">
                  <c:v>Safety cushion: 6 months of fixed cost</c:v>
                </c:pt>
              </c:strCache>
            </c:strRef>
          </c:tx>
          <c:spPr>
            <a:ln w="22225">
              <a:solidFill>
                <a:srgbClr val="9B3809"/>
              </a:solidFill>
              <a:prstDash val="dash"/>
            </a:ln>
          </c:spPr>
          <c:marker>
            <c:symbol val="none"/>
            <c:spPr>
              <a:solidFill>
                <a:srgbClr val="9B3809"/>
              </a:solidFill>
              <a:ln>
                <a:solidFill>
                  <a:srgbClr val="9B3809"/>
                </a:solidFill>
              </a:ln>
            </c:spPr>
          </c:marker>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Sheet1!$C$2:$C$16</c:f>
              <c:numCache>
                <c:formatCode>General</c:formatCode>
                <c:ptCount val="15"/>
                <c:pt idx="0">
                  <c:v>559</c:v>
                </c:pt>
                <c:pt idx="1">
                  <c:v>559</c:v>
                </c:pt>
                <c:pt idx="2">
                  <c:v>559</c:v>
                </c:pt>
                <c:pt idx="3">
                  <c:v>559</c:v>
                </c:pt>
                <c:pt idx="4">
                  <c:v>559</c:v>
                </c:pt>
                <c:pt idx="5">
                  <c:v>559</c:v>
                </c:pt>
                <c:pt idx="6">
                  <c:v>559</c:v>
                </c:pt>
                <c:pt idx="7">
                  <c:v>559</c:v>
                </c:pt>
                <c:pt idx="8">
                  <c:v>559</c:v>
                </c:pt>
                <c:pt idx="9">
                  <c:v>559</c:v>
                </c:pt>
                <c:pt idx="10">
                  <c:v>559</c:v>
                </c:pt>
                <c:pt idx="11">
                  <c:v>559</c:v>
                </c:pt>
                <c:pt idx="12">
                  <c:v>559</c:v>
                </c:pt>
                <c:pt idx="13">
                  <c:v>559</c:v>
                </c:pt>
                <c:pt idx="14">
                  <c:v>559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3DED3"/>
            </a:solidFill>
          </a:ln>
        </c:spPr>
        <c:txPr>
          <a:bodyPr/>
          <a:lstStyle/>
          <a:p>
            <a:pPr>
              <a:defRPr sz="1100">
                <a:solidFill>
                  <a:srgbClr val="6B7A99"/>
                </a:solidFill>
                <a:latin typeface="Arial"/>
              </a:defRPr>
            </a:pPr>
          </a:p>
        </c:txPr>
        <c:crossAx val="2140495176"/>
        <c:crosses val="autoZero"/>
        <c:auto val="1"/>
        <c:lblAlgn val="ctr"/>
        <c:lblOffset val="100"/>
        <c:noMultiLvlLbl val="0"/>
      </c:catAx>
      <c:valAx>
        <c:axId val="2140495176"/>
        <c:scaling>
          <c:min val="0.0"/>
        </c:scaling>
        <c:delete val="0"/>
        <c:axPos val="l"/>
        <c:majorGridlines>
          <c:spPr>
            <a:ln>
              <a:solidFill>
                <a:srgbClr val="E3DED3"/>
              </a:solidFill>
            </a:ln>
          </c:spPr>
        </c:majorGridlines>
        <c:numFmt formatCode="#,##0" sourceLinked="0"/>
        <c:majorTickMark val="out"/>
        <c:minorTickMark val="none"/>
        <c:tickLblPos val="nextTo"/>
        <c:spPr>
          <a:ln>
            <a:noFill/>
          </a:ln>
        </c:spPr>
        <c:txPr>
          <a:bodyPr/>
          <a:lstStyle/>
          <a:p>
            <a:pPr>
              <a:defRPr sz="1100">
                <a:solidFill>
                  <a:srgbClr val="6B7A99"/>
                </a:solidFill>
                <a:latin typeface="Arial"/>
              </a:defRPr>
            </a:pPr>
          </a:p>
        </c:txPr>
        <c:crossAx val="2118791784"/>
        <c:crosses val="autoZero"/>
      </c:valAx>
    </c:plotArea>
    <c:legend>
      <c:legendPos val="b"/>
      <c:layout/>
      <c:overlay val="0"/>
      <c:txPr>
        <a:bodyPr/>
        <a:lstStyle/>
        <a:p>
          <a:pPr>
            <a:defRPr sz="1200">
              <a:solidFill>
                <a:srgbClr val="3D4F6A"/>
              </a:solidFill>
              <a:latin typeface="Arial"/>
            </a:defRPr>
          </a:pPr>
        </a:p>
      </c:txPr>
    </c:legend>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Running cost per month at each step (Rp M)</a:t>
            </a:r>
          </a:p>
        </c:rich>
      </c:tx>
      <c:layout/>
      <c:overlay val="0"/>
    </c:title>
    <c:autoTitleDeleted val="0"/>
    <c:plotArea>
      <c:barChart>
        <c:barDir val="col"/>
        <c:grouping val="stacked"/>
        <c:ser>
          <c:idx val="0"/>
          <c:order val="0"/>
          <c:tx>
            <c:strRef>
              <c:f>Sheet1!$B$1</c:f>
              <c:strCache>
                <c:ptCount val="1"/>
                <c:pt idx="0">
                  <c:v>Founders</c:v>
                </c:pt>
              </c:strCache>
            </c:strRef>
          </c:tx>
          <c:spPr>
            <a:solidFill>
              <a:srgbClr val="1E2A3A"/>
            </a:solidFill>
          </c:spPr>
          <c:invertIfNegative val="0"/>
          <c:dLbls>
            <c:dLbl>
              <c:idx val="0"/>
              <c:tx>
                <c:rich>
                  <a:bodyPr/>
                  <a:lstStyle/>
                  <a:p>
                    <a:r>
                      <a:rPr sz="1200" b="1">
                        <a:solidFill>
                          <a:srgbClr val="FFFFFF"/>
                        </a:solidFill>
                        <a:latin typeface="Arial"/>
                      </a:rPr>
                      <a:t>10</a:t>
                    </a:r>
                  </a:p>
                </c:rich>
              </c:tx>
              <c:showLegendKey val="0"/>
              <c:showVal val="1"/>
              <c:showCatName val="0"/>
              <c:showSerName val="0"/>
              <c:showPercent val="0"/>
              <c:showBubbleSize val="0"/>
            </c:dLbl>
            <c:dLbl>
              <c:idx val="1"/>
              <c:tx>
                <c:rich>
                  <a:bodyPr/>
                  <a:lstStyle/>
                  <a:p>
                    <a:r>
                      <a:rPr sz="1200" b="1">
                        <a:solidFill>
                          <a:srgbClr val="FFFFFF"/>
                        </a:solidFill>
                        <a:latin typeface="Arial"/>
                      </a:rPr>
                      <a:t>10</a:t>
                    </a:r>
                  </a:p>
                </c:rich>
              </c:tx>
              <c:showLegendKey val="0"/>
              <c:showVal val="1"/>
              <c:showCatName val="0"/>
              <c:showSerName val="0"/>
              <c:showPercent val="0"/>
              <c:showBubbleSize val="0"/>
            </c:dLbl>
            <c:dLbl>
              <c:idx val="2"/>
              <c:tx>
                <c:rich>
                  <a:bodyPr/>
                  <a:lstStyle/>
                  <a:p>
                    <a:r>
                      <a:rPr sz="1200" b="1">
                        <a:solidFill>
                          <a:srgbClr val="FFFFFF"/>
                        </a:solidFill>
                        <a:latin typeface="Arial"/>
                      </a:rPr>
                      <a:t>25</a:t>
                    </a:r>
                  </a:p>
                </c:rich>
              </c:tx>
              <c:showLegendKey val="0"/>
              <c:showVal val="1"/>
              <c:showCatName val="0"/>
              <c:showSerName val="0"/>
              <c:showPercent val="0"/>
              <c:showBubbleSize val="0"/>
            </c:dLbl>
            <c:dLbl>
              <c:idx val="3"/>
              <c:tx>
                <c:rich>
                  <a:bodyPr/>
                  <a:lstStyle/>
                  <a:p>
                    <a:r>
                      <a:rPr sz="1200" b="1">
                        <a:solidFill>
                          <a:srgbClr val="FFFFFF"/>
                        </a:solidFill>
                        <a:latin typeface="Arial"/>
                      </a:rPr>
                      <a:t>25</a:t>
                    </a:r>
                  </a:p>
                </c:rich>
              </c:tx>
              <c:showLegendKey val="0"/>
              <c:showVal val="1"/>
              <c:showCatName val="0"/>
              <c:showSerName val="0"/>
              <c:showPercent val="0"/>
              <c:showBubbleSize val="0"/>
            </c:dLbl>
            <c:dLbl>
              <c:idx val="4"/>
              <c:tx>
                <c:rich>
                  <a:bodyPr/>
                  <a:lstStyle/>
                  <a:p>
                    <a:r>
                      <a:rPr sz="1200" b="1">
                        <a:solidFill>
                          <a:srgbClr val="FFFFFF"/>
                        </a:solidFill>
                        <a:latin typeface="Arial"/>
                      </a:rPr>
                      <a:t>25</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Now (Oct 2026)</c:v>
                </c:pt>
                <c:pt idx="1">
                  <c:v>Jan 2027</c:v>
                </c:pt>
                <c:pt idx="2">
                  <c:v>Mar 2027</c:v>
                </c:pt>
                <c:pt idx="3">
                  <c:v>Jul 2027</c:v>
                </c:pt>
                <c:pt idx="4">
                  <c:v>Oct 2027</c:v>
                </c:pt>
              </c:strCache>
            </c:strRef>
          </c:cat>
          <c:val>
            <c:numRef>
              <c:f>Sheet1!$B$2:$B$6</c:f>
              <c:numCache>
                <c:formatCode>General</c:formatCode>
                <c:ptCount val="5"/>
                <c:pt idx="0">
                  <c:v>10.0</c:v>
                </c:pt>
                <c:pt idx="1">
                  <c:v>10.0</c:v>
                </c:pt>
                <c:pt idx="2">
                  <c:v>25.0</c:v>
                </c:pt>
                <c:pt idx="3">
                  <c:v>25.0</c:v>
                </c:pt>
                <c:pt idx="4">
                  <c:v>25.0</c:v>
                </c:pt>
              </c:numCache>
            </c:numRef>
          </c:val>
        </c:ser>
        <c:ser>
          <c:idx val="1"/>
          <c:order val="1"/>
          <c:tx>
            <c:strRef>
              <c:f>Sheet1!$C$1</c:f>
              <c:strCache>
                <c:ptCount val="1"/>
                <c:pt idx="0">
                  <c:v>Team, with BPJS and THR</c:v>
                </c:pt>
              </c:strCache>
            </c:strRef>
          </c:tx>
          <c:spPr>
            <a:solidFill>
              <a:srgbClr val="576C94"/>
            </a:solidFill>
          </c:spPr>
          <c:invertIfNegative val="0"/>
          <c:dLbls>
            <c:dLbl>
              <c:idx val="0"/>
              <c:tx>
                <c:rich>
                  <a:bodyPr/>
                  <a:lstStyle/>
                  <a:p>
                    <a:r>
                      <a:rPr sz="1200" b="1">
                        <a:solidFill>
                          <a:srgbClr val="FFFFFF"/>
                        </a:solidFill>
                        <a:latin typeface="Arial"/>
                      </a:rPr>
                      <a:t>10</a:t>
                    </a:r>
                  </a:p>
                </c:rich>
              </c:tx>
              <c:showLegendKey val="0"/>
              <c:showVal val="1"/>
              <c:showCatName val="0"/>
              <c:showSerName val="0"/>
              <c:showPercent val="0"/>
              <c:showBubbleSize val="0"/>
            </c:dLbl>
            <c:dLbl>
              <c:idx val="1"/>
              <c:tx>
                <c:rich>
                  <a:bodyPr/>
                  <a:lstStyle/>
                  <a:p>
                    <a:r>
                      <a:rPr sz="1200" b="1">
                        <a:solidFill>
                          <a:srgbClr val="FFFFFF"/>
                        </a:solidFill>
                        <a:latin typeface="Arial"/>
                      </a:rPr>
                      <a:t>15</a:t>
                    </a:r>
                  </a:p>
                </c:rich>
              </c:tx>
              <c:showLegendKey val="0"/>
              <c:showVal val="1"/>
              <c:showCatName val="0"/>
              <c:showSerName val="0"/>
              <c:showPercent val="0"/>
              <c:showBubbleSize val="0"/>
            </c:dLbl>
            <c:dLbl>
              <c:idx val="2"/>
              <c:tx>
                <c:rich>
                  <a:bodyPr/>
                  <a:lstStyle/>
                  <a:p>
                    <a:r>
                      <a:rPr sz="1200" b="1">
                        <a:solidFill>
                          <a:srgbClr val="FFFFFF"/>
                        </a:solidFill>
                        <a:latin typeface="Arial"/>
                      </a:rPr>
                      <a:t>15</a:t>
                    </a:r>
                  </a:p>
                </c:rich>
              </c:tx>
              <c:showLegendKey val="0"/>
              <c:showVal val="1"/>
              <c:showCatName val="0"/>
              <c:showSerName val="0"/>
              <c:showPercent val="0"/>
              <c:showBubbleSize val="0"/>
            </c:dLbl>
            <c:dLbl>
              <c:idx val="3"/>
              <c:tx>
                <c:rich>
                  <a:bodyPr/>
                  <a:lstStyle/>
                  <a:p>
                    <a:r>
                      <a:rPr sz="1200" b="1">
                        <a:solidFill>
                          <a:srgbClr val="FFFFFF"/>
                        </a:solidFill>
                        <a:latin typeface="Arial"/>
                      </a:rPr>
                      <a:t>19</a:t>
                    </a:r>
                  </a:p>
                </c:rich>
              </c:tx>
              <c:showLegendKey val="0"/>
              <c:showVal val="1"/>
              <c:showCatName val="0"/>
              <c:showSerName val="0"/>
              <c:showPercent val="0"/>
              <c:showBubbleSize val="0"/>
            </c:dLbl>
            <c:dLbl>
              <c:idx val="4"/>
              <c:tx>
                <c:rich>
                  <a:bodyPr/>
                  <a:lstStyle/>
                  <a:p>
                    <a:r>
                      <a:rPr sz="1200" b="1">
                        <a:solidFill>
                          <a:srgbClr val="FFFFFF"/>
                        </a:solidFill>
                        <a:latin typeface="Arial"/>
                      </a:rPr>
                      <a:t>31</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Now (Oct 2026)</c:v>
                </c:pt>
                <c:pt idx="1">
                  <c:v>Jan 2027</c:v>
                </c:pt>
                <c:pt idx="2">
                  <c:v>Mar 2027</c:v>
                </c:pt>
                <c:pt idx="3">
                  <c:v>Jul 2027</c:v>
                </c:pt>
                <c:pt idx="4">
                  <c:v>Oct 2027</c:v>
                </c:pt>
              </c:strCache>
            </c:strRef>
          </c:cat>
          <c:val>
            <c:numRef>
              <c:f>Sheet1!$C$2:$C$6</c:f>
              <c:numCache>
                <c:formatCode>General</c:formatCode>
                <c:ptCount val="5"/>
                <c:pt idx="0">
                  <c:v>10.305525623121</c:v>
                </c:pt>
                <c:pt idx="1">
                  <c:v>14.541867801291</c:v>
                </c:pt>
                <c:pt idx="2">
                  <c:v>15.48517816325</c:v>
                </c:pt>
                <c:pt idx="3">
                  <c:v>19.492760437404</c:v>
                </c:pt>
                <c:pt idx="4">
                  <c:v>31.2994</c:v>
                </c:pt>
              </c:numCache>
            </c:numRef>
          </c:val>
        </c:ser>
        <c:ser>
          <c:idx val="2"/>
          <c:order val="2"/>
          <c:tx>
            <c:strRef>
              <c:f>Sheet1!$D$1</c:f>
              <c:strCache>
                <c:ptCount val="1"/>
                <c:pt idx="0">
                  <c:v>Marketing and ads</c:v>
                </c:pt>
              </c:strCache>
            </c:strRef>
          </c:tx>
          <c:spPr>
            <a:solidFill>
              <a:srgbClr val="9B3809"/>
            </a:solidFill>
          </c:spPr>
          <c:invertIfNegative val="0"/>
          <c:dLbls>
            <c:dLbl>
              <c:idx val="0"/>
              <c:tx>
                <c:rich>
                  <a:bodyPr/>
                  <a:lstStyle/>
                  <a:p/>
                </c:rich>
              </c:tx>
              <c:showLegendKey val="0"/>
              <c:showVal val="1"/>
              <c:showCatName val="0"/>
              <c:showSerName val="0"/>
              <c:showPercent val="0"/>
              <c:showBubbleSize val="0"/>
            </c:dLbl>
            <c:dLbl>
              <c:idx val="1"/>
              <c:tx>
                <c:rich>
                  <a:bodyPr/>
                  <a:lstStyle/>
                  <a:p>
                    <a:r>
                      <a:rPr sz="1200" b="1">
                        <a:solidFill>
                          <a:srgbClr val="FFFFFF"/>
                        </a:solidFill>
                        <a:latin typeface="Arial"/>
                      </a:rPr>
                      <a:t>6</a:t>
                    </a:r>
                  </a:p>
                </c:rich>
              </c:tx>
              <c:showLegendKey val="0"/>
              <c:showVal val="1"/>
              <c:showCatName val="0"/>
              <c:showSerName val="0"/>
              <c:showPercent val="0"/>
              <c:showBubbleSize val="0"/>
            </c:dLbl>
            <c:dLbl>
              <c:idx val="2"/>
              <c:tx>
                <c:rich>
                  <a:bodyPr/>
                  <a:lstStyle/>
                  <a:p>
                    <a:r>
                      <a:rPr sz="1200" b="1">
                        <a:solidFill>
                          <a:srgbClr val="FFFFFF"/>
                        </a:solidFill>
                        <a:latin typeface="Arial"/>
                      </a:rPr>
                      <a:t>6</a:t>
                    </a:r>
                  </a:p>
                </c:rich>
              </c:tx>
              <c:showLegendKey val="0"/>
              <c:showVal val="1"/>
              <c:showCatName val="0"/>
              <c:showSerName val="0"/>
              <c:showPercent val="0"/>
              <c:showBubbleSize val="0"/>
            </c:dLbl>
            <c:dLbl>
              <c:idx val="3"/>
              <c:tx>
                <c:rich>
                  <a:bodyPr/>
                  <a:lstStyle/>
                  <a:p>
                    <a:r>
                      <a:rPr sz="1200" b="1">
                        <a:solidFill>
                          <a:srgbClr val="FFFFFF"/>
                        </a:solidFill>
                        <a:latin typeface="Arial"/>
                      </a:rPr>
                      <a:t>6</a:t>
                    </a:r>
                  </a:p>
                </c:rich>
              </c:tx>
              <c:showLegendKey val="0"/>
              <c:showVal val="1"/>
              <c:showCatName val="0"/>
              <c:showSerName val="0"/>
              <c:showPercent val="0"/>
              <c:showBubbleSize val="0"/>
            </c:dLbl>
            <c:dLbl>
              <c:idx val="4"/>
              <c:tx>
                <c:rich>
                  <a:bodyPr/>
                  <a:lstStyle/>
                  <a:p>
                    <a:r>
                      <a:rPr sz="1200" b="1">
                        <a:solidFill>
                          <a:srgbClr val="FFFFFF"/>
                        </a:solidFill>
                        <a:latin typeface="Arial"/>
                      </a:rPr>
                      <a:t>6</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Now (Oct 2026)</c:v>
                </c:pt>
                <c:pt idx="1">
                  <c:v>Jan 2027</c:v>
                </c:pt>
                <c:pt idx="2">
                  <c:v>Mar 2027</c:v>
                </c:pt>
                <c:pt idx="3">
                  <c:v>Jul 2027</c:v>
                </c:pt>
                <c:pt idx="4">
                  <c:v>Oct 2027</c:v>
                </c:pt>
              </c:strCache>
            </c:strRef>
          </c:cat>
          <c:val>
            <c:numRef>
              <c:f>Sheet1!$D$2:$D$6</c:f>
              <c:numCache>
                <c:formatCode>General</c:formatCode>
                <c:ptCount val="5"/>
                <c:pt idx="0">
                  <c:v>2.079916666667</c:v>
                </c:pt>
                <c:pt idx="1">
                  <c:v>5.611307857318</c:v>
                </c:pt>
                <c:pt idx="2">
                  <c:v>5.616342916667</c:v>
                </c:pt>
                <c:pt idx="3">
                  <c:v>5.82240395915</c:v>
                </c:pt>
                <c:pt idx="4">
                  <c:v>6.014998083903</c:v>
                </c:pt>
              </c:numCache>
            </c:numRef>
          </c:val>
        </c:ser>
        <c:ser>
          <c:idx val="3"/>
          <c:order val="3"/>
          <c:tx>
            <c:strRef>
              <c:f>Sheet1!$E$1</c:f>
              <c:strCache>
                <c:ptCount val="1"/>
                <c:pt idx="0">
                  <c:v>Office and accountant</c:v>
                </c:pt>
              </c:strCache>
            </c:strRef>
          </c:tx>
          <c:spPr>
            <a:solidFill>
              <a:srgbClr val="C3C9D4"/>
            </a:solidFill>
          </c:spPr>
          <c:invertIfNegative val="0"/>
          <c:dLbls>
            <c:dLbl>
              <c:idx val="0"/>
              <c:tx>
                <c:rich>
                  <a:bodyPr/>
                  <a:lstStyle/>
                  <a:p>
                    <a:r>
                      <a:rPr sz="1200" b="1">
                        <a:solidFill>
                          <a:srgbClr val="FFFFFF"/>
                        </a:solidFill>
                        <a:latin typeface="Arial"/>
                      </a:rPr>
                      <a:t>7</a:t>
                    </a:r>
                  </a:p>
                </c:rich>
              </c:tx>
              <c:showLegendKey val="0"/>
              <c:showVal val="1"/>
              <c:showCatName val="0"/>
              <c:showSerName val="0"/>
              <c:showPercent val="0"/>
              <c:showBubbleSize val="0"/>
            </c:dLbl>
            <c:dLbl>
              <c:idx val="1"/>
              <c:tx>
                <c:rich>
                  <a:bodyPr/>
                  <a:lstStyle/>
                  <a:p>
                    <a:r>
                      <a:rPr sz="1200" b="1">
                        <a:solidFill>
                          <a:srgbClr val="FFFFFF"/>
                        </a:solidFill>
                        <a:latin typeface="Arial"/>
                      </a:rPr>
                      <a:t>7</a:t>
                    </a:r>
                  </a:p>
                </c:rich>
              </c:tx>
              <c:showLegendKey val="0"/>
              <c:showVal val="1"/>
              <c:showCatName val="0"/>
              <c:showSerName val="0"/>
              <c:showPercent val="0"/>
              <c:showBubbleSize val="0"/>
            </c:dLbl>
            <c:dLbl>
              <c:idx val="2"/>
              <c:tx>
                <c:rich>
                  <a:bodyPr/>
                  <a:lstStyle/>
                  <a:p>
                    <a:r>
                      <a:rPr sz="1200" b="1">
                        <a:solidFill>
                          <a:srgbClr val="FFFFFF"/>
                        </a:solidFill>
                        <a:latin typeface="Arial"/>
                      </a:rPr>
                      <a:t>7</a:t>
                    </a:r>
                  </a:p>
                </c:rich>
              </c:tx>
              <c:showLegendKey val="0"/>
              <c:showVal val="1"/>
              <c:showCatName val="0"/>
              <c:showSerName val="0"/>
              <c:showPercent val="0"/>
              <c:showBubbleSize val="0"/>
            </c:dLbl>
            <c:dLbl>
              <c:idx val="3"/>
              <c:tx>
                <c:rich>
                  <a:bodyPr/>
                  <a:lstStyle/>
                  <a:p>
                    <a:r>
                      <a:rPr sz="1200" b="1">
                        <a:solidFill>
                          <a:srgbClr val="FFFFFF"/>
                        </a:solidFill>
                        <a:latin typeface="Arial"/>
                      </a:rPr>
                      <a:t>7</a:t>
                    </a:r>
                  </a:p>
                </c:rich>
              </c:tx>
              <c:showLegendKey val="0"/>
              <c:showVal val="1"/>
              <c:showCatName val="0"/>
              <c:showSerName val="0"/>
              <c:showPercent val="0"/>
              <c:showBubbleSize val="0"/>
            </c:dLbl>
            <c:dLbl>
              <c:idx val="4"/>
              <c:tx>
                <c:rich>
                  <a:bodyPr/>
                  <a:lstStyle/>
                  <a:p>
                    <a:r>
                      <a:rPr sz="1200" b="1">
                        <a:solidFill>
                          <a:srgbClr val="FFFFFF"/>
                        </a:solidFill>
                        <a:latin typeface="Arial"/>
                      </a:rPr>
                      <a:t>7</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Now (Oct 2026)</c:v>
                </c:pt>
                <c:pt idx="1">
                  <c:v>Jan 2027</c:v>
                </c:pt>
                <c:pt idx="2">
                  <c:v>Mar 2027</c:v>
                </c:pt>
                <c:pt idx="3">
                  <c:v>Jul 2027</c:v>
                </c:pt>
                <c:pt idx="4">
                  <c:v>Oct 2027</c:v>
                </c:pt>
              </c:strCache>
            </c:strRef>
          </c:cat>
          <c:val>
            <c:numRef>
              <c:f>Sheet1!$E$2:$E$6</c:f>
              <c:numCache>
                <c:formatCode>General</c:formatCode>
                <c:ptCount val="5"/>
                <c:pt idx="0">
                  <c:v>7.3</c:v>
                </c:pt>
                <c:pt idx="1">
                  <c:v>7.3</c:v>
                </c:pt>
                <c:pt idx="2">
                  <c:v>7.3</c:v>
                </c:pt>
                <c:pt idx="3">
                  <c:v>7.3</c:v>
                </c:pt>
                <c:pt idx="4">
                  <c:v>7.3</c:v>
                </c:pt>
              </c:numCache>
            </c:numRef>
          </c:val>
        </c:ser>
        <c:ser>
          <c:idx val="4"/>
          <c:order val="4"/>
          <c:tx>
            <c:strRef>
              <c:f>Sheet1!$F$1</c:f>
              <c:strCache>
                <c:ptCount val="1"/>
                <c:pt idx="0">
                  <c:v>Sales and delivery support</c:v>
                </c:pt>
              </c:strCache>
            </c:strRef>
          </c:tx>
          <c:spPr>
            <a:solidFill>
              <a:srgbClr val="C9B78D"/>
            </a:solidFill>
          </c:spPr>
          <c:invertIfNegative val="0"/>
          <c:dLbls>
            <c:dLbl>
              <c:idx val="0"/>
              <c:tx>
                <c:rich>
                  <a:bodyPr/>
                  <a:lstStyle/>
                  <a:p/>
                </c:rich>
              </c:tx>
              <c:showLegendKey val="0"/>
              <c:showVal val="1"/>
              <c:showCatName val="0"/>
              <c:showSerName val="0"/>
              <c:showPercent val="0"/>
              <c:showBubbleSize val="0"/>
            </c:dLbl>
            <c:dLbl>
              <c:idx val="1"/>
              <c:tx>
                <c:rich>
                  <a:bodyPr/>
                  <a:lstStyle/>
                  <a:p>
                    <a:r>
                      <a:rPr sz="1200" b="1">
                        <a:solidFill>
                          <a:srgbClr val="FFFFFF"/>
                        </a:solidFill>
                        <a:latin typeface="Arial"/>
                      </a:rPr>
                      <a:t>4</a:t>
                    </a:r>
                  </a:p>
                </c:rich>
              </c:tx>
              <c:showLegendKey val="0"/>
              <c:showVal val="1"/>
              <c:showCatName val="0"/>
              <c:showSerName val="0"/>
              <c:showPercent val="0"/>
              <c:showBubbleSize val="0"/>
            </c:dLbl>
            <c:dLbl>
              <c:idx val="2"/>
              <c:tx>
                <c:rich>
                  <a:bodyPr/>
                  <a:lstStyle/>
                  <a:p>
                    <a:r>
                      <a:rPr sz="1200" b="1">
                        <a:solidFill>
                          <a:srgbClr val="FFFFFF"/>
                        </a:solidFill>
                        <a:latin typeface="Arial"/>
                      </a:rPr>
                      <a:t>6</a:t>
                    </a:r>
                  </a:p>
                </c:rich>
              </c:tx>
              <c:showLegendKey val="0"/>
              <c:showVal val="1"/>
              <c:showCatName val="0"/>
              <c:showSerName val="0"/>
              <c:showPercent val="0"/>
              <c:showBubbleSize val="0"/>
            </c:dLbl>
            <c:dLbl>
              <c:idx val="3"/>
              <c:tx>
                <c:rich>
                  <a:bodyPr/>
                  <a:lstStyle/>
                  <a:p>
                    <a:r>
                      <a:rPr sz="1200" b="1">
                        <a:solidFill>
                          <a:srgbClr val="FFFFFF"/>
                        </a:solidFill>
                        <a:latin typeface="Arial"/>
                      </a:rPr>
                      <a:t>16</a:t>
                    </a:r>
                  </a:p>
                </c:rich>
              </c:tx>
              <c:showLegendKey val="0"/>
              <c:showVal val="1"/>
              <c:showCatName val="0"/>
              <c:showSerName val="0"/>
              <c:showPercent val="0"/>
              <c:showBubbleSize val="0"/>
            </c:dLbl>
            <c:dLbl>
              <c:idx val="4"/>
              <c:tx>
                <c:rich>
                  <a:bodyPr/>
                  <a:lstStyle/>
                  <a:p>
                    <a:r>
                      <a:rPr sz="1200" b="1">
                        <a:solidFill>
                          <a:srgbClr val="FFFFFF"/>
                        </a:solidFill>
                        <a:latin typeface="Arial"/>
                      </a:rPr>
                      <a:t>18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Now (Oct 2026)</c:v>
                </c:pt>
                <c:pt idx="1">
                  <c:v>Jan 2027</c:v>
                </c:pt>
                <c:pt idx="2">
                  <c:v>Mar 2027</c:v>
                </c:pt>
                <c:pt idx="3">
                  <c:v>Jul 2027</c:v>
                </c:pt>
                <c:pt idx="4">
                  <c:v>Oct 2027</c:v>
                </c:pt>
              </c:strCache>
            </c:strRef>
          </c:cat>
          <c:val>
            <c:numRef>
              <c:f>Sheet1!$F$2:$F$6</c:f>
              <c:numCache>
                <c:formatCode>General</c:formatCode>
                <c:ptCount val="5"/>
                <c:pt idx="0">
                  <c:v>2.0</c:v>
                </c:pt>
                <c:pt idx="1">
                  <c:v>4.5</c:v>
                </c:pt>
                <c:pt idx="2">
                  <c:v>6.0</c:v>
                </c:pt>
                <c:pt idx="3">
                  <c:v>16.0</c:v>
                </c:pt>
                <c:pt idx="4">
                  <c:v>18.0</c:v>
                </c:pt>
              </c:numCache>
            </c:numRef>
          </c:val>
        </c:ser>
        <c:dLbls>
          <c:numFmt formatCode="#,##0" sourceLinked="0"/>
          <c:txPr>
            <a:bodyPr/>
            <a:lstStyle/>
            <a:p>
              <a:pPr>
                <a:defRPr sz="1200" b="1">
                  <a:solidFill>
                    <a:srgbClr val="FFFFFF"/>
                  </a:solidFill>
                  <a:latin typeface="Arial"/>
                </a:defRPr>
              </a:pPr>
            </a:p>
          </c:txPr>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109.51799760487874"/>
          <c:min val="0.0"/>
        </c:scaling>
        <c:delete/>
        <c:axPos val="l"/>
        <c:majorTickMark val="out"/>
        <c:minorTickMark val="none"/>
        <c:tickLblPos val="nextTo"/>
        <c:crossAx val="-2068027336"/>
        <c:crosses val="autoZero"/>
      </c:valAx>
    </c:plotArea>
    <c:legend>
      <c:legendPos val="b"/>
      <c:overlay val="0"/>
      <c:txPr>
        <a:bodyPr/>
        <a:lstStyle/>
        <a:p>
          <a:pPr>
            <a:defRPr sz="12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Sessions to deliver each month vs paid capacity</a:t>
            </a:r>
          </a:p>
        </c:rich>
      </c:tx>
      <c:layout/>
      <c:overlay val="0"/>
    </c:title>
    <c:autoTitleDeleted val="0"/>
    <c:plotArea>
      <c:barChart>
        <c:barDir val="col"/>
        <c:grouping val="clustered"/>
        <c:ser>
          <c:idx val="0"/>
          <c:order val="0"/>
          <c:tx>
            <c:strRef>
              <c:f>Sheet1!$B$1</c:f>
              <c:strCache>
                <c:ptCount val="1"/>
                <c:pt idx="0">
                  <c:v>B2C sessions</c:v>
                </c:pt>
              </c:strCache>
            </c:strRef>
          </c:tx>
          <c:spPr>
            <a:solidFill>
              <a:srgbClr val="9B3809"/>
            </a:solidFill>
          </c:spPr>
          <c:invertIfNegative val="0"/>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2</c:v>
                </c:pt>
                <c:pt idx="1">
                  <c:v>2</c:v>
                </c:pt>
                <c:pt idx="2">
                  <c:v>2</c:v>
                </c:pt>
                <c:pt idx="3">
                  <c:v>3</c:v>
                </c:pt>
                <c:pt idx="4">
                  <c:v>4</c:v>
                </c:pt>
                <c:pt idx="5">
                  <c:v>4</c:v>
                </c:pt>
                <c:pt idx="6">
                  <c:v>10</c:v>
                </c:pt>
                <c:pt idx="7">
                  <c:v>11</c:v>
                </c:pt>
                <c:pt idx="8">
                  <c:v>11</c:v>
                </c:pt>
                <c:pt idx="9">
                  <c:v>17</c:v>
                </c:pt>
                <c:pt idx="10">
                  <c:v>18</c:v>
                </c:pt>
                <c:pt idx="11">
                  <c:v>19</c:v>
                </c:pt>
                <c:pt idx="12">
                  <c:v>21</c:v>
                </c:pt>
                <c:pt idx="13">
                  <c:v>22</c:v>
                </c:pt>
                <c:pt idx="14">
                  <c:v>24</c:v>
                </c:pt>
              </c:numCache>
            </c:numRef>
          </c:val>
        </c:ser>
        <c:ser>
          <c:idx val="1"/>
          <c:order val="1"/>
          <c:tx>
            <c:strRef>
              <c:f>Sheet1!$C$1</c:f>
              <c:strCache>
                <c:ptCount val="1"/>
                <c:pt idx="0">
                  <c:v>EAP sessions</c:v>
                </c:pt>
              </c:strCache>
            </c:strRef>
          </c:tx>
          <c:spPr>
            <a:solidFill>
              <a:srgbClr val="1E2A3A"/>
            </a:solidFill>
          </c:spPr>
          <c:invertIfNegative val="0"/>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Sheet1!$C$2:$C$16</c:f>
              <c:numCache>
                <c:formatCode>General</c:formatCode>
                <c:ptCount val="15"/>
                <c:pt idx="0">
                  <c:v>10</c:v>
                </c:pt>
                <c:pt idx="1">
                  <c:v>10</c:v>
                </c:pt>
                <c:pt idx="2">
                  <c:v>10</c:v>
                </c:pt>
                <c:pt idx="3">
                  <c:v>10</c:v>
                </c:pt>
                <c:pt idx="4">
                  <c:v>20</c:v>
                </c:pt>
                <c:pt idx="5">
                  <c:v>20</c:v>
                </c:pt>
                <c:pt idx="6">
                  <c:v>20</c:v>
                </c:pt>
                <c:pt idx="7">
                  <c:v>20</c:v>
                </c:pt>
                <c:pt idx="8">
                  <c:v>20</c:v>
                </c:pt>
                <c:pt idx="9">
                  <c:v>30</c:v>
                </c:pt>
                <c:pt idx="10">
                  <c:v>30</c:v>
                </c:pt>
                <c:pt idx="11">
                  <c:v>30</c:v>
                </c:pt>
                <c:pt idx="12">
                  <c:v>30</c:v>
                </c:pt>
                <c:pt idx="13">
                  <c:v>30</c:v>
                </c:pt>
                <c:pt idx="14">
                  <c:v>30</c:v>
                </c:pt>
              </c:numCache>
            </c:numRef>
          </c:val>
        </c:ser>
        <c:gapWidth val="60"/>
        <c:overlap val="-10"/>
        <c:axId val="-2068027336"/>
        <c:axId val="-2113994440"/>
      </c:barChart>
      <c:lineChart>
        <c:grouping val="standard"/>
        <c:varyColors val="0"/>
        <c:ser>
          <c:idx val="2"/>
          <c:order val="2"/>
          <c:tx>
            <c:strRef>
              <c:f>Sheet1!$D$1</c:f>
              <c:strCache>
                <c:ptCount val="1"/>
                <c:pt idx="0">
                  <c:v>Paid part-time capacity</c:v>
                </c:pt>
              </c:strCache>
            </c:strRef>
          </c:tx>
          <c:spPr>
            <a:ln w="38100" cap="rnd">
              <a:solidFill>
                <a:srgbClr val="576C94"/>
              </a:solidFill>
              <a:prstDash val="dash"/>
              <a:round/>
            </a:ln>
          </c:spPr>
          <c:marker>
            <c:symbol val="none"/>
          </c:marker>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Sheet1!$D$2:$D$16</c:f>
              <c:numCache>
                <c:formatCode>General</c:formatCode>
                <c:ptCount val="15"/>
                <c:pt idx="0">
                  <c:v>36</c:v>
                </c:pt>
                <c:pt idx="1">
                  <c:v>36</c:v>
                </c:pt>
                <c:pt idx="2">
                  <c:v>36</c:v>
                </c:pt>
                <c:pt idx="3">
                  <c:v>72</c:v>
                </c:pt>
                <c:pt idx="4">
                  <c:v>72</c:v>
                </c:pt>
                <c:pt idx="5">
                  <c:v>72</c:v>
                </c:pt>
                <c:pt idx="6">
                  <c:v>72</c:v>
                </c:pt>
                <c:pt idx="7">
                  <c:v>72</c:v>
                </c:pt>
                <c:pt idx="8">
                  <c:v>72</c:v>
                </c:pt>
                <c:pt idx="9">
                  <c:v>72</c:v>
                </c:pt>
                <c:pt idx="10">
                  <c:v>72</c:v>
                </c:pt>
                <c:pt idx="11">
                  <c:v>72</c:v>
                </c:pt>
                <c:pt idx="12">
                  <c:v>72</c:v>
                </c:pt>
                <c:pt idx="13">
                  <c:v>72</c:v>
                </c:pt>
                <c:pt idx="14">
                  <c:v>72</c:v>
                </c:pt>
              </c:numCache>
            </c:numRef>
          </c:val>
          <c:smooth val="0"/>
        </c:ser>
        <c:marker val="1"/>
        <c:axId val="-2068027336"/>
        <c:axId val="-2113994440"/>
      </c:lineChart>
      <c:catAx>
        <c:axId val="-2068027336"/>
        <c:scaling>
          <c:orientation val="minMax"/>
        </c:scaling>
        <c:delete val="0"/>
        <c:axPos val="b"/>
        <c:majorTickMark val="out"/>
        <c:minorTickMark val="none"/>
        <c:tickLblPos val="nextTo"/>
        <c:spPr>
          <a:ln>
            <a:solidFill>
              <a:srgbClr val="E3DED3"/>
            </a:solidFill>
          </a:ln>
        </c:spPr>
        <c:txPr>
          <a:bodyPr/>
          <a:lstStyle/>
          <a:p>
            <a:pPr>
              <a:defRPr sz="1000">
                <a:solidFill>
                  <a:srgbClr val="6B7A99"/>
                </a:solidFill>
                <a:latin typeface="Arial"/>
              </a:defRPr>
            </a:pPr>
          </a:p>
        </c:txPr>
        <c:crossAx val="-2113994440"/>
        <c:crosses val="autoZero"/>
        <c:auto val="1"/>
        <c:lblAlgn val="ctr"/>
        <c:lblOffset val="100"/>
        <c:noMultiLvlLbl val="0"/>
      </c:catAx>
      <c:valAx>
        <c:axId val="-2113994440"/>
        <c:scaling>
          <c:min val="0.0"/>
        </c:scaling>
        <c:delete val="0"/>
        <c:axPos val="l"/>
        <c:majorGridlines>
          <c:spPr>
            <a:ln>
              <a:solidFill>
                <a:srgbClr val="E3DED3"/>
              </a:solidFill>
            </a:ln>
          </c:spPr>
        </c:majorGridlines>
        <c:numFmt formatCode="#,##0" sourceLinked="0"/>
        <c:majorTickMark val="out"/>
        <c:minorTickMark val="none"/>
        <c:tickLblPos val="nextTo"/>
        <c:spPr>
          <a:ln>
            <a:noFill/>
          </a:ln>
        </c:spPr>
        <c:txPr>
          <a:bodyPr/>
          <a:lstStyle/>
          <a:p>
            <a:pPr>
              <a:defRPr sz="1000">
                <a:solidFill>
                  <a:srgbClr val="6B7A99"/>
                </a:solidFill>
                <a:latin typeface="Arial"/>
              </a:defRPr>
            </a:pPr>
          </a:p>
        </c:txPr>
        <c:crossAx val="-2068027336"/>
        <c:crosses val="autoZero"/>
      </c:valAx>
    </c:plotArea>
    <c:legend>
      <c:legendPos val="t"/>
      <c:overlay val="0"/>
      <c:txPr>
        <a:bodyPr/>
        <a:lstStyle/>
        <a:p>
          <a:pPr>
            <a:defRPr sz="11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written to be read without a presenter. Slide 2 gives the whole answer. Each part opens with a dark slide and the question it answers: the goal and the problem (slide 3), A. B2B (8), B. B2C (16), C. people (19), D. money (25), next steps (29) and the appendix (32).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deck on one page. A and B are where money comes from, C is what we spend on people, D is when the money moves. The rest of the deck proves each part,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1 is why we exist: value for clients. Goal 2 is what lets us keep doing it: a business that pays for itself. Fair pay is not a goal on its own; it is one result we track, in the People pillar. Each pillar has three numbers. Most already sit in parts A to D; the slide numbers show where. Two are new and start in Q4 2026: before/after scores on each training, and EAP renewals. They are our proof of value for the next client. Community reach: 710 training participants in 2027 (5 Flagship programs x 40 people, 17 regional ToT x 30), each passing it on to about 2 people (estimate; replace with BI's ambassador reports). Plus people at bank and public events, and B2C counseling sessions.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income is uneven, our costs are not. The 15% cushion keeps salaries safe in quiet months and leaves money to grow.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Full-time staff are underpaid: this plan fixes it. Part-time staff are paid enough: we keep their rates and only change how their contracts work (slides 24 and 35). Each EAP contract adds about 5 to 7 points of margin: 0 new = 7%, 1 new = 13%, 2 new = 18%, 3 new = 22%, 4 new = 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bar taller than blue: we spend more than we sell that month. The red dashed line is one month of costs. Put real monthly sales and costs next to these bars every month.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B2B strategy on one page. Start with one big program at a head office, spread the same program to its branches, then keep the client with a monthly EAP contract. BI is first because we already deliver its flagship program.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now means the latest start date is within a month. Kia leads regulators and banks; Galih leads EAP 2. The BD co-founder takes over OJK, LPS and banks after joining.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training (BI regional offices and LPS) is our most frequent product: 17 days in 2027. Today we charge Rp20M and it costs Rp8M, so we keep Rp12M. Our 3x rule sets the floor for the training part at Rp24M. Adding the assessment and impact report (30 participants x Rp150k) brings the price to Rp28.5M, so we keep Rp20.5M. Counseling is the one product below 3x (2.5x) on purpose: it keeps sessions affordable. The public event price of Rp24M is a proposal; the model still uses Rp20M.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clearly cheaper than big training firms but never the cheapest. The 3 times rule makes sure each event also pays its share of salaries and office.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from the right: each dark bar is work we must deliver. The light bar before it is the time to find, pitch and sign the client, or to recruit and train people. Regulators and banks plan next year's budget in the second half of this year, so BI, EAP 3 and bank days all start now. Dates come from the Roadmap sheet in the model. Without the levers, lowest cash is Rp82M (Feb 2027) and cash is under the floor in 1 months.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 other clients, do not shrink BI. That is the safest way to reduce dependence on one client.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sales co-founder fixes the limit that matters most today: who sells to regulators and banks. Marketing can be hired as staff for less.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funnel: followers x booking rate (new paying clients a month per 1,000 followers) x sessions per client, plus sessions from Theta vouchers given to EAP staff. Today about 2 paid sessions a month from 3,439 followers. Growth is set per quarter on the B2C sheet. 10,000 followers at today's booking rate would give only about 6 sessions a month: bookings and repeat sessions (packages of sessions) do most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LTV = Rp1M price x 60% after the psychologist fee x 1.4 sessions = Rp840k. Instagram cost per client = all ad spend divided by new Instagram clients, so it is cautious. Ads earn back less than they cost until about July 2027. Referral at 20% of new clients adds about Rp18M of B2C revenue in 2027. Upgrade the sheet to codes in the Theta app at 40+ new clients a month.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the hiring plan in one picture. Each blue bar is a step where the new person and the new work arrive together.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Founders' decision, 5 October 2026: targets first, then pay. In a bad year the steps do not unlock, so the cost follows the sales. Sales = all money clients pay us in a month. Ask a labour consultant to confirm the written agreements.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left to right. Blue boxes = today's team; cream boxes = new at that step. Everything from earlier columns stays.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business moves only as fast as its slowest step, and that step changes during the year. Red bars = more projects than one project manager can run. Trainers must be certified about 2 months before the 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Kraljic matrix, a tool buyers use to sort suppliers. Here the suppliers are our own people.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use the same costs and B2C plan. Only the B2B sales change. The current estimate is the plan we manage to.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cash drop from October to February is a sales gap, not overspending. Ads stay because this is when we need sales; they must earn back their cost (ROAS = sales from ads divided by ad cost). Getting paid earlier (EAP billed in advance, a down payment from BI) helps most. Steps 6 and 7 are a reserve if BI says no to a down payment.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'ready to grow' means in numbers. We do not invest the cushion. We invest only what we earn above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eight actions start the plan. Items 1, 4 and 5 bring the money; 2, 3 and 8 make sure we can deliver; 6 and 7 set up pay and B2C tracking. Check them every Monday.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open founder decisions. Each one is a blue input in the model, so the numbers update when you decide.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cost is what we pay every month even with no events. Delivery costs (trainer and session fees) come on top, only when there is work.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areas cover any service contract without overlap: how we pay, what time they promise, how we check their work, and how we protect ourselves.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B2C clients mostly book evenings and weekends; EAP sessions are mostly in office hours. So the two paid part-timers split days and evenings, and the pool takes Friday evening and Sunday. Confirm how the pool of 20 is paid (per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chart" Target="../charts/chart13.xml"/><Relationship Id="rId4"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 Id="rId3"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 Id="rId3"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1</a:t>
            </a:r>
          </a:p>
        </p:txBody>
      </p:sp>
      <p:sp>
        <p:nvSpPr>
          <p:cNvPr id="3" name="Rounded Rectangle 2"/>
          <p:cNvSpPr/>
          <p:nvPr/>
        </p:nvSpPr>
        <p:spPr>
          <a:xfrm>
            <a:off x="731520" y="777240"/>
            <a:ext cx="4206240" cy="34747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TEMAN JOURNEY  ·  GROWTH PLAN  ·  5 OCT 2026</a:t>
            </a:r>
          </a:p>
        </p:txBody>
      </p:sp>
      <p:sp>
        <p:nvSpPr>
          <p:cNvPr id="4" name="TextBox 3"/>
          <p:cNvSpPr txBox="1"/>
          <p:nvPr/>
        </p:nvSpPr>
        <p:spPr>
          <a:xfrm>
            <a:off x="731520" y="1371600"/>
            <a:ext cx="10607040" cy="1737360"/>
          </a:xfrm>
          <a:prstGeom prst="rect">
            <a:avLst/>
          </a:prstGeom>
          <a:noFill/>
        </p:spPr>
        <p:txBody>
          <a:bodyPr wrap="square" anchor="t" lIns="0" rIns="0" tIns="36576" bIns="36576">
            <a:spAutoFit/>
          </a:bodyPr>
          <a:lstStyle/>
          <a:p>
            <a:pPr algn="l">
              <a:spcAft>
                <a:spcPts val="400"/>
              </a:spcAft>
            </a:pPr>
            <a:r>
              <a:rPr sz="4600" b="1" i="0">
                <a:solidFill>
                  <a:srgbClr val="FFFFFF"/>
                </a:solidFill>
                <a:latin typeface="Georgia"/>
              </a:rPr>
              <a:t>Create </a:t>
            </a:r>
            <a:r>
              <a:rPr sz="4600" b="1" i="0">
                <a:solidFill>
                  <a:srgbClr val="E8904A"/>
                </a:solidFill>
                <a:latin typeface="Georgia"/>
              </a:rPr>
              <a:t>real value for our clients</a:t>
            </a:r>
            <a:r>
              <a:rPr sz="4600" b="1" i="0">
                <a:solidFill>
                  <a:srgbClr val="FFFFFF"/>
                </a:solidFill>
                <a:latin typeface="Georgia"/>
              </a:rPr>
              <a:t>, in a business that pays for itself</a:t>
            </a:r>
          </a:p>
        </p:txBody>
      </p:sp>
      <p:sp>
        <p:nvSpPr>
          <p:cNvPr id="5" name="TextBox 4"/>
          <p:cNvSpPr txBox="1"/>
          <p:nvPr/>
        </p:nvSpPr>
        <p:spPr>
          <a:xfrm>
            <a:off x="731520" y="3154680"/>
            <a:ext cx="9875520" cy="822960"/>
          </a:xfrm>
          <a:prstGeom prst="rect">
            <a:avLst/>
          </a:prstGeom>
          <a:noFill/>
        </p:spPr>
        <p:txBody>
          <a:bodyPr wrap="square" anchor="t" lIns="0" rIns="0" tIns="36576" bIns="36576">
            <a:spAutoFit/>
          </a:bodyPr>
          <a:lstStyle/>
          <a:p>
            <a:pPr algn="l">
              <a:spcAft>
                <a:spcPts val="400"/>
              </a:spcAft>
            </a:pPr>
            <a:r>
              <a:rPr sz="1800" b="0" i="0">
                <a:solidFill>
                  <a:srgbClr val="C9D2E3"/>
                </a:solidFill>
                <a:latin typeface="Arial"/>
              </a:rPr>
              <a:t>Two goals, tracked through four impact pillars: clients, people, company and community. Fair pay and a 15%+ margin are how we show it works.</a:t>
            </a:r>
          </a:p>
        </p:txBody>
      </p:sp>
      <p:sp>
        <p:nvSpPr>
          <p:cNvPr id="6" name="Rounded Rectangle 5"/>
          <p:cNvSpPr/>
          <p:nvPr/>
        </p:nvSpPr>
        <p:spPr>
          <a:xfrm>
            <a:off x="731520" y="4297680"/>
            <a:ext cx="3383280" cy="123444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E8904A"/>
                </a:solidFill>
                <a:latin typeface="Georgia"/>
              </a:rPr>
              <a:t>26.1%</a:t>
            </a:r>
          </a:p>
          <a:p>
            <a:pPr algn="l">
              <a:spcAft>
                <a:spcPts val="200"/>
              </a:spcAft>
            </a:pPr>
            <a:r>
              <a:rPr sz="1200" b="0" i="0">
                <a:solidFill>
                  <a:srgbClr val="C9D2E3"/>
                </a:solidFill>
                <a:latin typeface="Arial"/>
              </a:rPr>
              <a:t>net margin in 2027 (current estimate)</a:t>
            </a:r>
          </a:p>
        </p:txBody>
      </p:sp>
      <p:sp>
        <p:nvSpPr>
          <p:cNvPr id="7" name="Rounded Rectangle 6"/>
          <p:cNvSpPr/>
          <p:nvPr/>
        </p:nvSpPr>
        <p:spPr>
          <a:xfrm>
            <a:off x="4343400" y="4297680"/>
            <a:ext cx="3383280" cy="123444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E8904A"/>
                </a:solidFill>
                <a:latin typeface="Georgia"/>
              </a:rPr>
              <a:t>Rp82M</a:t>
            </a:r>
          </a:p>
          <a:p>
            <a:pPr algn="l">
              <a:spcAft>
                <a:spcPts val="200"/>
              </a:spcAft>
            </a:pPr>
            <a:r>
              <a:rPr sz="1200" b="0" i="0">
                <a:solidFill>
                  <a:srgbClr val="C9D2E3"/>
                </a:solidFill>
                <a:latin typeface="Arial"/>
              </a:rPr>
              <a:t>lowest cash, Feb 2027: our weak point</a:t>
            </a:r>
          </a:p>
        </p:txBody>
      </p:sp>
      <p:sp>
        <p:nvSpPr>
          <p:cNvPr id="8" name="Rounded Rectangle 7"/>
          <p:cNvSpPr/>
          <p:nvPr/>
        </p:nvSpPr>
        <p:spPr>
          <a:xfrm>
            <a:off x="7955280" y="4297680"/>
            <a:ext cx="3383280" cy="123444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E8904A"/>
                </a:solidFill>
                <a:latin typeface="Georgia"/>
              </a:rPr>
              <a:t>March 2027</a:t>
            </a:r>
          </a:p>
          <a:p>
            <a:pPr algn="l">
              <a:spcAft>
                <a:spcPts val="200"/>
              </a:spcAft>
            </a:pPr>
            <a:r>
              <a:rPr sz="1200" b="0" i="0">
                <a:solidFill>
                  <a:srgbClr val="C9D2E3"/>
                </a:solidFill>
                <a:latin typeface="Arial"/>
              </a:rPr>
              <a:t>new work starts; we pitch and sign now</a:t>
            </a:r>
          </a:p>
        </p:txBody>
      </p:sp>
      <p:sp>
        <p:nvSpPr>
          <p:cNvPr id="9" name="TextBox 8"/>
          <p:cNvSpPr txBox="1"/>
          <p:nvPr/>
        </p:nvSpPr>
        <p:spPr>
          <a:xfrm>
            <a:off x="731520" y="5852160"/>
            <a:ext cx="10515600" cy="365760"/>
          </a:xfrm>
          <a:prstGeom prst="rect">
            <a:avLst/>
          </a:prstGeom>
          <a:noFill/>
        </p:spPr>
        <p:txBody>
          <a:bodyPr wrap="square" anchor="t" lIns="0" rIns="0" tIns="36576" bIns="36576">
            <a:spAutoFit/>
          </a:bodyPr>
          <a:lstStyle/>
          <a:p>
            <a:pPr algn="l">
              <a:spcAft>
                <a:spcPts val="400"/>
              </a:spcAft>
            </a:pPr>
            <a:r>
              <a:rPr sz="1200" b="0" i="0">
                <a:solidFill>
                  <a:srgbClr val="9FAAC0"/>
                </a:solidFill>
                <a:latin typeface="Arial"/>
              </a:rPr>
              <a:t>Three estimates in this deck: conservative, current and aggressive. All money is in Rupiah million (Rp 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Value for clients pays for fair pay and </a:t>
            </a:r>
            <a:r>
              <a:rPr sz="2800" b="1" i="0">
                <a:solidFill>
                  <a:srgbClr val="9B3809"/>
                </a:solidFill>
                <a:latin typeface="Georgia"/>
              </a:rPr>
              <a:t>26.1%</a:t>
            </a:r>
            <a:r>
              <a:rPr sz="2800" b="1" i="0">
                <a:solidFill>
                  <a:srgbClr val="1E2A3A"/>
                </a:solidFill>
                <a:latin typeface="Georgia"/>
              </a:rPr>
              <a:t> margin</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Goals and pillars: slide 4. Money in (A. B2B, B. B2C), money out (C. people), timing (D. cash).</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OUR ANSWER</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Current estimate; conservative and aggressive estimates on slide 26.</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a:t>
            </a:r>
          </a:p>
        </p:txBody>
      </p:sp>
      <p:sp>
        <p:nvSpPr>
          <p:cNvPr id="7" name="Rounded Rectangle 6"/>
          <p:cNvSpPr/>
          <p:nvPr/>
        </p:nvSpPr>
        <p:spPr>
          <a:xfrm>
            <a:off x="457200" y="1417320"/>
            <a:ext cx="2697480" cy="3703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8" name="Oval 7"/>
          <p:cNvSpPr/>
          <p:nvPr/>
        </p:nvSpPr>
        <p:spPr>
          <a:xfrm>
            <a:off x="640080" y="1572768"/>
            <a:ext cx="502920" cy="502920"/>
          </a:xfrm>
          <a:prstGeom prst="ellipse">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A</a:t>
            </a:r>
          </a:p>
        </p:txBody>
      </p:sp>
      <p:sp>
        <p:nvSpPr>
          <p:cNvPr id="9" name="TextBox 8"/>
          <p:cNvSpPr txBox="1"/>
          <p:nvPr/>
        </p:nvSpPr>
        <p:spPr>
          <a:xfrm>
            <a:off x="123444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B2B is our engine</a:t>
            </a:r>
          </a:p>
        </p:txBody>
      </p:sp>
      <p:sp>
        <p:nvSpPr>
          <p:cNvPr id="10" name="TextBox 9"/>
          <p:cNvSpPr txBox="1"/>
          <p:nvPr/>
        </p:nvSpPr>
        <p:spPr>
          <a:xfrm>
            <a:off x="640080" y="2240280"/>
            <a:ext cx="2377440" cy="960120"/>
          </a:xfrm>
          <a:prstGeom prst="rect">
            <a:avLst/>
          </a:prstGeom>
          <a:noFill/>
        </p:spPr>
        <p:txBody>
          <a:bodyPr wrap="square" anchor="t" lIns="18288" rIns="18288" tIns="36576" bIns="36576">
            <a:spAutoFit/>
          </a:bodyPr>
          <a:lstStyle/>
          <a:p>
            <a:pPr algn="l">
              <a:spcAft>
                <a:spcPts val="0"/>
              </a:spcAft>
            </a:pPr>
            <a:r>
              <a:rPr sz="3000" b="1" i="0">
                <a:solidFill>
                  <a:srgbClr val="9B3809"/>
                </a:solidFill>
                <a:latin typeface="Georgia"/>
              </a:rPr>
              <a:t>88%</a:t>
            </a:r>
          </a:p>
          <a:p>
            <a:pPr algn="l">
              <a:spcAft>
                <a:spcPts val="0"/>
              </a:spcAft>
            </a:pPr>
            <a:r>
              <a:rPr sz="1100" b="0" i="0">
                <a:solidFill>
                  <a:srgbClr val="6B7A99"/>
                </a:solidFill>
                <a:latin typeface="Arial"/>
              </a:rPr>
              <a:t>of 2027 sales</a:t>
            </a:r>
          </a:p>
        </p:txBody>
      </p:sp>
      <p:sp>
        <p:nvSpPr>
          <p:cNvPr id="11" name="TextBox 10"/>
          <p:cNvSpPr txBox="1"/>
          <p:nvPr/>
        </p:nvSpPr>
        <p:spPr>
          <a:xfrm>
            <a:off x="640080" y="3291840"/>
            <a:ext cx="2377440" cy="1783080"/>
          </a:xfrm>
          <a:prstGeom prst="rect">
            <a:avLst/>
          </a:prstGeom>
          <a:noFill/>
        </p:spPr>
        <p:txBody>
          <a:bodyPr wrap="square" anchor="t" lIns="18288" rIns="18288" tIns="36576" bIns="36576">
            <a:spAutoFit/>
          </a:bodyPr>
          <a:lstStyle/>
          <a:p>
            <a:pPr algn="l">
              <a:spcAft>
                <a:spcPts val="500"/>
              </a:spcAft>
            </a:pPr>
            <a:r>
              <a:rPr sz="1100" b="1" i="0">
                <a:solidFill>
                  <a:srgbClr val="9B3809"/>
                </a:solidFill>
                <a:latin typeface="Arial"/>
              </a:rPr>
              <a:t>•  </a:t>
            </a:r>
            <a:r>
              <a:rPr sz="1100" b="0" i="0">
                <a:solidFill>
                  <a:srgbClr val="3D4F6A"/>
                </a:solidFill>
                <a:latin typeface="Arial"/>
              </a:rPr>
              <a:t>Win the head office, spread to its branches, keep the client with EAP</a:t>
            </a:r>
          </a:p>
          <a:p>
            <a:pPr algn="l">
              <a:spcAft>
                <a:spcPts val="500"/>
              </a:spcAft>
            </a:pPr>
            <a:r>
              <a:rPr sz="1100" b="1" i="0">
                <a:solidFill>
                  <a:srgbClr val="9B3809"/>
                </a:solidFill>
                <a:latin typeface="Arial"/>
              </a:rPr>
              <a:t>•  </a:t>
            </a:r>
            <a:r>
              <a:rPr sz="1100" b="0" i="0">
                <a:solidFill>
                  <a:srgbClr val="3D4F6A"/>
                </a:solidFill>
                <a:latin typeface="Arial"/>
              </a:rPr>
              <a:t>Send BI one full-year 2027 proposal by 17 October</a:t>
            </a:r>
          </a:p>
          <a:p>
            <a:pPr algn="l">
              <a:spcAft>
                <a:spcPts val="500"/>
              </a:spcAft>
            </a:pPr>
            <a:r>
              <a:rPr sz="1100" b="1" i="0">
                <a:solidFill>
                  <a:srgbClr val="9B3809"/>
                </a:solidFill>
                <a:latin typeface="Arial"/>
              </a:rPr>
              <a:t>•  </a:t>
            </a:r>
            <a:r>
              <a:rPr sz="1100" b="0" i="0">
                <a:solidFill>
                  <a:srgbClr val="3D4F6A"/>
                </a:solidFill>
                <a:latin typeface="Arial"/>
              </a:rPr>
              <a:t>EAP and banks cut BI's share from 61% to 38%</a:t>
            </a:r>
          </a:p>
        </p:txBody>
      </p:sp>
      <p:sp>
        <p:nvSpPr>
          <p:cNvPr id="12" name="Rounded Rectangle 11"/>
          <p:cNvSpPr/>
          <p:nvPr/>
        </p:nvSpPr>
        <p:spPr>
          <a:xfrm>
            <a:off x="3291840" y="1417320"/>
            <a:ext cx="2697480" cy="3703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3" name="Oval 12"/>
          <p:cNvSpPr/>
          <p:nvPr/>
        </p:nvSpPr>
        <p:spPr>
          <a:xfrm>
            <a:off x="3474720" y="1572768"/>
            <a:ext cx="502920" cy="502920"/>
          </a:xfrm>
          <a:prstGeom prst="ellipse">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B</a:t>
            </a:r>
          </a:p>
        </p:txBody>
      </p:sp>
      <p:sp>
        <p:nvSpPr>
          <p:cNvPr id="14" name="TextBox 13"/>
          <p:cNvSpPr txBox="1"/>
          <p:nvPr/>
        </p:nvSpPr>
        <p:spPr>
          <a:xfrm>
            <a:off x="406908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B2C pays for our clinic</a:t>
            </a:r>
          </a:p>
        </p:txBody>
      </p:sp>
      <p:sp>
        <p:nvSpPr>
          <p:cNvPr id="15" name="TextBox 14"/>
          <p:cNvSpPr txBox="1"/>
          <p:nvPr/>
        </p:nvSpPr>
        <p:spPr>
          <a:xfrm>
            <a:off x="3474720" y="2240280"/>
            <a:ext cx="2377440" cy="960120"/>
          </a:xfrm>
          <a:prstGeom prst="rect">
            <a:avLst/>
          </a:prstGeom>
          <a:noFill/>
        </p:spPr>
        <p:txBody>
          <a:bodyPr wrap="square" anchor="t" lIns="18288" rIns="18288" tIns="36576" bIns="36576">
            <a:spAutoFit/>
          </a:bodyPr>
          <a:lstStyle/>
          <a:p>
            <a:pPr algn="l">
              <a:spcAft>
                <a:spcPts val="0"/>
              </a:spcAft>
            </a:pPr>
            <a:r>
              <a:rPr sz="3000" b="1" i="0">
                <a:solidFill>
                  <a:srgbClr val="9B3809"/>
                </a:solidFill>
                <a:latin typeface="Georgia"/>
              </a:rPr>
              <a:t>12%</a:t>
            </a:r>
          </a:p>
          <a:p>
            <a:pPr algn="l">
              <a:spcAft>
                <a:spcPts val="0"/>
              </a:spcAft>
            </a:pPr>
            <a:r>
              <a:rPr sz="1100" b="0" i="0">
                <a:solidFill>
                  <a:srgbClr val="6B7A99"/>
                </a:solidFill>
                <a:latin typeface="Arial"/>
              </a:rPr>
              <a:t>of 2027 sales</a:t>
            </a:r>
          </a:p>
        </p:txBody>
      </p:sp>
      <p:sp>
        <p:nvSpPr>
          <p:cNvPr id="16" name="TextBox 15"/>
          <p:cNvSpPr txBox="1"/>
          <p:nvPr/>
        </p:nvSpPr>
        <p:spPr>
          <a:xfrm>
            <a:off x="3474720" y="3291840"/>
            <a:ext cx="2377440" cy="1783080"/>
          </a:xfrm>
          <a:prstGeom prst="rect">
            <a:avLst/>
          </a:prstGeom>
          <a:noFill/>
        </p:spPr>
        <p:txBody>
          <a:bodyPr wrap="square" anchor="t" lIns="18288" rIns="18288" tIns="36576" bIns="36576">
            <a:spAutoFit/>
          </a:bodyPr>
          <a:lstStyle/>
          <a:p>
            <a:pPr algn="l">
              <a:spcAft>
                <a:spcPts val="500"/>
              </a:spcAft>
            </a:pPr>
            <a:r>
              <a:rPr sz="1100" b="1" i="0">
                <a:solidFill>
                  <a:srgbClr val="9B3809"/>
                </a:solidFill>
                <a:latin typeface="Arial"/>
              </a:rPr>
              <a:t>•  </a:t>
            </a:r>
            <a:r>
              <a:rPr sz="1100" b="0" i="0">
                <a:solidFill>
                  <a:srgbClr val="3D4F6A"/>
                </a:solidFill>
                <a:latin typeface="Arial"/>
              </a:rPr>
              <a:t>Counseling pays our 2 part-time psychologists from Apr 2027</a:t>
            </a:r>
          </a:p>
          <a:p>
            <a:pPr algn="l">
              <a:spcAft>
                <a:spcPts val="500"/>
              </a:spcAft>
            </a:pPr>
            <a:r>
              <a:rPr sz="1100" b="1" i="0">
                <a:solidFill>
                  <a:srgbClr val="9B3809"/>
                </a:solidFill>
                <a:latin typeface="Arial"/>
              </a:rPr>
              <a:t>•  </a:t>
            </a:r>
            <a:r>
              <a:rPr sz="1100" b="0" i="0">
                <a:solidFill>
                  <a:srgbClr val="3D4F6A"/>
                </a:solidFill>
                <a:latin typeface="Arial"/>
              </a:rPr>
              <a:t>Referral wins a client at a quarter of the ad cost</a:t>
            </a:r>
          </a:p>
          <a:p>
            <a:pPr algn="l">
              <a:spcAft>
                <a:spcPts val="500"/>
              </a:spcAft>
            </a:pPr>
            <a:r>
              <a:rPr sz="1100" b="1" i="0">
                <a:solidFill>
                  <a:srgbClr val="9B3809"/>
                </a:solidFill>
                <a:latin typeface="Arial"/>
              </a:rPr>
              <a:t>•  </a:t>
            </a:r>
            <a:r>
              <a:rPr sz="1100" b="0" i="0">
                <a:solidFill>
                  <a:srgbClr val="3D4F6A"/>
                </a:solidFill>
                <a:latin typeface="Arial"/>
              </a:rPr>
              <a:t>Full-time psychologist only when B2C can pay for it (2028)</a:t>
            </a:r>
          </a:p>
        </p:txBody>
      </p:sp>
      <p:sp>
        <p:nvSpPr>
          <p:cNvPr id="17" name="Rounded Rectangle 16"/>
          <p:cNvSpPr/>
          <p:nvPr/>
        </p:nvSpPr>
        <p:spPr>
          <a:xfrm>
            <a:off x="6126480" y="1417320"/>
            <a:ext cx="2697480" cy="3703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8" name="Oval 17"/>
          <p:cNvSpPr/>
          <p:nvPr/>
        </p:nvSpPr>
        <p:spPr>
          <a:xfrm>
            <a:off x="6309360" y="1572768"/>
            <a:ext cx="502920" cy="502920"/>
          </a:xfrm>
          <a:prstGeom prst="ellipse">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C</a:t>
            </a:r>
          </a:p>
        </p:txBody>
      </p:sp>
      <p:sp>
        <p:nvSpPr>
          <p:cNvPr id="19" name="TextBox 18"/>
          <p:cNvSpPr txBox="1"/>
          <p:nvPr/>
        </p:nvSpPr>
        <p:spPr>
          <a:xfrm>
            <a:off x="690372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People follow the work</a:t>
            </a:r>
          </a:p>
        </p:txBody>
      </p:sp>
      <p:sp>
        <p:nvSpPr>
          <p:cNvPr id="20" name="TextBox 19"/>
          <p:cNvSpPr txBox="1"/>
          <p:nvPr/>
        </p:nvSpPr>
        <p:spPr>
          <a:xfrm>
            <a:off x="6309360" y="2240280"/>
            <a:ext cx="2377440" cy="960120"/>
          </a:xfrm>
          <a:prstGeom prst="rect">
            <a:avLst/>
          </a:prstGeom>
          <a:noFill/>
        </p:spPr>
        <p:txBody>
          <a:bodyPr wrap="square" anchor="t" lIns="18288" rIns="18288" tIns="36576" bIns="36576">
            <a:spAutoFit/>
          </a:bodyPr>
          <a:lstStyle/>
          <a:p>
            <a:pPr algn="l">
              <a:spcAft>
                <a:spcPts val="0"/>
              </a:spcAft>
            </a:pPr>
            <a:r>
              <a:rPr sz="3000" b="1" i="0">
                <a:solidFill>
                  <a:srgbClr val="576C94"/>
                </a:solidFill>
                <a:latin typeface="Georgia"/>
              </a:rPr>
              <a:t>Rp88M</a:t>
            </a:r>
          </a:p>
          <a:p>
            <a:pPr algn="l">
              <a:spcAft>
                <a:spcPts val="0"/>
              </a:spcAft>
            </a:pPr>
            <a:r>
              <a:rPr sz="1100" b="0" i="0">
                <a:solidFill>
                  <a:srgbClr val="6B7A99"/>
                </a:solidFill>
                <a:latin typeface="Arial"/>
              </a:rPr>
              <a:t>running cost a month by Oct 2027, up in steps from Rp32M</a:t>
            </a:r>
          </a:p>
        </p:txBody>
      </p:sp>
      <p:sp>
        <p:nvSpPr>
          <p:cNvPr id="21" name="TextBox 20"/>
          <p:cNvSpPr txBox="1"/>
          <p:nvPr/>
        </p:nvSpPr>
        <p:spPr>
          <a:xfrm>
            <a:off x="6309360" y="3291840"/>
            <a:ext cx="2377440" cy="1783080"/>
          </a:xfrm>
          <a:prstGeom prst="rect">
            <a:avLst/>
          </a:prstGeom>
          <a:noFill/>
        </p:spPr>
        <p:txBody>
          <a:bodyPr wrap="square" anchor="t" lIns="18288" rIns="18288" tIns="36576" bIns="36576">
            <a:spAutoFit/>
          </a:bodyPr>
          <a:lstStyle/>
          <a:p>
            <a:pPr algn="l">
              <a:spcAft>
                <a:spcPts val="500"/>
              </a:spcAft>
            </a:pPr>
            <a:r>
              <a:rPr sz="1100" b="1" i="0">
                <a:solidFill>
                  <a:srgbClr val="9B3809"/>
                </a:solidFill>
                <a:latin typeface="Arial"/>
              </a:rPr>
              <a:t>•  </a:t>
            </a:r>
            <a:r>
              <a:rPr sz="1100" b="0" i="0">
                <a:solidFill>
                  <a:srgbClr val="3D4F6A"/>
                </a:solidFill>
                <a:latin typeface="Arial"/>
              </a:rPr>
              <a:t>No signed work, no hire</a:t>
            </a:r>
          </a:p>
          <a:p>
            <a:pPr algn="l">
              <a:spcAft>
                <a:spcPts val="500"/>
              </a:spcAft>
            </a:pPr>
            <a:r>
              <a:rPr sz="1100" b="1" i="0">
                <a:solidFill>
                  <a:srgbClr val="9B3809"/>
                </a:solidFill>
                <a:latin typeface="Arial"/>
              </a:rPr>
              <a:t>•  </a:t>
            </a:r>
            <a:r>
              <a:rPr sz="1100" b="0" i="0">
                <a:solidFill>
                  <a:srgbClr val="3D4F6A"/>
                </a:solidFill>
                <a:latin typeface="Arial"/>
              </a:rPr>
              <a:t>Pay rises unlock with sales targets, not dates</a:t>
            </a:r>
          </a:p>
          <a:p>
            <a:pPr algn="l">
              <a:spcAft>
                <a:spcPts val="500"/>
              </a:spcAft>
            </a:pPr>
            <a:r>
              <a:rPr sz="1100" b="1" i="0">
                <a:solidFill>
                  <a:srgbClr val="9B3809"/>
                </a:solidFill>
                <a:latin typeface="Arial"/>
              </a:rPr>
              <a:t>•  </a:t>
            </a:r>
            <a:r>
              <a:rPr sz="1100" b="0" i="0">
                <a:solidFill>
                  <a:srgbClr val="3D4F6A"/>
                </a:solidFill>
                <a:latin typeface="Arial"/>
              </a:rPr>
              <a:t>The limit moves: founders now, project manager from July</a:t>
            </a:r>
          </a:p>
        </p:txBody>
      </p:sp>
      <p:sp>
        <p:nvSpPr>
          <p:cNvPr id="22" name="Rounded Rectangle 21"/>
          <p:cNvSpPr/>
          <p:nvPr/>
        </p:nvSpPr>
        <p:spPr>
          <a:xfrm>
            <a:off x="8961120" y="1417320"/>
            <a:ext cx="2697480" cy="3703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23" name="Oval 22"/>
          <p:cNvSpPr/>
          <p:nvPr/>
        </p:nvSpPr>
        <p:spPr>
          <a:xfrm>
            <a:off x="9144000" y="1572768"/>
            <a:ext cx="502920" cy="502920"/>
          </a:xfrm>
          <a:prstGeom prst="ellipse">
            <a:avLst/>
          </a:prstGeom>
          <a:solidFill>
            <a:srgbClr val="637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D</a:t>
            </a:r>
          </a:p>
        </p:txBody>
      </p:sp>
      <p:sp>
        <p:nvSpPr>
          <p:cNvPr id="24" name="TextBox 23"/>
          <p:cNvSpPr txBox="1"/>
          <p:nvPr/>
        </p:nvSpPr>
        <p:spPr>
          <a:xfrm>
            <a:off x="973836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Cash is protected</a:t>
            </a:r>
          </a:p>
        </p:txBody>
      </p:sp>
      <p:sp>
        <p:nvSpPr>
          <p:cNvPr id="25" name="TextBox 24"/>
          <p:cNvSpPr txBox="1"/>
          <p:nvPr/>
        </p:nvSpPr>
        <p:spPr>
          <a:xfrm>
            <a:off x="9144000" y="2240280"/>
            <a:ext cx="2377440" cy="960120"/>
          </a:xfrm>
          <a:prstGeom prst="rect">
            <a:avLst/>
          </a:prstGeom>
          <a:noFill/>
        </p:spPr>
        <p:txBody>
          <a:bodyPr wrap="square" anchor="t" lIns="18288" rIns="18288" tIns="36576" bIns="36576">
            <a:spAutoFit/>
          </a:bodyPr>
          <a:lstStyle/>
          <a:p>
            <a:pPr algn="l">
              <a:spcAft>
                <a:spcPts val="0"/>
              </a:spcAft>
            </a:pPr>
            <a:r>
              <a:rPr sz="3000" b="1" i="0">
                <a:solidFill>
                  <a:srgbClr val="6379A1"/>
                </a:solidFill>
                <a:latin typeface="Georgia"/>
              </a:rPr>
              <a:t>Rp82M</a:t>
            </a:r>
          </a:p>
          <a:p>
            <a:pPr algn="l">
              <a:spcAft>
                <a:spcPts val="0"/>
              </a:spcAft>
            </a:pPr>
            <a:r>
              <a:rPr sz="1100" b="0" i="0">
                <a:solidFill>
                  <a:srgbClr val="6B7A99"/>
                </a:solidFill>
                <a:latin typeface="Arial"/>
              </a:rPr>
              <a:t>lowest cash (Feb 2027)</a:t>
            </a:r>
          </a:p>
        </p:txBody>
      </p:sp>
      <p:sp>
        <p:nvSpPr>
          <p:cNvPr id="26" name="TextBox 25"/>
          <p:cNvSpPr txBox="1"/>
          <p:nvPr/>
        </p:nvSpPr>
        <p:spPr>
          <a:xfrm>
            <a:off x="9144000" y="3291840"/>
            <a:ext cx="2377440" cy="1783080"/>
          </a:xfrm>
          <a:prstGeom prst="rect">
            <a:avLst/>
          </a:prstGeom>
          <a:noFill/>
        </p:spPr>
        <p:txBody>
          <a:bodyPr wrap="square" anchor="t" lIns="18288" rIns="18288" tIns="36576" bIns="36576">
            <a:spAutoFit/>
          </a:bodyPr>
          <a:lstStyle/>
          <a:p>
            <a:pPr algn="l">
              <a:spcAft>
                <a:spcPts val="500"/>
              </a:spcAft>
            </a:pPr>
            <a:r>
              <a:rPr sz="1100" b="1" i="0">
                <a:solidFill>
                  <a:srgbClr val="9B3809"/>
                </a:solidFill>
                <a:latin typeface="Arial"/>
              </a:rPr>
              <a:t>•  </a:t>
            </a:r>
            <a:r>
              <a:rPr sz="1100" b="0" i="0">
                <a:solidFill>
                  <a:srgbClr val="3D4F6A"/>
                </a:solidFill>
                <a:latin typeface="Arial"/>
              </a:rPr>
              <a:t>Sell 4 to 6 months before the work</a:t>
            </a:r>
          </a:p>
          <a:p>
            <a:pPr algn="l">
              <a:spcAft>
                <a:spcPts val="500"/>
              </a:spcAft>
            </a:pPr>
            <a:r>
              <a:rPr sz="1100" b="1" i="0">
                <a:solidFill>
                  <a:srgbClr val="9B3809"/>
                </a:solidFill>
                <a:latin typeface="Arial"/>
              </a:rPr>
              <a:t>•  </a:t>
            </a:r>
            <a:r>
              <a:rPr sz="1100" b="0" i="0">
                <a:solidFill>
                  <a:srgbClr val="3D4F6A"/>
                </a:solidFill>
                <a:latin typeface="Arial"/>
              </a:rPr>
              <a:t>Guard rule + 30% down payment from BI</a:t>
            </a:r>
          </a:p>
          <a:p>
            <a:pPr algn="l">
              <a:spcAft>
                <a:spcPts val="500"/>
              </a:spcAft>
            </a:pPr>
            <a:r>
              <a:rPr sz="1100" b="1" i="0">
                <a:solidFill>
                  <a:srgbClr val="9B3809"/>
                </a:solidFill>
                <a:latin typeface="Arial"/>
              </a:rPr>
              <a:t>•  </a:t>
            </a:r>
            <a:r>
              <a:rPr sz="1100" b="0" i="0">
                <a:solidFill>
                  <a:srgbClr val="3D4F6A"/>
                </a:solidFill>
                <a:latin typeface="Arial"/>
              </a:rPr>
              <a:t>Bad year (conservative): still 16.6% margin</a:t>
            </a:r>
          </a:p>
        </p:txBody>
      </p:sp>
      <p:sp>
        <p:nvSpPr>
          <p:cNvPr id="27" name="Rounded Rectangle 26"/>
          <p:cNvSpPr/>
          <p:nvPr/>
        </p:nvSpPr>
        <p:spPr>
          <a:xfrm>
            <a:off x="457200" y="5303520"/>
            <a:ext cx="11201400" cy="10058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The two problems, and where we solve them: </a:t>
            </a:r>
            <a:r>
              <a:rPr sz="1300" b="0" i="0">
                <a:solidFill>
                  <a:srgbClr val="3D4F6A"/>
                </a:solidFill>
                <a:latin typeface="Arial"/>
              </a:rPr>
              <a:t>profit that depends on low pay (slide 6) is solved in A, B and C: more B2B and B2C sales pay for fair pay, released in steps. The cash gap in the pitch months (slide 7) is solved in A and D: sell early, get paid earlier, guard the cash.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3</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WHY WE ACT</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What do we want, and what stops us?</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Real value for clients, in a business that pays for itself. Today profit relies on low pay, and cash runs thin before March.</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2 + 4</a:t>
            </a:r>
          </a:p>
          <a:p>
            <a:pPr algn="l">
              <a:spcAft>
                <a:spcPts val="200"/>
              </a:spcAft>
            </a:pPr>
            <a:r>
              <a:rPr sz="1100" b="0" i="0">
                <a:solidFill>
                  <a:srgbClr val="C9D2E3"/>
                </a:solidFill>
                <a:latin typeface="Arial"/>
              </a:rPr>
              <a:t>goals + impact pillars</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15%+</a:t>
            </a:r>
          </a:p>
          <a:p>
            <a:pPr algn="l">
              <a:spcAft>
                <a:spcPts val="200"/>
              </a:spcAft>
            </a:pPr>
            <a:r>
              <a:rPr sz="1100" b="0" i="0">
                <a:solidFill>
                  <a:srgbClr val="C9D2E3"/>
                </a:solidFill>
                <a:latin typeface="Arial"/>
              </a:rPr>
              <a:t>net margin we need</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What are our goals, and how do we measure them?</a:t>
            </a:r>
          </a:p>
          <a:p>
            <a:pPr algn="l">
              <a:spcAft>
                <a:spcPts val="300"/>
              </a:spcAft>
            </a:pPr>
            <a:r>
              <a:rPr sz="1200" b="1" i="0">
                <a:solidFill>
                  <a:srgbClr val="E8904A"/>
                </a:solidFill>
                <a:latin typeface="Arial"/>
              </a:rPr>
              <a:t>•  </a:t>
            </a:r>
            <a:r>
              <a:rPr sz="1200" b="0" i="0">
                <a:solidFill>
                  <a:srgbClr val="C9D2E3"/>
                </a:solidFill>
                <a:latin typeface="Arial"/>
              </a:rPr>
              <a:t>Why 15%?</a:t>
            </a:r>
          </a:p>
          <a:p>
            <a:pPr algn="l">
              <a:spcAft>
                <a:spcPts val="300"/>
              </a:spcAft>
            </a:pPr>
            <a:r>
              <a:rPr sz="1200" b="1" i="0">
                <a:solidFill>
                  <a:srgbClr val="E8904A"/>
                </a:solidFill>
                <a:latin typeface="Arial"/>
              </a:rPr>
              <a:t>•  </a:t>
            </a:r>
            <a:r>
              <a:rPr sz="1200" b="0" i="0">
                <a:solidFill>
                  <a:srgbClr val="C9D2E3"/>
                </a:solidFill>
                <a:latin typeface="Arial"/>
              </a:rPr>
              <a:t>Why do we lose money in some months?</a:t>
            </a:r>
          </a:p>
          <a:p>
            <a:pPr algn="l">
              <a:spcAft>
                <a:spcPts val="300"/>
              </a:spcAft>
            </a:pPr>
            <a:r>
              <a:rPr sz="1200" b="1" i="0">
                <a:solidFill>
                  <a:srgbClr val="E8904A"/>
                </a:solidFill>
                <a:latin typeface="Arial"/>
              </a:rPr>
              <a:t>•  </a:t>
            </a:r>
            <a:r>
              <a:rPr sz="1200" b="0" i="0">
                <a:solidFill>
                  <a:srgbClr val="C9D2E3"/>
                </a:solidFill>
                <a:latin typeface="Arial"/>
              </a:rPr>
              <a:t>Why are the new prices not enough?</a:t>
            </a:r>
          </a:p>
          <a:p>
            <a:pPr algn="l">
              <a:spcAft>
                <a:spcPts val="300"/>
              </a:spcAft>
            </a:pPr>
            <a:r>
              <a:rPr sz="1200" b="1" i="0">
                <a:solidFill>
                  <a:srgbClr val="E8904A"/>
                </a:solidFill>
                <a:latin typeface="Arial"/>
              </a:rPr>
              <a:t>•  </a:t>
            </a:r>
            <a:r>
              <a:rPr sz="1200" b="0" i="0">
                <a:solidFill>
                  <a:srgbClr val="C9D2E3"/>
                </a:solidFill>
                <a:latin typeface="Arial"/>
              </a:rPr>
              <a:t>Why is cash tight?</a:t>
            </a:r>
          </a:p>
        </p:txBody>
      </p:sp>
      <p:sp>
        <p:nvSpPr>
          <p:cNvPr id="10" name="Rounded Rectangle 9"/>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11" name="Rounded Rectangle 10"/>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2" name="Rounded Rectangle 11"/>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3" name="Rounded Rectangle 12"/>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Two goals, </a:t>
            </a:r>
            <a:r>
              <a:rPr sz="2800" b="1" i="0">
                <a:solidFill>
                  <a:srgbClr val="9B3809"/>
                </a:solidFill>
                <a:latin typeface="Georgia"/>
              </a:rPr>
              <a:t>four impact pillars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The goals say why we exist. The pillars show, with numbers, that it is working.</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OUR GOAL</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Fair-pay floor: Jakarta minimum wage 2026. Before/after scores and EAP renewals: new measures, tracked from Q4 2026.</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4</a:t>
            </a:r>
          </a:p>
        </p:txBody>
      </p:sp>
      <p:sp>
        <p:nvSpPr>
          <p:cNvPr id="7" name="Rounded Rectangle 6"/>
          <p:cNvSpPr/>
          <p:nvPr/>
        </p:nvSpPr>
        <p:spPr>
          <a:xfrm>
            <a:off x="457200" y="1371600"/>
            <a:ext cx="5532120" cy="1097280"/>
          </a:xfrm>
          <a:prstGeom prst="roundRect">
            <a:avLst>
              <a:gd name="adj" fmla="val 6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8" name="Oval 7"/>
          <p:cNvSpPr/>
          <p:nvPr/>
        </p:nvSpPr>
        <p:spPr>
          <a:xfrm>
            <a:off x="640080" y="1645920"/>
            <a:ext cx="548640" cy="548640"/>
          </a:xfrm>
          <a:prstGeom prst="ellipse">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2000" b="1" i="0">
                <a:solidFill>
                  <a:srgbClr val="FFFFFF"/>
                </a:solidFill>
                <a:latin typeface="Georgia"/>
              </a:rPr>
              <a:t>1</a:t>
            </a:r>
          </a:p>
        </p:txBody>
      </p:sp>
      <p:sp>
        <p:nvSpPr>
          <p:cNvPr id="9" name="TextBox 8"/>
          <p:cNvSpPr txBox="1"/>
          <p:nvPr/>
        </p:nvSpPr>
        <p:spPr>
          <a:xfrm>
            <a:off x="1325880" y="1444752"/>
            <a:ext cx="4526280" cy="960120"/>
          </a:xfrm>
          <a:prstGeom prst="rect">
            <a:avLst/>
          </a:prstGeom>
          <a:noFill/>
        </p:spPr>
        <p:txBody>
          <a:bodyPr wrap="square" anchor="ctr" lIns="18288" rIns="18288" tIns="36576" bIns="36576">
            <a:spAutoFit/>
          </a:bodyPr>
          <a:lstStyle/>
          <a:p>
            <a:pPr algn="l">
              <a:spcAft>
                <a:spcPts val="200"/>
              </a:spcAft>
            </a:pPr>
            <a:r>
              <a:rPr sz="1800" b="1" i="0">
                <a:solidFill>
                  <a:srgbClr val="FFFFFF"/>
                </a:solidFill>
                <a:latin typeface="Georgia"/>
              </a:rPr>
              <a:t>Create real value for our clients</a:t>
            </a:r>
          </a:p>
          <a:p>
            <a:pPr algn="l">
              <a:spcAft>
                <a:spcPts val="200"/>
              </a:spcAft>
            </a:pPr>
            <a:r>
              <a:rPr sz="1100" b="0" i="0">
                <a:solidFill>
                  <a:srgbClr val="C9D2E3"/>
                </a:solidFill>
                <a:latin typeface="Arial"/>
              </a:rPr>
              <a:t>The people we train and counsel change what they know and do, and clients can see it.</a:t>
            </a:r>
          </a:p>
        </p:txBody>
      </p:sp>
      <p:sp>
        <p:nvSpPr>
          <p:cNvPr id="10" name="Rounded Rectangle 9"/>
          <p:cNvSpPr/>
          <p:nvPr/>
        </p:nvSpPr>
        <p:spPr>
          <a:xfrm>
            <a:off x="6172200" y="1371600"/>
            <a:ext cx="5532120" cy="1097280"/>
          </a:xfrm>
          <a:prstGeom prst="roundRect">
            <a:avLst>
              <a:gd name="adj" fmla="val 6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1" name="Oval 10"/>
          <p:cNvSpPr/>
          <p:nvPr/>
        </p:nvSpPr>
        <p:spPr>
          <a:xfrm>
            <a:off x="6355080" y="1645920"/>
            <a:ext cx="548640" cy="548640"/>
          </a:xfrm>
          <a:prstGeom prst="ellipse">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2000" b="1" i="0">
                <a:solidFill>
                  <a:srgbClr val="FFFFFF"/>
                </a:solidFill>
                <a:latin typeface="Georgia"/>
              </a:rPr>
              <a:t>2</a:t>
            </a:r>
          </a:p>
        </p:txBody>
      </p:sp>
      <p:sp>
        <p:nvSpPr>
          <p:cNvPr id="12" name="TextBox 11"/>
          <p:cNvSpPr txBox="1"/>
          <p:nvPr/>
        </p:nvSpPr>
        <p:spPr>
          <a:xfrm>
            <a:off x="7040880" y="1444752"/>
            <a:ext cx="4526280" cy="960120"/>
          </a:xfrm>
          <a:prstGeom prst="rect">
            <a:avLst/>
          </a:prstGeom>
          <a:noFill/>
        </p:spPr>
        <p:txBody>
          <a:bodyPr wrap="square" anchor="ctr" lIns="18288" rIns="18288" tIns="36576" bIns="36576">
            <a:spAutoFit/>
          </a:bodyPr>
          <a:lstStyle/>
          <a:p>
            <a:pPr algn="l">
              <a:spcAft>
                <a:spcPts val="200"/>
              </a:spcAft>
            </a:pPr>
            <a:r>
              <a:rPr sz="1800" b="1" i="0">
                <a:solidFill>
                  <a:srgbClr val="FFFFFF"/>
                </a:solidFill>
                <a:latin typeface="Georgia"/>
              </a:rPr>
              <a:t>Build a business that pays for itself</a:t>
            </a:r>
          </a:p>
          <a:p>
            <a:pPr algn="l">
              <a:spcAft>
                <a:spcPts val="200"/>
              </a:spcAft>
            </a:pPr>
            <a:r>
              <a:rPr sz="1100" b="0" i="0">
                <a:solidFill>
                  <a:srgbClr val="C9D2E3"/>
                </a:solidFill>
                <a:latin typeface="Arial"/>
              </a:rPr>
              <a:t>A 15%+ margin and safe cash, without outside money, so we can keep doing goal 1.</a:t>
            </a:r>
          </a:p>
        </p:txBody>
      </p:sp>
      <p:sp>
        <p:nvSpPr>
          <p:cNvPr id="13" name="TextBox 12"/>
          <p:cNvSpPr txBox="1"/>
          <p:nvPr/>
        </p:nvSpPr>
        <p:spPr>
          <a:xfrm>
            <a:off x="457200" y="2542032"/>
            <a:ext cx="11247120" cy="274320"/>
          </a:xfrm>
          <a:prstGeom prst="rect">
            <a:avLst/>
          </a:prstGeom>
          <a:noFill/>
        </p:spPr>
        <p:txBody>
          <a:bodyPr wrap="square" anchor="t" lIns="0" rIns="0" tIns="36576" bIns="36576">
            <a:spAutoFit/>
          </a:bodyPr>
          <a:lstStyle/>
          <a:p>
            <a:pPr algn="ctr">
              <a:spcAft>
                <a:spcPts val="400"/>
              </a:spcAft>
            </a:pPr>
            <a:r>
              <a:rPr sz="1100" b="1" i="0">
                <a:solidFill>
                  <a:srgbClr val="6B7A99"/>
                </a:solidFill>
                <a:latin typeface="Arial"/>
              </a:rPr>
              <a:t>WE KNOW IT IS WORKING WHEN THESE NUMBERS MOVE</a:t>
            </a:r>
          </a:p>
        </p:txBody>
      </p:sp>
      <p:sp>
        <p:nvSpPr>
          <p:cNvPr id="14" name="Rounded Rectangle 13"/>
          <p:cNvSpPr/>
          <p:nvPr/>
        </p:nvSpPr>
        <p:spPr>
          <a:xfrm>
            <a:off x="457200" y="2880360"/>
            <a:ext cx="2697480" cy="3246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5" name="Oval 14"/>
          <p:cNvSpPr/>
          <p:nvPr/>
        </p:nvSpPr>
        <p:spPr>
          <a:xfrm>
            <a:off x="621792" y="3017520"/>
            <a:ext cx="438912" cy="438912"/>
          </a:xfrm>
          <a:prstGeom prst="ellipse">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500" b="1" i="0">
                <a:solidFill>
                  <a:srgbClr val="FFFFFF"/>
                </a:solidFill>
                <a:latin typeface="Georgia"/>
              </a:rPr>
              <a:t>1</a:t>
            </a:r>
          </a:p>
        </p:txBody>
      </p:sp>
      <p:sp>
        <p:nvSpPr>
          <p:cNvPr id="16" name="TextBox 15"/>
          <p:cNvSpPr txBox="1"/>
          <p:nvPr/>
        </p:nvSpPr>
        <p:spPr>
          <a:xfrm>
            <a:off x="1143000" y="2990088"/>
            <a:ext cx="1965960" cy="502920"/>
          </a:xfrm>
          <a:prstGeom prst="rect">
            <a:avLst/>
          </a:prstGeom>
          <a:noFill/>
        </p:spPr>
        <p:txBody>
          <a:bodyPr wrap="square" anchor="ctr" lIns="18288" rIns="18288" tIns="36576" bIns="36576">
            <a:spAutoFit/>
          </a:bodyPr>
          <a:lstStyle/>
          <a:p>
            <a:pPr algn="l">
              <a:spcAft>
                <a:spcPts val="0"/>
              </a:spcAft>
            </a:pPr>
            <a:r>
              <a:rPr sz="1600" b="1" i="0">
                <a:solidFill>
                  <a:srgbClr val="1E2A3A"/>
                </a:solidFill>
                <a:latin typeface="Georgia"/>
              </a:rPr>
              <a:t>Clients</a:t>
            </a:r>
          </a:p>
          <a:p>
            <a:pPr algn="l">
              <a:spcAft>
                <a:spcPts val="0"/>
              </a:spcAft>
            </a:pPr>
            <a:r>
              <a:rPr sz="1000" b="0" i="0">
                <a:solidFill>
                  <a:srgbClr val="6B7A99"/>
                </a:solidFill>
                <a:latin typeface="Arial"/>
              </a:rPr>
              <a:t>BI, banks, EAP clients</a:t>
            </a:r>
          </a:p>
        </p:txBody>
      </p:sp>
      <p:sp>
        <p:nvSpPr>
          <p:cNvPr id="17" name="TextBox 16"/>
          <p:cNvSpPr txBox="1"/>
          <p:nvPr/>
        </p:nvSpPr>
        <p:spPr>
          <a:xfrm>
            <a:off x="621792" y="361188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1 → 3</a:t>
            </a:r>
          </a:p>
          <a:p>
            <a:pPr algn="l">
              <a:spcAft>
                <a:spcPts val="0"/>
              </a:spcAft>
            </a:pPr>
            <a:r>
              <a:rPr sz="1000" b="0" i="0">
                <a:solidFill>
                  <a:srgbClr val="3D4F6A"/>
                </a:solidFill>
                <a:latin typeface="Arial"/>
              </a:rPr>
              <a:t>EAP contracts active, by Jul 2027; then we track renewals (slide 10)</a:t>
            </a:r>
          </a:p>
        </p:txBody>
      </p:sp>
      <p:sp>
        <p:nvSpPr>
          <p:cNvPr id="18" name="TextBox 17"/>
          <p:cNvSpPr txBox="1"/>
          <p:nvPr/>
        </p:nvSpPr>
        <p:spPr>
          <a:xfrm>
            <a:off x="621792" y="443484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Before / after</a:t>
            </a:r>
          </a:p>
          <a:p>
            <a:pPr algn="l">
              <a:spcAft>
                <a:spcPts val="0"/>
              </a:spcAft>
            </a:pPr>
            <a:r>
              <a:rPr sz="1000" b="0" i="0">
                <a:solidFill>
                  <a:srgbClr val="3D4F6A"/>
                </a:solidFill>
                <a:latin typeface="Arial"/>
              </a:rPr>
              <a:t>scores on every training, from Q4 2026</a:t>
            </a:r>
          </a:p>
        </p:txBody>
      </p:sp>
      <p:sp>
        <p:nvSpPr>
          <p:cNvPr id="19" name="TextBox 18"/>
          <p:cNvSpPr txBox="1"/>
          <p:nvPr/>
        </p:nvSpPr>
        <p:spPr>
          <a:xfrm>
            <a:off x="621792" y="525780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1.4</a:t>
            </a:r>
          </a:p>
          <a:p>
            <a:pPr algn="l">
              <a:spcAft>
                <a:spcPts val="0"/>
              </a:spcAft>
            </a:pPr>
            <a:r>
              <a:rPr sz="1000" b="0" i="0">
                <a:solidFill>
                  <a:srgbClr val="3D4F6A"/>
                </a:solidFill>
                <a:latin typeface="Arial"/>
              </a:rPr>
              <a:t>sessions per B2C client from Q3 2027: our plan (slide 17)</a:t>
            </a:r>
          </a:p>
        </p:txBody>
      </p:sp>
      <p:sp>
        <p:nvSpPr>
          <p:cNvPr id="20" name="Rounded Rectangle 19"/>
          <p:cNvSpPr/>
          <p:nvPr/>
        </p:nvSpPr>
        <p:spPr>
          <a:xfrm>
            <a:off x="3291840" y="2880360"/>
            <a:ext cx="2697480" cy="3246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21" name="Oval 20"/>
          <p:cNvSpPr/>
          <p:nvPr/>
        </p:nvSpPr>
        <p:spPr>
          <a:xfrm>
            <a:off x="3456432" y="3017520"/>
            <a:ext cx="438912" cy="438912"/>
          </a:xfrm>
          <a:prstGeom prst="ellipse">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500" b="1" i="0">
                <a:solidFill>
                  <a:srgbClr val="FFFFFF"/>
                </a:solidFill>
                <a:latin typeface="Georgia"/>
              </a:rPr>
              <a:t>2</a:t>
            </a:r>
          </a:p>
        </p:txBody>
      </p:sp>
      <p:sp>
        <p:nvSpPr>
          <p:cNvPr id="22" name="TextBox 21"/>
          <p:cNvSpPr txBox="1"/>
          <p:nvPr/>
        </p:nvSpPr>
        <p:spPr>
          <a:xfrm>
            <a:off x="3977639" y="2990088"/>
            <a:ext cx="1965960" cy="502920"/>
          </a:xfrm>
          <a:prstGeom prst="rect">
            <a:avLst/>
          </a:prstGeom>
          <a:noFill/>
        </p:spPr>
        <p:txBody>
          <a:bodyPr wrap="square" anchor="ctr" lIns="18288" rIns="18288" tIns="36576" bIns="36576">
            <a:spAutoFit/>
          </a:bodyPr>
          <a:lstStyle/>
          <a:p>
            <a:pPr algn="l">
              <a:spcAft>
                <a:spcPts val="0"/>
              </a:spcAft>
            </a:pPr>
            <a:r>
              <a:rPr sz="1600" b="1" i="0">
                <a:solidFill>
                  <a:srgbClr val="1E2A3A"/>
                </a:solidFill>
                <a:latin typeface="Georgia"/>
              </a:rPr>
              <a:t>People</a:t>
            </a:r>
          </a:p>
          <a:p>
            <a:pPr algn="l">
              <a:spcAft>
                <a:spcPts val="0"/>
              </a:spcAft>
            </a:pPr>
            <a:r>
              <a:rPr sz="1000" b="0" i="0">
                <a:solidFill>
                  <a:srgbClr val="6B7A99"/>
                </a:solidFill>
                <a:latin typeface="Arial"/>
              </a:rPr>
              <a:t>Staff and psychologists</a:t>
            </a:r>
          </a:p>
        </p:txBody>
      </p:sp>
      <p:sp>
        <p:nvSpPr>
          <p:cNvPr id="23" name="TextBox 22"/>
          <p:cNvSpPr txBox="1"/>
          <p:nvPr/>
        </p:nvSpPr>
        <p:spPr>
          <a:xfrm>
            <a:off x="3456432" y="3611880"/>
            <a:ext cx="2423160" cy="804672"/>
          </a:xfrm>
          <a:prstGeom prst="rect">
            <a:avLst/>
          </a:prstGeom>
          <a:noFill/>
        </p:spPr>
        <p:txBody>
          <a:bodyPr wrap="square" anchor="t" lIns="18288" rIns="18288" tIns="36576" bIns="36576">
            <a:spAutoFit/>
          </a:bodyPr>
          <a:lstStyle/>
          <a:p>
            <a:pPr algn="l">
              <a:spcAft>
                <a:spcPts val="0"/>
              </a:spcAft>
            </a:pPr>
            <a:r>
              <a:rPr sz="1700" b="1" i="0">
                <a:solidFill>
                  <a:srgbClr val="576C94"/>
                </a:solidFill>
                <a:latin typeface="Georgia"/>
              </a:rPr>
              <a:t>Rp5.73M</a:t>
            </a:r>
          </a:p>
          <a:p>
            <a:pPr algn="l">
              <a:spcAft>
                <a:spcPts val="0"/>
              </a:spcAft>
            </a:pPr>
            <a:r>
              <a:rPr sz="1000" b="0" i="0">
                <a:solidFill>
                  <a:srgbClr val="3D4F6A"/>
                </a:solidFill>
                <a:latin typeface="Arial"/>
              </a:rPr>
              <a:t>fair-pay floor + BPJS and THR (slide 21)</a:t>
            </a:r>
          </a:p>
        </p:txBody>
      </p:sp>
      <p:sp>
        <p:nvSpPr>
          <p:cNvPr id="24" name="TextBox 23"/>
          <p:cNvSpPr txBox="1"/>
          <p:nvPr/>
        </p:nvSpPr>
        <p:spPr>
          <a:xfrm>
            <a:off x="3456432" y="4434840"/>
            <a:ext cx="2423160" cy="804672"/>
          </a:xfrm>
          <a:prstGeom prst="rect">
            <a:avLst/>
          </a:prstGeom>
          <a:noFill/>
        </p:spPr>
        <p:txBody>
          <a:bodyPr wrap="square" anchor="t" lIns="18288" rIns="18288" tIns="36576" bIns="36576">
            <a:spAutoFit/>
          </a:bodyPr>
          <a:lstStyle/>
          <a:p>
            <a:pPr algn="l">
              <a:spcAft>
                <a:spcPts val="0"/>
              </a:spcAft>
            </a:pPr>
            <a:r>
              <a:rPr sz="1700" b="1" i="0">
                <a:solidFill>
                  <a:srgbClr val="576C94"/>
                </a:solidFill>
                <a:latin typeface="Georgia"/>
              </a:rPr>
              <a:t>Rp100/150/200M</a:t>
            </a:r>
          </a:p>
          <a:p>
            <a:pPr algn="l">
              <a:spcAft>
                <a:spcPts val="0"/>
              </a:spcAft>
            </a:pPr>
            <a:r>
              <a:rPr sz="1000" b="0" i="0">
                <a:solidFill>
                  <a:srgbClr val="3D4F6A"/>
                </a:solidFill>
                <a:latin typeface="Arial"/>
              </a:rPr>
              <a:t>monthly sales that unlock the 3 pay steps</a:t>
            </a:r>
          </a:p>
        </p:txBody>
      </p:sp>
      <p:sp>
        <p:nvSpPr>
          <p:cNvPr id="25" name="TextBox 24"/>
          <p:cNvSpPr txBox="1"/>
          <p:nvPr/>
        </p:nvSpPr>
        <p:spPr>
          <a:xfrm>
            <a:off x="3456432" y="5257800"/>
            <a:ext cx="2423160" cy="804672"/>
          </a:xfrm>
          <a:prstGeom prst="rect">
            <a:avLst/>
          </a:prstGeom>
          <a:noFill/>
        </p:spPr>
        <p:txBody>
          <a:bodyPr wrap="square" anchor="t" lIns="18288" rIns="18288" tIns="36576" bIns="36576">
            <a:spAutoFit/>
          </a:bodyPr>
          <a:lstStyle/>
          <a:p>
            <a:pPr algn="l">
              <a:spcAft>
                <a:spcPts val="0"/>
              </a:spcAft>
            </a:pPr>
            <a:r>
              <a:rPr sz="1700" b="1" i="0">
                <a:solidFill>
                  <a:srgbClr val="576C94"/>
                </a:solidFill>
                <a:latin typeface="Georgia"/>
              </a:rPr>
              <a:t>74%</a:t>
            </a:r>
          </a:p>
          <a:p>
            <a:pPr algn="l">
              <a:spcAft>
                <a:spcPts val="0"/>
              </a:spcAft>
            </a:pPr>
            <a:r>
              <a:rPr sz="1000" b="0" i="0">
                <a:solidFill>
                  <a:srgbClr val="3D4F6A"/>
                </a:solidFill>
                <a:latin typeface="Arial"/>
              </a:rPr>
              <a:t>busiest load on paid part-timers (healthy 60-80%) (slide 36)</a:t>
            </a:r>
          </a:p>
        </p:txBody>
      </p:sp>
      <p:sp>
        <p:nvSpPr>
          <p:cNvPr id="26" name="Rounded Rectangle 25"/>
          <p:cNvSpPr/>
          <p:nvPr/>
        </p:nvSpPr>
        <p:spPr>
          <a:xfrm>
            <a:off x="6126480" y="2880360"/>
            <a:ext cx="2697480" cy="3246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27" name="Oval 26"/>
          <p:cNvSpPr/>
          <p:nvPr/>
        </p:nvSpPr>
        <p:spPr>
          <a:xfrm>
            <a:off x="6291072" y="3017520"/>
            <a:ext cx="438912" cy="438912"/>
          </a:xfrm>
          <a:prstGeom prst="ellipse">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500" b="1" i="0">
                <a:solidFill>
                  <a:srgbClr val="FFFFFF"/>
                </a:solidFill>
                <a:latin typeface="Georgia"/>
              </a:rPr>
              <a:t>3</a:t>
            </a:r>
          </a:p>
        </p:txBody>
      </p:sp>
      <p:sp>
        <p:nvSpPr>
          <p:cNvPr id="28" name="TextBox 27"/>
          <p:cNvSpPr txBox="1"/>
          <p:nvPr/>
        </p:nvSpPr>
        <p:spPr>
          <a:xfrm>
            <a:off x="6812280" y="2990088"/>
            <a:ext cx="1965960" cy="502920"/>
          </a:xfrm>
          <a:prstGeom prst="rect">
            <a:avLst/>
          </a:prstGeom>
          <a:noFill/>
        </p:spPr>
        <p:txBody>
          <a:bodyPr wrap="square" anchor="ctr" lIns="18288" rIns="18288" tIns="36576" bIns="36576">
            <a:spAutoFit/>
          </a:bodyPr>
          <a:lstStyle/>
          <a:p>
            <a:pPr algn="l">
              <a:spcAft>
                <a:spcPts val="0"/>
              </a:spcAft>
            </a:pPr>
            <a:r>
              <a:rPr sz="1600" b="1" i="0">
                <a:solidFill>
                  <a:srgbClr val="1E2A3A"/>
                </a:solidFill>
                <a:latin typeface="Georgia"/>
              </a:rPr>
              <a:t>Company</a:t>
            </a:r>
          </a:p>
          <a:p>
            <a:pPr algn="l">
              <a:spcAft>
                <a:spcPts val="0"/>
              </a:spcAft>
            </a:pPr>
            <a:r>
              <a:rPr sz="1000" b="0" i="0">
                <a:solidFill>
                  <a:srgbClr val="6B7A99"/>
                </a:solidFill>
                <a:latin typeface="Arial"/>
              </a:rPr>
              <a:t>Founders and future investors</a:t>
            </a:r>
          </a:p>
        </p:txBody>
      </p:sp>
      <p:sp>
        <p:nvSpPr>
          <p:cNvPr id="29" name="TextBox 28"/>
          <p:cNvSpPr txBox="1"/>
          <p:nvPr/>
        </p:nvSpPr>
        <p:spPr>
          <a:xfrm>
            <a:off x="6291072" y="361188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26.1%</a:t>
            </a:r>
          </a:p>
          <a:p>
            <a:pPr algn="l">
              <a:spcAft>
                <a:spcPts val="0"/>
              </a:spcAft>
            </a:pPr>
            <a:r>
              <a:rPr sz="1000" b="0" i="0">
                <a:solidFill>
                  <a:srgbClr val="3D4F6A"/>
                </a:solidFill>
                <a:latin typeface="Arial"/>
              </a:rPr>
              <a:t>net margin in 2027; we need 15%+ (slide 26)</a:t>
            </a:r>
          </a:p>
        </p:txBody>
      </p:sp>
      <p:sp>
        <p:nvSpPr>
          <p:cNvPr id="30" name="TextBox 29"/>
          <p:cNvSpPr txBox="1"/>
          <p:nvPr/>
        </p:nvSpPr>
        <p:spPr>
          <a:xfrm>
            <a:off x="6291072" y="443484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Rp82M</a:t>
            </a:r>
          </a:p>
          <a:p>
            <a:pPr algn="l">
              <a:spcAft>
                <a:spcPts val="0"/>
              </a:spcAft>
            </a:pPr>
            <a:r>
              <a:rPr sz="1000" b="0" i="0">
                <a:solidFill>
                  <a:srgbClr val="3D4F6A"/>
                </a:solidFill>
                <a:latin typeface="Arial"/>
              </a:rPr>
              <a:t>lowest cash (Feb 2027) (slide 27)</a:t>
            </a:r>
          </a:p>
        </p:txBody>
      </p:sp>
      <p:sp>
        <p:nvSpPr>
          <p:cNvPr id="31" name="TextBox 30"/>
          <p:cNvSpPr txBox="1"/>
          <p:nvPr/>
        </p:nvSpPr>
        <p:spPr>
          <a:xfrm>
            <a:off x="6291072" y="525780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61% → 38%</a:t>
            </a:r>
          </a:p>
          <a:p>
            <a:pPr algn="l">
              <a:spcAft>
                <a:spcPts val="0"/>
              </a:spcAft>
            </a:pPr>
            <a:r>
              <a:rPr sz="1000" b="0" i="0">
                <a:solidFill>
                  <a:srgbClr val="3D4F6A"/>
                </a:solidFill>
                <a:latin typeface="Arial"/>
              </a:rPr>
              <a:t>BI's share of sales, new prices only → full plan (slide 14)</a:t>
            </a:r>
          </a:p>
        </p:txBody>
      </p:sp>
      <p:sp>
        <p:nvSpPr>
          <p:cNvPr id="32" name="Rounded Rectangle 31"/>
          <p:cNvSpPr/>
          <p:nvPr/>
        </p:nvSpPr>
        <p:spPr>
          <a:xfrm>
            <a:off x="8961120" y="2880360"/>
            <a:ext cx="2697480" cy="3246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33" name="Oval 32"/>
          <p:cNvSpPr/>
          <p:nvPr/>
        </p:nvSpPr>
        <p:spPr>
          <a:xfrm>
            <a:off x="9125712" y="3017520"/>
            <a:ext cx="438912" cy="438912"/>
          </a:xfrm>
          <a:prstGeom prst="ellipse">
            <a:avLst/>
          </a:prstGeom>
          <a:solidFill>
            <a:srgbClr val="637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500" b="1" i="0">
                <a:solidFill>
                  <a:srgbClr val="FFFFFF"/>
                </a:solidFill>
                <a:latin typeface="Georgia"/>
              </a:rPr>
              <a:t>4</a:t>
            </a:r>
          </a:p>
        </p:txBody>
      </p:sp>
      <p:sp>
        <p:nvSpPr>
          <p:cNvPr id="34" name="TextBox 33"/>
          <p:cNvSpPr txBox="1"/>
          <p:nvPr/>
        </p:nvSpPr>
        <p:spPr>
          <a:xfrm>
            <a:off x="9646920" y="2990088"/>
            <a:ext cx="1965960" cy="502920"/>
          </a:xfrm>
          <a:prstGeom prst="rect">
            <a:avLst/>
          </a:prstGeom>
          <a:noFill/>
        </p:spPr>
        <p:txBody>
          <a:bodyPr wrap="square" anchor="ctr" lIns="18288" rIns="18288" tIns="36576" bIns="36576">
            <a:spAutoFit/>
          </a:bodyPr>
          <a:lstStyle/>
          <a:p>
            <a:pPr algn="l">
              <a:spcAft>
                <a:spcPts val="0"/>
              </a:spcAft>
            </a:pPr>
            <a:r>
              <a:rPr sz="1600" b="1" i="0">
                <a:solidFill>
                  <a:srgbClr val="1E2A3A"/>
                </a:solidFill>
                <a:latin typeface="Georgia"/>
              </a:rPr>
              <a:t>Community</a:t>
            </a:r>
          </a:p>
          <a:p>
            <a:pPr algn="l">
              <a:spcAft>
                <a:spcPts val="0"/>
              </a:spcAft>
            </a:pPr>
            <a:r>
              <a:rPr sz="1000" b="0" i="0">
                <a:solidFill>
                  <a:srgbClr val="6B7A99"/>
                </a:solidFill>
                <a:latin typeface="Arial"/>
              </a:rPr>
              <a:t>People beyond our clients</a:t>
            </a:r>
          </a:p>
        </p:txBody>
      </p:sp>
      <p:sp>
        <p:nvSpPr>
          <p:cNvPr id="35" name="TextBox 34"/>
          <p:cNvSpPr txBox="1"/>
          <p:nvPr/>
        </p:nvSpPr>
        <p:spPr>
          <a:xfrm>
            <a:off x="9125712" y="3611880"/>
            <a:ext cx="2423160" cy="804672"/>
          </a:xfrm>
          <a:prstGeom prst="rect">
            <a:avLst/>
          </a:prstGeom>
          <a:noFill/>
        </p:spPr>
        <p:txBody>
          <a:bodyPr wrap="square" anchor="t" lIns="18288" rIns="18288" tIns="36576" bIns="36576">
            <a:spAutoFit/>
          </a:bodyPr>
          <a:lstStyle/>
          <a:p>
            <a:pPr algn="l">
              <a:spcAft>
                <a:spcPts val="0"/>
              </a:spcAft>
            </a:pPr>
            <a:r>
              <a:rPr sz="1700" b="1" i="0">
                <a:solidFill>
                  <a:srgbClr val="6379A1"/>
                </a:solidFill>
                <a:latin typeface="Georgia"/>
              </a:rPr>
              <a:t>710 + ~1,400</a:t>
            </a:r>
          </a:p>
          <a:p>
            <a:pPr algn="l">
              <a:spcAft>
                <a:spcPts val="0"/>
              </a:spcAft>
            </a:pPr>
            <a:r>
              <a:rPr sz="1000" b="0" i="0">
                <a:solidFill>
                  <a:srgbClr val="3D4F6A"/>
                </a:solidFill>
                <a:latin typeface="Arial"/>
              </a:rPr>
              <a:t>people we train in 2027 + people they reach (estimate: 2 each)</a:t>
            </a:r>
          </a:p>
        </p:txBody>
      </p:sp>
      <p:sp>
        <p:nvSpPr>
          <p:cNvPr id="36" name="TextBox 35"/>
          <p:cNvSpPr txBox="1"/>
          <p:nvPr/>
        </p:nvSpPr>
        <p:spPr>
          <a:xfrm>
            <a:off x="9125712" y="4434840"/>
            <a:ext cx="2423160" cy="804672"/>
          </a:xfrm>
          <a:prstGeom prst="rect">
            <a:avLst/>
          </a:prstGeom>
          <a:noFill/>
        </p:spPr>
        <p:txBody>
          <a:bodyPr wrap="square" anchor="t" lIns="18288" rIns="18288" tIns="36576" bIns="36576">
            <a:spAutoFit/>
          </a:bodyPr>
          <a:lstStyle/>
          <a:p>
            <a:pPr algn="l">
              <a:spcAft>
                <a:spcPts val="0"/>
              </a:spcAft>
            </a:pPr>
            <a:r>
              <a:rPr sz="1700" b="1" i="0">
                <a:solidFill>
                  <a:srgbClr val="6379A1"/>
                </a:solidFill>
                <a:latin typeface="Georgia"/>
              </a:rPr>
              <a:t>480 + 166</a:t>
            </a:r>
          </a:p>
          <a:p>
            <a:pPr algn="l">
              <a:spcAft>
                <a:spcPts val="0"/>
              </a:spcAft>
            </a:pPr>
            <a:r>
              <a:rPr sz="1000" b="0" i="0">
                <a:solidFill>
                  <a:srgbClr val="3D4F6A"/>
                </a:solidFill>
                <a:latin typeface="Arial"/>
              </a:rPr>
              <a:t>people at our bank and public events + counseling sessions (slide 17)</a:t>
            </a:r>
          </a:p>
        </p:txBody>
      </p:sp>
      <p:sp>
        <p:nvSpPr>
          <p:cNvPr id="37" name="TextBox 36"/>
          <p:cNvSpPr txBox="1"/>
          <p:nvPr/>
        </p:nvSpPr>
        <p:spPr>
          <a:xfrm>
            <a:off x="9125712" y="5257800"/>
            <a:ext cx="2423160" cy="804672"/>
          </a:xfrm>
          <a:prstGeom prst="rect">
            <a:avLst/>
          </a:prstGeom>
          <a:noFill/>
        </p:spPr>
        <p:txBody>
          <a:bodyPr wrap="square" anchor="t" lIns="18288" rIns="18288" tIns="36576" bIns="36576">
            <a:spAutoFit/>
          </a:bodyPr>
          <a:lstStyle/>
          <a:p>
            <a:pPr algn="l">
              <a:spcAft>
                <a:spcPts val="0"/>
              </a:spcAft>
            </a:pPr>
            <a:r>
              <a:rPr sz="1700" b="1" i="0">
                <a:solidFill>
                  <a:srgbClr val="6379A1"/>
                </a:solidFill>
                <a:latin typeface="Georgia"/>
              </a:rPr>
              <a:t>20%</a:t>
            </a:r>
          </a:p>
          <a:p>
            <a:pPr algn="l">
              <a:spcAft>
                <a:spcPts val="0"/>
              </a:spcAft>
            </a:pPr>
            <a:r>
              <a:rPr sz="1000" b="0" i="0">
                <a:solidFill>
                  <a:srgbClr val="3D4F6A"/>
                </a:solidFill>
                <a:latin typeface="Arial"/>
              </a:rPr>
              <a:t>new clients from referral by Q4 2027 (slide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We lose money in </a:t>
            </a:r>
            <a:r>
              <a:rPr sz="2800" b="1" i="0">
                <a:solidFill>
                  <a:srgbClr val="9B3809"/>
                </a:solidFill>
                <a:latin typeface="Georgia"/>
              </a:rPr>
              <a:t>7 of the next 15 months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Salaries come every month, big programs do not. Until March we only pitch, so the good months must carry us.</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OUR GOAL</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Net profit = sales minus all costs and tax.</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5</a:t>
            </a:r>
          </a:p>
        </p:txBody>
      </p:sp>
      <p:graphicFrame>
        <p:nvGraphicFramePr>
          <p:cNvPr id="7" name="Chart 6"/>
          <p:cNvGraphicFramePr>
            <a:graphicFrameLocks noGrp="1"/>
          </p:cNvGraphicFramePr>
          <p:nvPr/>
        </p:nvGraphicFramePr>
        <p:xfrm>
          <a:off x="457200" y="1371600"/>
          <a:ext cx="758952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8321040" y="1463040"/>
            <a:ext cx="3429000" cy="13716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Rp30M</a:t>
            </a:r>
          </a:p>
          <a:p>
            <a:pPr algn="l">
              <a:spcAft>
                <a:spcPts val="200"/>
              </a:spcAft>
            </a:pPr>
            <a:r>
              <a:rPr sz="1200" b="0" i="0">
                <a:solidFill>
                  <a:srgbClr val="3D4F6A"/>
                </a:solidFill>
                <a:latin typeface="Arial"/>
              </a:rPr>
              <a:t>lost in the worst month (Jan 27)</a:t>
            </a:r>
          </a:p>
        </p:txBody>
      </p:sp>
      <p:sp>
        <p:nvSpPr>
          <p:cNvPr id="9" name="Rounded Rectangle 8"/>
          <p:cNvSpPr/>
          <p:nvPr/>
        </p:nvSpPr>
        <p:spPr>
          <a:xfrm>
            <a:off x="8321040" y="2971800"/>
            <a:ext cx="3429000" cy="13716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1E2A3A"/>
                </a:solidFill>
                <a:latin typeface="Georgia"/>
              </a:rPr>
              <a:t>Rp98M</a:t>
            </a:r>
          </a:p>
          <a:p>
            <a:pPr algn="l">
              <a:spcAft>
                <a:spcPts val="200"/>
              </a:spcAft>
            </a:pPr>
            <a:r>
              <a:rPr sz="1200" b="0" i="0">
                <a:solidFill>
                  <a:srgbClr val="3D4F6A"/>
                </a:solidFill>
                <a:latin typeface="Arial"/>
              </a:rPr>
              <a:t>lost from October to February, while we pitch and sign</a:t>
            </a:r>
          </a:p>
        </p:txBody>
      </p:sp>
      <p:sp>
        <p:nvSpPr>
          <p:cNvPr id="10" name="Rounded Rectangle 9"/>
          <p:cNvSpPr/>
          <p:nvPr/>
        </p:nvSpPr>
        <p:spPr>
          <a:xfrm>
            <a:off x="8321040" y="4480560"/>
            <a:ext cx="3429000" cy="18288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Without the cushion, </a:t>
            </a:r>
          </a:p>
          <a:p>
            <a:pPr algn="l">
              <a:spcAft>
                <a:spcPts val="400"/>
              </a:spcAft>
            </a:pPr>
            <a:r>
              <a:rPr sz="1300" b="0" i="0">
                <a:solidFill>
                  <a:srgbClr val="3D4F6A"/>
                </a:solidFill>
                <a:latin typeface="Arial"/>
              </a:rPr>
              <a:t>one lost program in a good month can turn the whole year into a loss.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The new prices work only because </a:t>
            </a:r>
            <a:r>
              <a:rPr sz="2800" b="1" i="0">
                <a:solidFill>
                  <a:srgbClr val="9B3809"/>
                </a:solidFill>
                <a:latin typeface="Georgia"/>
              </a:rPr>
              <a:t>pay is low</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Fair pay alone drops the margin to 7%. More EAP, not a second price rise, brings it back.</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THE PROBLEM</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a normal full year at the 2027 sales plan. Fair pay = minimum wage + 18% for BPJS and THR (estimate).</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6</a:t>
            </a:r>
          </a:p>
        </p:txBody>
      </p:sp>
      <p:graphicFrame>
        <p:nvGraphicFramePr>
          <p:cNvPr id="7" name="Chart 6"/>
          <p:cNvGraphicFramePr>
            <a:graphicFrameLocks noGrp="1"/>
          </p:cNvGraphicFramePr>
          <p:nvPr/>
        </p:nvGraphicFramePr>
        <p:xfrm>
          <a:off x="457200" y="1371600"/>
          <a:ext cx="676656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7452360" y="1463040"/>
            <a:ext cx="4297680" cy="2606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700"/>
              </a:spcAft>
            </a:pPr>
            <a:r>
              <a:rPr sz="1500" b="1" i="0">
                <a:solidFill>
                  <a:srgbClr val="1E2A3A"/>
                </a:solidFill>
                <a:latin typeface="Georgia"/>
              </a:rPr>
              <a:t>How to read the bars</a:t>
            </a:r>
          </a:p>
          <a:p>
            <a:pPr algn="l">
              <a:spcAft>
                <a:spcPts val="700"/>
              </a:spcAft>
            </a:pPr>
            <a:r>
              <a:rPr sz="1300" b="1" i="0">
                <a:solidFill>
                  <a:srgbClr val="1E2A3A"/>
                </a:solidFill>
                <a:latin typeface="Arial"/>
              </a:rPr>
              <a:t>+ fair pay: </a:t>
            </a:r>
            <a:r>
              <a:rPr sz="1300" b="0" i="0">
                <a:solidFill>
                  <a:srgbClr val="3D4F6A"/>
                </a:solidFill>
                <a:latin typeface="Arial"/>
              </a:rPr>
              <a:t>costs Rp279M a year.</a:t>
            </a:r>
          </a:p>
          <a:p>
            <a:pPr algn="l">
              <a:spcAft>
                <a:spcPts val="700"/>
              </a:spcAft>
            </a:pPr>
            <a:r>
              <a:rPr sz="1300" b="1" i="0">
                <a:solidFill>
                  <a:srgbClr val="1E2A3A"/>
                </a:solidFill>
                <a:latin typeface="Arial"/>
              </a:rPr>
              <a:t>+ 2 EAP: </a:t>
            </a:r>
            <a:r>
              <a:rPr sz="1300" b="0" i="0">
                <a:solidFill>
                  <a:srgbClr val="3D4F6A"/>
                </a:solidFill>
                <a:latin typeface="Arial"/>
              </a:rPr>
              <a:t>each contract adds Rp120M of gross profit a year.</a:t>
            </a:r>
          </a:p>
          <a:p>
            <a:pPr algn="l">
              <a:spcAft>
                <a:spcPts val="700"/>
              </a:spcAft>
            </a:pPr>
            <a:r>
              <a:rPr sz="1300" b="1" i="0">
                <a:solidFill>
                  <a:srgbClr val="1E2A3A"/>
                </a:solidFill>
                <a:latin typeface="Arial"/>
              </a:rPr>
              <a:t>+ co-founder and bank deal: </a:t>
            </a:r>
            <a:r>
              <a:rPr sz="1300" b="0" i="0">
                <a:solidFill>
                  <a:srgbClr val="3D4F6A"/>
                </a:solidFill>
                <a:latin typeface="Arial"/>
              </a:rPr>
              <a:t>24%.</a:t>
            </a:r>
          </a:p>
        </p:txBody>
      </p:sp>
      <p:sp>
        <p:nvSpPr>
          <p:cNvPr id="9" name="Rounded Rectangle 8"/>
          <p:cNvSpPr/>
          <p:nvPr/>
        </p:nvSpPr>
        <p:spPr>
          <a:xfrm>
            <a:off x="7452360" y="4206240"/>
            <a:ext cx="4297680" cy="210312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600"/>
              </a:spcAft>
            </a:pPr>
            <a:r>
              <a:rPr sz="1500" b="1" i="0">
                <a:solidFill>
                  <a:srgbClr val="9B3809"/>
                </a:solidFill>
                <a:latin typeface="Georgia"/>
              </a:rPr>
              <a:t>Why not raise prices again?</a:t>
            </a:r>
          </a:p>
          <a:p>
            <a:pPr algn="l">
              <a:spcAft>
                <a:spcPts val="600"/>
              </a:spcAft>
            </a:pPr>
            <a:r>
              <a:rPr sz="1300" b="0" i="0">
                <a:solidFill>
                  <a:srgbClr val="3D4F6A"/>
                </a:solidFill>
                <a:latin typeface="Arial"/>
              </a:rPr>
              <a:t>Every event would need +12%: the 3-day program at about Rp116M. Regulators have budget limits, and clients may leave.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Cash is our weak point: lowest </a:t>
            </a:r>
            <a:r>
              <a:rPr sz="2800" b="1" i="0">
                <a:solidFill>
                  <a:srgbClr val="9B3809"/>
                </a:solidFill>
                <a:latin typeface="Georgia"/>
              </a:rPr>
              <a:t>Rp82M in Feb 2027</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We pitch and sign from October to February. New work starts in March, and clients pay 0 to 60 days later.</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THE PROBLEM</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(Outlook sheet). No new events before March 2027.</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7</a:t>
            </a:r>
          </a:p>
        </p:txBody>
      </p:sp>
      <p:graphicFrame>
        <p:nvGraphicFramePr>
          <p:cNvPr id="7" name="Chart 6"/>
          <p:cNvGraphicFramePr>
            <a:graphicFrameLocks noGrp="1"/>
          </p:cNvGraphicFramePr>
          <p:nvPr/>
        </p:nvGraphicFramePr>
        <p:xfrm>
          <a:off x="457200" y="1371600"/>
          <a:ext cx="777240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8458200" y="1463040"/>
            <a:ext cx="160020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9B3809"/>
                </a:solidFill>
                <a:latin typeface="Georgia"/>
              </a:rPr>
              <a:t>1</a:t>
            </a:r>
          </a:p>
          <a:p>
            <a:pPr algn="l">
              <a:spcAft>
                <a:spcPts val="200"/>
              </a:spcAft>
            </a:pPr>
            <a:r>
              <a:rPr sz="1100" b="0" i="0">
                <a:solidFill>
                  <a:srgbClr val="3D4F6A"/>
                </a:solidFill>
                <a:latin typeface="Arial"/>
              </a:rPr>
              <a:t>months under the red line</a:t>
            </a:r>
          </a:p>
        </p:txBody>
      </p:sp>
      <p:sp>
        <p:nvSpPr>
          <p:cNvPr id="9" name="Rounded Rectangle 8"/>
          <p:cNvSpPr/>
          <p:nvPr/>
        </p:nvSpPr>
        <p:spPr>
          <a:xfrm>
            <a:off x="10149840" y="1463040"/>
            <a:ext cx="160020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1E2A3A"/>
                </a:solidFill>
                <a:latin typeface="Georgia"/>
              </a:rPr>
              <a:t>Rp524M</a:t>
            </a:r>
          </a:p>
          <a:p>
            <a:pPr algn="l">
              <a:spcAft>
                <a:spcPts val="200"/>
              </a:spcAft>
            </a:pPr>
            <a:r>
              <a:rPr sz="1100" b="0" i="0">
                <a:solidFill>
                  <a:srgbClr val="3D4F6A"/>
                </a:solidFill>
                <a:latin typeface="Arial"/>
              </a:rPr>
              <a:t>cash at end of 2027</a:t>
            </a:r>
          </a:p>
        </p:txBody>
      </p:sp>
      <p:sp>
        <p:nvSpPr>
          <p:cNvPr id="10" name="Rounded Rectangle 9"/>
          <p:cNvSpPr/>
          <p:nvPr/>
        </p:nvSpPr>
        <p:spPr>
          <a:xfrm>
            <a:off x="8458200" y="2743200"/>
            <a:ext cx="3291840" cy="196596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400"/>
              </a:spcAft>
            </a:pPr>
            <a:r>
              <a:rPr sz="1400" b="1" i="0">
                <a:solidFill>
                  <a:srgbClr val="9B3809"/>
                </a:solidFill>
                <a:latin typeface="Georgia"/>
              </a:rPr>
              <a:t>Guard rule</a:t>
            </a:r>
          </a:p>
          <a:p>
            <a:pPr algn="l">
              <a:spcAft>
                <a:spcPts val="400"/>
              </a:spcAft>
            </a:pPr>
            <a:r>
              <a:rPr sz="1200" b="0" i="0">
                <a:solidFill>
                  <a:srgbClr val="3D4F6A"/>
                </a:solidFill>
                <a:latin typeface="Arial"/>
              </a:rPr>
              <a:t>If February ends under Rp80M (now: Rp82M), the second founder's pay waits until May and extra ads start in March.</a:t>
            </a:r>
          </a:p>
        </p:txBody>
      </p:sp>
      <p:sp>
        <p:nvSpPr>
          <p:cNvPr id="11" name="Rounded Rectangle 10"/>
          <p:cNvSpPr/>
          <p:nvPr/>
        </p:nvSpPr>
        <p:spPr>
          <a:xfrm>
            <a:off x="8458200" y="4846320"/>
            <a:ext cx="3291840"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400"/>
              </a:spcAft>
            </a:pPr>
            <a:r>
              <a:rPr sz="1400" b="1" i="0">
                <a:solidFill>
                  <a:srgbClr val="1E2A3A"/>
                </a:solidFill>
                <a:latin typeface="Georgia"/>
              </a:rPr>
              <a:t>Two more cash levers</a:t>
            </a:r>
          </a:p>
          <a:p>
            <a:pPr algn="l">
              <a:spcAft>
                <a:spcPts val="400"/>
              </a:spcAft>
            </a:pPr>
            <a:r>
              <a:rPr sz="1200" b="0" i="0">
                <a:solidFill>
                  <a:srgbClr val="3D4F6A"/>
                </a:solidFill>
                <a:latin typeface="Arial"/>
              </a:rPr>
              <a:t>A 30% down payment on head-office programs, and 3 events moved to Jul-Sep. All three: lowest Rp107M. More: slide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8</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PART A OF D</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A</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How do we grow B2B, our main engine?</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Win the head office, spread to its branches, keep the client with EAP, and sell 4 to 6 months before the work.</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88%</a:t>
            </a:r>
          </a:p>
          <a:p>
            <a:pPr algn="l">
              <a:spcAft>
                <a:spcPts val="200"/>
              </a:spcAft>
            </a:pPr>
            <a:r>
              <a:rPr sz="1100" b="0" i="0">
                <a:solidFill>
                  <a:srgbClr val="C9D2E3"/>
                </a:solidFill>
                <a:latin typeface="Arial"/>
              </a:rPr>
              <a:t>of 2027 sales</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17 Oct</a:t>
            </a:r>
          </a:p>
          <a:p>
            <a:pPr algn="l">
              <a:spcAft>
                <a:spcPts val="200"/>
              </a:spcAft>
            </a:pPr>
            <a:r>
              <a:rPr sz="1100" b="0" i="0">
                <a:solidFill>
                  <a:srgbClr val="C9D2E3"/>
                </a:solidFill>
                <a:latin typeface="Arial"/>
              </a:rPr>
              <a:t>BI proposal deadline</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Who do we sell to, and in what order?</a:t>
            </a:r>
          </a:p>
          <a:p>
            <a:pPr algn="l">
              <a:spcAft>
                <a:spcPts val="300"/>
              </a:spcAft>
            </a:pPr>
            <a:r>
              <a:rPr sz="1200" b="1" i="0">
                <a:solidFill>
                  <a:srgbClr val="E8904A"/>
                </a:solidFill>
                <a:latin typeface="Arial"/>
              </a:rPr>
              <a:t>•  </a:t>
            </a:r>
            <a:r>
              <a:rPr sz="1200" b="0" i="0">
                <a:solidFill>
                  <a:srgbClr val="C9D2E3"/>
                </a:solidFill>
                <a:latin typeface="Arial"/>
              </a:rPr>
              <a:t>Which deals must we sign, and by when?</a:t>
            </a:r>
          </a:p>
          <a:p>
            <a:pPr algn="l">
              <a:spcAft>
                <a:spcPts val="300"/>
              </a:spcAft>
            </a:pPr>
            <a:r>
              <a:rPr sz="1200" b="1" i="0">
                <a:solidFill>
                  <a:srgbClr val="E8904A"/>
                </a:solidFill>
                <a:latin typeface="Arial"/>
              </a:rPr>
              <a:t>•  </a:t>
            </a:r>
            <a:r>
              <a:rPr sz="1200" b="0" i="0">
                <a:solidFill>
                  <a:srgbClr val="C9D2E3"/>
                </a:solidFill>
                <a:latin typeface="Arial"/>
              </a:rPr>
              <a:t>What do we charge, and is it fair?</a:t>
            </a:r>
          </a:p>
          <a:p>
            <a:pPr algn="l">
              <a:spcAft>
                <a:spcPts val="300"/>
              </a:spcAft>
            </a:pPr>
            <a:r>
              <a:rPr sz="1200" b="1" i="0">
                <a:solidFill>
                  <a:srgbClr val="E8904A"/>
                </a:solidFill>
                <a:latin typeface="Arial"/>
              </a:rPr>
              <a:t>•  </a:t>
            </a:r>
            <a:r>
              <a:rPr sz="1200" b="0" i="0">
                <a:solidFill>
                  <a:srgbClr val="C9D2E3"/>
                </a:solidFill>
                <a:latin typeface="Arial"/>
              </a:rPr>
              <a:t>When must we start selling?</a:t>
            </a:r>
          </a:p>
          <a:p>
            <a:pPr algn="l">
              <a:spcAft>
                <a:spcPts val="300"/>
              </a:spcAft>
            </a:pPr>
            <a:r>
              <a:rPr sz="1200" b="1" i="0">
                <a:solidFill>
                  <a:srgbClr val="E8904A"/>
                </a:solidFill>
                <a:latin typeface="Arial"/>
              </a:rPr>
              <a:t>•  </a:t>
            </a:r>
            <a:r>
              <a:rPr sz="1200" b="0" i="0">
                <a:solidFill>
                  <a:srgbClr val="C9D2E3"/>
                </a:solidFill>
                <a:latin typeface="Arial"/>
              </a:rPr>
              <a:t>How do we depend less on BI?</a:t>
            </a:r>
          </a:p>
          <a:p>
            <a:pPr algn="l">
              <a:spcAft>
                <a:spcPts val="300"/>
              </a:spcAft>
            </a:pPr>
            <a:r>
              <a:rPr sz="1200" b="1" i="0">
                <a:solidFill>
                  <a:srgbClr val="E8904A"/>
                </a:solidFill>
                <a:latin typeface="Arial"/>
              </a:rPr>
              <a:t>•  </a:t>
            </a:r>
            <a:r>
              <a:rPr sz="1200" b="0" i="0">
                <a:solidFill>
                  <a:srgbClr val="C9D2E3"/>
                </a:solidFill>
                <a:latin typeface="Arial"/>
              </a:rPr>
              <a:t>Who sells with us?</a:t>
            </a:r>
          </a:p>
        </p:txBody>
      </p:sp>
      <p:sp>
        <p:nvSpPr>
          <p:cNvPr id="10" name="TextBox 9"/>
          <p:cNvSpPr txBox="1"/>
          <p:nvPr/>
        </p:nvSpPr>
        <p:spPr>
          <a:xfrm>
            <a:off x="2240280" y="4663440"/>
            <a:ext cx="5943600" cy="365760"/>
          </a:xfrm>
          <a:prstGeom prst="rect">
            <a:avLst/>
          </a:prstGeom>
          <a:noFill/>
        </p:spPr>
        <p:txBody>
          <a:bodyPr wrap="square" anchor="ctr" lIns="0" rIns="0" tIns="36576" bIns="36576">
            <a:spAutoFit/>
          </a:bodyPr>
          <a:lstStyle/>
          <a:p>
            <a:pPr algn="l">
              <a:spcAft>
                <a:spcPts val="400"/>
              </a:spcAft>
            </a:pPr>
            <a:r>
              <a:rPr sz="1300" b="1" i="0">
                <a:solidFill>
                  <a:srgbClr val="E8904A"/>
                </a:solidFill>
                <a:latin typeface="Arial"/>
              </a:rPr>
              <a:t>Serves pillars:  </a:t>
            </a:r>
            <a:r>
              <a:rPr sz="1300" b="0" i="0">
                <a:solidFill>
                  <a:srgbClr val="C9D2E3"/>
                </a:solidFill>
                <a:latin typeface="Arial"/>
              </a:rPr>
              <a:t>1 Clients  ·  3 Company</a:t>
            </a:r>
          </a:p>
        </p:txBody>
      </p:sp>
      <p:sp>
        <p:nvSpPr>
          <p:cNvPr id="11" name="Rounded Rectangle 10"/>
          <p:cNvSpPr/>
          <p:nvPr/>
        </p:nvSpPr>
        <p:spPr>
          <a:xfrm>
            <a:off x="2240280" y="5715000"/>
            <a:ext cx="2240280" cy="43891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1E2A3A"/>
                </a:solidFill>
                <a:latin typeface="Arial"/>
              </a:rPr>
              <a:t>A  </a:t>
            </a:r>
            <a:r>
              <a:rPr sz="1300" b="1" i="0">
                <a:solidFill>
                  <a:srgbClr val="1E2A3A"/>
                </a:solidFill>
                <a:latin typeface="Arial"/>
              </a:rPr>
              <a:t>B2B</a:t>
            </a:r>
          </a:p>
        </p:txBody>
      </p:sp>
      <p:sp>
        <p:nvSpPr>
          <p:cNvPr id="12" name="Rounded Rectangle 11"/>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3" name="Rounded Rectangle 12"/>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4" name="Rounded Rectangle 13"/>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Win the head office, </a:t>
            </a:r>
            <a:r>
              <a:rPr sz="2800" b="1" i="0">
                <a:solidFill>
                  <a:srgbClr val="9B3809"/>
                </a:solidFill>
                <a:latin typeface="Georgia"/>
              </a:rPr>
              <a:t>spread to branches</a:t>
            </a:r>
            <a:r>
              <a:rPr sz="2800" b="1" i="0">
                <a:solidFill>
                  <a:srgbClr val="1E2A3A"/>
                </a:solidFill>
                <a:latin typeface="Georgia"/>
              </a:rPr>
              <a:t>, keep</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Who we serve: financial institutions that must change how people handle money.</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Rate card and Roadmap sheet in our model. Bank buying order: our positioning review, October 2026.</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9</a:t>
            </a:r>
          </a:p>
        </p:txBody>
      </p:sp>
      <p:sp>
        <p:nvSpPr>
          <p:cNvPr id="7" name="Rounded Rectangle 6"/>
          <p:cNvSpPr/>
          <p:nvPr/>
        </p:nvSpPr>
        <p:spPr>
          <a:xfrm>
            <a:off x="457200" y="1417320"/>
            <a:ext cx="3611880" cy="50292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1  Start</a:t>
            </a:r>
          </a:p>
        </p:txBody>
      </p:sp>
      <p:sp>
        <p:nvSpPr>
          <p:cNvPr id="8" name="Rounded Rectangle 7"/>
          <p:cNvSpPr/>
          <p:nvPr/>
        </p:nvSpPr>
        <p:spPr>
          <a:xfrm>
            <a:off x="457200" y="1965960"/>
            <a:ext cx="361188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200"/>
              </a:spcAft>
            </a:pPr>
            <a:r>
              <a:rPr sz="1400" b="1" i="0">
                <a:solidFill>
                  <a:srgbClr val="1E2A3A"/>
                </a:solidFill>
                <a:latin typeface="Arial"/>
              </a:rPr>
              <a:t>Head-office trainer program</a:t>
            </a:r>
          </a:p>
          <a:p>
            <a:pPr algn="l">
              <a:spcAft>
                <a:spcPts val="200"/>
              </a:spcAft>
            </a:pPr>
            <a:r>
              <a:rPr sz="2200" b="1" i="0">
                <a:solidFill>
                  <a:srgbClr val="9B3809"/>
                </a:solidFill>
                <a:latin typeface="Georgia"/>
              </a:rPr>
              <a:t>about Rp100M</a:t>
            </a:r>
          </a:p>
          <a:p>
            <a:pPr algn="l">
              <a:spcAft>
                <a:spcPts val="200"/>
              </a:spcAft>
            </a:pPr>
            <a:r>
              <a:rPr sz="1200" b="0" i="0">
                <a:solidFill>
                  <a:srgbClr val="3D4F6A"/>
                </a:solidFill>
                <a:latin typeface="Arial"/>
              </a:rPr>
              <a:t>3 days, yearly agreement</a:t>
            </a:r>
          </a:p>
        </p:txBody>
      </p:sp>
      <p:sp>
        <p:nvSpPr>
          <p:cNvPr id="9" name="Right Arrow 8"/>
          <p:cNvSpPr/>
          <p:nvPr/>
        </p:nvSpPr>
        <p:spPr>
          <a:xfrm>
            <a:off x="4087368" y="1554480"/>
            <a:ext cx="146304"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10" name="Rounded Rectangle 9"/>
          <p:cNvSpPr/>
          <p:nvPr/>
        </p:nvSpPr>
        <p:spPr>
          <a:xfrm>
            <a:off x="4251960" y="1417320"/>
            <a:ext cx="3611880" cy="50292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2  Spread</a:t>
            </a:r>
          </a:p>
        </p:txBody>
      </p:sp>
      <p:sp>
        <p:nvSpPr>
          <p:cNvPr id="11" name="Rounded Rectangle 10"/>
          <p:cNvSpPr/>
          <p:nvPr/>
        </p:nvSpPr>
        <p:spPr>
          <a:xfrm>
            <a:off x="4251960" y="1965960"/>
            <a:ext cx="361188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200"/>
              </a:spcAft>
            </a:pPr>
            <a:r>
              <a:rPr sz="1400" b="1" i="0">
                <a:solidFill>
                  <a:srgbClr val="1E2A3A"/>
                </a:solidFill>
                <a:latin typeface="Arial"/>
              </a:rPr>
              <a:t>The same program in each branch</a:t>
            </a:r>
          </a:p>
          <a:p>
            <a:pPr algn="l">
              <a:spcAft>
                <a:spcPts val="200"/>
              </a:spcAft>
            </a:pPr>
            <a:r>
              <a:rPr sz="2200" b="1" i="0">
                <a:solidFill>
                  <a:srgbClr val="576C94"/>
                </a:solidFill>
                <a:latin typeface="Georgia"/>
              </a:rPr>
              <a:t>Rp28.5-61M a day</a:t>
            </a:r>
          </a:p>
          <a:p>
            <a:pPr algn="l">
              <a:spcAft>
                <a:spcPts val="200"/>
              </a:spcAft>
            </a:pPr>
            <a:r>
              <a:rPr sz="1200" b="0" i="0">
                <a:solidFill>
                  <a:srgbClr val="3D4F6A"/>
                </a:solidFill>
                <a:latin typeface="Arial"/>
              </a:rPr>
              <a:t>a work order per office</a:t>
            </a:r>
          </a:p>
        </p:txBody>
      </p:sp>
      <p:sp>
        <p:nvSpPr>
          <p:cNvPr id="12" name="Right Arrow 11"/>
          <p:cNvSpPr/>
          <p:nvPr/>
        </p:nvSpPr>
        <p:spPr>
          <a:xfrm>
            <a:off x="7882128" y="1554480"/>
            <a:ext cx="146304"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13" name="Rounded Rectangle 12"/>
          <p:cNvSpPr/>
          <p:nvPr/>
        </p:nvSpPr>
        <p:spPr>
          <a:xfrm>
            <a:off x="8046720" y="1417320"/>
            <a:ext cx="3611880" cy="50292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3  Keep</a:t>
            </a:r>
          </a:p>
        </p:txBody>
      </p:sp>
      <p:sp>
        <p:nvSpPr>
          <p:cNvPr id="14" name="Rounded Rectangle 13"/>
          <p:cNvSpPr/>
          <p:nvPr/>
        </p:nvSpPr>
        <p:spPr>
          <a:xfrm>
            <a:off x="8046720" y="1965960"/>
            <a:ext cx="361188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200"/>
              </a:spcAft>
            </a:pPr>
            <a:r>
              <a:rPr sz="1400" b="1" i="0">
                <a:solidFill>
                  <a:srgbClr val="1E2A3A"/>
                </a:solidFill>
                <a:latin typeface="Arial"/>
              </a:rPr>
              <a:t>EAP for the client's staff</a:t>
            </a:r>
          </a:p>
          <a:p>
            <a:pPr algn="l">
              <a:spcAft>
                <a:spcPts val="200"/>
              </a:spcAft>
            </a:pPr>
            <a:r>
              <a:rPr sz="2200" b="1" i="0">
                <a:solidFill>
                  <a:srgbClr val="9B3809"/>
                </a:solidFill>
                <a:latin typeface="Georgia"/>
              </a:rPr>
              <a:t>Rp15M a month</a:t>
            </a:r>
          </a:p>
          <a:p>
            <a:pPr algn="l">
              <a:spcAft>
                <a:spcPts val="200"/>
              </a:spcAft>
            </a:pPr>
            <a:r>
              <a:rPr sz="1200" b="0" i="0">
                <a:solidFill>
                  <a:srgbClr val="3D4F6A"/>
                </a:solidFill>
                <a:latin typeface="Arial"/>
              </a:rPr>
              <a:t>12 months, renews</a:t>
            </a:r>
          </a:p>
        </p:txBody>
      </p:sp>
      <p:sp>
        <p:nvSpPr>
          <p:cNvPr id="15" name="TextBox 14"/>
          <p:cNvSpPr txBox="1"/>
          <p:nvPr/>
        </p:nvSpPr>
        <p:spPr>
          <a:xfrm>
            <a:off x="457200" y="3611880"/>
            <a:ext cx="11247120" cy="320040"/>
          </a:xfrm>
          <a:prstGeom prst="rect">
            <a:avLst/>
          </a:prstGeom>
          <a:noFill/>
        </p:spPr>
        <p:txBody>
          <a:bodyPr wrap="square" anchor="t" lIns="18288" rIns="18288" tIns="36576" bIns="36576">
            <a:spAutoFit/>
          </a:bodyPr>
          <a:lstStyle/>
          <a:p>
            <a:pPr algn="l">
              <a:spcAft>
                <a:spcPts val="400"/>
              </a:spcAft>
            </a:pPr>
            <a:r>
              <a:rPr sz="1400" b="1" i="0">
                <a:solidFill>
                  <a:srgbClr val="1E2A3A"/>
                </a:solidFill>
                <a:latin typeface="Georgia"/>
              </a:rPr>
              <a:t>Who we sell to, in this order</a:t>
            </a:r>
          </a:p>
        </p:txBody>
      </p:sp>
      <p:sp>
        <p:nvSpPr>
          <p:cNvPr id="16" name="Rounded Rectangle 15"/>
          <p:cNvSpPr/>
          <p:nvPr/>
        </p:nvSpPr>
        <p:spPr>
          <a:xfrm>
            <a:off x="457200" y="3977639"/>
            <a:ext cx="2697480" cy="11430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
              </a:spcAft>
            </a:pPr>
            <a:r>
              <a:rPr sz="1500" b="1" i="0">
                <a:solidFill>
                  <a:srgbClr val="1E2A3A"/>
                </a:solidFill>
                <a:latin typeface="Georgia"/>
              </a:rPr>
              <a:t>1  BI</a:t>
            </a:r>
          </a:p>
          <a:p>
            <a:pPr algn="l">
              <a:spcAft>
                <a:spcPts val="100"/>
              </a:spcAft>
            </a:pPr>
            <a:r>
              <a:rPr sz="1200" b="0" i="0">
                <a:solidFill>
                  <a:srgbClr val="3D4F6A"/>
                </a:solidFill>
                <a:latin typeface="Arial"/>
              </a:rPr>
              <a:t>46 regional offices</a:t>
            </a:r>
          </a:p>
          <a:p>
            <a:pPr algn="l">
              <a:spcAft>
                <a:spcPts val="100"/>
              </a:spcAft>
            </a:pPr>
            <a:r>
              <a:rPr sz="1100" b="1" i="0">
                <a:solidFill>
                  <a:srgbClr val="9B3809"/>
                </a:solidFill>
                <a:latin typeface="Arial"/>
              </a:rPr>
              <a:t>Now: 2027 budget</a:t>
            </a:r>
          </a:p>
        </p:txBody>
      </p:sp>
      <p:sp>
        <p:nvSpPr>
          <p:cNvPr id="17" name="Rounded Rectangle 16"/>
          <p:cNvSpPr/>
          <p:nvPr/>
        </p:nvSpPr>
        <p:spPr>
          <a:xfrm>
            <a:off x="3291840" y="3977639"/>
            <a:ext cx="269748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
              </a:spcAft>
            </a:pPr>
            <a:r>
              <a:rPr sz="1500" b="1" i="0">
                <a:solidFill>
                  <a:srgbClr val="1E2A3A"/>
                </a:solidFill>
                <a:latin typeface="Georgia"/>
              </a:rPr>
              <a:t>2  OJK and LPS</a:t>
            </a:r>
          </a:p>
          <a:p>
            <a:pPr algn="l">
              <a:spcAft>
                <a:spcPts val="100"/>
              </a:spcAft>
            </a:pPr>
            <a:r>
              <a:rPr sz="1200" b="0" i="0">
                <a:solidFill>
                  <a:srgbClr val="3D4F6A"/>
                </a:solidFill>
                <a:latin typeface="Arial"/>
              </a:rPr>
              <a:t>head office, then branches</a:t>
            </a:r>
          </a:p>
          <a:p>
            <a:pPr algn="l">
              <a:spcAft>
                <a:spcPts val="100"/>
              </a:spcAft>
            </a:pPr>
            <a:r>
              <a:rPr sz="1100" b="1" i="0">
                <a:solidFill>
                  <a:srgbClr val="9B3809"/>
                </a:solidFill>
                <a:latin typeface="Arial"/>
              </a:rPr>
              <a:t>Pitch Jun-Sep 2027 for 2028</a:t>
            </a:r>
          </a:p>
        </p:txBody>
      </p:sp>
      <p:sp>
        <p:nvSpPr>
          <p:cNvPr id="18" name="Rounded Rectangle 17"/>
          <p:cNvSpPr/>
          <p:nvPr/>
        </p:nvSpPr>
        <p:spPr>
          <a:xfrm>
            <a:off x="6126480" y="3977639"/>
            <a:ext cx="269748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
              </a:spcAft>
            </a:pPr>
            <a:r>
              <a:rPr sz="1500" b="1" i="0">
                <a:solidFill>
                  <a:srgbClr val="1E2A3A"/>
                </a:solidFill>
                <a:latin typeface="Georgia"/>
              </a:rPr>
              <a:t>3  State banks</a:t>
            </a:r>
          </a:p>
          <a:p>
            <a:pPr algn="l">
              <a:spcAft>
                <a:spcPts val="100"/>
              </a:spcAft>
            </a:pPr>
            <a:r>
              <a:rPr sz="1200" b="0" i="0">
                <a:solidFill>
                  <a:srgbClr val="3D4F6A"/>
                </a:solidFill>
                <a:latin typeface="Arial"/>
              </a:rPr>
              <a:t>BRI, Mandiri and others</a:t>
            </a:r>
          </a:p>
          <a:p>
            <a:pPr algn="l">
              <a:spcAft>
                <a:spcPts val="100"/>
              </a:spcAft>
            </a:pPr>
            <a:r>
              <a:rPr sz="1100" b="1" i="0">
                <a:solidFill>
                  <a:srgbClr val="9B3809"/>
                </a:solidFill>
                <a:latin typeface="Arial"/>
              </a:rPr>
              <a:t>EAP 3 and training days, 2027</a:t>
            </a:r>
          </a:p>
        </p:txBody>
      </p:sp>
      <p:sp>
        <p:nvSpPr>
          <p:cNvPr id="19" name="Rounded Rectangle 18"/>
          <p:cNvSpPr/>
          <p:nvPr/>
        </p:nvSpPr>
        <p:spPr>
          <a:xfrm>
            <a:off x="8961120" y="3977639"/>
            <a:ext cx="269748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
              </a:spcAft>
            </a:pPr>
            <a:r>
              <a:rPr sz="1500" b="1" i="0">
                <a:solidFill>
                  <a:srgbClr val="1E2A3A"/>
                </a:solidFill>
                <a:latin typeface="Georgia"/>
              </a:rPr>
              <a:t>4  Private banks</a:t>
            </a:r>
          </a:p>
          <a:p>
            <a:pPr algn="l">
              <a:spcAft>
                <a:spcPts val="100"/>
              </a:spcAft>
            </a:pPr>
            <a:r>
              <a:rPr sz="1200" b="0" i="0">
                <a:solidFill>
                  <a:srgbClr val="3D4F6A"/>
                </a:solidFill>
                <a:latin typeface="Arial"/>
              </a:rPr>
              <a:t>learning partnerships</a:t>
            </a:r>
          </a:p>
          <a:p>
            <a:pPr algn="l">
              <a:spcAft>
                <a:spcPts val="100"/>
              </a:spcAft>
            </a:pPr>
            <a:r>
              <a:rPr sz="1100" b="1" i="0">
                <a:solidFill>
                  <a:srgbClr val="9B3809"/>
                </a:solidFill>
                <a:latin typeface="Arial"/>
              </a:rPr>
              <a:t>After the first state bank</a:t>
            </a:r>
          </a:p>
        </p:txBody>
      </p:sp>
      <p:sp>
        <p:nvSpPr>
          <p:cNvPr id="20" name="Rounded Rectangle 19"/>
          <p:cNvSpPr/>
          <p:nvPr/>
        </p:nvSpPr>
        <p:spPr>
          <a:xfrm>
            <a:off x="457200" y="5303520"/>
            <a:ext cx="11247120" cy="10058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Why they choose us: </a:t>
            </a:r>
            <a:r>
              <a:rPr sz="1300" b="0" i="0">
                <a:solidFill>
                  <a:srgbClr val="3D4F6A"/>
                </a:solidFill>
                <a:latin typeface="Arial"/>
              </a:rPr>
              <a:t>psychology-led programs with tests before and after (Coreitera), so the client gets proof of behaviour change, not an attendance list.</a:t>
            </a:r>
          </a:p>
          <a:p>
            <a:pPr algn="l">
              <a:spcAft>
                <a:spcPts val="400"/>
              </a:spcAft>
            </a:pPr>
            <a:r>
              <a:rPr sz="1300" b="1" i="0">
                <a:solidFill>
                  <a:srgbClr val="1E2A3A"/>
                </a:solidFill>
                <a:latin typeface="Arial"/>
              </a:rPr>
              <a:t>Guardrail: </a:t>
            </a:r>
            <a:r>
              <a:rPr sz="1300" b="0" i="0">
                <a:solidFill>
                  <a:srgbClr val="3D4F6A"/>
                </a:solidFill>
                <a:latin typeface="Arial"/>
              </a:rPr>
              <a:t>we sell proven delivery and results, never 'connections' or access to regulators.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The 2027 deals we must sign, and </a:t>
            </a:r>
            <a:r>
              <a:rPr sz="2800" b="1" i="0">
                <a:solidFill>
                  <a:srgbClr val="9B3809"/>
                </a:solidFill>
                <a:latin typeface="Georgia"/>
              </a:rPr>
              <a:t>by when</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Regulators and banks plan budgets a year ahead, so most of 2027 is decided in the next three months.</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Roadmap sheet in our model (lead times are estimates). Values: current estimate for 2027.</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10</a:t>
            </a:r>
          </a:p>
        </p:txBody>
      </p:sp>
      <p:graphicFrame>
        <p:nvGraphicFramePr>
          <p:cNvPr id="7" name="Table 6"/>
          <p:cNvGraphicFramePr>
            <a:graphicFrameLocks noGrp="1"/>
          </p:cNvGraphicFramePr>
          <p:nvPr/>
        </p:nvGraphicFramePr>
        <p:xfrm>
          <a:off x="457200" y="1417320"/>
          <a:ext cx="7863840" cy="3017520"/>
        </p:xfrm>
        <a:graphic>
          <a:graphicData uri="http://schemas.openxmlformats.org/drawingml/2006/table">
            <a:tbl>
              <a:tblPr firstRow="1" bandRow="1">
                <a:tableStyleId>{5C22544A-7EE6-4342-B048-85BDC9FD1C3A}</a:tableStyleId>
              </a:tblPr>
              <a:tblGrid>
                <a:gridCol w="2606040"/>
                <a:gridCol w="1097280"/>
                <a:gridCol w="1097280"/>
                <a:gridCol w="1097280"/>
                <a:gridCol w="1051560"/>
                <a:gridCol w="914400"/>
              </a:tblGrid>
              <a:tr h="502920">
                <a:tc>
                  <a:txBody>
                    <a:bodyPr wrap="square"/>
                    <a:lstStyle/>
                    <a:p>
                      <a:r>
                        <a:rPr sz="1100" b="1">
                          <a:solidFill>
                            <a:srgbClr val="FFFFFF"/>
                          </a:solidFill>
                          <a:latin typeface="Arial"/>
                        </a:rPr>
                        <a:t>Deal</a:t>
                      </a:r>
                    </a:p>
                  </a:txBody>
                  <a:tcPr marL="73152" marR="73152" marT="27432" marB="27432" anchor="ctr">
                    <a:solidFill>
                      <a:srgbClr val="1E2A3A"/>
                    </a:solidFill>
                  </a:tcPr>
                </a:tc>
                <a:tc>
                  <a:txBody>
                    <a:bodyPr wrap="square"/>
                    <a:lstStyle/>
                    <a:p>
                      <a:r>
                        <a:rPr sz="1100" b="1">
                          <a:solidFill>
                            <a:srgbClr val="FFFFFF"/>
                          </a:solidFill>
                          <a:latin typeface="Arial"/>
                        </a:rPr>
                        <a:t>2027 value (Rp M)</a:t>
                      </a:r>
                    </a:p>
                  </a:txBody>
                  <a:tcPr marL="73152" marR="73152" marT="27432" marB="27432" anchor="ctr">
                    <a:solidFill>
                      <a:srgbClr val="1E2A3A"/>
                    </a:solidFill>
                  </a:tcPr>
                </a:tc>
                <a:tc>
                  <a:txBody>
                    <a:bodyPr wrap="square"/>
                    <a:lstStyle/>
                    <a:p>
                      <a:r>
                        <a:rPr sz="1100" b="1">
                          <a:solidFill>
                            <a:srgbClr val="FFFFFF"/>
                          </a:solidFill>
                          <a:latin typeface="Arial"/>
                        </a:rPr>
                        <a:t>Start pitching</a:t>
                      </a:r>
                    </a:p>
                  </a:txBody>
                  <a:tcPr marL="73152" marR="73152" marT="27432" marB="27432" anchor="ctr">
                    <a:solidFill>
                      <a:srgbClr val="1E2A3A"/>
                    </a:solidFill>
                  </a:tcPr>
                </a:tc>
                <a:tc>
                  <a:txBody>
                    <a:bodyPr wrap="square"/>
                    <a:lstStyle/>
                    <a:p>
                      <a:r>
                        <a:rPr sz="1100" b="1">
                          <a:solidFill>
                            <a:srgbClr val="FFFFFF"/>
                          </a:solidFill>
                          <a:latin typeface="Arial"/>
                        </a:rPr>
                        <a:t>Signed by</a:t>
                      </a:r>
                    </a:p>
                  </a:txBody>
                  <a:tcPr marL="73152" marR="73152" marT="27432" marB="27432" anchor="ctr">
                    <a:solidFill>
                      <a:srgbClr val="1E2A3A"/>
                    </a:solidFill>
                  </a:tcPr>
                </a:tc>
                <a:tc>
                  <a:txBody>
                    <a:bodyPr wrap="square"/>
                    <a:lstStyle/>
                    <a:p>
                      <a:r>
                        <a:rPr sz="1100" b="1">
                          <a:solidFill>
                            <a:srgbClr val="FFFFFF"/>
                          </a:solidFill>
                          <a:latin typeface="Arial"/>
                        </a:rPr>
                        <a:t>Owner</a:t>
                      </a:r>
                    </a:p>
                  </a:txBody>
                  <a:tcPr marL="73152" marR="73152" marT="27432" marB="27432" anchor="ctr">
                    <a:solidFill>
                      <a:srgbClr val="1E2A3A"/>
                    </a:solidFill>
                  </a:tcPr>
                </a:tc>
                <a:tc>
                  <a:txBody>
                    <a:bodyPr wrap="square"/>
                    <a:lstStyle/>
                    <a:p>
                      <a:r>
                        <a:rPr sz="1100" b="1">
                          <a:solidFill>
                            <a:srgbClr val="FFFFFF"/>
                          </a:solidFill>
                          <a:latin typeface="Arial"/>
                        </a:rPr>
                        <a:t>Status today</a:t>
                      </a:r>
                    </a:p>
                  </a:txBody>
                  <a:tcPr marL="73152" marR="73152" marT="27432" marB="27432" anchor="ctr">
                    <a:solidFill>
                      <a:srgbClr val="1E2A3A"/>
                    </a:solidFill>
                  </a:tcPr>
                </a:tc>
              </a:tr>
              <a:tr h="502920">
                <a:tc>
                  <a:txBody>
                    <a:bodyPr wrap="square"/>
                    <a:lstStyle/>
                    <a:p>
                      <a:r>
                        <a:rPr sz="1100" b="1">
                          <a:solidFill>
                            <a:srgbClr val="1E2A3A"/>
                          </a:solidFill>
                          <a:latin typeface="Arial"/>
                        </a:rPr>
                        <a:t>BI 2027: head-office and regional programs</a:t>
                      </a:r>
                    </a:p>
                  </a:txBody>
                  <a:tcPr marL="73152" marR="73152" marT="27432" marB="27432" anchor="ctr">
                    <a:solidFill>
                      <a:srgbClr val="FFFFFF"/>
                    </a:solidFill>
                  </a:tcPr>
                </a:tc>
                <a:tc>
                  <a:txBody>
                    <a:bodyPr wrap="square"/>
                    <a:lstStyle/>
                    <a:p>
                      <a:r>
                        <a:rPr sz="1100" b="0">
                          <a:solidFill>
                            <a:srgbClr val="3D4F6A"/>
                          </a:solidFill>
                          <a:latin typeface="Arial"/>
                        </a:rPr>
                        <a:t>984</a:t>
                      </a:r>
                    </a:p>
                  </a:txBody>
                  <a:tcPr marL="73152" marR="73152" marT="27432" marB="27432" anchor="ctr">
                    <a:solidFill>
                      <a:srgbClr val="FFFFFF"/>
                    </a:solidFill>
                  </a:tcPr>
                </a:tc>
                <a:tc>
                  <a:txBody>
                    <a:bodyPr wrap="square"/>
                    <a:lstStyle/>
                    <a:p>
                      <a:r>
                        <a:rPr sz="1100" b="0">
                          <a:solidFill>
                            <a:srgbClr val="3D4F6A"/>
                          </a:solidFill>
                          <a:latin typeface="Arial"/>
                        </a:rPr>
                        <a:t>17 Oct 2026</a:t>
                      </a:r>
                    </a:p>
                  </a:txBody>
                  <a:tcPr marL="73152" marR="73152" marT="27432" marB="27432" anchor="ctr">
                    <a:solidFill>
                      <a:srgbClr val="FFFFFF"/>
                    </a:solidFill>
                  </a:tcPr>
                </a:tc>
                <a:tc>
                  <a:txBody>
                    <a:bodyPr wrap="square"/>
                    <a:lstStyle/>
                    <a:p>
                      <a:r>
                        <a:rPr sz="1100" b="0">
                          <a:solidFill>
                            <a:srgbClr val="3D4F6A"/>
                          </a:solidFill>
                          <a:latin typeface="Arial"/>
                        </a:rPr>
                        <a:t>18 Jan 2027</a:t>
                      </a:r>
                    </a:p>
                  </a:txBody>
                  <a:tcPr marL="73152" marR="73152" marT="27432" marB="27432" anchor="ctr">
                    <a:solidFill>
                      <a:srgbClr val="FFFFFF"/>
                    </a:solidFill>
                  </a:tcPr>
                </a:tc>
                <a:tc>
                  <a:txBody>
                    <a:bodyPr wrap="square"/>
                    <a:lstStyle/>
                    <a:p>
                      <a:r>
                        <a:rPr sz="1100" b="0">
                          <a:solidFill>
                            <a:srgbClr val="3D4F6A"/>
                          </a:solidFill>
                          <a:latin typeface="Arial"/>
                        </a:rPr>
                        <a:t>Kia</a:t>
                      </a:r>
                    </a:p>
                  </a:txBody>
                  <a:tcPr marL="73152" marR="73152" marT="27432" marB="27432" anchor="ctr">
                    <a:solidFill>
                      <a:srgbClr val="FFFFFF"/>
                    </a:solidFill>
                  </a:tcPr>
                </a:tc>
                <a:tc>
                  <a:txBody>
                    <a:bodyPr wrap="square"/>
                    <a:lstStyle/>
                    <a:p>
                      <a:r>
                        <a:rPr sz="1100" b="0">
                          <a:solidFill>
                            <a:srgbClr val="3D4F6A"/>
                          </a:solidFill>
                          <a:latin typeface="Arial"/>
                        </a:rPr>
                        <a:t>Start now</a:t>
                      </a:r>
                    </a:p>
                  </a:txBody>
                  <a:tcPr marL="73152" marR="73152" marT="27432" marB="27432" anchor="ctr">
                    <a:solidFill>
                      <a:srgbClr val="F5EDD8"/>
                    </a:solidFill>
                  </a:tcPr>
                </a:tc>
              </a:tr>
              <a:tr h="502920">
                <a:tc>
                  <a:txBody>
                    <a:bodyPr wrap="square"/>
                    <a:lstStyle/>
                    <a:p>
                      <a:r>
                        <a:rPr sz="1100" b="1">
                          <a:solidFill>
                            <a:srgbClr val="1E2A3A"/>
                          </a:solidFill>
                          <a:latin typeface="Arial"/>
                        </a:rPr>
                        <a:t>EAP 2: the warm lead</a:t>
                      </a:r>
                    </a:p>
                  </a:txBody>
                  <a:tcPr marL="73152" marR="73152" marT="27432" marB="27432" anchor="ctr">
                    <a:solidFill>
                      <a:srgbClr val="F6F2EA"/>
                    </a:solidFill>
                  </a:tcPr>
                </a:tc>
                <a:tc>
                  <a:txBody>
                    <a:bodyPr wrap="square"/>
                    <a:lstStyle/>
                    <a:p>
                      <a:r>
                        <a:rPr sz="1100" b="0">
                          <a:solidFill>
                            <a:srgbClr val="3D4F6A"/>
                          </a:solidFill>
                          <a:latin typeface="Arial"/>
                        </a:rPr>
                        <a:t>165</a:t>
                      </a:r>
                    </a:p>
                  </a:txBody>
                  <a:tcPr marL="73152" marR="73152" marT="27432" marB="27432" anchor="ctr">
                    <a:solidFill>
                      <a:srgbClr val="F6F2EA"/>
                    </a:solidFill>
                  </a:tcPr>
                </a:tc>
                <a:tc>
                  <a:txBody>
                    <a:bodyPr wrap="square"/>
                    <a:lstStyle/>
                    <a:p>
                      <a:r>
                        <a:rPr sz="1100" b="0">
                          <a:solidFill>
                            <a:srgbClr val="3D4F6A"/>
                          </a:solidFill>
                          <a:latin typeface="Arial"/>
                        </a:rPr>
                        <a:t>4 Dec 2026</a:t>
                      </a:r>
                    </a:p>
                  </a:txBody>
                  <a:tcPr marL="73152" marR="73152" marT="27432" marB="27432" anchor="ctr">
                    <a:solidFill>
                      <a:srgbClr val="F6F2EA"/>
                    </a:solidFill>
                  </a:tcPr>
                </a:tc>
                <a:tc>
                  <a:txBody>
                    <a:bodyPr wrap="square"/>
                    <a:lstStyle/>
                    <a:p>
                      <a:r>
                        <a:rPr sz="1100" b="0">
                          <a:solidFill>
                            <a:srgbClr val="3D4F6A"/>
                          </a:solidFill>
                          <a:latin typeface="Arial"/>
                        </a:rPr>
                        <a:t>18 Jan 2027</a:t>
                      </a:r>
                    </a:p>
                  </a:txBody>
                  <a:tcPr marL="73152" marR="73152" marT="27432" marB="27432" anchor="ctr">
                    <a:solidFill>
                      <a:srgbClr val="F6F2EA"/>
                    </a:solidFill>
                  </a:tcPr>
                </a:tc>
                <a:tc>
                  <a:txBody>
                    <a:bodyPr wrap="square"/>
                    <a:lstStyle/>
                    <a:p>
                      <a:r>
                        <a:rPr sz="1100" b="0">
                          <a:solidFill>
                            <a:srgbClr val="3D4F6A"/>
                          </a:solidFill>
                          <a:latin typeface="Arial"/>
                        </a:rPr>
                        <a:t>Galih</a:t>
                      </a:r>
                    </a:p>
                  </a:txBody>
                  <a:tcPr marL="73152" marR="73152" marT="27432" marB="27432" anchor="ctr">
                    <a:solidFill>
                      <a:srgbClr val="F6F2EA"/>
                    </a:solidFill>
                  </a:tcPr>
                </a:tc>
                <a:tc>
                  <a:txBody>
                    <a:bodyPr wrap="square"/>
                    <a:lstStyle/>
                    <a:p>
                      <a:r>
                        <a:rPr sz="1100" b="0">
                          <a:solidFill>
                            <a:srgbClr val="3D4F6A"/>
                          </a:solidFill>
                          <a:latin typeface="Arial"/>
                        </a:rPr>
                        <a:t>On track</a:t>
                      </a:r>
                    </a:p>
                  </a:txBody>
                  <a:tcPr marL="73152" marR="73152" marT="27432" marB="27432" anchor="ctr">
                    <a:solidFill>
                      <a:srgbClr val="DDE6F5"/>
                    </a:solidFill>
                  </a:tcPr>
                </a:tc>
              </a:tr>
              <a:tr h="502920">
                <a:tc>
                  <a:txBody>
                    <a:bodyPr wrap="square"/>
                    <a:lstStyle/>
                    <a:p>
                      <a:r>
                        <a:rPr sz="1100" b="1">
                          <a:solidFill>
                            <a:srgbClr val="1E2A3A"/>
                          </a:solidFill>
                          <a:latin typeface="Arial"/>
                        </a:rPr>
                        <a:t>EAP 3: a bank</a:t>
                      </a:r>
                    </a:p>
                  </a:txBody>
                  <a:tcPr marL="73152" marR="73152" marT="27432" marB="27432" anchor="ctr">
                    <a:solidFill>
                      <a:srgbClr val="FFFFFF"/>
                    </a:solidFill>
                  </a:tcPr>
                </a:tc>
                <a:tc>
                  <a:txBody>
                    <a:bodyPr wrap="square"/>
                    <a:lstStyle/>
                    <a:p>
                      <a:r>
                        <a:rPr sz="1100" b="0">
                          <a:solidFill>
                            <a:srgbClr val="3D4F6A"/>
                          </a:solidFill>
                          <a:latin typeface="Arial"/>
                        </a:rPr>
                        <a:t>90</a:t>
                      </a:r>
                    </a:p>
                  </a:txBody>
                  <a:tcPr marL="73152" marR="73152" marT="27432" marB="27432" anchor="ctr">
                    <a:solidFill>
                      <a:srgbClr val="FFFFFF"/>
                    </a:solidFill>
                  </a:tcPr>
                </a:tc>
                <a:tc>
                  <a:txBody>
                    <a:bodyPr wrap="square"/>
                    <a:lstStyle/>
                    <a:p>
                      <a:r>
                        <a:rPr sz="1100" b="0">
                          <a:solidFill>
                            <a:srgbClr val="3D4F6A"/>
                          </a:solidFill>
                          <a:latin typeface="Arial"/>
                        </a:rPr>
                        <a:t>17 Oct 2026</a:t>
                      </a:r>
                    </a:p>
                  </a:txBody>
                  <a:tcPr marL="73152" marR="73152" marT="27432" marB="27432" anchor="ctr">
                    <a:solidFill>
                      <a:srgbClr val="FFFFFF"/>
                    </a:solidFill>
                  </a:tcPr>
                </a:tc>
                <a:tc>
                  <a:txBody>
                    <a:bodyPr wrap="square"/>
                    <a:lstStyle/>
                    <a:p>
                      <a:r>
                        <a:rPr sz="1100" b="0">
                          <a:solidFill>
                            <a:srgbClr val="3D4F6A"/>
                          </a:solidFill>
                          <a:latin typeface="Arial"/>
                        </a:rPr>
                        <a:t>20 May 2027</a:t>
                      </a:r>
                    </a:p>
                  </a:txBody>
                  <a:tcPr marL="73152" marR="73152" marT="27432" marB="27432" anchor="ctr">
                    <a:solidFill>
                      <a:srgbClr val="FFFFFF"/>
                    </a:solidFill>
                  </a:tcPr>
                </a:tc>
                <a:tc>
                  <a:txBody>
                    <a:bodyPr wrap="square"/>
                    <a:lstStyle/>
                    <a:p>
                      <a:r>
                        <a:rPr sz="1100" b="0">
                          <a:solidFill>
                            <a:srgbClr val="3D4F6A"/>
                          </a:solidFill>
                          <a:latin typeface="Arial"/>
                        </a:rPr>
                        <a:t>Kia</a:t>
                      </a:r>
                    </a:p>
                  </a:txBody>
                  <a:tcPr marL="73152" marR="73152" marT="27432" marB="27432" anchor="ctr">
                    <a:solidFill>
                      <a:srgbClr val="FFFFFF"/>
                    </a:solidFill>
                  </a:tcPr>
                </a:tc>
                <a:tc>
                  <a:txBody>
                    <a:bodyPr wrap="square"/>
                    <a:lstStyle/>
                    <a:p>
                      <a:r>
                        <a:rPr sz="1100" b="0">
                          <a:solidFill>
                            <a:srgbClr val="3D4F6A"/>
                          </a:solidFill>
                          <a:latin typeface="Arial"/>
                        </a:rPr>
                        <a:t>Start now</a:t>
                      </a:r>
                    </a:p>
                  </a:txBody>
                  <a:tcPr marL="73152" marR="73152" marT="27432" marB="27432" anchor="ctr">
                    <a:solidFill>
                      <a:srgbClr val="F5EDD8"/>
                    </a:solidFill>
                  </a:tcPr>
                </a:tc>
              </a:tr>
              <a:tr h="502920">
                <a:tc>
                  <a:txBody>
                    <a:bodyPr wrap="square"/>
                    <a:lstStyle/>
                    <a:p>
                      <a:r>
                        <a:rPr sz="1100" b="1">
                          <a:solidFill>
                            <a:srgbClr val="1E2A3A"/>
                          </a:solidFill>
                          <a:latin typeface="Arial"/>
                        </a:rPr>
                        <a:t>Bank agreement: training days</a:t>
                      </a:r>
                    </a:p>
                  </a:txBody>
                  <a:tcPr marL="73152" marR="73152" marT="27432" marB="27432" anchor="ctr">
                    <a:solidFill>
                      <a:srgbClr val="F6F2EA"/>
                    </a:solidFill>
                  </a:tcPr>
                </a:tc>
                <a:tc>
                  <a:txBody>
                    <a:bodyPr wrap="square"/>
                    <a:lstStyle/>
                    <a:p>
                      <a:r>
                        <a:rPr sz="1100" b="0">
                          <a:solidFill>
                            <a:srgbClr val="3D4F6A"/>
                          </a:solidFill>
                          <a:latin typeface="Arial"/>
                        </a:rPr>
                        <a:t>374</a:t>
                      </a:r>
                    </a:p>
                  </a:txBody>
                  <a:tcPr marL="73152" marR="73152" marT="27432" marB="27432" anchor="ctr">
                    <a:solidFill>
                      <a:srgbClr val="F6F2EA"/>
                    </a:solidFill>
                  </a:tcPr>
                </a:tc>
                <a:tc>
                  <a:txBody>
                    <a:bodyPr wrap="square"/>
                    <a:lstStyle/>
                    <a:p>
                      <a:r>
                        <a:rPr sz="1100" b="0">
                          <a:solidFill>
                            <a:srgbClr val="3D4F6A"/>
                          </a:solidFill>
                          <a:latin typeface="Arial"/>
                        </a:rPr>
                        <a:t>17 Oct 2026</a:t>
                      </a:r>
                    </a:p>
                  </a:txBody>
                  <a:tcPr marL="73152" marR="73152" marT="27432" marB="27432" anchor="ctr">
                    <a:solidFill>
                      <a:srgbClr val="F6F2EA"/>
                    </a:solidFill>
                  </a:tcPr>
                </a:tc>
                <a:tc>
                  <a:txBody>
                    <a:bodyPr wrap="square"/>
                    <a:lstStyle/>
                    <a:p>
                      <a:r>
                        <a:rPr sz="1100" b="0">
                          <a:solidFill>
                            <a:srgbClr val="3D4F6A"/>
                          </a:solidFill>
                          <a:latin typeface="Arial"/>
                        </a:rPr>
                        <a:t>20 Aug 2027</a:t>
                      </a:r>
                    </a:p>
                  </a:txBody>
                  <a:tcPr marL="73152" marR="73152" marT="27432" marB="27432" anchor="ctr">
                    <a:solidFill>
                      <a:srgbClr val="F6F2EA"/>
                    </a:solidFill>
                  </a:tcPr>
                </a:tc>
                <a:tc>
                  <a:txBody>
                    <a:bodyPr wrap="square"/>
                    <a:lstStyle/>
                    <a:p>
                      <a:r>
                        <a:rPr sz="1100" b="0">
                          <a:solidFill>
                            <a:srgbClr val="3D4F6A"/>
                          </a:solidFill>
                          <a:latin typeface="Arial"/>
                        </a:rPr>
                        <a:t>Kia, then BD co-founder</a:t>
                      </a:r>
                    </a:p>
                  </a:txBody>
                  <a:tcPr marL="73152" marR="73152" marT="27432" marB="27432" anchor="ctr">
                    <a:solidFill>
                      <a:srgbClr val="F6F2EA"/>
                    </a:solidFill>
                  </a:tcPr>
                </a:tc>
                <a:tc>
                  <a:txBody>
                    <a:bodyPr wrap="square"/>
                    <a:lstStyle/>
                    <a:p>
                      <a:r>
                        <a:rPr sz="1100" b="0">
                          <a:solidFill>
                            <a:srgbClr val="3D4F6A"/>
                          </a:solidFill>
                          <a:latin typeface="Arial"/>
                        </a:rPr>
                        <a:t>Start now</a:t>
                      </a:r>
                    </a:p>
                  </a:txBody>
                  <a:tcPr marL="73152" marR="73152" marT="27432" marB="27432" anchor="ctr">
                    <a:solidFill>
                      <a:srgbClr val="F5EDD8"/>
                    </a:solidFill>
                  </a:tcPr>
                </a:tc>
              </a:tr>
              <a:tr h="502920">
                <a:tc>
                  <a:txBody>
                    <a:bodyPr wrap="square"/>
                    <a:lstStyle/>
                    <a:p>
                      <a:r>
                        <a:rPr sz="1100" b="1">
                          <a:solidFill>
                            <a:srgbClr val="1E2A3A"/>
                          </a:solidFill>
                          <a:latin typeface="Arial"/>
                        </a:rPr>
                        <a:t>OJK and LPS programs for 2028</a:t>
                      </a:r>
                    </a:p>
                  </a:txBody>
                  <a:tcPr marL="73152" marR="73152" marT="27432" marB="27432" anchor="ctr">
                    <a:solidFill>
                      <a:srgbClr val="FFFFFF"/>
                    </a:solidFill>
                  </a:tcPr>
                </a:tc>
                <a:tc>
                  <a:txBody>
                    <a:bodyPr wrap="square"/>
                    <a:lstStyle/>
                    <a:p>
                      <a:r>
                        <a:rPr sz="1100" b="0">
                          <a:solidFill>
                            <a:srgbClr val="3D4F6A"/>
                          </a:solidFill>
                          <a:latin typeface="Arial"/>
                        </a:rPr>
                        <a:t>2028</a:t>
                      </a:r>
                    </a:p>
                  </a:txBody>
                  <a:tcPr marL="73152" marR="73152" marT="27432" marB="27432" anchor="ctr">
                    <a:solidFill>
                      <a:srgbClr val="FFFFFF"/>
                    </a:solidFill>
                  </a:tcPr>
                </a:tc>
                <a:tc>
                  <a:txBody>
                    <a:bodyPr wrap="square"/>
                    <a:lstStyle/>
                    <a:p>
                      <a:r>
                        <a:rPr sz="1100" b="0">
                          <a:solidFill>
                            <a:srgbClr val="3D4F6A"/>
                          </a:solidFill>
                          <a:latin typeface="Arial"/>
                        </a:rPr>
                        <a:t>17 Jul 2027</a:t>
                      </a:r>
                    </a:p>
                  </a:txBody>
                  <a:tcPr marL="73152" marR="73152" marT="27432" marB="27432" anchor="ctr">
                    <a:solidFill>
                      <a:srgbClr val="FFFFFF"/>
                    </a:solidFill>
                  </a:tcPr>
                </a:tc>
                <a:tc>
                  <a:txBody>
                    <a:bodyPr wrap="square"/>
                    <a:lstStyle/>
                    <a:p>
                      <a:r>
                        <a:rPr sz="1100" b="0">
                          <a:solidFill>
                            <a:srgbClr val="3D4F6A"/>
                          </a:solidFill>
                          <a:latin typeface="Arial"/>
                        </a:rPr>
                        <a:t>19 Jan 2028</a:t>
                      </a:r>
                    </a:p>
                  </a:txBody>
                  <a:tcPr marL="73152" marR="73152" marT="27432" marB="27432" anchor="ctr">
                    <a:solidFill>
                      <a:srgbClr val="FFFFFF"/>
                    </a:solidFill>
                  </a:tcPr>
                </a:tc>
                <a:tc>
                  <a:txBody>
                    <a:bodyPr wrap="square"/>
                    <a:lstStyle/>
                    <a:p>
                      <a:r>
                        <a:rPr sz="1100" b="0">
                          <a:solidFill>
                            <a:srgbClr val="3D4F6A"/>
                          </a:solidFill>
                          <a:latin typeface="Arial"/>
                        </a:rPr>
                        <a:t>Kia, then BD co-founder</a:t>
                      </a:r>
                    </a:p>
                  </a:txBody>
                  <a:tcPr marL="73152" marR="73152" marT="27432" marB="27432" anchor="ctr">
                    <a:solidFill>
                      <a:srgbClr val="FFFFFF"/>
                    </a:solidFill>
                  </a:tcPr>
                </a:tc>
                <a:tc>
                  <a:txBody>
                    <a:bodyPr wrap="square"/>
                    <a:lstStyle/>
                    <a:p>
                      <a:r>
                        <a:rPr sz="1100" b="0">
                          <a:solidFill>
                            <a:srgbClr val="3D4F6A"/>
                          </a:solidFill>
                          <a:latin typeface="Arial"/>
                        </a:rPr>
                        <a:t>On track</a:t>
                      </a:r>
                    </a:p>
                  </a:txBody>
                  <a:tcPr marL="73152" marR="73152" marT="27432" marB="27432" anchor="ctr">
                    <a:solidFill>
                      <a:srgbClr val="DDE6F5"/>
                    </a:solidFill>
                  </a:tcPr>
                </a:tc>
              </a:tr>
            </a:tbl>
          </a:graphicData>
        </a:graphic>
      </p:graphicFrame>
      <p:sp>
        <p:nvSpPr>
          <p:cNvPr id="8" name="Rounded Rectangle 7"/>
          <p:cNvSpPr/>
          <p:nvPr/>
        </p:nvSpPr>
        <p:spPr>
          <a:xfrm>
            <a:off x="8595360" y="1463040"/>
            <a:ext cx="3154680" cy="13258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Rp1,614M</a:t>
            </a:r>
          </a:p>
          <a:p>
            <a:pPr algn="l">
              <a:spcAft>
                <a:spcPts val="200"/>
              </a:spcAft>
            </a:pPr>
            <a:r>
              <a:rPr sz="1200" b="0" i="0">
                <a:solidFill>
                  <a:srgbClr val="3D4F6A"/>
                </a:solidFill>
                <a:latin typeface="Arial"/>
              </a:rPr>
              <a:t>of 2027 sales still to sign</a:t>
            </a:r>
          </a:p>
        </p:txBody>
      </p:sp>
      <p:sp>
        <p:nvSpPr>
          <p:cNvPr id="9" name="Rounded Rectangle 8"/>
          <p:cNvSpPr/>
          <p:nvPr/>
        </p:nvSpPr>
        <p:spPr>
          <a:xfrm>
            <a:off x="8595360" y="2926080"/>
            <a:ext cx="3154680" cy="13258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1E2A3A"/>
                </a:solidFill>
                <a:latin typeface="Georgia"/>
              </a:rPr>
              <a:t>17 Oct</a:t>
            </a:r>
          </a:p>
          <a:p>
            <a:pPr algn="l">
              <a:spcAft>
                <a:spcPts val="200"/>
              </a:spcAft>
            </a:pPr>
            <a:r>
              <a:rPr sz="1200" b="0" i="0">
                <a:solidFill>
                  <a:srgbClr val="3D4F6A"/>
                </a:solidFill>
                <a:latin typeface="Arial"/>
              </a:rPr>
              <a:t>BI proposal deadline: inside BI's 2027 budget window</a:t>
            </a:r>
          </a:p>
        </p:txBody>
      </p:sp>
      <p:sp>
        <p:nvSpPr>
          <p:cNvPr id="10" name="Rounded Rectangle 9"/>
          <p:cNvSpPr/>
          <p:nvPr/>
        </p:nvSpPr>
        <p:spPr>
          <a:xfrm>
            <a:off x="457200" y="4846320"/>
            <a:ext cx="11292840" cy="14630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300"/>
              </a:spcAft>
            </a:pPr>
            <a:r>
              <a:rPr sz="1400" b="1" i="0">
                <a:solidFill>
                  <a:srgbClr val="1E2A3A"/>
                </a:solidFill>
                <a:latin typeface="Georgia"/>
              </a:rPr>
              <a:t>How we sell</a:t>
            </a:r>
          </a:p>
          <a:p>
            <a:pPr algn="l">
              <a:spcAft>
                <a:spcPts val="300"/>
              </a:spcAft>
            </a:pPr>
            <a:r>
              <a:rPr sz="1200" b="1" i="0">
                <a:solidFill>
                  <a:srgbClr val="9B3809"/>
                </a:solidFill>
                <a:latin typeface="Arial"/>
              </a:rPr>
              <a:t>•  </a:t>
            </a:r>
            <a:r>
              <a:rPr sz="1200" b="0" i="0">
                <a:solidFill>
                  <a:srgbClr val="3D4F6A"/>
                </a:solidFill>
                <a:latin typeface="Arial"/>
              </a:rPr>
              <a:t>One full-year proposal per client, not one event at a time</a:t>
            </a:r>
          </a:p>
          <a:p>
            <a:pPr algn="l">
              <a:spcAft>
                <a:spcPts val="300"/>
              </a:spcAft>
            </a:pPr>
            <a:r>
              <a:rPr sz="1200" b="1" i="0">
                <a:solidFill>
                  <a:srgbClr val="9B3809"/>
                </a:solidFill>
                <a:latin typeface="Arial"/>
              </a:rPr>
              <a:t>•  </a:t>
            </a:r>
            <a:r>
              <a:rPr sz="1200" b="0" i="0">
                <a:solidFill>
                  <a:srgbClr val="3D4F6A"/>
                </a:solidFill>
                <a:latin typeface="Arial"/>
              </a:rPr>
              <a:t>Ask for a 30% down payment on head-office programs, and EAP billed a quarter ahead</a:t>
            </a:r>
          </a:p>
          <a:p>
            <a:pPr algn="l">
              <a:spcAft>
                <a:spcPts val="300"/>
              </a:spcAft>
            </a:pPr>
            <a:r>
              <a:rPr sz="1200" b="1" i="0">
                <a:solidFill>
                  <a:srgbClr val="9B3809"/>
                </a:solidFill>
                <a:latin typeface="Arial"/>
              </a:rPr>
              <a:t>•  </a:t>
            </a:r>
            <a:r>
              <a:rPr sz="1200" b="0" i="0">
                <a:solidFill>
                  <a:srgbClr val="3D4F6A"/>
                </a:solidFill>
                <a:latin typeface="Arial"/>
              </a:rPr>
              <a:t>Log every deal's real dates in the Roadmap sheet, so next year's plan uses our own speed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Regional training: Rp20M now, </a:t>
            </a:r>
            <a:r>
              <a:rPr sz="2800" b="1" i="0">
                <a:solidFill>
                  <a:srgbClr val="9B3809"/>
                </a:solidFill>
                <a:latin typeface="Georgia"/>
              </a:rPr>
              <a:t>Rp28.5M in 2027</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It costs us Rp8M to deliver. So we keep Rp12M today, and Rp20.5M at the new price.</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Rate card and delivery costs in our model (Inputs). Margin = price minus delivery cost, before salaries and office. The Coreitera assessment fee is already inside the delivery cost.</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11</a:t>
            </a:r>
          </a:p>
        </p:txBody>
      </p:sp>
      <p:graphicFrame>
        <p:nvGraphicFramePr>
          <p:cNvPr id="7" name="Chart 6"/>
          <p:cNvGraphicFramePr>
            <a:graphicFrameLocks noGrp="1"/>
          </p:cNvGraphicFramePr>
          <p:nvPr/>
        </p:nvGraphicFramePr>
        <p:xfrm>
          <a:off x="457200" y="1371600"/>
          <a:ext cx="4114800" cy="3246120"/>
        </p:xfrm>
        <a:graphic>
          <a:graphicData uri="http://schemas.openxmlformats.org/drawingml/2006/chart">
            <c:chart xmlns:c="http://schemas.openxmlformats.org/drawingml/2006/chart" r:id="rId2"/>
          </a:graphicData>
        </a:graphic>
      </p:graphicFrame>
      <p:sp>
        <p:nvSpPr>
          <p:cNvPr id="8" name="Rounded Rectangle 7"/>
          <p:cNvSpPr/>
          <p:nvPr/>
        </p:nvSpPr>
        <p:spPr>
          <a:xfrm>
            <a:off x="457200" y="4709160"/>
            <a:ext cx="2011680" cy="9144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12 → 20.5</a:t>
            </a:r>
          </a:p>
          <a:p>
            <a:pPr algn="l">
              <a:spcAft>
                <a:spcPts val="200"/>
              </a:spcAft>
            </a:pPr>
            <a:r>
              <a:rPr sz="1000" b="0" i="0">
                <a:solidFill>
                  <a:srgbClr val="3D4F6A"/>
                </a:solidFill>
                <a:latin typeface="Arial"/>
              </a:rPr>
              <a:t>Rp M we keep a day</a:t>
            </a:r>
          </a:p>
        </p:txBody>
      </p:sp>
      <p:sp>
        <p:nvSpPr>
          <p:cNvPr id="9" name="Rounded Rectangle 8"/>
          <p:cNvSpPr/>
          <p:nvPr/>
        </p:nvSpPr>
        <p:spPr>
          <a:xfrm>
            <a:off x="2560320" y="4709160"/>
            <a:ext cx="2011680" cy="9144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+Rp145M</a:t>
            </a:r>
          </a:p>
          <a:p>
            <a:pPr algn="l">
              <a:spcAft>
                <a:spcPts val="200"/>
              </a:spcAft>
            </a:pPr>
            <a:r>
              <a:rPr sz="1000" b="0" i="0">
                <a:solidFill>
                  <a:srgbClr val="3D4F6A"/>
                </a:solidFill>
                <a:latin typeface="Arial"/>
              </a:rPr>
              <a:t>more margin in 2027 (17 regional days)</a:t>
            </a:r>
          </a:p>
        </p:txBody>
      </p:sp>
      <p:graphicFrame>
        <p:nvGraphicFramePr>
          <p:cNvPr id="10" name="Table 9"/>
          <p:cNvGraphicFramePr>
            <a:graphicFrameLocks noGrp="1"/>
          </p:cNvGraphicFramePr>
          <p:nvPr/>
        </p:nvGraphicFramePr>
        <p:xfrm>
          <a:off x="4846320" y="1371600"/>
          <a:ext cx="6858000" cy="3657600"/>
        </p:xfrm>
        <a:graphic>
          <a:graphicData uri="http://schemas.openxmlformats.org/drawingml/2006/table">
            <a:tbl>
              <a:tblPr firstRow="1" bandRow="1">
                <a:tableStyleId>{5C22544A-7EE6-4342-B048-85BDC9FD1C3A}</a:tableStyleId>
              </a:tblPr>
              <a:tblGrid>
                <a:gridCol w="3063240"/>
                <a:gridCol w="731520"/>
                <a:gridCol w="731520"/>
                <a:gridCol w="822960"/>
                <a:gridCol w="1508760"/>
              </a:tblGrid>
              <a:tr h="457200">
                <a:tc>
                  <a:txBody>
                    <a:bodyPr wrap="square"/>
                    <a:lstStyle/>
                    <a:p>
                      <a:r>
                        <a:rPr sz="1200" b="1">
                          <a:solidFill>
                            <a:srgbClr val="FFFFFF"/>
                          </a:solidFill>
                          <a:latin typeface="Arial"/>
                        </a:rPr>
                        <a:t>Product</a:t>
                      </a:r>
                    </a:p>
                  </a:txBody>
                  <a:tcPr marL="73152" marR="73152" marT="27432" marB="27432" anchor="ctr">
                    <a:solidFill>
                      <a:srgbClr val="1E2A3A"/>
                    </a:solidFill>
                  </a:tcPr>
                </a:tc>
                <a:tc>
                  <a:txBody>
                    <a:bodyPr wrap="square"/>
                    <a:lstStyle/>
                    <a:p>
                      <a:r>
                        <a:rPr sz="1200" b="1">
                          <a:solidFill>
                            <a:srgbClr val="FFFFFF"/>
                          </a:solidFill>
                          <a:latin typeface="Arial"/>
                        </a:rPr>
                        <a:t>Today</a:t>
                      </a:r>
                    </a:p>
                  </a:txBody>
                  <a:tcPr marL="73152" marR="73152" marT="27432" marB="27432" anchor="ctr">
                    <a:solidFill>
                      <a:srgbClr val="1E2A3A"/>
                    </a:solidFill>
                  </a:tcPr>
                </a:tc>
                <a:tc>
                  <a:txBody>
                    <a:bodyPr wrap="square"/>
                    <a:lstStyle/>
                    <a:p>
                      <a:r>
                        <a:rPr sz="1200" b="1">
                          <a:solidFill>
                            <a:srgbClr val="FFFFFF"/>
                          </a:solidFill>
                          <a:latin typeface="Arial"/>
                        </a:rPr>
                        <a:t>New</a:t>
                      </a:r>
                    </a:p>
                  </a:txBody>
                  <a:tcPr marL="73152" marR="73152" marT="27432" marB="27432" anchor="ctr">
                    <a:solidFill>
                      <a:srgbClr val="1E2A3A"/>
                    </a:solidFill>
                  </a:tcPr>
                </a:tc>
                <a:tc>
                  <a:txBody>
                    <a:bodyPr wrap="square"/>
                    <a:lstStyle/>
                    <a:p>
                      <a:r>
                        <a:rPr sz="1200" b="1">
                          <a:solidFill>
                            <a:srgbClr val="FFFFFF"/>
                          </a:solidFill>
                          <a:latin typeface="Arial"/>
                        </a:rPr>
                        <a:t>Our cost</a:t>
                      </a:r>
                    </a:p>
                  </a:txBody>
                  <a:tcPr marL="73152" marR="73152" marT="27432" marB="27432" anchor="ctr">
                    <a:solidFill>
                      <a:srgbClr val="1E2A3A"/>
                    </a:solidFill>
                  </a:tcPr>
                </a:tc>
                <a:tc>
                  <a:txBody>
                    <a:bodyPr wrap="square"/>
                    <a:lstStyle/>
                    <a:p>
                      <a:r>
                        <a:rPr sz="1200" b="1">
                          <a:solidFill>
                            <a:srgbClr val="FFFFFF"/>
                          </a:solidFill>
                          <a:latin typeface="Arial"/>
                        </a:rPr>
                        <a:t>We keep</a:t>
                      </a:r>
                    </a:p>
                  </a:txBody>
                  <a:tcPr marL="73152" marR="73152" marT="27432" marB="27432" anchor="ctr">
                    <a:solidFill>
                      <a:srgbClr val="1E2A3A"/>
                    </a:solidFill>
                  </a:tcPr>
                </a:tc>
              </a:tr>
              <a:tr h="457200">
                <a:tc>
                  <a:txBody>
                    <a:bodyPr wrap="square"/>
                    <a:lstStyle/>
                    <a:p>
                      <a:r>
                        <a:rPr sz="1200" b="1">
                          <a:solidFill>
                            <a:srgbClr val="1E2A3A"/>
                          </a:solidFill>
                          <a:latin typeface="Arial"/>
                        </a:rPr>
                        <a:t>Regional training (BI offices, LPS), a day</a:t>
                      </a:r>
                    </a:p>
                  </a:txBody>
                  <a:tcPr marL="73152" marR="73152" marT="27432" marB="27432" anchor="ctr">
                    <a:solidFill>
                      <a:srgbClr val="F5EDD8"/>
                    </a:solidFill>
                  </a:tcPr>
                </a:tc>
                <a:tc>
                  <a:txBody>
                    <a:bodyPr wrap="square"/>
                    <a:lstStyle/>
                    <a:p>
                      <a:r>
                        <a:rPr sz="1200" b="0">
                          <a:solidFill>
                            <a:srgbClr val="3D4F6A"/>
                          </a:solidFill>
                          <a:latin typeface="Arial"/>
                        </a:rPr>
                        <a:t>20</a:t>
                      </a:r>
                    </a:p>
                  </a:txBody>
                  <a:tcPr marL="73152" marR="73152" marT="27432" marB="27432" anchor="ctr">
                    <a:solidFill>
                      <a:srgbClr val="F5EDD8"/>
                    </a:solidFill>
                  </a:tcPr>
                </a:tc>
                <a:tc>
                  <a:txBody>
                    <a:bodyPr wrap="square"/>
                    <a:lstStyle/>
                    <a:p>
                      <a:r>
                        <a:rPr sz="1200" b="0">
                          <a:solidFill>
                            <a:srgbClr val="3D4F6A"/>
                          </a:solidFill>
                          <a:latin typeface="Arial"/>
                        </a:rPr>
                        <a:t>28.5</a:t>
                      </a:r>
                    </a:p>
                  </a:txBody>
                  <a:tcPr marL="73152" marR="73152" marT="27432" marB="27432" anchor="ctr">
                    <a:solidFill>
                      <a:srgbClr val="F5EDD8"/>
                    </a:solidFill>
                  </a:tcPr>
                </a:tc>
                <a:tc>
                  <a:txBody>
                    <a:bodyPr wrap="square"/>
                    <a:lstStyle/>
                    <a:p>
                      <a:r>
                        <a:rPr sz="1200" b="0">
                          <a:solidFill>
                            <a:srgbClr val="3D4F6A"/>
                          </a:solidFill>
                          <a:latin typeface="Arial"/>
                        </a:rPr>
                        <a:t>8</a:t>
                      </a:r>
                    </a:p>
                  </a:txBody>
                  <a:tcPr marL="73152" marR="73152" marT="27432" marB="27432" anchor="ctr">
                    <a:solidFill>
                      <a:srgbClr val="F5EDD8"/>
                    </a:solidFill>
                  </a:tcPr>
                </a:tc>
                <a:tc>
                  <a:txBody>
                    <a:bodyPr wrap="square"/>
                    <a:lstStyle/>
                    <a:p>
                      <a:r>
                        <a:rPr sz="1200" b="0">
                          <a:solidFill>
                            <a:srgbClr val="3D4F6A"/>
                          </a:solidFill>
                          <a:latin typeface="Arial"/>
                        </a:rPr>
                        <a:t>12 → 20.5</a:t>
                      </a:r>
                    </a:p>
                  </a:txBody>
                  <a:tcPr marL="73152" marR="73152" marT="27432" marB="27432" anchor="ctr">
                    <a:solidFill>
                      <a:srgbClr val="F5EDD8"/>
                    </a:solidFill>
                  </a:tcPr>
                </a:tc>
              </a:tr>
              <a:tr h="457200">
                <a:tc>
                  <a:txBody>
                    <a:bodyPr wrap="square"/>
                    <a:lstStyle/>
                    <a:p>
                      <a:r>
                        <a:rPr sz="1200" b="1">
                          <a:solidFill>
                            <a:srgbClr val="1E2A3A"/>
                          </a:solidFill>
                          <a:latin typeface="Arial"/>
                        </a:rPr>
                        <a:t>Head-office trainer program, 3 days</a:t>
                      </a:r>
                    </a:p>
                  </a:txBody>
                  <a:tcPr marL="73152" marR="73152" marT="27432" marB="27432" anchor="ctr">
                    <a:solidFill>
                      <a:srgbClr val="F6F2EA"/>
                    </a:solidFill>
                  </a:tcPr>
                </a:tc>
                <a:tc>
                  <a:txBody>
                    <a:bodyPr wrap="square"/>
                    <a:lstStyle/>
                    <a:p>
                      <a:r>
                        <a:rPr sz="1200" b="0">
                          <a:solidFill>
                            <a:srgbClr val="3D4F6A"/>
                          </a:solidFill>
                          <a:latin typeface="Arial"/>
                        </a:rPr>
                        <a:t>85</a:t>
                      </a:r>
                    </a:p>
                  </a:txBody>
                  <a:tcPr marL="73152" marR="73152" marT="27432" marB="27432" anchor="ctr">
                    <a:solidFill>
                      <a:srgbClr val="F6F2EA"/>
                    </a:solidFill>
                  </a:tcPr>
                </a:tc>
                <a:tc>
                  <a:txBody>
                    <a:bodyPr wrap="square"/>
                    <a:lstStyle/>
                    <a:p>
                      <a:r>
                        <a:rPr sz="1200" b="0">
                          <a:solidFill>
                            <a:srgbClr val="3D4F6A"/>
                          </a:solidFill>
                          <a:latin typeface="Arial"/>
                        </a:rPr>
                        <a:t>100</a:t>
                      </a:r>
                    </a:p>
                  </a:txBody>
                  <a:tcPr marL="73152" marR="73152" marT="27432" marB="27432" anchor="ctr">
                    <a:solidFill>
                      <a:srgbClr val="F6F2EA"/>
                    </a:solidFill>
                  </a:tcPr>
                </a:tc>
                <a:tc>
                  <a:txBody>
                    <a:bodyPr wrap="square"/>
                    <a:lstStyle/>
                    <a:p>
                      <a:r>
                        <a:rPr sz="1200" b="0">
                          <a:solidFill>
                            <a:srgbClr val="3D4F6A"/>
                          </a:solidFill>
                          <a:latin typeface="Arial"/>
                        </a:rPr>
                        <a:t>25</a:t>
                      </a:r>
                    </a:p>
                  </a:txBody>
                  <a:tcPr marL="73152" marR="73152" marT="27432" marB="27432" anchor="ctr">
                    <a:solidFill>
                      <a:srgbClr val="F6F2EA"/>
                    </a:solidFill>
                  </a:tcPr>
                </a:tc>
                <a:tc>
                  <a:txBody>
                    <a:bodyPr wrap="square"/>
                    <a:lstStyle/>
                    <a:p>
                      <a:r>
                        <a:rPr sz="1200" b="0">
                          <a:solidFill>
                            <a:srgbClr val="3D4F6A"/>
                          </a:solidFill>
                          <a:latin typeface="Arial"/>
                        </a:rPr>
                        <a:t>60 → 75</a:t>
                      </a:r>
                    </a:p>
                  </a:txBody>
                  <a:tcPr marL="73152" marR="73152" marT="27432" marB="27432" anchor="ctr">
                    <a:solidFill>
                      <a:srgbClr val="F6F2EA"/>
                    </a:solidFill>
                  </a:tcPr>
                </a:tc>
              </a:tr>
              <a:tr h="457200">
                <a:tc>
                  <a:txBody>
                    <a:bodyPr wrap="square"/>
                    <a:lstStyle/>
                    <a:p>
                      <a:r>
                        <a:rPr sz="1200" b="1">
                          <a:solidFill>
                            <a:srgbClr val="1E2A3A"/>
                          </a:solidFill>
                          <a:latin typeface="Arial"/>
                        </a:rPr>
                        <a:t>State bank program, a group a day</a:t>
                      </a:r>
                    </a:p>
                  </a:txBody>
                  <a:tcPr marL="73152" marR="73152" marT="27432" marB="27432" anchor="ctr">
                    <a:solidFill>
                      <a:srgbClr val="FFFFFF"/>
                    </a:solidFill>
                  </a:tcPr>
                </a:tc>
                <a:tc>
                  <a:txBody>
                    <a:bodyPr wrap="square"/>
                    <a:lstStyle/>
                    <a:p>
                      <a:r>
                        <a:rPr sz="1200" b="0">
                          <a:solidFill>
                            <a:srgbClr val="3D4F6A"/>
                          </a:solidFill>
                          <a:latin typeface="Arial"/>
                        </a:rPr>
                        <a:t>35</a:t>
                      </a:r>
                    </a:p>
                  </a:txBody>
                  <a:tcPr marL="73152" marR="73152" marT="27432" marB="27432" anchor="ctr">
                    <a:solidFill>
                      <a:srgbClr val="FFFFFF"/>
                    </a:solidFill>
                  </a:tcPr>
                </a:tc>
                <a:tc>
                  <a:txBody>
                    <a:bodyPr wrap="square"/>
                    <a:lstStyle/>
                    <a:p>
                      <a:r>
                        <a:rPr sz="1200" b="0">
                          <a:solidFill>
                            <a:srgbClr val="3D4F6A"/>
                          </a:solidFill>
                          <a:latin typeface="Arial"/>
                        </a:rPr>
                        <a:t>51</a:t>
                      </a:r>
                    </a:p>
                  </a:txBody>
                  <a:tcPr marL="73152" marR="73152" marT="27432" marB="27432" anchor="ctr">
                    <a:solidFill>
                      <a:srgbClr val="FFFFFF"/>
                    </a:solidFill>
                  </a:tcPr>
                </a:tc>
                <a:tc>
                  <a:txBody>
                    <a:bodyPr wrap="square"/>
                    <a:lstStyle/>
                    <a:p>
                      <a:r>
                        <a:rPr sz="1200" b="0">
                          <a:solidFill>
                            <a:srgbClr val="3D4F6A"/>
                          </a:solidFill>
                          <a:latin typeface="Arial"/>
                        </a:rPr>
                        <a:t>12</a:t>
                      </a:r>
                    </a:p>
                  </a:txBody>
                  <a:tcPr marL="73152" marR="73152" marT="27432" marB="27432" anchor="ctr">
                    <a:solidFill>
                      <a:srgbClr val="FFFFFF"/>
                    </a:solidFill>
                  </a:tcPr>
                </a:tc>
                <a:tc>
                  <a:txBody>
                    <a:bodyPr wrap="square"/>
                    <a:lstStyle/>
                    <a:p>
                      <a:r>
                        <a:rPr sz="1200" b="0">
                          <a:solidFill>
                            <a:srgbClr val="3D4F6A"/>
                          </a:solidFill>
                          <a:latin typeface="Arial"/>
                        </a:rPr>
                        <a:t>23 → 39</a:t>
                      </a:r>
                    </a:p>
                  </a:txBody>
                  <a:tcPr marL="73152" marR="73152" marT="27432" marB="27432" anchor="ctr">
                    <a:solidFill>
                      <a:srgbClr val="FFFFFF"/>
                    </a:solidFill>
                  </a:tcPr>
                </a:tc>
              </a:tr>
              <a:tr h="457200">
                <a:tc>
                  <a:txBody>
                    <a:bodyPr wrap="square"/>
                    <a:lstStyle/>
                    <a:p>
                      <a:r>
                        <a:rPr sz="1200" b="1">
                          <a:solidFill>
                            <a:srgbClr val="1E2A3A"/>
                          </a:solidFill>
                          <a:latin typeface="Arial"/>
                        </a:rPr>
                        <a:t>Private bank program, a group a day</a:t>
                      </a:r>
                    </a:p>
                  </a:txBody>
                  <a:tcPr marL="73152" marR="73152" marT="27432" marB="27432" anchor="ctr">
                    <a:solidFill>
                      <a:srgbClr val="F6F2EA"/>
                    </a:solidFill>
                  </a:tcPr>
                </a:tc>
                <a:tc>
                  <a:txBody>
                    <a:bodyPr wrap="square"/>
                    <a:lstStyle/>
                    <a:p>
                      <a:r>
                        <a:rPr sz="1200" b="0">
                          <a:solidFill>
                            <a:srgbClr val="3D4F6A"/>
                          </a:solidFill>
                          <a:latin typeface="Arial"/>
                        </a:rPr>
                        <a:t>35</a:t>
                      </a:r>
                    </a:p>
                  </a:txBody>
                  <a:tcPr marL="73152" marR="73152" marT="27432" marB="27432" anchor="ctr">
                    <a:solidFill>
                      <a:srgbClr val="F6F2EA"/>
                    </a:solidFill>
                  </a:tcPr>
                </a:tc>
                <a:tc>
                  <a:txBody>
                    <a:bodyPr wrap="square"/>
                    <a:lstStyle/>
                    <a:p>
                      <a:r>
                        <a:rPr sz="1200" b="0">
                          <a:solidFill>
                            <a:srgbClr val="3D4F6A"/>
                          </a:solidFill>
                          <a:latin typeface="Arial"/>
                        </a:rPr>
                        <a:t>61</a:t>
                      </a:r>
                    </a:p>
                  </a:txBody>
                  <a:tcPr marL="73152" marR="73152" marT="27432" marB="27432" anchor="ctr">
                    <a:solidFill>
                      <a:srgbClr val="F6F2EA"/>
                    </a:solidFill>
                  </a:tcPr>
                </a:tc>
                <a:tc>
                  <a:txBody>
                    <a:bodyPr wrap="square"/>
                    <a:lstStyle/>
                    <a:p>
                      <a:r>
                        <a:rPr sz="1200" b="0">
                          <a:solidFill>
                            <a:srgbClr val="3D4F6A"/>
                          </a:solidFill>
                          <a:latin typeface="Arial"/>
                        </a:rPr>
                        <a:t>12</a:t>
                      </a:r>
                    </a:p>
                  </a:txBody>
                  <a:tcPr marL="73152" marR="73152" marT="27432" marB="27432" anchor="ctr">
                    <a:solidFill>
                      <a:srgbClr val="F6F2EA"/>
                    </a:solidFill>
                  </a:tcPr>
                </a:tc>
                <a:tc>
                  <a:txBody>
                    <a:bodyPr wrap="square"/>
                    <a:lstStyle/>
                    <a:p>
                      <a:r>
                        <a:rPr sz="1200" b="0">
                          <a:solidFill>
                            <a:srgbClr val="3D4F6A"/>
                          </a:solidFill>
                          <a:latin typeface="Arial"/>
                        </a:rPr>
                        <a:t>23 → 49</a:t>
                      </a:r>
                    </a:p>
                  </a:txBody>
                  <a:tcPr marL="73152" marR="73152" marT="27432" marB="27432" anchor="ctr">
                    <a:solidFill>
                      <a:srgbClr val="F6F2EA"/>
                    </a:solidFill>
                  </a:tcPr>
                </a:tc>
              </a:tr>
              <a:tr h="457200">
                <a:tc>
                  <a:txBody>
                    <a:bodyPr wrap="square"/>
                    <a:lstStyle/>
                    <a:p>
                      <a:r>
                        <a:rPr sz="1200" b="1">
                          <a:solidFill>
                            <a:srgbClr val="1E2A3A"/>
                          </a:solidFill>
                          <a:latin typeface="Arial"/>
                        </a:rPr>
                        <a:t>EAP for client staff, a month</a:t>
                      </a:r>
                    </a:p>
                  </a:txBody>
                  <a:tcPr marL="73152" marR="73152" marT="27432" marB="27432" anchor="ctr">
                    <a:solidFill>
                      <a:srgbClr val="FFFFFF"/>
                    </a:solidFill>
                  </a:tcPr>
                </a:tc>
                <a:tc>
                  <a:txBody>
                    <a:bodyPr wrap="square"/>
                    <a:lstStyle/>
                    <a:p>
                      <a:r>
                        <a:rPr sz="1200" b="0">
                          <a:solidFill>
                            <a:srgbClr val="3D4F6A"/>
                          </a:solidFill>
                          <a:latin typeface="Arial"/>
                        </a:rPr>
                        <a:t>15</a:t>
                      </a:r>
                    </a:p>
                  </a:txBody>
                  <a:tcPr marL="73152" marR="73152" marT="27432" marB="27432" anchor="ctr">
                    <a:solidFill>
                      <a:srgbClr val="FFFFFF"/>
                    </a:solidFill>
                  </a:tcPr>
                </a:tc>
                <a:tc>
                  <a:txBody>
                    <a:bodyPr wrap="square"/>
                    <a:lstStyle/>
                    <a:p>
                      <a:r>
                        <a:rPr sz="1200" b="0">
                          <a:solidFill>
                            <a:srgbClr val="3D4F6A"/>
                          </a:solidFill>
                          <a:latin typeface="Arial"/>
                        </a:rPr>
                        <a:t>15</a:t>
                      </a:r>
                    </a:p>
                  </a:txBody>
                  <a:tcPr marL="73152" marR="73152" marT="27432" marB="27432" anchor="ctr">
                    <a:solidFill>
                      <a:srgbClr val="FFFFFF"/>
                    </a:solidFill>
                  </a:tcPr>
                </a:tc>
                <a:tc>
                  <a:txBody>
                    <a:bodyPr wrap="square"/>
                    <a:lstStyle/>
                    <a:p>
                      <a:r>
                        <a:rPr sz="1200" b="0">
                          <a:solidFill>
                            <a:srgbClr val="3D4F6A"/>
                          </a:solidFill>
                          <a:latin typeface="Arial"/>
                        </a:rPr>
                        <a:t>5</a:t>
                      </a:r>
                    </a:p>
                  </a:txBody>
                  <a:tcPr marL="73152" marR="73152" marT="27432" marB="27432" anchor="ctr">
                    <a:solidFill>
                      <a:srgbClr val="FFFFFF"/>
                    </a:solidFill>
                  </a:tcPr>
                </a:tc>
                <a:tc>
                  <a:txBody>
                    <a:bodyPr wrap="square"/>
                    <a:lstStyle/>
                    <a:p>
                      <a:r>
                        <a:rPr sz="1200" b="0">
                          <a:solidFill>
                            <a:srgbClr val="3D4F6A"/>
                          </a:solidFill>
                          <a:latin typeface="Arial"/>
                        </a:rPr>
                        <a:t>10 → 10</a:t>
                      </a:r>
                    </a:p>
                  </a:txBody>
                  <a:tcPr marL="73152" marR="73152" marT="27432" marB="27432" anchor="ctr">
                    <a:solidFill>
                      <a:srgbClr val="FFFFFF"/>
                    </a:solidFill>
                  </a:tcPr>
                </a:tc>
              </a:tr>
              <a:tr h="457200">
                <a:tc>
                  <a:txBody>
                    <a:bodyPr wrap="square"/>
                    <a:lstStyle/>
                    <a:p>
                      <a:r>
                        <a:rPr sz="1200" b="1">
                          <a:solidFill>
                            <a:srgbClr val="1E2A3A"/>
                          </a:solidFill>
                          <a:latin typeface="Arial"/>
                        </a:rPr>
                        <a:t>Public event (new price is a proposal)</a:t>
                      </a:r>
                    </a:p>
                  </a:txBody>
                  <a:tcPr marL="73152" marR="73152" marT="27432" marB="27432" anchor="ctr">
                    <a:solidFill>
                      <a:srgbClr val="F6F2EA"/>
                    </a:solidFill>
                  </a:tcPr>
                </a:tc>
                <a:tc>
                  <a:txBody>
                    <a:bodyPr wrap="square"/>
                    <a:lstStyle/>
                    <a:p>
                      <a:r>
                        <a:rPr sz="1200" b="0">
                          <a:solidFill>
                            <a:srgbClr val="3D4F6A"/>
                          </a:solidFill>
                          <a:latin typeface="Arial"/>
                        </a:rPr>
                        <a:t>20</a:t>
                      </a:r>
                    </a:p>
                  </a:txBody>
                  <a:tcPr marL="73152" marR="73152" marT="27432" marB="27432" anchor="ctr">
                    <a:solidFill>
                      <a:srgbClr val="F6F2EA"/>
                    </a:solidFill>
                  </a:tcPr>
                </a:tc>
                <a:tc>
                  <a:txBody>
                    <a:bodyPr wrap="square"/>
                    <a:lstStyle/>
                    <a:p>
                      <a:r>
                        <a:rPr sz="1200" b="0">
                          <a:solidFill>
                            <a:srgbClr val="3D4F6A"/>
                          </a:solidFill>
                          <a:latin typeface="Arial"/>
                        </a:rPr>
                        <a:t>24</a:t>
                      </a:r>
                    </a:p>
                  </a:txBody>
                  <a:tcPr marL="73152" marR="73152" marT="27432" marB="27432" anchor="ctr">
                    <a:solidFill>
                      <a:srgbClr val="F6F2EA"/>
                    </a:solidFill>
                  </a:tcPr>
                </a:tc>
                <a:tc>
                  <a:txBody>
                    <a:bodyPr wrap="square"/>
                    <a:lstStyle/>
                    <a:p>
                      <a:r>
                        <a:rPr sz="1200" b="0">
                          <a:solidFill>
                            <a:srgbClr val="3D4F6A"/>
                          </a:solidFill>
                          <a:latin typeface="Arial"/>
                        </a:rPr>
                        <a:t>8</a:t>
                      </a:r>
                    </a:p>
                  </a:txBody>
                  <a:tcPr marL="73152" marR="73152" marT="27432" marB="27432" anchor="ctr">
                    <a:solidFill>
                      <a:srgbClr val="F6F2EA"/>
                    </a:solidFill>
                  </a:tcPr>
                </a:tc>
                <a:tc>
                  <a:txBody>
                    <a:bodyPr wrap="square"/>
                    <a:lstStyle/>
                    <a:p>
                      <a:r>
                        <a:rPr sz="1200" b="0">
                          <a:solidFill>
                            <a:srgbClr val="3D4F6A"/>
                          </a:solidFill>
                          <a:latin typeface="Arial"/>
                        </a:rPr>
                        <a:t>12 → 16</a:t>
                      </a:r>
                    </a:p>
                  </a:txBody>
                  <a:tcPr marL="73152" marR="73152" marT="27432" marB="27432" anchor="ctr">
                    <a:solidFill>
                      <a:srgbClr val="F6F2EA"/>
                    </a:solidFill>
                  </a:tcPr>
                </a:tc>
              </a:tr>
              <a:tr h="457200">
                <a:tc>
                  <a:txBody>
                    <a:bodyPr wrap="square"/>
                    <a:lstStyle/>
                    <a:p>
                      <a:r>
                        <a:rPr sz="1200" b="1">
                          <a:solidFill>
                            <a:srgbClr val="1E2A3A"/>
                          </a:solidFill>
                          <a:latin typeface="Arial"/>
                        </a:rPr>
                        <a:t>Counseling, a session</a:t>
                      </a:r>
                    </a:p>
                  </a:txBody>
                  <a:tcPr marL="73152" marR="73152" marT="27432" marB="27432" anchor="ctr">
                    <a:solidFill>
                      <a:srgbClr val="FFFFFF"/>
                    </a:solidFill>
                  </a:tcPr>
                </a:tc>
                <a:tc>
                  <a:txBody>
                    <a:bodyPr wrap="square"/>
                    <a:lstStyle/>
                    <a:p>
                      <a:r>
                        <a:rPr sz="1200" b="0">
                          <a:solidFill>
                            <a:srgbClr val="3D4F6A"/>
                          </a:solidFill>
                          <a:latin typeface="Arial"/>
                        </a:rPr>
                        <a:t>1</a:t>
                      </a:r>
                    </a:p>
                  </a:txBody>
                  <a:tcPr marL="73152" marR="73152" marT="27432" marB="27432" anchor="ctr">
                    <a:solidFill>
                      <a:srgbClr val="FFFFFF"/>
                    </a:solidFill>
                  </a:tcPr>
                </a:tc>
                <a:tc>
                  <a:txBody>
                    <a:bodyPr wrap="square"/>
                    <a:lstStyle/>
                    <a:p>
                      <a:r>
                        <a:rPr sz="1200" b="0">
                          <a:solidFill>
                            <a:srgbClr val="3D4F6A"/>
                          </a:solidFill>
                          <a:latin typeface="Arial"/>
                        </a:rPr>
                        <a:t>1</a:t>
                      </a:r>
                    </a:p>
                  </a:txBody>
                  <a:tcPr marL="73152" marR="73152" marT="27432" marB="27432" anchor="ctr">
                    <a:solidFill>
                      <a:srgbClr val="FFFFFF"/>
                    </a:solidFill>
                  </a:tcPr>
                </a:tc>
                <a:tc>
                  <a:txBody>
                    <a:bodyPr wrap="square"/>
                    <a:lstStyle/>
                    <a:p>
                      <a:r>
                        <a:rPr sz="1200" b="0">
                          <a:solidFill>
                            <a:srgbClr val="3D4F6A"/>
                          </a:solidFill>
                          <a:latin typeface="Arial"/>
                        </a:rPr>
                        <a:t>0.4</a:t>
                      </a:r>
                    </a:p>
                  </a:txBody>
                  <a:tcPr marL="73152" marR="73152" marT="27432" marB="27432" anchor="ctr">
                    <a:solidFill>
                      <a:srgbClr val="FFFFFF"/>
                    </a:solidFill>
                  </a:tcPr>
                </a:tc>
                <a:tc>
                  <a:txBody>
                    <a:bodyPr wrap="square"/>
                    <a:lstStyle/>
                    <a:p>
                      <a:r>
                        <a:rPr sz="1200" b="0">
                          <a:solidFill>
                            <a:srgbClr val="3D4F6A"/>
                          </a:solidFill>
                          <a:latin typeface="Arial"/>
                        </a:rPr>
                        <a:t>0.6 → 0.6</a:t>
                      </a:r>
                    </a:p>
                  </a:txBody>
                  <a:tcPr marL="73152" marR="73152" marT="27432" marB="27432" anchor="ctr">
                    <a:solidFill>
                      <a:srgbClr val="FFFFFF"/>
                    </a:solidFill>
                  </a:tcPr>
                </a:tc>
              </a:tr>
            </a:tbl>
          </a:graphicData>
        </a:graphic>
      </p:graphicFrame>
      <p:sp>
        <p:nvSpPr>
          <p:cNvPr id="11" name="TextBox 10"/>
          <p:cNvSpPr txBox="1"/>
          <p:nvPr/>
        </p:nvSpPr>
        <p:spPr>
          <a:xfrm>
            <a:off x="4846320" y="5074920"/>
            <a:ext cx="6858000" cy="548640"/>
          </a:xfrm>
          <a:prstGeom prst="rect">
            <a:avLst/>
          </a:prstGeom>
          <a:noFill/>
        </p:spPr>
        <p:txBody>
          <a:bodyPr wrap="square" anchor="t" lIns="18288" rIns="18288" tIns="36576" bIns="36576">
            <a:spAutoFit/>
          </a:bodyPr>
          <a:lstStyle/>
          <a:p>
            <a:pPr algn="l">
              <a:spcAft>
                <a:spcPts val="400"/>
              </a:spcAft>
            </a:pPr>
            <a:r>
              <a:rPr sz="1100" b="1" i="0">
                <a:solidFill>
                  <a:srgbClr val="1E2A3A"/>
                </a:solidFill>
                <a:latin typeface="Arial"/>
              </a:rPr>
              <a:t>New price = training + assessment and impact report </a:t>
            </a:r>
            <a:r>
              <a:rPr sz="1100" b="0" i="0">
                <a:solidFill>
                  <a:srgbClr val="3D4F6A"/>
                </a:solidFill>
                <a:latin typeface="Arial"/>
              </a:rPr>
              <a:t>(Rp150k a participant). Add-ons: Bank Elite +30% (trainer licence + 3 months follow-up); Theta app Rp5k a staff a month.</a:t>
            </a:r>
          </a:p>
        </p:txBody>
      </p:sp>
      <p:sp>
        <p:nvSpPr>
          <p:cNvPr id="12" name="Rounded Rectangle 11"/>
          <p:cNvSpPr/>
          <p:nvPr/>
        </p:nvSpPr>
        <p:spPr>
          <a:xfrm>
            <a:off x="457200" y="5715000"/>
            <a:ext cx="11247120" cy="566928"/>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Rules: </a:t>
            </a:r>
            <a:r>
              <a:rPr sz="1200" b="0" i="0">
                <a:solidFill>
                  <a:srgbClr val="3D4F6A"/>
                </a:solidFill>
                <a:latin typeface="Arial"/>
              </a:rPr>
              <a:t>price at least 3 times cost (training floor: 3 × Rp8M = Rp24M)  ·  discounts at most 10%  ·  first pilot at most 20% off  ·  client pays travel  ·  a regulator price rise always comes with a new item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Our prices sit </a:t>
            </a:r>
            <a:r>
              <a:rPr sz="2800" b="1" i="0">
                <a:solidFill>
                  <a:srgbClr val="9B3809"/>
                </a:solidFill>
                <a:latin typeface="Georgia"/>
              </a:rPr>
              <a:t>between</a:t>
            </a:r>
            <a:r>
              <a:rPr sz="2800" b="1" i="0">
                <a:solidFill>
                  <a:srgbClr val="1E2A3A"/>
                </a:solidFill>
                <a:latin typeface="Georgia"/>
              </a:rPr>
              <a:t> the state guide and big firms</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Blue = our prices. Grey = outside prices. Red = below our 3 times rule.</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State fee guide: Finance Ministry SBM 2026 (PMK 32/2025), 1-day ToT. Big-firm rate: founders' estimate (2.5x our old bank price).</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12</a:t>
            </a:r>
          </a:p>
        </p:txBody>
      </p:sp>
      <p:graphicFrame>
        <p:nvGraphicFramePr>
          <p:cNvPr id="7" name="Chart 6"/>
          <p:cNvGraphicFramePr>
            <a:graphicFrameLocks noGrp="1"/>
          </p:cNvGraphicFramePr>
          <p:nvPr/>
        </p:nvGraphicFramePr>
        <p:xfrm>
          <a:off x="457200" y="1371600"/>
          <a:ext cx="5760720" cy="416052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6400800" y="1371600"/>
          <a:ext cx="5349240" cy="4160520"/>
        </p:xfrm>
        <a:graphic>
          <a:graphicData uri="http://schemas.openxmlformats.org/drawingml/2006/chart">
            <c:chart xmlns:c="http://schemas.openxmlformats.org/drawingml/2006/chart" r:id="rId3"/>
          </a:graphicData>
        </a:graphic>
      </p:graphicFrame>
      <p:sp>
        <p:nvSpPr>
          <p:cNvPr id="9" name="Rounded Rectangle 8"/>
          <p:cNvSpPr/>
          <p:nvPr/>
        </p:nvSpPr>
        <p:spPr>
          <a:xfrm>
            <a:off x="457200" y="5669280"/>
            <a:ext cx="11247120" cy="6400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Two changes: </a:t>
            </a:r>
            <a:r>
              <a:rPr sz="1300" b="0" i="0">
                <a:solidFill>
                  <a:srgbClr val="3D4F6A"/>
                </a:solidFill>
                <a:latin typeface="Arial"/>
              </a:rPr>
              <a:t>raise public events to Rp24M. Keep counseling at Rp1M: it brings new clients and is only 1.5% of sales.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Start selling </a:t>
            </a:r>
            <a:r>
              <a:rPr sz="2800" b="1" i="0">
                <a:solidFill>
                  <a:srgbClr val="9B3809"/>
                </a:solidFill>
                <a:latin typeface="Georgia"/>
              </a:rPr>
              <a:t>4 to 6 months</a:t>
            </a:r>
            <a:r>
              <a:rPr sz="2800" b="1" i="0">
                <a:solidFill>
                  <a:srgbClr val="1E2A3A"/>
                </a:solidFill>
                <a:latin typeface="Georgia"/>
              </a:rPr>
              <a:t> before the work</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Regulators and banks plan next year's budget now, so this quarter decides most of 2027.</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Roadmap sheet in our model. Lead times are estimates until we log real deals.</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13</a:t>
            </a:r>
          </a:p>
        </p:txBody>
      </p:sp>
      <p:sp>
        <p:nvSpPr>
          <p:cNvPr id="7" name="TextBox 6"/>
          <p:cNvSpPr txBox="1"/>
          <p:nvPr/>
        </p:nvSpPr>
        <p:spPr>
          <a:xfrm>
            <a:off x="3246120"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Oct</a:t>
            </a:r>
          </a:p>
        </p:txBody>
      </p:sp>
      <p:sp>
        <p:nvSpPr>
          <p:cNvPr id="8" name="TextBox 7"/>
          <p:cNvSpPr txBox="1"/>
          <p:nvPr/>
        </p:nvSpPr>
        <p:spPr>
          <a:xfrm>
            <a:off x="3813048"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Nov</a:t>
            </a:r>
          </a:p>
        </p:txBody>
      </p:sp>
      <p:sp>
        <p:nvSpPr>
          <p:cNvPr id="9" name="TextBox 8"/>
          <p:cNvSpPr txBox="1"/>
          <p:nvPr/>
        </p:nvSpPr>
        <p:spPr>
          <a:xfrm>
            <a:off x="4379976"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Dec</a:t>
            </a:r>
          </a:p>
        </p:txBody>
      </p:sp>
      <p:sp>
        <p:nvSpPr>
          <p:cNvPr id="10" name="TextBox 9"/>
          <p:cNvSpPr txBox="1"/>
          <p:nvPr/>
        </p:nvSpPr>
        <p:spPr>
          <a:xfrm>
            <a:off x="4946904"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Jan</a:t>
            </a:r>
          </a:p>
        </p:txBody>
      </p:sp>
      <p:sp>
        <p:nvSpPr>
          <p:cNvPr id="11" name="TextBox 10"/>
          <p:cNvSpPr txBox="1"/>
          <p:nvPr/>
        </p:nvSpPr>
        <p:spPr>
          <a:xfrm>
            <a:off x="5513831"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Feb</a:t>
            </a:r>
          </a:p>
        </p:txBody>
      </p:sp>
      <p:sp>
        <p:nvSpPr>
          <p:cNvPr id="12" name="TextBox 11"/>
          <p:cNvSpPr txBox="1"/>
          <p:nvPr/>
        </p:nvSpPr>
        <p:spPr>
          <a:xfrm>
            <a:off x="6080760"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Mar</a:t>
            </a:r>
          </a:p>
        </p:txBody>
      </p:sp>
      <p:sp>
        <p:nvSpPr>
          <p:cNvPr id="13" name="TextBox 12"/>
          <p:cNvSpPr txBox="1"/>
          <p:nvPr/>
        </p:nvSpPr>
        <p:spPr>
          <a:xfrm>
            <a:off x="6647688"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Apr</a:t>
            </a:r>
          </a:p>
        </p:txBody>
      </p:sp>
      <p:sp>
        <p:nvSpPr>
          <p:cNvPr id="14" name="TextBox 13"/>
          <p:cNvSpPr txBox="1"/>
          <p:nvPr/>
        </p:nvSpPr>
        <p:spPr>
          <a:xfrm>
            <a:off x="7214616"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May</a:t>
            </a:r>
          </a:p>
        </p:txBody>
      </p:sp>
      <p:sp>
        <p:nvSpPr>
          <p:cNvPr id="15" name="TextBox 14"/>
          <p:cNvSpPr txBox="1"/>
          <p:nvPr/>
        </p:nvSpPr>
        <p:spPr>
          <a:xfrm>
            <a:off x="7781544"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Jun</a:t>
            </a:r>
          </a:p>
        </p:txBody>
      </p:sp>
      <p:sp>
        <p:nvSpPr>
          <p:cNvPr id="16" name="TextBox 15"/>
          <p:cNvSpPr txBox="1"/>
          <p:nvPr/>
        </p:nvSpPr>
        <p:spPr>
          <a:xfrm>
            <a:off x="8348471"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Jul</a:t>
            </a:r>
          </a:p>
        </p:txBody>
      </p:sp>
      <p:sp>
        <p:nvSpPr>
          <p:cNvPr id="17" name="TextBox 16"/>
          <p:cNvSpPr txBox="1"/>
          <p:nvPr/>
        </p:nvSpPr>
        <p:spPr>
          <a:xfrm>
            <a:off x="8915400"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Aug</a:t>
            </a:r>
          </a:p>
        </p:txBody>
      </p:sp>
      <p:sp>
        <p:nvSpPr>
          <p:cNvPr id="18" name="TextBox 17"/>
          <p:cNvSpPr txBox="1"/>
          <p:nvPr/>
        </p:nvSpPr>
        <p:spPr>
          <a:xfrm>
            <a:off x="9482328"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Sep</a:t>
            </a:r>
          </a:p>
        </p:txBody>
      </p:sp>
      <p:sp>
        <p:nvSpPr>
          <p:cNvPr id="19" name="TextBox 18"/>
          <p:cNvSpPr txBox="1"/>
          <p:nvPr/>
        </p:nvSpPr>
        <p:spPr>
          <a:xfrm>
            <a:off x="10049255"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Oct</a:t>
            </a:r>
          </a:p>
        </p:txBody>
      </p:sp>
      <p:sp>
        <p:nvSpPr>
          <p:cNvPr id="20" name="TextBox 19"/>
          <p:cNvSpPr txBox="1"/>
          <p:nvPr/>
        </p:nvSpPr>
        <p:spPr>
          <a:xfrm>
            <a:off x="10616184"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Nov</a:t>
            </a:r>
          </a:p>
        </p:txBody>
      </p:sp>
      <p:sp>
        <p:nvSpPr>
          <p:cNvPr id="21" name="TextBox 20"/>
          <p:cNvSpPr txBox="1"/>
          <p:nvPr/>
        </p:nvSpPr>
        <p:spPr>
          <a:xfrm>
            <a:off x="11183112"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Dec</a:t>
            </a:r>
          </a:p>
        </p:txBody>
      </p:sp>
      <p:sp>
        <p:nvSpPr>
          <p:cNvPr id="22" name="TextBox 21"/>
          <p:cNvSpPr txBox="1"/>
          <p:nvPr/>
        </p:nvSpPr>
        <p:spPr>
          <a:xfrm>
            <a:off x="4946904" y="1188720"/>
            <a:ext cx="1700784" cy="237744"/>
          </a:xfrm>
          <a:prstGeom prst="rect">
            <a:avLst/>
          </a:prstGeom>
          <a:noFill/>
        </p:spPr>
        <p:txBody>
          <a:bodyPr wrap="square" anchor="t" lIns="0" rIns="0" tIns="36576" bIns="36576">
            <a:spAutoFit/>
          </a:bodyPr>
          <a:lstStyle/>
          <a:p>
            <a:pPr algn="l">
              <a:spcAft>
                <a:spcPts val="400"/>
              </a:spcAft>
            </a:pPr>
            <a:r>
              <a:rPr sz="800" b="0" i="0">
                <a:solidFill>
                  <a:srgbClr val="6B7A99"/>
                </a:solidFill>
                <a:latin typeface="Arial"/>
              </a:rPr>
              <a:t>2027 →</a:t>
            </a:r>
          </a:p>
        </p:txBody>
      </p:sp>
      <p:sp>
        <p:nvSpPr>
          <p:cNvPr id="23" name="TextBox 22"/>
          <p:cNvSpPr txBox="1"/>
          <p:nvPr/>
        </p:nvSpPr>
        <p:spPr>
          <a:xfrm>
            <a:off x="777240" y="1298448"/>
            <a:ext cx="2377440" cy="274320"/>
          </a:xfrm>
          <a:prstGeom prst="rect">
            <a:avLst/>
          </a:prstGeom>
          <a:noFill/>
        </p:spPr>
        <p:txBody>
          <a:bodyPr wrap="square" anchor="t" lIns="0" rIns="0" tIns="36576" bIns="36576">
            <a:spAutoFit/>
          </a:bodyPr>
          <a:lstStyle/>
          <a:p>
            <a:pPr algn="l">
              <a:spcAft>
                <a:spcPts val="400"/>
              </a:spcAft>
            </a:pPr>
            <a:r>
              <a:rPr sz="900" b="0" i="0">
                <a:solidFill>
                  <a:srgbClr val="B4C2DC"/>
                </a:solidFill>
                <a:latin typeface="Arial"/>
              </a:rPr>
              <a:t>■ </a:t>
            </a:r>
            <a:r>
              <a:rPr sz="900" b="0" i="0">
                <a:solidFill>
                  <a:srgbClr val="6B7A99"/>
                </a:solidFill>
                <a:latin typeface="Arial"/>
              </a:rPr>
              <a:t>sell or prepare   </a:t>
            </a:r>
            <a:r>
              <a:rPr sz="900" b="0" i="0">
                <a:solidFill>
                  <a:srgbClr val="1E2A3A"/>
                </a:solidFill>
                <a:latin typeface="Arial"/>
              </a:rPr>
              <a:t>■ </a:t>
            </a:r>
            <a:r>
              <a:rPr sz="900" b="0" i="0">
                <a:solidFill>
                  <a:srgbClr val="6B7A99"/>
                </a:solidFill>
                <a:latin typeface="Arial"/>
              </a:rPr>
              <a:t>work runs</a:t>
            </a:r>
          </a:p>
        </p:txBody>
      </p:sp>
      <p:sp>
        <p:nvSpPr>
          <p:cNvPr id="24" name="Rectangle 23"/>
          <p:cNvSpPr/>
          <p:nvPr/>
        </p:nvSpPr>
        <p:spPr>
          <a:xfrm>
            <a:off x="777240" y="1691640"/>
            <a:ext cx="10972800" cy="27432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25" name="TextBox 24"/>
          <p:cNvSpPr txBox="1"/>
          <p:nvPr/>
        </p:nvSpPr>
        <p:spPr>
          <a:xfrm>
            <a:off x="822960" y="169164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BI 2027 proposal (Kia)</a:t>
            </a:r>
          </a:p>
        </p:txBody>
      </p:sp>
      <p:sp>
        <p:nvSpPr>
          <p:cNvPr id="26" name="Rounded Rectangle 25"/>
          <p:cNvSpPr/>
          <p:nvPr/>
        </p:nvSpPr>
        <p:spPr>
          <a:xfrm>
            <a:off x="3538727" y="1755648"/>
            <a:ext cx="1719072"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27" name="Diamond 26"/>
          <p:cNvSpPr/>
          <p:nvPr/>
        </p:nvSpPr>
        <p:spPr>
          <a:xfrm>
            <a:off x="5175504" y="174650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28" name="Rounded Rectangle 27"/>
          <p:cNvSpPr/>
          <p:nvPr/>
        </p:nvSpPr>
        <p:spPr>
          <a:xfrm>
            <a:off x="6080760" y="1755648"/>
            <a:ext cx="5650992"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29" name="TextBox 28"/>
          <p:cNvSpPr txBox="1"/>
          <p:nvPr/>
        </p:nvSpPr>
        <p:spPr>
          <a:xfrm>
            <a:off x="822960" y="196596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EAP 2: warm lead (Galih)</a:t>
            </a:r>
          </a:p>
        </p:txBody>
      </p:sp>
      <p:sp>
        <p:nvSpPr>
          <p:cNvPr id="30" name="Rounded Rectangle 29"/>
          <p:cNvSpPr/>
          <p:nvPr/>
        </p:nvSpPr>
        <p:spPr>
          <a:xfrm>
            <a:off x="3319272" y="2029967"/>
            <a:ext cx="1938528"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1" name="Diamond 30"/>
          <p:cNvSpPr/>
          <p:nvPr/>
        </p:nvSpPr>
        <p:spPr>
          <a:xfrm>
            <a:off x="5175504" y="202082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2" name="Rounded Rectangle 31"/>
          <p:cNvSpPr/>
          <p:nvPr/>
        </p:nvSpPr>
        <p:spPr>
          <a:xfrm>
            <a:off x="5513831" y="2029967"/>
            <a:ext cx="6217920"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3" name="Rectangle 32"/>
          <p:cNvSpPr/>
          <p:nvPr/>
        </p:nvSpPr>
        <p:spPr>
          <a:xfrm>
            <a:off x="777240" y="2240280"/>
            <a:ext cx="10972800" cy="27432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4" name="TextBox 33"/>
          <p:cNvSpPr txBox="1"/>
          <p:nvPr/>
        </p:nvSpPr>
        <p:spPr>
          <a:xfrm>
            <a:off x="822960" y="224028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EAP 3 + bank days (Kia, BD)</a:t>
            </a:r>
          </a:p>
        </p:txBody>
      </p:sp>
      <p:sp>
        <p:nvSpPr>
          <p:cNvPr id="35" name="Rounded Rectangle 34"/>
          <p:cNvSpPr/>
          <p:nvPr/>
        </p:nvSpPr>
        <p:spPr>
          <a:xfrm>
            <a:off x="3538727" y="2304288"/>
            <a:ext cx="4023360"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6" name="Diamond 35"/>
          <p:cNvSpPr/>
          <p:nvPr/>
        </p:nvSpPr>
        <p:spPr>
          <a:xfrm>
            <a:off x="7479792" y="229514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7" name="Rounded Rectangle 36"/>
          <p:cNvSpPr/>
          <p:nvPr/>
        </p:nvSpPr>
        <p:spPr>
          <a:xfrm>
            <a:off x="8348471" y="2304288"/>
            <a:ext cx="3383280"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8" name="TextBox 37"/>
          <p:cNvSpPr txBox="1"/>
          <p:nvPr/>
        </p:nvSpPr>
        <p:spPr>
          <a:xfrm>
            <a:off x="822960" y="251460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B2C events: Instagram first</a:t>
            </a:r>
          </a:p>
        </p:txBody>
      </p:sp>
      <p:sp>
        <p:nvSpPr>
          <p:cNvPr id="39" name="Rounded Rectangle 38"/>
          <p:cNvSpPr/>
          <p:nvPr/>
        </p:nvSpPr>
        <p:spPr>
          <a:xfrm>
            <a:off x="8933688" y="2578608"/>
            <a:ext cx="1115567"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0" name="Diamond 39"/>
          <p:cNvSpPr/>
          <p:nvPr/>
        </p:nvSpPr>
        <p:spPr>
          <a:xfrm>
            <a:off x="9966959" y="256946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1" name="Rounded Rectangle 40"/>
          <p:cNvSpPr/>
          <p:nvPr/>
        </p:nvSpPr>
        <p:spPr>
          <a:xfrm>
            <a:off x="10049255" y="2578608"/>
            <a:ext cx="1682496"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2" name="Rectangle 41"/>
          <p:cNvSpPr/>
          <p:nvPr/>
        </p:nvSpPr>
        <p:spPr>
          <a:xfrm>
            <a:off x="777240" y="2788920"/>
            <a:ext cx="10972800" cy="27432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3" name="TextBox 42"/>
          <p:cNvSpPr txBox="1"/>
          <p:nvPr/>
        </p:nvSpPr>
        <p:spPr>
          <a:xfrm>
            <a:off x="822960" y="278892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OJK, LPS 2028 (BD co-founder)</a:t>
            </a:r>
          </a:p>
        </p:txBody>
      </p:sp>
      <p:sp>
        <p:nvSpPr>
          <p:cNvPr id="44" name="Rounded Rectangle 43"/>
          <p:cNvSpPr/>
          <p:nvPr/>
        </p:nvSpPr>
        <p:spPr>
          <a:xfrm>
            <a:off x="8641080" y="2852927"/>
            <a:ext cx="1371600"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5" name="Diamond 44"/>
          <p:cNvSpPr/>
          <p:nvPr/>
        </p:nvSpPr>
        <p:spPr>
          <a:xfrm>
            <a:off x="9930384" y="284378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6" name="TextBox 45"/>
          <p:cNvSpPr txBox="1"/>
          <p:nvPr/>
        </p:nvSpPr>
        <p:spPr>
          <a:xfrm>
            <a:off x="822960" y="306324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Trainers: 3 for Mar, 8 for Oct-Dec</a:t>
            </a:r>
          </a:p>
        </p:txBody>
      </p:sp>
      <p:sp>
        <p:nvSpPr>
          <p:cNvPr id="47" name="Rounded Rectangle 46"/>
          <p:cNvSpPr/>
          <p:nvPr/>
        </p:nvSpPr>
        <p:spPr>
          <a:xfrm>
            <a:off x="4379976" y="3127248"/>
            <a:ext cx="1700784"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8" name="Diamond 47"/>
          <p:cNvSpPr/>
          <p:nvPr/>
        </p:nvSpPr>
        <p:spPr>
          <a:xfrm>
            <a:off x="5998464" y="311810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9" name="Rounded Rectangle 48"/>
          <p:cNvSpPr/>
          <p:nvPr/>
        </p:nvSpPr>
        <p:spPr>
          <a:xfrm>
            <a:off x="8348471" y="3127248"/>
            <a:ext cx="1700783"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0" name="Diamond 49"/>
          <p:cNvSpPr/>
          <p:nvPr/>
        </p:nvSpPr>
        <p:spPr>
          <a:xfrm>
            <a:off x="9966959" y="311810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1" name="Rectangle 50"/>
          <p:cNvSpPr/>
          <p:nvPr/>
        </p:nvSpPr>
        <p:spPr>
          <a:xfrm>
            <a:off x="777240" y="3337560"/>
            <a:ext cx="10972800" cy="27432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2" name="TextBox 51"/>
          <p:cNvSpPr txBox="1"/>
          <p:nvPr/>
        </p:nvSpPr>
        <p:spPr>
          <a:xfrm>
            <a:off x="822960" y="333756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Standby project manager</a:t>
            </a:r>
          </a:p>
        </p:txBody>
      </p:sp>
      <p:sp>
        <p:nvSpPr>
          <p:cNvPr id="53" name="Rounded Rectangle 52"/>
          <p:cNvSpPr/>
          <p:nvPr/>
        </p:nvSpPr>
        <p:spPr>
          <a:xfrm>
            <a:off x="7214616" y="3401568"/>
            <a:ext cx="1133855"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4" name="Diamond 53"/>
          <p:cNvSpPr/>
          <p:nvPr/>
        </p:nvSpPr>
        <p:spPr>
          <a:xfrm>
            <a:off x="8266175" y="339242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5" name="Rounded Rectangle 54"/>
          <p:cNvSpPr/>
          <p:nvPr/>
        </p:nvSpPr>
        <p:spPr>
          <a:xfrm>
            <a:off x="8348471" y="3401568"/>
            <a:ext cx="3383280"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6" name="TextBox 55"/>
          <p:cNvSpPr txBox="1"/>
          <p:nvPr/>
        </p:nvSpPr>
        <p:spPr>
          <a:xfrm>
            <a:off x="822960" y="361188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Psychologist pool; Lead Partnership</a:t>
            </a:r>
          </a:p>
        </p:txBody>
      </p:sp>
      <p:sp>
        <p:nvSpPr>
          <p:cNvPr id="57" name="Rounded Rectangle 56"/>
          <p:cNvSpPr/>
          <p:nvPr/>
        </p:nvSpPr>
        <p:spPr>
          <a:xfrm>
            <a:off x="4946904" y="3675888"/>
            <a:ext cx="566927"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8" name="Diamond 57"/>
          <p:cNvSpPr/>
          <p:nvPr/>
        </p:nvSpPr>
        <p:spPr>
          <a:xfrm>
            <a:off x="5431536" y="366674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9" name="Rounded Rectangle 58"/>
          <p:cNvSpPr/>
          <p:nvPr/>
        </p:nvSpPr>
        <p:spPr>
          <a:xfrm>
            <a:off x="8348471" y="3675888"/>
            <a:ext cx="1700783"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0" name="Diamond 59"/>
          <p:cNvSpPr/>
          <p:nvPr/>
        </p:nvSpPr>
        <p:spPr>
          <a:xfrm>
            <a:off x="9966959" y="366674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1" name="Rounded Rectangle 60"/>
          <p:cNvSpPr/>
          <p:nvPr/>
        </p:nvSpPr>
        <p:spPr>
          <a:xfrm>
            <a:off x="10049255" y="3675888"/>
            <a:ext cx="1682496"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2" name="Rectangle 61"/>
          <p:cNvSpPr/>
          <p:nvPr/>
        </p:nvSpPr>
        <p:spPr>
          <a:xfrm>
            <a:off x="777240" y="3886200"/>
            <a:ext cx="10972800" cy="27432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3" name="TextBox 62"/>
          <p:cNvSpPr txBox="1"/>
          <p:nvPr/>
        </p:nvSpPr>
        <p:spPr>
          <a:xfrm>
            <a:off x="822960" y="388620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Sales co-founder</a:t>
            </a:r>
          </a:p>
        </p:txBody>
      </p:sp>
      <p:sp>
        <p:nvSpPr>
          <p:cNvPr id="64" name="Rounded Rectangle 63"/>
          <p:cNvSpPr/>
          <p:nvPr/>
        </p:nvSpPr>
        <p:spPr>
          <a:xfrm>
            <a:off x="4946904" y="3950208"/>
            <a:ext cx="3401567"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5" name="Diamond 64"/>
          <p:cNvSpPr/>
          <p:nvPr/>
        </p:nvSpPr>
        <p:spPr>
          <a:xfrm>
            <a:off x="8266175" y="3941063"/>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6" name="Rounded Rectangle 65"/>
          <p:cNvSpPr/>
          <p:nvPr/>
        </p:nvSpPr>
        <p:spPr>
          <a:xfrm>
            <a:off x="8348471" y="3950208"/>
            <a:ext cx="3383280"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7" name="Rounded Rectangle 66"/>
          <p:cNvSpPr/>
          <p:nvPr/>
        </p:nvSpPr>
        <p:spPr>
          <a:xfrm>
            <a:off x="457200" y="1691640"/>
            <a:ext cx="274320" cy="1371599"/>
          </a:xfrm>
          <a:prstGeom prst="roundRect">
            <a:avLst>
              <a:gd name="adj" fmla="val 3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8" name="TextBox 67"/>
          <p:cNvSpPr txBox="1"/>
          <p:nvPr/>
        </p:nvSpPr>
        <p:spPr>
          <a:xfrm rot="16200000">
            <a:off x="-91439" y="2240279"/>
            <a:ext cx="1371599" cy="274320"/>
          </a:xfrm>
          <a:prstGeom prst="rect">
            <a:avLst/>
          </a:prstGeom>
          <a:noFill/>
        </p:spPr>
        <p:txBody>
          <a:bodyPr wrap="square" anchor="ctr" lIns="0" rIns="0" tIns="36576" bIns="36576">
            <a:spAutoFit/>
          </a:bodyPr>
          <a:lstStyle/>
          <a:p>
            <a:pPr algn="ctr">
              <a:spcAft>
                <a:spcPts val="400"/>
              </a:spcAft>
            </a:pPr>
            <a:r>
              <a:rPr sz="1000" b="1" i="0">
                <a:solidFill>
                  <a:srgbClr val="FFFFFF"/>
                </a:solidFill>
                <a:latin typeface="Arial"/>
              </a:rPr>
              <a:t>SALES</a:t>
            </a:r>
          </a:p>
        </p:txBody>
      </p:sp>
      <p:sp>
        <p:nvSpPr>
          <p:cNvPr id="69" name="Rounded Rectangle 68"/>
          <p:cNvSpPr/>
          <p:nvPr/>
        </p:nvSpPr>
        <p:spPr>
          <a:xfrm>
            <a:off x="457200" y="3063240"/>
            <a:ext cx="274320" cy="1097279"/>
          </a:xfrm>
          <a:prstGeom prst="roundRect">
            <a:avLst>
              <a:gd name="adj" fmla="val 30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70" name="TextBox 69"/>
          <p:cNvSpPr txBox="1"/>
          <p:nvPr/>
        </p:nvSpPr>
        <p:spPr>
          <a:xfrm rot="16200000">
            <a:off x="45720" y="3474720"/>
            <a:ext cx="1097279" cy="274320"/>
          </a:xfrm>
          <a:prstGeom prst="rect">
            <a:avLst/>
          </a:prstGeom>
          <a:noFill/>
        </p:spPr>
        <p:txBody>
          <a:bodyPr wrap="square" anchor="ctr" lIns="0" rIns="0" tIns="36576" bIns="36576">
            <a:spAutoFit/>
          </a:bodyPr>
          <a:lstStyle/>
          <a:p>
            <a:pPr algn="ctr">
              <a:spcAft>
                <a:spcPts val="400"/>
              </a:spcAft>
            </a:pPr>
            <a:r>
              <a:rPr sz="1000" b="1" i="0">
                <a:solidFill>
                  <a:srgbClr val="FFFFFF"/>
                </a:solidFill>
                <a:latin typeface="Arial"/>
              </a:rPr>
              <a:t>PEOPLE</a:t>
            </a:r>
          </a:p>
        </p:txBody>
      </p:sp>
      <p:sp>
        <p:nvSpPr>
          <p:cNvPr id="71" name="Rounded Rectangle 70"/>
          <p:cNvSpPr/>
          <p:nvPr/>
        </p:nvSpPr>
        <p:spPr>
          <a:xfrm>
            <a:off x="457200" y="4215383"/>
            <a:ext cx="274320" cy="457200"/>
          </a:xfrm>
          <a:prstGeom prst="roundRect">
            <a:avLst>
              <a:gd name="adj" fmla="val 30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72" name="TextBox 71"/>
          <p:cNvSpPr txBox="1"/>
          <p:nvPr/>
        </p:nvSpPr>
        <p:spPr>
          <a:xfrm rot="16200000">
            <a:off x="365760" y="4306823"/>
            <a:ext cx="457200" cy="274320"/>
          </a:xfrm>
          <a:prstGeom prst="rect">
            <a:avLst/>
          </a:prstGeom>
          <a:noFill/>
        </p:spPr>
        <p:txBody>
          <a:bodyPr wrap="square" anchor="ctr" lIns="0" rIns="0" tIns="36576" bIns="36576">
            <a:spAutoFit/>
          </a:bodyPr>
          <a:lstStyle/>
          <a:p>
            <a:pPr algn="ctr">
              <a:spcAft>
                <a:spcPts val="400"/>
              </a:spcAft>
            </a:pPr>
            <a:r>
              <a:rPr sz="1000" b="1" i="0">
                <a:solidFill>
                  <a:srgbClr val="FFFFFF"/>
                </a:solidFill>
                <a:latin typeface="Arial"/>
              </a:rPr>
              <a:t>CASH</a:t>
            </a:r>
          </a:p>
        </p:txBody>
      </p:sp>
      <p:sp>
        <p:nvSpPr>
          <p:cNvPr id="73" name="TextBox 72"/>
          <p:cNvSpPr txBox="1"/>
          <p:nvPr/>
        </p:nvSpPr>
        <p:spPr>
          <a:xfrm>
            <a:off x="822960" y="4215383"/>
            <a:ext cx="2377440" cy="45720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Cash checks</a:t>
            </a:r>
          </a:p>
        </p:txBody>
      </p:sp>
      <p:sp>
        <p:nvSpPr>
          <p:cNvPr id="74" name="Diamond 73"/>
          <p:cNvSpPr/>
          <p:nvPr/>
        </p:nvSpPr>
        <p:spPr>
          <a:xfrm>
            <a:off x="5129783" y="4270247"/>
            <a:ext cx="146304" cy="146304"/>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75" name="TextBox 74"/>
          <p:cNvSpPr txBox="1"/>
          <p:nvPr/>
        </p:nvSpPr>
        <p:spPr>
          <a:xfrm>
            <a:off x="3264407" y="4215383"/>
            <a:ext cx="1828800" cy="256032"/>
          </a:xfrm>
          <a:prstGeom prst="rect">
            <a:avLst/>
          </a:prstGeom>
          <a:noFill/>
        </p:spPr>
        <p:txBody>
          <a:bodyPr wrap="square" anchor="t" lIns="0" rIns="0" tIns="36576" bIns="36576">
            <a:spAutoFit/>
          </a:bodyPr>
          <a:lstStyle/>
          <a:p>
            <a:pPr algn="r">
              <a:spcAft>
                <a:spcPts val="400"/>
              </a:spcAft>
            </a:pPr>
            <a:r>
              <a:rPr sz="900" b="1" i="0">
                <a:solidFill>
                  <a:srgbClr val="9B3809"/>
                </a:solidFill>
                <a:latin typeface="Arial"/>
              </a:rPr>
              <a:t>Ask a 30% down payment</a:t>
            </a:r>
          </a:p>
        </p:txBody>
      </p:sp>
      <p:sp>
        <p:nvSpPr>
          <p:cNvPr id="76" name="Diamond 75"/>
          <p:cNvSpPr/>
          <p:nvPr/>
        </p:nvSpPr>
        <p:spPr>
          <a:xfrm>
            <a:off x="5934456" y="4270247"/>
            <a:ext cx="146304" cy="146304"/>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77" name="TextBox 76"/>
          <p:cNvSpPr txBox="1"/>
          <p:nvPr/>
        </p:nvSpPr>
        <p:spPr>
          <a:xfrm>
            <a:off x="5001768" y="4416551"/>
            <a:ext cx="2011680" cy="256032"/>
          </a:xfrm>
          <a:prstGeom prst="rect">
            <a:avLst/>
          </a:prstGeom>
          <a:noFill/>
        </p:spPr>
        <p:txBody>
          <a:bodyPr wrap="square" anchor="t" lIns="0" rIns="0" tIns="36576" bIns="36576">
            <a:spAutoFit/>
          </a:bodyPr>
          <a:lstStyle/>
          <a:p>
            <a:pPr algn="ctr">
              <a:spcAft>
                <a:spcPts val="400"/>
              </a:spcAft>
            </a:pPr>
            <a:r>
              <a:rPr sz="900" b="1" i="0">
                <a:solidFill>
                  <a:srgbClr val="9B3809"/>
                </a:solidFill>
                <a:latin typeface="Arial"/>
              </a:rPr>
              <a:t>Guard check (slide 7): Rp82M</a:t>
            </a:r>
          </a:p>
        </p:txBody>
      </p:sp>
      <p:sp>
        <p:nvSpPr>
          <p:cNvPr id="78" name="Diamond 77"/>
          <p:cNvSpPr/>
          <p:nvPr/>
        </p:nvSpPr>
        <p:spPr>
          <a:xfrm>
            <a:off x="6830567" y="4270247"/>
            <a:ext cx="146304" cy="146304"/>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79" name="TextBox 78"/>
          <p:cNvSpPr txBox="1"/>
          <p:nvPr/>
        </p:nvSpPr>
        <p:spPr>
          <a:xfrm>
            <a:off x="7013447" y="4215383"/>
            <a:ext cx="1828800" cy="256032"/>
          </a:xfrm>
          <a:prstGeom prst="rect">
            <a:avLst/>
          </a:prstGeom>
          <a:noFill/>
        </p:spPr>
        <p:txBody>
          <a:bodyPr wrap="square" anchor="t" lIns="0" rIns="0" tIns="36576" bIns="36576">
            <a:spAutoFit/>
          </a:bodyPr>
          <a:lstStyle/>
          <a:p>
            <a:pPr algn="l">
              <a:spcAft>
                <a:spcPts val="400"/>
              </a:spcAft>
            </a:pPr>
            <a:r>
              <a:rPr sz="900" b="1" i="0">
                <a:solidFill>
                  <a:srgbClr val="9B3809"/>
                </a:solidFill>
                <a:latin typeface="Arial"/>
              </a:rPr>
              <a:t>Lowest cash: Rp82M</a:t>
            </a:r>
          </a:p>
        </p:txBody>
      </p:sp>
      <p:cxnSp>
        <p:nvCxnSpPr>
          <p:cNvPr id="80" name="Connector 79"/>
          <p:cNvCxnSpPr/>
          <p:nvPr/>
        </p:nvCxnSpPr>
        <p:spPr>
          <a:xfrm>
            <a:off x="3319272" y="1627632"/>
            <a:ext cx="0" cy="3044951"/>
          </a:xfrm>
          <a:prstGeom prst="line">
            <a:avLst/>
          </a:prstGeom>
          <a:ln w="19050">
            <a:solidFill>
              <a:srgbClr val="9B3809"/>
            </a:solidFill>
            <a:prstDash val="dash"/>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3355848" y="1188720"/>
            <a:ext cx="548640" cy="237744"/>
          </a:xfrm>
          <a:prstGeom prst="rect">
            <a:avLst/>
          </a:prstGeom>
          <a:noFill/>
        </p:spPr>
        <p:txBody>
          <a:bodyPr wrap="square" anchor="t" lIns="0" rIns="0" tIns="36576" bIns="36576">
            <a:spAutoFit/>
          </a:bodyPr>
          <a:lstStyle/>
          <a:p>
            <a:pPr algn="l">
              <a:spcAft>
                <a:spcPts val="400"/>
              </a:spcAft>
            </a:pPr>
            <a:r>
              <a:rPr sz="800" b="1" i="0">
                <a:solidFill>
                  <a:srgbClr val="9B3809"/>
                </a:solidFill>
                <a:latin typeface="Arial"/>
              </a:rPr>
              <a:t>Today</a:t>
            </a:r>
          </a:p>
        </p:txBody>
      </p:sp>
      <p:sp>
        <p:nvSpPr>
          <p:cNvPr id="82" name="Rounded Rectangle 81"/>
          <p:cNvSpPr/>
          <p:nvPr/>
        </p:nvSpPr>
        <p:spPr>
          <a:xfrm>
            <a:off x="457200" y="4818888"/>
            <a:ext cx="6858000" cy="15087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200"/>
              </a:spcAft>
            </a:pPr>
            <a:r>
              <a:rPr sz="1400" b="1" i="0">
                <a:solidFill>
                  <a:srgbClr val="1E2A3A"/>
                </a:solidFill>
                <a:latin typeface="Georgia"/>
              </a:rPr>
              <a:t>This month</a:t>
            </a:r>
          </a:p>
          <a:p>
            <a:pPr algn="l">
              <a:spcAft>
                <a:spcPts val="200"/>
              </a:spcAft>
            </a:pPr>
            <a:r>
              <a:rPr sz="1100" b="1" i="0">
                <a:solidFill>
                  <a:srgbClr val="1E2A3A"/>
                </a:solidFill>
                <a:latin typeface="Arial"/>
              </a:rPr>
              <a:t>1. BI (Kia): </a:t>
            </a:r>
            <a:r>
              <a:rPr sz="1100" b="0" i="0">
                <a:solidFill>
                  <a:srgbClr val="3D4F6A"/>
                </a:solidFill>
                <a:latin typeface="Arial"/>
              </a:rPr>
              <a:t>one full-year 2027 proposal by 17 October; ask for a 30% down payment.</a:t>
            </a:r>
          </a:p>
          <a:p>
            <a:pPr algn="l">
              <a:spcAft>
                <a:spcPts val="200"/>
              </a:spcAft>
            </a:pPr>
            <a:r>
              <a:rPr sz="1100" b="1" i="0">
                <a:solidFill>
                  <a:srgbClr val="1E2A3A"/>
                </a:solidFill>
                <a:latin typeface="Arial"/>
              </a:rPr>
              <a:t>2. EAP (Galih): </a:t>
            </a:r>
            <a:r>
              <a:rPr sz="1100" b="0" i="0">
                <a:solidFill>
                  <a:srgbClr val="3D4F6A"/>
                </a:solidFill>
                <a:latin typeface="Arial"/>
              </a:rPr>
              <a:t>chase the warm lead; sign by mid-January.</a:t>
            </a:r>
          </a:p>
          <a:p>
            <a:pPr algn="l">
              <a:spcAft>
                <a:spcPts val="200"/>
              </a:spcAft>
            </a:pPr>
            <a:r>
              <a:rPr sz="1100" b="1" i="0">
                <a:solidFill>
                  <a:srgbClr val="1E2A3A"/>
                </a:solidFill>
                <a:latin typeface="Arial"/>
              </a:rPr>
              <a:t>3. People: </a:t>
            </a:r>
            <a:r>
              <a:rPr sz="1100" b="0" i="0">
                <a:solidFill>
                  <a:srgbClr val="3D4F6A"/>
                </a:solidFill>
                <a:latin typeface="Arial"/>
              </a:rPr>
              <a:t>start the BD co-founder search; agree the target-based pay scheme; register BPJS.</a:t>
            </a:r>
          </a:p>
        </p:txBody>
      </p:sp>
      <p:sp>
        <p:nvSpPr>
          <p:cNvPr id="83" name="Rounded Rectangle 82"/>
          <p:cNvSpPr/>
          <p:nvPr/>
        </p:nvSpPr>
        <p:spPr>
          <a:xfrm>
            <a:off x="7498079" y="4818888"/>
            <a:ext cx="2057400" cy="1508760"/>
          </a:xfrm>
          <a:prstGeom prst="roundRect">
            <a:avLst>
              <a:gd name="adj" fmla="val 6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600" b="1" i="0">
                <a:solidFill>
                  <a:srgbClr val="E8904A"/>
                </a:solidFill>
                <a:latin typeface="Georgia"/>
              </a:rPr>
              <a:t>26.1%</a:t>
            </a:r>
          </a:p>
          <a:p>
            <a:pPr algn="l">
              <a:spcAft>
                <a:spcPts val="200"/>
              </a:spcAft>
            </a:pPr>
            <a:r>
              <a:rPr sz="1100" b="0" i="0">
                <a:solidFill>
                  <a:srgbClr val="FFFFFF"/>
                </a:solidFill>
                <a:latin typeface="Arial"/>
              </a:rPr>
              <a:t>net margin 2027, current estimate</a:t>
            </a:r>
          </a:p>
        </p:txBody>
      </p:sp>
      <p:sp>
        <p:nvSpPr>
          <p:cNvPr id="84" name="Rounded Rectangle 83"/>
          <p:cNvSpPr/>
          <p:nvPr/>
        </p:nvSpPr>
        <p:spPr>
          <a:xfrm>
            <a:off x="9692640" y="4818888"/>
            <a:ext cx="2057400" cy="15087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1E2A3A"/>
                </a:solidFill>
                <a:latin typeface="Georgia"/>
              </a:rPr>
              <a:t>Rp107M</a:t>
            </a:r>
          </a:p>
          <a:p>
            <a:pPr algn="l">
              <a:spcAft>
                <a:spcPts val="200"/>
              </a:spcAft>
            </a:pPr>
            <a:r>
              <a:rPr sz="1000" b="0" i="0">
                <a:solidFill>
                  <a:srgbClr val="3D4F6A"/>
                </a:solidFill>
                <a:latin typeface="Arial"/>
              </a:rPr>
              <a:t>lowest cash with the guard rule and both cash levers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EAP and banks cut our BI share from </a:t>
            </a:r>
            <a:r>
              <a:rPr sz="2800" b="1" i="0">
                <a:solidFill>
                  <a:srgbClr val="9B3809"/>
                </a:solidFill>
                <a:latin typeface="Georgia"/>
              </a:rPr>
              <a:t>61% to 38%</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BI stays the same size in rupiah. Other clients grow around it.</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a normal full year at the 2027 sales plan. 'With growth' = 2 more EAP contracts and 10 bank training days.</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14</a:t>
            </a:r>
          </a:p>
        </p:txBody>
      </p:sp>
      <p:graphicFrame>
        <p:nvGraphicFramePr>
          <p:cNvPr id="7" name="Chart 6"/>
          <p:cNvGraphicFramePr>
            <a:graphicFrameLocks noGrp="1"/>
          </p:cNvGraphicFramePr>
          <p:nvPr/>
        </p:nvGraphicFramePr>
        <p:xfrm>
          <a:off x="457200" y="1371600"/>
          <a:ext cx="676656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7498079" y="1463040"/>
            <a:ext cx="4251960"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1E2A3A"/>
                </a:solidFill>
                <a:latin typeface="Georgia"/>
              </a:rPr>
              <a:t>61% → 38%</a:t>
            </a:r>
          </a:p>
          <a:p>
            <a:pPr algn="l">
              <a:spcAft>
                <a:spcPts val="200"/>
              </a:spcAft>
            </a:pPr>
            <a:r>
              <a:rPr sz="1200" b="0" i="0">
                <a:solidFill>
                  <a:srgbClr val="3D4F6A"/>
                </a:solidFill>
                <a:latin typeface="Arial"/>
              </a:rPr>
              <a:t>BI's share of our sales. Target: below 40%, so one budget cut cannot sink us.</a:t>
            </a:r>
          </a:p>
        </p:txBody>
      </p:sp>
      <p:sp>
        <p:nvSpPr>
          <p:cNvPr id="9" name="Rounded Rectangle 8"/>
          <p:cNvSpPr/>
          <p:nvPr/>
        </p:nvSpPr>
        <p:spPr>
          <a:xfrm>
            <a:off x="7498079" y="3063240"/>
            <a:ext cx="4251960"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12% → 23%</a:t>
            </a:r>
          </a:p>
          <a:p>
            <a:pPr algn="l">
              <a:spcAft>
                <a:spcPts val="200"/>
              </a:spcAft>
            </a:pPr>
            <a:r>
              <a:rPr sz="1200" b="0" i="0">
                <a:solidFill>
                  <a:srgbClr val="3D4F6A"/>
                </a:solidFill>
                <a:latin typeface="Arial"/>
              </a:rPr>
              <a:t>monthly EAP income: it comes in quiet months too.</a:t>
            </a:r>
          </a:p>
        </p:txBody>
      </p:sp>
      <p:sp>
        <p:nvSpPr>
          <p:cNvPr id="10" name="Rounded Rectangle 9"/>
          <p:cNvSpPr/>
          <p:nvPr/>
        </p:nvSpPr>
        <p:spPr>
          <a:xfrm>
            <a:off x="7498079" y="4663440"/>
            <a:ext cx="4251960" cy="164592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400" b="1" i="0">
                <a:solidFill>
                  <a:srgbClr val="1E2A3A"/>
                </a:solidFill>
                <a:latin typeface="Arial"/>
              </a:rPr>
              <a:t>Investors like both: </a:t>
            </a:r>
          </a:p>
          <a:p>
            <a:pPr algn="l">
              <a:spcAft>
                <a:spcPts val="400"/>
              </a:spcAft>
            </a:pPr>
            <a:r>
              <a:rPr sz="1400" b="0" i="0">
                <a:solidFill>
                  <a:srgbClr val="3D4F6A"/>
                </a:solidFill>
                <a:latin typeface="Arial"/>
              </a:rPr>
              <a:t>many clients, and income that repeats every month.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Hire a </a:t>
            </a:r>
            <a:r>
              <a:rPr sz="2800" b="1" i="0">
                <a:solidFill>
                  <a:srgbClr val="9B3809"/>
                </a:solidFill>
                <a:latin typeface="Georgia"/>
              </a:rPr>
              <a:t>sales</a:t>
            </a:r>
            <a:r>
              <a:rPr sz="2800" b="1" i="0">
                <a:solidFill>
                  <a:srgbClr val="1E2A3A"/>
                </a:solidFill>
                <a:latin typeface="Georgia"/>
              </a:rPr>
              <a:t> co-founder first</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3 bank training days pay their cost; 10 days pay it more than 3 times.</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a normal full year at the 2027 sales plan. Profit per bank day = Rp51M price minus delivery and project manager cost. Check share terms with a lawyer.</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15</a:t>
            </a:r>
          </a:p>
        </p:txBody>
      </p:sp>
      <p:graphicFrame>
        <p:nvGraphicFramePr>
          <p:cNvPr id="7" name="Table 6"/>
          <p:cNvGraphicFramePr>
            <a:graphicFrameLocks noGrp="1"/>
          </p:cNvGraphicFramePr>
          <p:nvPr/>
        </p:nvGraphicFramePr>
        <p:xfrm>
          <a:off x="457200" y="1417320"/>
          <a:ext cx="6400800" cy="3566160"/>
        </p:xfrm>
        <a:graphic>
          <a:graphicData uri="http://schemas.openxmlformats.org/drawingml/2006/table">
            <a:tbl>
              <a:tblPr firstRow="1" bandRow="1">
                <a:tableStyleId>{5C22544A-7EE6-4342-B048-85BDC9FD1C3A}</a:tableStyleId>
              </a:tblPr>
              <a:tblGrid>
                <a:gridCol w="1920240"/>
                <a:gridCol w="2377440"/>
                <a:gridCol w="2103120"/>
              </a:tblGrid>
              <a:tr h="713232">
                <a:tc>
                  <a:txBody>
                    <a:bodyPr wrap="square"/>
                    <a:lstStyle/>
                    <a:p>
                      <a:r>
                        <a:rPr sz="1200" b="1">
                          <a:solidFill>
                            <a:srgbClr val="FFFFFF"/>
                          </a:solidFill>
                          <a:latin typeface="Arial"/>
                        </a:rPr>
                        <a:t>Question</a:t>
                      </a:r>
                    </a:p>
                  </a:txBody>
                  <a:tcPr marL="73152" marR="73152" marT="27432" marB="27432" anchor="ctr">
                    <a:solidFill>
                      <a:srgbClr val="1E2A3A"/>
                    </a:solidFill>
                  </a:tcPr>
                </a:tc>
                <a:tc>
                  <a:txBody>
                    <a:bodyPr wrap="square"/>
                    <a:lstStyle/>
                    <a:p>
                      <a:r>
                        <a:rPr sz="1200" b="1">
                          <a:solidFill>
                            <a:srgbClr val="FFFFFF"/>
                          </a:solidFill>
                          <a:latin typeface="Arial"/>
                        </a:rPr>
                        <a:t>Sales co-founder</a:t>
                      </a:r>
                    </a:p>
                  </a:txBody>
                  <a:tcPr marL="73152" marR="73152" marT="27432" marB="27432" anchor="ctr">
                    <a:solidFill>
                      <a:srgbClr val="1E2A3A"/>
                    </a:solidFill>
                  </a:tcPr>
                </a:tc>
                <a:tc>
                  <a:txBody>
                    <a:bodyPr wrap="square"/>
                    <a:lstStyle/>
                    <a:p>
                      <a:r>
                        <a:rPr sz="1200" b="1">
                          <a:solidFill>
                            <a:srgbClr val="FFFFFF"/>
                          </a:solidFill>
                          <a:latin typeface="Arial"/>
                        </a:rPr>
                        <a:t>Marketing co-founder</a:t>
                      </a:r>
                    </a:p>
                  </a:txBody>
                  <a:tcPr marL="73152" marR="73152" marT="27432" marB="27432" anchor="ctr">
                    <a:solidFill>
                      <a:srgbClr val="1E2A3A"/>
                    </a:solidFill>
                  </a:tcPr>
                </a:tc>
              </a:tr>
              <a:tr h="713232">
                <a:tc>
                  <a:txBody>
                    <a:bodyPr wrap="square"/>
                    <a:lstStyle/>
                    <a:p>
                      <a:r>
                        <a:rPr sz="1200" b="1">
                          <a:solidFill>
                            <a:srgbClr val="1E2A3A"/>
                          </a:solidFill>
                          <a:latin typeface="Arial"/>
                        </a:rPr>
                        <a:t>Fixes our biggest limit?</a:t>
                      </a:r>
                    </a:p>
                  </a:txBody>
                  <a:tcPr marL="73152" marR="73152" marT="27432" marB="27432" anchor="ctr">
                    <a:solidFill>
                      <a:srgbClr val="FFFFFF"/>
                    </a:solidFill>
                  </a:tcPr>
                </a:tc>
                <a:tc>
                  <a:txBody>
                    <a:bodyPr wrap="square"/>
                    <a:lstStyle/>
                    <a:p>
                      <a:r>
                        <a:rPr sz="1200" b="0">
                          <a:solidFill>
                            <a:srgbClr val="3D4F6A"/>
                          </a:solidFill>
                          <a:latin typeface="Arial"/>
                        </a:rPr>
                        <a:t>Yes: founders do all sales; one is in Singapore</a:t>
                      </a:r>
                    </a:p>
                  </a:txBody>
                  <a:tcPr marL="73152" marR="73152" marT="27432" marB="27432" anchor="ctr">
                    <a:solidFill>
                      <a:srgbClr val="FFFFFF"/>
                    </a:solidFill>
                  </a:tcPr>
                </a:tc>
                <a:tc>
                  <a:txBody>
                    <a:bodyPr wrap="square"/>
                    <a:lstStyle/>
                    <a:p>
                      <a:r>
                        <a:rPr sz="1200" b="0">
                          <a:solidFill>
                            <a:srgbClr val="3D4F6A"/>
                          </a:solidFill>
                          <a:latin typeface="Arial"/>
                        </a:rPr>
                        <a:t>No: marketing does not close regulator deals</a:t>
                      </a:r>
                    </a:p>
                  </a:txBody>
                  <a:tcPr marL="73152" marR="73152" marT="27432" marB="27432" anchor="ctr">
                    <a:solidFill>
                      <a:srgbClr val="FFFFFF"/>
                    </a:solidFill>
                  </a:tcPr>
                </a:tc>
              </a:tr>
              <a:tr h="713232">
                <a:tc>
                  <a:txBody>
                    <a:bodyPr wrap="square"/>
                    <a:lstStyle/>
                    <a:p>
                      <a:r>
                        <a:rPr sz="1200" b="1">
                          <a:solidFill>
                            <a:srgbClr val="1E2A3A"/>
                          </a:solidFill>
                          <a:latin typeface="Arial"/>
                        </a:rPr>
                        <a:t>How do clients buy?</a:t>
                      </a:r>
                    </a:p>
                  </a:txBody>
                  <a:tcPr marL="73152" marR="73152" marT="27432" marB="27432" anchor="ctr">
                    <a:solidFill>
                      <a:srgbClr val="F6F2EA"/>
                    </a:solidFill>
                  </a:tcPr>
                </a:tc>
                <a:tc>
                  <a:txBody>
                    <a:bodyPr wrap="square"/>
                    <a:lstStyle/>
                    <a:p>
                      <a:r>
                        <a:rPr sz="1200" b="0">
                          <a:solidFill>
                            <a:srgbClr val="3D4F6A"/>
                          </a:solidFill>
                          <a:latin typeface="Arial"/>
                        </a:rPr>
                        <a:t>Regulators and banks buy on trust</a:t>
                      </a:r>
                    </a:p>
                  </a:txBody>
                  <a:tcPr marL="73152" marR="73152" marT="27432" marB="27432" anchor="ctr">
                    <a:solidFill>
                      <a:srgbClr val="F6F2EA"/>
                    </a:solidFill>
                  </a:tcPr>
                </a:tc>
                <a:tc>
                  <a:txBody>
                    <a:bodyPr wrap="square"/>
                    <a:lstStyle/>
                    <a:p>
                      <a:r>
                        <a:rPr sz="1200" b="0">
                          <a:solidFill>
                            <a:srgbClr val="3D4F6A"/>
                          </a:solidFill>
                          <a:latin typeface="Arial"/>
                        </a:rPr>
                        <a:t>Ads help the public side most</a:t>
                      </a:r>
                    </a:p>
                  </a:txBody>
                  <a:tcPr marL="73152" marR="73152" marT="27432" marB="27432" anchor="ctr">
                    <a:solidFill>
                      <a:srgbClr val="F6F2EA"/>
                    </a:solidFill>
                  </a:tcPr>
                </a:tc>
              </a:tr>
              <a:tr h="713232">
                <a:tc>
                  <a:txBody>
                    <a:bodyPr wrap="square"/>
                    <a:lstStyle/>
                    <a:p>
                      <a:r>
                        <a:rPr sz="1200" b="1">
                          <a:solidFill>
                            <a:srgbClr val="1E2A3A"/>
                          </a:solidFill>
                          <a:latin typeface="Arial"/>
                        </a:rPr>
                        <a:t>Could we hire staff instead?</a:t>
                      </a:r>
                    </a:p>
                  </a:txBody>
                  <a:tcPr marL="73152" marR="73152" marT="27432" marB="27432" anchor="ctr">
                    <a:solidFill>
                      <a:srgbClr val="FFFFFF"/>
                    </a:solidFill>
                  </a:tcPr>
                </a:tc>
                <a:tc>
                  <a:txBody>
                    <a:bodyPr wrap="square"/>
                    <a:lstStyle/>
                    <a:p>
                      <a:r>
                        <a:rPr sz="1200" b="0">
                          <a:solidFill>
                            <a:srgbClr val="3D4F6A"/>
                          </a:solidFill>
                          <a:latin typeface="Arial"/>
                        </a:rPr>
                        <a:t>Hard: good sellers to regulators are rare</a:t>
                      </a:r>
                    </a:p>
                  </a:txBody>
                  <a:tcPr marL="73152" marR="73152" marT="27432" marB="27432" anchor="ctr">
                    <a:solidFill>
                      <a:srgbClr val="FFFFFF"/>
                    </a:solidFill>
                  </a:tcPr>
                </a:tc>
                <a:tc>
                  <a:txBody>
                    <a:bodyPr wrap="square"/>
                    <a:lstStyle/>
                    <a:p>
                      <a:r>
                        <a:rPr sz="1200" b="0">
                          <a:solidFill>
                            <a:srgbClr val="3D4F6A"/>
                          </a:solidFill>
                          <a:latin typeface="Arial"/>
                        </a:rPr>
                        <a:t>Yes: staff + ads cost about Rp15M a month</a:t>
                      </a:r>
                    </a:p>
                  </a:txBody>
                  <a:tcPr marL="73152" marR="73152" marT="27432" marB="27432" anchor="ctr">
                    <a:solidFill>
                      <a:srgbClr val="FFFFFF"/>
                    </a:solidFill>
                  </a:tcPr>
                </a:tc>
              </a:tr>
              <a:tr h="713232">
                <a:tc>
                  <a:txBody>
                    <a:bodyPr wrap="square"/>
                    <a:lstStyle/>
                    <a:p>
                      <a:r>
                        <a:rPr sz="1200" b="1">
                          <a:solidFill>
                            <a:srgbClr val="1E2A3A"/>
                          </a:solidFill>
                          <a:latin typeface="Arial"/>
                        </a:rPr>
                        <a:t>Our choice</a:t>
                      </a:r>
                    </a:p>
                  </a:txBody>
                  <a:tcPr marL="73152" marR="73152" marT="27432" marB="27432" anchor="ctr">
                    <a:solidFill>
                      <a:srgbClr val="F6F2EA"/>
                    </a:solidFill>
                  </a:tcPr>
                </a:tc>
                <a:tc>
                  <a:txBody>
                    <a:bodyPr wrap="square"/>
                    <a:lstStyle/>
                    <a:p>
                      <a:r>
                        <a:rPr sz="1200" b="0">
                          <a:solidFill>
                            <a:srgbClr val="3D4F6A"/>
                          </a:solidFill>
                          <a:latin typeface="Arial"/>
                        </a:rPr>
                        <a:t>First</a:t>
                      </a:r>
                    </a:p>
                  </a:txBody>
                  <a:tcPr marL="73152" marR="73152" marT="27432" marB="27432" anchor="ctr">
                    <a:solidFill>
                      <a:srgbClr val="DDE6F5"/>
                    </a:solidFill>
                  </a:tcPr>
                </a:tc>
                <a:tc>
                  <a:txBody>
                    <a:bodyPr wrap="square"/>
                    <a:lstStyle/>
                    <a:p>
                      <a:r>
                        <a:rPr sz="1200" b="0">
                          <a:solidFill>
                            <a:srgbClr val="3D4F6A"/>
                          </a:solidFill>
                          <a:latin typeface="Arial"/>
                        </a:rPr>
                        <a:t>Later, or as staff</a:t>
                      </a:r>
                    </a:p>
                  </a:txBody>
                  <a:tcPr marL="73152" marR="73152" marT="27432" marB="27432" anchor="ctr">
                    <a:solidFill>
                      <a:srgbClr val="F7DDD2"/>
                    </a:solidFill>
                  </a:tcPr>
                </a:tc>
              </a:tr>
            </a:tbl>
          </a:graphicData>
        </a:graphic>
      </p:graphicFrame>
      <p:graphicFrame>
        <p:nvGraphicFramePr>
          <p:cNvPr id="8" name="Chart 7"/>
          <p:cNvGraphicFramePr>
            <a:graphicFrameLocks noGrp="1"/>
          </p:cNvGraphicFramePr>
          <p:nvPr/>
        </p:nvGraphicFramePr>
        <p:xfrm>
          <a:off x="7132320" y="1371600"/>
          <a:ext cx="4617720" cy="3246120"/>
        </p:xfrm>
        <a:graphic>
          <a:graphicData uri="http://schemas.openxmlformats.org/drawingml/2006/chart">
            <c:chart xmlns:c="http://schemas.openxmlformats.org/drawingml/2006/chart" r:id="rId2"/>
          </a:graphicData>
        </a:graphic>
      </p:graphicFrame>
      <p:sp>
        <p:nvSpPr>
          <p:cNvPr id="9" name="Rounded Rectangle 8"/>
          <p:cNvSpPr/>
          <p:nvPr/>
        </p:nvSpPr>
        <p:spPr>
          <a:xfrm>
            <a:off x="7132320" y="4754880"/>
            <a:ext cx="4617720" cy="15544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300"/>
              </a:spcAft>
            </a:pPr>
            <a:r>
              <a:rPr sz="1400" b="1" i="0">
                <a:solidFill>
                  <a:srgbClr val="1E2A3A"/>
                </a:solidFill>
                <a:latin typeface="Georgia"/>
              </a:rPr>
              <a:t>The deal</a:t>
            </a:r>
          </a:p>
          <a:p>
            <a:pPr algn="l">
              <a:spcAft>
                <a:spcPts val="300"/>
              </a:spcAft>
            </a:pPr>
            <a:r>
              <a:rPr sz="1200" b="0" i="0">
                <a:solidFill>
                  <a:srgbClr val="3D4F6A"/>
                </a:solidFill>
                <a:latin typeface="Arial"/>
              </a:rPr>
              <a:t>About Rp8M a month + shares earned over 4 years (none if they leave in year 1).</a:t>
            </a:r>
          </a:p>
          <a:p>
            <a:pPr algn="l">
              <a:spcAft>
                <a:spcPts val="300"/>
              </a:spcAft>
            </a:pPr>
            <a:r>
              <a:rPr sz="1200" b="0" i="0">
                <a:solidFill>
                  <a:srgbClr val="3D4F6A"/>
                </a:solidFill>
                <a:latin typeface="Arial"/>
              </a:rPr>
              <a:t>Year-1 goals: 1 bank agreement, a first OJK or LPS program, 2 EAP renewals.</a:t>
            </a:r>
          </a:p>
        </p:txBody>
      </p:sp>
      <p:sp>
        <p:nvSpPr>
          <p:cNvPr id="10" name="TextBox 9"/>
          <p:cNvSpPr txBox="1"/>
          <p:nvPr/>
        </p:nvSpPr>
        <p:spPr>
          <a:xfrm>
            <a:off x="457200" y="5166360"/>
            <a:ext cx="6400800" cy="1097280"/>
          </a:xfrm>
          <a:prstGeom prst="rect">
            <a:avLst/>
          </a:prstGeom>
          <a:noFill/>
        </p:spPr>
        <p:txBody>
          <a:bodyPr wrap="square" anchor="t" lIns="73152" rIns="73152" tIns="36576" bIns="36576">
            <a:spAutoFit/>
          </a:bodyPr>
          <a:lstStyle/>
          <a:p>
            <a:pPr algn="l">
              <a:spcAft>
                <a:spcPts val="400"/>
              </a:spcAft>
            </a:pPr>
            <a:r>
              <a:rPr sz="1200" b="1" i="0">
                <a:solidFill>
                  <a:srgbClr val="1E2A3A"/>
                </a:solidFill>
                <a:latin typeface="Arial"/>
              </a:rPr>
              <a:t>Co-founder </a:t>
            </a:r>
            <a:r>
              <a:rPr sz="1200" b="0" i="0">
                <a:solidFill>
                  <a:srgbClr val="6B7A99"/>
                </a:solidFill>
                <a:latin typeface="Arial"/>
              </a:rPr>
              <a:t>= a partner who owns part of the company. Shares are earned over time, so a partner who leaves early does not keep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16</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PART B OF D</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B</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Can B2C pay for our clinic?</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Yes, from about April 2027: Instagram, referral and Theta vouchers grow B2C until it pays our part-time psychologists.</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12%</a:t>
            </a:r>
          </a:p>
          <a:p>
            <a:pPr algn="l">
              <a:spcAft>
                <a:spcPts val="200"/>
              </a:spcAft>
            </a:pPr>
            <a:r>
              <a:rPr sz="1100" b="0" i="0">
                <a:solidFill>
                  <a:srgbClr val="C9D2E3"/>
                </a:solidFill>
                <a:latin typeface="Arial"/>
              </a:rPr>
              <a:t>of 2027 sales</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4.2x</a:t>
            </a:r>
          </a:p>
          <a:p>
            <a:pPr algn="l">
              <a:spcAft>
                <a:spcPts val="200"/>
              </a:spcAft>
            </a:pPr>
            <a:r>
              <a:rPr sz="1100" b="0" i="0">
                <a:solidFill>
                  <a:srgbClr val="C9D2E3"/>
                </a:solidFill>
                <a:latin typeface="Arial"/>
              </a:rPr>
              <a:t>referral: profit per client / cost</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How do followers turn into paid sessions?</a:t>
            </a:r>
          </a:p>
          <a:p>
            <a:pPr algn="l">
              <a:spcAft>
                <a:spcPts val="300"/>
              </a:spcAft>
            </a:pPr>
            <a:r>
              <a:rPr sz="1200" b="1" i="0">
                <a:solidFill>
                  <a:srgbClr val="E8904A"/>
                </a:solidFill>
                <a:latin typeface="Arial"/>
              </a:rPr>
              <a:t>•  </a:t>
            </a:r>
            <a:r>
              <a:rPr sz="1200" b="0" i="0">
                <a:solidFill>
                  <a:srgbClr val="C9D2E3"/>
                </a:solidFill>
                <a:latin typeface="Arial"/>
              </a:rPr>
              <a:t>What does it cost to win one client?</a:t>
            </a:r>
          </a:p>
        </p:txBody>
      </p:sp>
      <p:sp>
        <p:nvSpPr>
          <p:cNvPr id="10" name="TextBox 9"/>
          <p:cNvSpPr txBox="1"/>
          <p:nvPr/>
        </p:nvSpPr>
        <p:spPr>
          <a:xfrm>
            <a:off x="2240280" y="4663440"/>
            <a:ext cx="5943600" cy="365760"/>
          </a:xfrm>
          <a:prstGeom prst="rect">
            <a:avLst/>
          </a:prstGeom>
          <a:noFill/>
        </p:spPr>
        <p:txBody>
          <a:bodyPr wrap="square" anchor="ctr" lIns="0" rIns="0" tIns="36576" bIns="36576">
            <a:spAutoFit/>
          </a:bodyPr>
          <a:lstStyle/>
          <a:p>
            <a:pPr algn="l">
              <a:spcAft>
                <a:spcPts val="400"/>
              </a:spcAft>
            </a:pPr>
            <a:r>
              <a:rPr sz="1300" b="1" i="0">
                <a:solidFill>
                  <a:srgbClr val="E8904A"/>
                </a:solidFill>
                <a:latin typeface="Arial"/>
              </a:rPr>
              <a:t>Serves pillars:  </a:t>
            </a:r>
            <a:r>
              <a:rPr sz="1300" b="0" i="0">
                <a:solidFill>
                  <a:srgbClr val="C9D2E3"/>
                </a:solidFill>
                <a:latin typeface="Arial"/>
              </a:rPr>
              <a:t>4 Community  ·  2 People</a:t>
            </a:r>
          </a:p>
        </p:txBody>
      </p:sp>
      <p:sp>
        <p:nvSpPr>
          <p:cNvPr id="11" name="Rounded Rectangle 10"/>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12" name="Rounded Rectangle 11"/>
          <p:cNvSpPr/>
          <p:nvPr/>
        </p:nvSpPr>
        <p:spPr>
          <a:xfrm>
            <a:off x="4617720" y="5715000"/>
            <a:ext cx="2240280" cy="43891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1E2A3A"/>
                </a:solidFill>
                <a:latin typeface="Arial"/>
              </a:rPr>
              <a:t>B  </a:t>
            </a:r>
            <a:r>
              <a:rPr sz="1300" b="1" i="0">
                <a:solidFill>
                  <a:srgbClr val="1E2A3A"/>
                </a:solidFill>
                <a:latin typeface="Arial"/>
              </a:rPr>
              <a:t>B2C</a:t>
            </a:r>
          </a:p>
        </p:txBody>
      </p:sp>
      <p:sp>
        <p:nvSpPr>
          <p:cNvPr id="13" name="Rounded Rectangle 12"/>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4" name="Rounded Rectangle 13"/>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B2C grows to 12% of sales and </a:t>
            </a:r>
            <a:r>
              <a:rPr sz="2800" b="1" i="0">
                <a:solidFill>
                  <a:srgbClr val="9B3809"/>
                </a:solidFill>
                <a:latin typeface="Georgia"/>
              </a:rPr>
              <a:t>pays our psychologists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From Apr 2027, counseling profit pays our 2 part-time psychologists. Bookings matter more than followers.</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B · B2C</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(B2C sheet). Followers: @temanjourney_id on 5 Oct 2026. Today about 2 paid sessions a month.</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17</a:t>
            </a:r>
          </a:p>
        </p:txBody>
      </p:sp>
      <p:graphicFrame>
        <p:nvGraphicFramePr>
          <p:cNvPr id="7" name="Chart 6"/>
          <p:cNvGraphicFramePr>
            <a:graphicFrameLocks noGrp="1"/>
          </p:cNvGraphicFramePr>
          <p:nvPr/>
        </p:nvGraphicFramePr>
        <p:xfrm>
          <a:off x="457200" y="1371600"/>
          <a:ext cx="6035040" cy="342900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457200" y="4983480"/>
          <a:ext cx="6035040" cy="1316736"/>
        </p:xfrm>
        <a:graphic>
          <a:graphicData uri="http://schemas.openxmlformats.org/drawingml/2006/table">
            <a:tbl>
              <a:tblPr firstRow="1" bandRow="1">
                <a:tableStyleId>{5C22544A-7EE6-4342-B048-85BDC9FD1C3A}</a:tableStyleId>
              </a:tblPr>
              <a:tblGrid>
                <a:gridCol w="2148840"/>
                <a:gridCol w="777240"/>
                <a:gridCol w="777240"/>
                <a:gridCol w="777240"/>
                <a:gridCol w="777240"/>
                <a:gridCol w="777240"/>
              </a:tblGrid>
              <a:tr h="329184">
                <a:tc>
                  <a:txBody>
                    <a:bodyPr wrap="square"/>
                    <a:lstStyle/>
                    <a:p>
                      <a:r>
                        <a:rPr sz="1100" b="1">
                          <a:solidFill>
                            <a:srgbClr val="FFFFFF"/>
                          </a:solidFill>
                          <a:latin typeface="Arial"/>
                        </a:rPr>
                        <a:t>Per quarter (our levers)</a:t>
                      </a:r>
                    </a:p>
                  </a:txBody>
                  <a:tcPr marL="73152" marR="73152" marT="27432" marB="27432" anchor="ctr">
                    <a:solidFill>
                      <a:srgbClr val="1E2A3A"/>
                    </a:solidFill>
                  </a:tcPr>
                </a:tc>
                <a:tc>
                  <a:txBody>
                    <a:bodyPr wrap="square"/>
                    <a:lstStyle/>
                    <a:p>
                      <a:r>
                        <a:rPr sz="1100" b="1">
                          <a:solidFill>
                            <a:srgbClr val="FFFFFF"/>
                          </a:solidFill>
                          <a:latin typeface="Arial"/>
                        </a:rPr>
                        <a:t>Q4 2026</a:t>
                      </a:r>
                    </a:p>
                  </a:txBody>
                  <a:tcPr marL="73152" marR="73152" marT="27432" marB="27432" anchor="ctr">
                    <a:solidFill>
                      <a:srgbClr val="1E2A3A"/>
                    </a:solidFill>
                  </a:tcPr>
                </a:tc>
                <a:tc>
                  <a:txBody>
                    <a:bodyPr wrap="square"/>
                    <a:lstStyle/>
                    <a:p>
                      <a:r>
                        <a:rPr sz="1100" b="1">
                          <a:solidFill>
                            <a:srgbClr val="FFFFFF"/>
                          </a:solidFill>
                          <a:latin typeface="Arial"/>
                        </a:rPr>
                        <a:t>Q1 2027</a:t>
                      </a:r>
                    </a:p>
                  </a:txBody>
                  <a:tcPr marL="73152" marR="73152" marT="27432" marB="27432" anchor="ctr">
                    <a:solidFill>
                      <a:srgbClr val="1E2A3A"/>
                    </a:solidFill>
                  </a:tcPr>
                </a:tc>
                <a:tc>
                  <a:txBody>
                    <a:bodyPr wrap="square"/>
                    <a:lstStyle/>
                    <a:p>
                      <a:r>
                        <a:rPr sz="1100" b="1">
                          <a:solidFill>
                            <a:srgbClr val="FFFFFF"/>
                          </a:solidFill>
                          <a:latin typeface="Arial"/>
                        </a:rPr>
                        <a:t>Q2 2027</a:t>
                      </a:r>
                    </a:p>
                  </a:txBody>
                  <a:tcPr marL="73152" marR="73152" marT="27432" marB="27432" anchor="ctr">
                    <a:solidFill>
                      <a:srgbClr val="1E2A3A"/>
                    </a:solidFill>
                  </a:tcPr>
                </a:tc>
                <a:tc>
                  <a:txBody>
                    <a:bodyPr wrap="square"/>
                    <a:lstStyle/>
                    <a:p>
                      <a:r>
                        <a:rPr sz="1100" b="1">
                          <a:solidFill>
                            <a:srgbClr val="FFFFFF"/>
                          </a:solidFill>
                          <a:latin typeface="Arial"/>
                        </a:rPr>
                        <a:t>Q3 2027</a:t>
                      </a:r>
                    </a:p>
                  </a:txBody>
                  <a:tcPr marL="73152" marR="73152" marT="27432" marB="27432" anchor="ctr">
                    <a:solidFill>
                      <a:srgbClr val="1E2A3A"/>
                    </a:solidFill>
                  </a:tcPr>
                </a:tc>
                <a:tc>
                  <a:txBody>
                    <a:bodyPr wrap="square"/>
                    <a:lstStyle/>
                    <a:p>
                      <a:r>
                        <a:rPr sz="1100" b="1">
                          <a:solidFill>
                            <a:srgbClr val="FFFFFF"/>
                          </a:solidFill>
                          <a:latin typeface="Arial"/>
                        </a:rPr>
                        <a:t>Q4 2027</a:t>
                      </a:r>
                    </a:p>
                  </a:txBody>
                  <a:tcPr marL="73152" marR="73152" marT="27432" marB="27432" anchor="ctr">
                    <a:solidFill>
                      <a:srgbClr val="1E2A3A"/>
                    </a:solidFill>
                  </a:tcPr>
                </a:tc>
              </a:tr>
              <a:tr h="329184">
                <a:tc>
                  <a:txBody>
                    <a:bodyPr wrap="square"/>
                    <a:lstStyle/>
                    <a:p>
                      <a:r>
                        <a:rPr sz="1100" b="1">
                          <a:solidFill>
                            <a:srgbClr val="1E2A3A"/>
                          </a:solidFill>
                          <a:latin typeface="Arial"/>
                        </a:rPr>
                        <a:t>Follower growth</a:t>
                      </a:r>
                    </a:p>
                  </a:txBody>
                  <a:tcPr marL="73152" marR="73152" marT="27432" marB="27432" anchor="ctr">
                    <a:solidFill>
                      <a:srgbClr val="FFFFFF"/>
                    </a:solidFill>
                  </a:tcPr>
                </a:tc>
                <a:tc>
                  <a:txBody>
                    <a:bodyPr wrap="square"/>
                    <a:lstStyle/>
                    <a:p>
                      <a:r>
                        <a:rPr sz="1100" b="0">
                          <a:solidFill>
                            <a:srgbClr val="3D4F6A"/>
                          </a:solidFill>
                          <a:latin typeface="Arial"/>
                        </a:rPr>
                        <a:t>15%</a:t>
                      </a:r>
                    </a:p>
                  </a:txBody>
                  <a:tcPr marL="73152" marR="73152" marT="27432" marB="27432" anchor="ctr">
                    <a:solidFill>
                      <a:srgbClr val="FFFFFF"/>
                    </a:solidFill>
                  </a:tcPr>
                </a:tc>
                <a:tc>
                  <a:txBody>
                    <a:bodyPr wrap="square"/>
                    <a:lstStyle/>
                    <a:p>
                      <a:r>
                        <a:rPr sz="1100" b="0">
                          <a:solidFill>
                            <a:srgbClr val="3D4F6A"/>
                          </a:solidFill>
                          <a:latin typeface="Arial"/>
                        </a:rPr>
                        <a:t>25%</a:t>
                      </a:r>
                    </a:p>
                  </a:txBody>
                  <a:tcPr marL="73152" marR="73152" marT="27432" marB="27432" anchor="ctr">
                    <a:solidFill>
                      <a:srgbClr val="FFFFFF"/>
                    </a:solidFill>
                  </a:tcPr>
                </a:tc>
                <a:tc>
                  <a:txBody>
                    <a:bodyPr wrap="square"/>
                    <a:lstStyle/>
                    <a:p>
                      <a:r>
                        <a:rPr sz="1100" b="0">
                          <a:solidFill>
                            <a:srgbClr val="3D4F6A"/>
                          </a:solidFill>
                          <a:latin typeface="Arial"/>
                        </a:rPr>
                        <a:t>28%</a:t>
                      </a:r>
                    </a:p>
                  </a:txBody>
                  <a:tcPr marL="73152" marR="73152" marT="27432" marB="27432" anchor="ctr">
                    <a:solidFill>
                      <a:srgbClr val="FFFFFF"/>
                    </a:solidFill>
                  </a:tcPr>
                </a:tc>
                <a:tc>
                  <a:txBody>
                    <a:bodyPr wrap="square"/>
                    <a:lstStyle/>
                    <a:p>
                      <a:r>
                        <a:rPr sz="1100" b="0">
                          <a:solidFill>
                            <a:srgbClr val="3D4F6A"/>
                          </a:solidFill>
                          <a:latin typeface="Arial"/>
                        </a:rPr>
                        <a:t>28%</a:t>
                      </a:r>
                    </a:p>
                  </a:txBody>
                  <a:tcPr marL="73152" marR="73152" marT="27432" marB="27432" anchor="ctr">
                    <a:solidFill>
                      <a:srgbClr val="FFFFFF"/>
                    </a:solidFill>
                  </a:tcPr>
                </a:tc>
                <a:tc>
                  <a:txBody>
                    <a:bodyPr wrap="square"/>
                    <a:lstStyle/>
                    <a:p>
                      <a:r>
                        <a:rPr sz="1100" b="0">
                          <a:solidFill>
                            <a:srgbClr val="3D4F6A"/>
                          </a:solidFill>
                          <a:latin typeface="Arial"/>
                        </a:rPr>
                        <a:t>24%</a:t>
                      </a:r>
                    </a:p>
                  </a:txBody>
                  <a:tcPr marL="73152" marR="73152" marT="27432" marB="27432" anchor="ctr">
                    <a:solidFill>
                      <a:srgbClr val="FFFFFF"/>
                    </a:solidFill>
                  </a:tcPr>
                </a:tc>
              </a:tr>
              <a:tr h="329184">
                <a:tc>
                  <a:txBody>
                    <a:bodyPr wrap="square"/>
                    <a:lstStyle/>
                    <a:p>
                      <a:r>
                        <a:rPr sz="1100" b="1">
                          <a:solidFill>
                            <a:srgbClr val="1E2A3A"/>
                          </a:solidFill>
                          <a:latin typeface="Arial"/>
                        </a:rPr>
                        <a:t>Bookings per 1,000 followers</a:t>
                      </a:r>
                    </a:p>
                  </a:txBody>
                  <a:tcPr marL="73152" marR="73152" marT="27432" marB="27432" anchor="ctr">
                    <a:solidFill>
                      <a:srgbClr val="F6F2EA"/>
                    </a:solidFill>
                  </a:tcPr>
                </a:tc>
                <a:tc>
                  <a:txBody>
                    <a:bodyPr wrap="square"/>
                    <a:lstStyle/>
                    <a:p>
                      <a:r>
                        <a:rPr sz="1100" b="0">
                          <a:solidFill>
                            <a:srgbClr val="3D4F6A"/>
                          </a:solidFill>
                          <a:latin typeface="Arial"/>
                        </a:rPr>
                        <a:t>0.58</a:t>
                      </a:r>
                    </a:p>
                  </a:txBody>
                  <a:tcPr marL="73152" marR="73152" marT="27432" marB="27432" anchor="ctr">
                    <a:solidFill>
                      <a:srgbClr val="F6F2EA"/>
                    </a:solidFill>
                  </a:tcPr>
                </a:tc>
                <a:tc>
                  <a:txBody>
                    <a:bodyPr wrap="square"/>
                    <a:lstStyle/>
                    <a:p>
                      <a:r>
                        <a:rPr sz="1100" b="0">
                          <a:solidFill>
                            <a:srgbClr val="3D4F6A"/>
                          </a:solidFill>
                          <a:latin typeface="Arial"/>
                        </a:rPr>
                        <a:t>0.70</a:t>
                      </a:r>
                    </a:p>
                  </a:txBody>
                  <a:tcPr marL="73152" marR="73152" marT="27432" marB="27432" anchor="ctr">
                    <a:solidFill>
                      <a:srgbClr val="F6F2EA"/>
                    </a:solidFill>
                  </a:tcPr>
                </a:tc>
                <a:tc>
                  <a:txBody>
                    <a:bodyPr wrap="square"/>
                    <a:lstStyle/>
                    <a:p>
                      <a:r>
                        <a:rPr sz="1100" b="0">
                          <a:solidFill>
                            <a:srgbClr val="3D4F6A"/>
                          </a:solidFill>
                          <a:latin typeface="Arial"/>
                        </a:rPr>
                        <a:t>0.85</a:t>
                      </a:r>
                    </a:p>
                  </a:txBody>
                  <a:tcPr marL="73152" marR="73152" marT="27432" marB="27432" anchor="ctr">
                    <a:solidFill>
                      <a:srgbClr val="F6F2EA"/>
                    </a:solidFill>
                  </a:tcPr>
                </a:tc>
                <a:tc>
                  <a:txBody>
                    <a:bodyPr wrap="square"/>
                    <a:lstStyle/>
                    <a:p>
                      <a:r>
                        <a:rPr sz="1100" b="0">
                          <a:solidFill>
                            <a:srgbClr val="3D4F6A"/>
                          </a:solidFill>
                          <a:latin typeface="Arial"/>
                        </a:rPr>
                        <a:t>1.00</a:t>
                      </a:r>
                    </a:p>
                  </a:txBody>
                  <a:tcPr marL="73152" marR="73152" marT="27432" marB="27432" anchor="ctr">
                    <a:solidFill>
                      <a:srgbClr val="F6F2EA"/>
                    </a:solidFill>
                  </a:tcPr>
                </a:tc>
                <a:tc>
                  <a:txBody>
                    <a:bodyPr wrap="square"/>
                    <a:lstStyle/>
                    <a:p>
                      <a:r>
                        <a:rPr sz="1100" b="0">
                          <a:solidFill>
                            <a:srgbClr val="3D4F6A"/>
                          </a:solidFill>
                          <a:latin typeface="Arial"/>
                        </a:rPr>
                        <a:t>1.00</a:t>
                      </a:r>
                    </a:p>
                  </a:txBody>
                  <a:tcPr marL="73152" marR="73152" marT="27432" marB="27432" anchor="ctr">
                    <a:solidFill>
                      <a:srgbClr val="F6F2EA"/>
                    </a:solidFill>
                  </a:tcPr>
                </a:tc>
              </a:tr>
              <a:tr h="329184">
                <a:tc>
                  <a:txBody>
                    <a:bodyPr wrap="square"/>
                    <a:lstStyle/>
                    <a:p>
                      <a:r>
                        <a:rPr sz="1100" b="1">
                          <a:solidFill>
                            <a:srgbClr val="1E2A3A"/>
                          </a:solidFill>
                          <a:latin typeface="Arial"/>
                        </a:rPr>
                        <a:t>Sessions per client</a:t>
                      </a:r>
                    </a:p>
                  </a:txBody>
                  <a:tcPr marL="73152" marR="73152" marT="27432" marB="27432" anchor="ctr">
                    <a:solidFill>
                      <a:srgbClr val="FFFFFF"/>
                    </a:solidFill>
                  </a:tcPr>
                </a:tc>
                <a:tc>
                  <a:txBody>
                    <a:bodyPr wrap="square"/>
                    <a:lstStyle/>
                    <a:p>
                      <a:r>
                        <a:rPr sz="1100" b="0">
                          <a:solidFill>
                            <a:srgbClr val="3D4F6A"/>
                          </a:solidFill>
                          <a:latin typeface="Arial"/>
                        </a:rPr>
                        <a:t>1.00</a:t>
                      </a:r>
                    </a:p>
                  </a:txBody>
                  <a:tcPr marL="73152" marR="73152" marT="27432" marB="27432" anchor="ctr">
                    <a:solidFill>
                      <a:srgbClr val="FFFFFF"/>
                    </a:solidFill>
                  </a:tcPr>
                </a:tc>
                <a:tc>
                  <a:txBody>
                    <a:bodyPr wrap="square"/>
                    <a:lstStyle/>
                    <a:p>
                      <a:r>
                        <a:rPr sz="1100" b="0">
                          <a:solidFill>
                            <a:srgbClr val="3D4F6A"/>
                          </a:solidFill>
                          <a:latin typeface="Arial"/>
                        </a:rPr>
                        <a:t>1.10</a:t>
                      </a:r>
                    </a:p>
                  </a:txBody>
                  <a:tcPr marL="73152" marR="73152" marT="27432" marB="27432" anchor="ctr">
                    <a:solidFill>
                      <a:srgbClr val="FFFFFF"/>
                    </a:solidFill>
                  </a:tcPr>
                </a:tc>
                <a:tc>
                  <a:txBody>
                    <a:bodyPr wrap="square"/>
                    <a:lstStyle/>
                    <a:p>
                      <a:r>
                        <a:rPr sz="1100" b="0">
                          <a:solidFill>
                            <a:srgbClr val="3D4F6A"/>
                          </a:solidFill>
                          <a:latin typeface="Arial"/>
                        </a:rPr>
                        <a:t>1.25</a:t>
                      </a:r>
                    </a:p>
                  </a:txBody>
                  <a:tcPr marL="73152" marR="73152" marT="27432" marB="27432" anchor="ctr">
                    <a:solidFill>
                      <a:srgbClr val="FFFFFF"/>
                    </a:solidFill>
                  </a:tcPr>
                </a:tc>
                <a:tc>
                  <a:txBody>
                    <a:bodyPr wrap="square"/>
                    <a:lstStyle/>
                    <a:p>
                      <a:r>
                        <a:rPr sz="1100" b="0">
                          <a:solidFill>
                            <a:srgbClr val="3D4F6A"/>
                          </a:solidFill>
                          <a:latin typeface="Arial"/>
                        </a:rPr>
                        <a:t>1.40</a:t>
                      </a:r>
                    </a:p>
                  </a:txBody>
                  <a:tcPr marL="73152" marR="73152" marT="27432" marB="27432" anchor="ctr">
                    <a:solidFill>
                      <a:srgbClr val="FFFFFF"/>
                    </a:solidFill>
                  </a:tcPr>
                </a:tc>
                <a:tc>
                  <a:txBody>
                    <a:bodyPr wrap="square"/>
                    <a:lstStyle/>
                    <a:p>
                      <a:r>
                        <a:rPr sz="1100" b="0">
                          <a:solidFill>
                            <a:srgbClr val="3D4F6A"/>
                          </a:solidFill>
                          <a:latin typeface="Arial"/>
                        </a:rPr>
                        <a:t>1.40</a:t>
                      </a:r>
                    </a:p>
                  </a:txBody>
                  <a:tcPr marL="73152" marR="73152" marT="27432" marB="27432" anchor="ctr">
                    <a:solidFill>
                      <a:srgbClr val="FFFFFF"/>
                    </a:solidFill>
                  </a:tcPr>
                </a:tc>
              </a:tr>
            </a:tbl>
          </a:graphicData>
        </a:graphic>
      </p:graphicFrame>
      <p:sp>
        <p:nvSpPr>
          <p:cNvPr id="9" name="Rounded Rectangle 8"/>
          <p:cNvSpPr/>
          <p:nvPr/>
        </p:nvSpPr>
        <p:spPr>
          <a:xfrm>
            <a:off x="6766560" y="1463040"/>
            <a:ext cx="242316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1E2A3A"/>
                </a:solidFill>
                <a:latin typeface="Georgia"/>
              </a:rPr>
              <a:t>3.6k → 10k</a:t>
            </a:r>
          </a:p>
          <a:p>
            <a:pPr algn="l">
              <a:spcAft>
                <a:spcPts val="200"/>
              </a:spcAft>
            </a:pPr>
            <a:r>
              <a:rPr sz="1100" b="0" i="0">
                <a:solidFill>
                  <a:srgbClr val="3D4F6A"/>
                </a:solidFill>
                <a:latin typeface="Arial"/>
              </a:rPr>
              <a:t>Instagram followers, Oct 2026 to Dec 2027</a:t>
            </a:r>
          </a:p>
        </p:txBody>
      </p:sp>
      <p:sp>
        <p:nvSpPr>
          <p:cNvPr id="10" name="Rounded Rectangle 9"/>
          <p:cNvSpPr/>
          <p:nvPr/>
        </p:nvSpPr>
        <p:spPr>
          <a:xfrm>
            <a:off x="9326880" y="1463040"/>
            <a:ext cx="242316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2 → 24</a:t>
            </a:r>
          </a:p>
          <a:p>
            <a:pPr algn="l">
              <a:spcAft>
                <a:spcPts val="200"/>
              </a:spcAft>
            </a:pPr>
            <a:r>
              <a:rPr sz="1100" b="0" i="0">
                <a:solidFill>
                  <a:srgbClr val="3D4F6A"/>
                </a:solidFill>
                <a:latin typeface="Arial"/>
              </a:rPr>
              <a:t>paid counseling sessions a month</a:t>
            </a:r>
          </a:p>
        </p:txBody>
      </p:sp>
      <p:sp>
        <p:nvSpPr>
          <p:cNvPr id="11" name="Rounded Rectangle 10"/>
          <p:cNvSpPr/>
          <p:nvPr/>
        </p:nvSpPr>
        <p:spPr>
          <a:xfrm>
            <a:off x="6766560" y="2788920"/>
            <a:ext cx="242316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1E2A3A"/>
                </a:solidFill>
                <a:latin typeface="Georgia"/>
              </a:rPr>
              <a:t>Rp246M</a:t>
            </a:r>
          </a:p>
          <a:p>
            <a:pPr algn="l">
              <a:spcAft>
                <a:spcPts val="200"/>
              </a:spcAft>
            </a:pPr>
            <a:r>
              <a:rPr sz="1100" b="0" i="0">
                <a:solidFill>
                  <a:srgbClr val="3D4F6A"/>
                </a:solidFill>
                <a:latin typeface="Arial"/>
              </a:rPr>
              <a:t>B2C revenue in 2027, incl. 4 public events</a:t>
            </a:r>
          </a:p>
        </p:txBody>
      </p:sp>
      <p:sp>
        <p:nvSpPr>
          <p:cNvPr id="12" name="Rounded Rectangle 11"/>
          <p:cNvSpPr/>
          <p:nvPr/>
        </p:nvSpPr>
        <p:spPr>
          <a:xfrm>
            <a:off x="9326880" y="2788920"/>
            <a:ext cx="242316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1E2A3A"/>
                </a:solidFill>
                <a:latin typeface="Georgia"/>
              </a:rPr>
              <a:t>4.8x</a:t>
            </a:r>
          </a:p>
          <a:p>
            <a:pPr algn="l">
              <a:spcAft>
                <a:spcPts val="200"/>
              </a:spcAft>
            </a:pPr>
            <a:r>
              <a:rPr sz="1100" b="0" i="0">
                <a:solidFill>
                  <a:srgbClr val="3D4F6A"/>
                </a:solidFill>
                <a:latin typeface="Arial"/>
              </a:rPr>
              <a:t>psychologists' pay covered by B2C profit, Dec 2027</a:t>
            </a:r>
          </a:p>
        </p:txBody>
      </p:sp>
      <p:sp>
        <p:nvSpPr>
          <p:cNvPr id="13" name="Rounded Rectangle 12"/>
          <p:cNvSpPr/>
          <p:nvPr/>
        </p:nvSpPr>
        <p:spPr>
          <a:xfrm>
            <a:off x="6766560" y="4114800"/>
            <a:ext cx="4983480" cy="219456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Aft>
                <a:spcPts val="500"/>
              </a:spcAft>
            </a:pPr>
            <a:r>
              <a:rPr sz="1400" b="1" i="0">
                <a:solidFill>
                  <a:srgbClr val="9B3809"/>
                </a:solidFill>
                <a:latin typeface="Georgia"/>
              </a:rPr>
              <a:t>When can we hire a full-time psychologist?</a:t>
            </a:r>
          </a:p>
          <a:p>
            <a:pPr algn="l">
              <a:spcAft>
                <a:spcPts val="500"/>
              </a:spcAft>
            </a:pPr>
            <a:r>
              <a:rPr sz="1200" b="0" i="0">
                <a:solidFill>
                  <a:srgbClr val="3D4F6A"/>
                </a:solidFill>
                <a:latin typeface="Arial"/>
              </a:rPr>
              <a:t>When counseling profit pays the lead part-timer plus a full-timer: about Rp13M a month for 3 months. Dec 2027: Rp13.4M. So early 2028, not 2027. Until then: one more paid part-timer, plus our pool of 20.</a:t>
            </a:r>
          </a:p>
          <a:p>
            <a:pPr algn="l">
              <a:spcAft>
                <a:spcPts val="500"/>
              </a:spcAft>
            </a:pPr>
            <a:r>
              <a:rPr sz="1200" b="1" i="0">
                <a:solidFill>
                  <a:srgbClr val="1E2A3A"/>
                </a:solidFill>
                <a:latin typeface="Arial"/>
              </a:rPr>
              <a:t>Watch: </a:t>
            </a:r>
            <a:r>
              <a:rPr sz="1200" b="0" i="0">
                <a:solidFill>
                  <a:srgbClr val="3D4F6A"/>
                </a:solidFill>
                <a:latin typeface="Arial"/>
              </a:rPr>
              <a:t>8+ paid sessions a month by March, 13+ by June. If not, cut the extra ads back to Rp1M.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Referral wins a client at </a:t>
            </a:r>
            <a:r>
              <a:rPr sz="2800" b="1" i="0">
                <a:solidFill>
                  <a:srgbClr val="9B3809"/>
                </a:solidFill>
                <a:latin typeface="Georgia"/>
              </a:rPr>
              <a:t>a quarter of the ad cost</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We ask every new client where they came from, and give a small session credit to clients who bring a friend.</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B · B2C</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(B2C sheet, unit economics). Ads: Rp4.5M a month in total. Reward: Rp100k credit to each side.</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18</a:t>
            </a:r>
          </a:p>
        </p:txBody>
      </p:sp>
      <p:graphicFrame>
        <p:nvGraphicFramePr>
          <p:cNvPr id="7" name="Chart 6"/>
          <p:cNvGraphicFramePr>
            <a:graphicFrameLocks noGrp="1"/>
          </p:cNvGraphicFramePr>
          <p:nvPr/>
        </p:nvGraphicFramePr>
        <p:xfrm>
          <a:off x="457200" y="1371600"/>
          <a:ext cx="5760720" cy="3017520"/>
        </p:xfrm>
        <a:graphic>
          <a:graphicData uri="http://schemas.openxmlformats.org/drawingml/2006/chart">
            <c:chart xmlns:c="http://schemas.openxmlformats.org/drawingml/2006/chart" r:id="rId2"/>
          </a:graphicData>
        </a:graphic>
      </p:graphicFrame>
      <p:sp>
        <p:nvSpPr>
          <p:cNvPr id="8" name="Rounded Rectangle 7"/>
          <p:cNvSpPr/>
          <p:nvPr/>
        </p:nvSpPr>
        <p:spPr>
          <a:xfrm>
            <a:off x="457200" y="4526280"/>
            <a:ext cx="2788920" cy="17830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9B3809"/>
                </a:solidFill>
                <a:latin typeface="Georgia"/>
              </a:rPr>
              <a:t>4.2x</a:t>
            </a:r>
          </a:p>
          <a:p>
            <a:pPr algn="l">
              <a:spcAft>
                <a:spcPts val="200"/>
              </a:spcAft>
            </a:pPr>
            <a:r>
              <a:rPr sz="1200" b="0" i="0">
                <a:solidFill>
                  <a:srgbClr val="3D4F6A"/>
                </a:solidFill>
                <a:latin typeface="Arial"/>
              </a:rPr>
              <a:t>profit per client ÷ cost, referral</a:t>
            </a:r>
          </a:p>
        </p:txBody>
      </p:sp>
      <p:sp>
        <p:nvSpPr>
          <p:cNvPr id="9" name="Rounded Rectangle 8"/>
          <p:cNvSpPr/>
          <p:nvPr/>
        </p:nvSpPr>
        <p:spPr>
          <a:xfrm>
            <a:off x="3429000" y="4526280"/>
            <a:ext cx="2788920" cy="17830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1E2A3A"/>
                </a:solidFill>
                <a:latin typeface="Georgia"/>
              </a:rPr>
              <a:t>0.9x → 1.9x</a:t>
            </a:r>
          </a:p>
          <a:p>
            <a:pPr algn="l">
              <a:spcAft>
                <a:spcPts val="200"/>
              </a:spcAft>
            </a:pPr>
            <a:r>
              <a:rPr sz="1200" b="0" i="0">
                <a:solidFill>
                  <a:srgbClr val="3D4F6A"/>
                </a:solidFill>
                <a:latin typeface="Arial"/>
              </a:rPr>
              <a:t>same for Instagram ads, Jun to Dec 2027</a:t>
            </a:r>
          </a:p>
        </p:txBody>
      </p:sp>
      <p:sp>
        <p:nvSpPr>
          <p:cNvPr id="10" name="Rounded Rectangle 9"/>
          <p:cNvSpPr/>
          <p:nvPr/>
        </p:nvSpPr>
        <p:spPr>
          <a:xfrm>
            <a:off x="6492240" y="1417320"/>
            <a:ext cx="525780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1" name="Oval 10"/>
          <p:cNvSpPr/>
          <p:nvPr/>
        </p:nvSpPr>
        <p:spPr>
          <a:xfrm>
            <a:off x="6629400" y="1572768"/>
            <a:ext cx="457200" cy="457200"/>
          </a:xfrm>
          <a:prstGeom prst="ellipse">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1</a:t>
            </a:r>
          </a:p>
        </p:txBody>
      </p:sp>
      <p:sp>
        <p:nvSpPr>
          <p:cNvPr id="12" name="TextBox 11"/>
          <p:cNvSpPr txBox="1"/>
          <p:nvPr/>
        </p:nvSpPr>
        <p:spPr>
          <a:xfrm>
            <a:off x="7223760" y="1463040"/>
            <a:ext cx="4434840" cy="713232"/>
          </a:xfrm>
          <a:prstGeom prst="rect">
            <a:avLst/>
          </a:prstGeom>
          <a:noFill/>
        </p:spPr>
        <p:txBody>
          <a:bodyPr wrap="square" anchor="t" lIns="18288" rIns="18288" tIns="36576" bIns="36576">
            <a:spAutoFit/>
          </a:bodyPr>
          <a:lstStyle/>
          <a:p>
            <a:pPr algn="l">
              <a:spcAft>
                <a:spcPts val="100"/>
              </a:spcAft>
            </a:pPr>
            <a:r>
              <a:rPr sz="1300" b="1" i="0">
                <a:solidFill>
                  <a:srgbClr val="1E2A3A"/>
                </a:solidFill>
                <a:latin typeface="Georgia"/>
              </a:rPr>
              <a:t>Ask the source</a:t>
            </a:r>
          </a:p>
          <a:p>
            <a:pPr algn="l">
              <a:spcAft>
                <a:spcPts val="100"/>
              </a:spcAft>
            </a:pPr>
            <a:r>
              <a:rPr sz="1100" b="0" i="0">
                <a:solidFill>
                  <a:srgbClr val="3D4F6A"/>
                </a:solidFill>
                <a:latin typeface="Arial"/>
              </a:rPr>
              <a:t>One required question at every booking: Instagram, friend (code), Theta voucher, company, event, other</a:t>
            </a:r>
          </a:p>
        </p:txBody>
      </p:sp>
      <p:sp>
        <p:nvSpPr>
          <p:cNvPr id="13" name="Rounded Rectangle 12"/>
          <p:cNvSpPr/>
          <p:nvPr/>
        </p:nvSpPr>
        <p:spPr>
          <a:xfrm>
            <a:off x="6492240" y="2286000"/>
            <a:ext cx="525780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4" name="Oval 13"/>
          <p:cNvSpPr/>
          <p:nvPr/>
        </p:nvSpPr>
        <p:spPr>
          <a:xfrm>
            <a:off x="6629400" y="2441448"/>
            <a:ext cx="457200" cy="457200"/>
          </a:xfrm>
          <a:prstGeom prst="ellipse">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2</a:t>
            </a:r>
          </a:p>
        </p:txBody>
      </p:sp>
      <p:sp>
        <p:nvSpPr>
          <p:cNvPr id="15" name="TextBox 14"/>
          <p:cNvSpPr txBox="1"/>
          <p:nvPr/>
        </p:nvSpPr>
        <p:spPr>
          <a:xfrm>
            <a:off x="7223760" y="2331720"/>
            <a:ext cx="4434840" cy="713232"/>
          </a:xfrm>
          <a:prstGeom prst="rect">
            <a:avLst/>
          </a:prstGeom>
          <a:noFill/>
        </p:spPr>
        <p:txBody>
          <a:bodyPr wrap="square" anchor="t" lIns="18288" rIns="18288" tIns="36576" bIns="36576">
            <a:spAutoFit/>
          </a:bodyPr>
          <a:lstStyle/>
          <a:p>
            <a:pPr algn="l">
              <a:spcAft>
                <a:spcPts val="100"/>
              </a:spcAft>
            </a:pPr>
            <a:r>
              <a:rPr sz="1300" b="1" i="0">
                <a:solidFill>
                  <a:srgbClr val="1E2A3A"/>
                </a:solidFill>
                <a:latin typeface="Georgia"/>
              </a:rPr>
              <a:t>Give a code</a:t>
            </a:r>
          </a:p>
          <a:p>
            <a:pPr algn="l">
              <a:spcAft>
                <a:spcPts val="100"/>
              </a:spcAft>
            </a:pPr>
            <a:r>
              <a:rPr sz="1100" b="0" i="0">
                <a:solidFill>
                  <a:srgbClr val="3D4F6A"/>
                </a:solidFill>
                <a:latin typeface="Arial"/>
              </a:rPr>
              <a:t>After the first session: a personal code (e.g. TJ-ANDI24) by WhatsApp template</a:t>
            </a:r>
          </a:p>
        </p:txBody>
      </p:sp>
      <p:sp>
        <p:nvSpPr>
          <p:cNvPr id="16" name="Rounded Rectangle 15"/>
          <p:cNvSpPr/>
          <p:nvPr/>
        </p:nvSpPr>
        <p:spPr>
          <a:xfrm>
            <a:off x="6492240" y="3154680"/>
            <a:ext cx="525780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7" name="Oval 16"/>
          <p:cNvSpPr/>
          <p:nvPr/>
        </p:nvSpPr>
        <p:spPr>
          <a:xfrm>
            <a:off x="6629400" y="3310128"/>
            <a:ext cx="457200" cy="457200"/>
          </a:xfrm>
          <a:prstGeom prst="ellipse">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3</a:t>
            </a:r>
          </a:p>
        </p:txBody>
      </p:sp>
      <p:sp>
        <p:nvSpPr>
          <p:cNvPr id="18" name="TextBox 17"/>
          <p:cNvSpPr txBox="1"/>
          <p:nvPr/>
        </p:nvSpPr>
        <p:spPr>
          <a:xfrm>
            <a:off x="7223760" y="3200400"/>
            <a:ext cx="4434840" cy="713232"/>
          </a:xfrm>
          <a:prstGeom prst="rect">
            <a:avLst/>
          </a:prstGeom>
          <a:noFill/>
        </p:spPr>
        <p:txBody>
          <a:bodyPr wrap="square" anchor="t" lIns="18288" rIns="18288" tIns="36576" bIns="36576">
            <a:spAutoFit/>
          </a:bodyPr>
          <a:lstStyle/>
          <a:p>
            <a:pPr algn="l">
              <a:spcAft>
                <a:spcPts val="100"/>
              </a:spcAft>
            </a:pPr>
            <a:r>
              <a:rPr sz="1300" b="1" i="0">
                <a:solidFill>
                  <a:srgbClr val="1E2A3A"/>
                </a:solidFill>
                <a:latin typeface="Georgia"/>
              </a:rPr>
              <a:t>Track in one sheet</a:t>
            </a:r>
          </a:p>
          <a:p>
            <a:pPr algn="l">
              <a:spcAft>
                <a:spcPts val="100"/>
              </a:spcAft>
            </a:pPr>
            <a:r>
              <a:rPr sz="1100" b="0" i="0">
                <a:solidFill>
                  <a:srgbClr val="3D4F6A"/>
                </a:solidFill>
                <a:latin typeface="Arial"/>
              </a:rPr>
              <a:t>Date, client ID (no names), source, code, sessions, revenue, reward. Admin fills it</a:t>
            </a:r>
          </a:p>
        </p:txBody>
      </p:sp>
      <p:sp>
        <p:nvSpPr>
          <p:cNvPr id="19" name="Rounded Rectangle 18"/>
          <p:cNvSpPr/>
          <p:nvPr/>
        </p:nvSpPr>
        <p:spPr>
          <a:xfrm>
            <a:off x="6492240" y="4023359"/>
            <a:ext cx="525780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20" name="Oval 19"/>
          <p:cNvSpPr/>
          <p:nvPr/>
        </p:nvSpPr>
        <p:spPr>
          <a:xfrm>
            <a:off x="6629400" y="4178807"/>
            <a:ext cx="457200" cy="457200"/>
          </a:xfrm>
          <a:prstGeom prst="ellipse">
            <a:avLst/>
          </a:prstGeom>
          <a:solidFill>
            <a:srgbClr val="637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4</a:t>
            </a:r>
          </a:p>
        </p:txBody>
      </p:sp>
      <p:sp>
        <p:nvSpPr>
          <p:cNvPr id="21" name="TextBox 20"/>
          <p:cNvSpPr txBox="1"/>
          <p:nvPr/>
        </p:nvSpPr>
        <p:spPr>
          <a:xfrm>
            <a:off x="7223760" y="4069079"/>
            <a:ext cx="4434840" cy="713232"/>
          </a:xfrm>
          <a:prstGeom prst="rect">
            <a:avLst/>
          </a:prstGeom>
          <a:noFill/>
        </p:spPr>
        <p:txBody>
          <a:bodyPr wrap="square" anchor="t" lIns="18288" rIns="18288" tIns="36576" bIns="36576">
            <a:spAutoFit/>
          </a:bodyPr>
          <a:lstStyle/>
          <a:p>
            <a:pPr algn="l">
              <a:spcAft>
                <a:spcPts val="100"/>
              </a:spcAft>
            </a:pPr>
            <a:r>
              <a:rPr sz="1300" b="1" i="0">
                <a:solidFill>
                  <a:srgbClr val="1E2A3A"/>
                </a:solidFill>
                <a:latin typeface="Georgia"/>
              </a:rPr>
              <a:t>Review monthly</a:t>
            </a:r>
          </a:p>
          <a:p>
            <a:pPr algn="l">
              <a:spcAft>
                <a:spcPts val="100"/>
              </a:spcAft>
            </a:pPr>
            <a:r>
              <a:rPr sz="1100" b="0" i="0">
                <a:solidFill>
                  <a:srgbClr val="3D4F6A"/>
                </a:solidFill>
                <a:latin typeface="Arial"/>
              </a:rPr>
              <a:t>New clients by source, referral share (target 20% by Q4 2027), cost per client by channel</a:t>
            </a:r>
          </a:p>
        </p:txBody>
      </p:sp>
      <p:sp>
        <p:nvSpPr>
          <p:cNvPr id="22" name="Rounded Rectangle 21"/>
          <p:cNvSpPr/>
          <p:nvPr/>
        </p:nvSpPr>
        <p:spPr>
          <a:xfrm>
            <a:off x="6492240" y="4983480"/>
            <a:ext cx="5257800" cy="13258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100" b="1" i="0">
                <a:solidFill>
                  <a:srgbClr val="1E2A3A"/>
                </a:solidFill>
                <a:latin typeface="Arial"/>
              </a:rPr>
              <a:t>Fair and ethical: </a:t>
            </a:r>
            <a:r>
              <a:rPr sz="1100" b="0" i="0">
                <a:solidFill>
                  <a:srgbClr val="3D4F6A"/>
                </a:solidFill>
                <a:latin typeface="Arial"/>
              </a:rPr>
              <a:t>the reward is a session credit, never cash. No testimonials. Referring is the client's choice, and we never tell anyone who referred whom (HIMPSI code). Lead marketing owns the referral KPI.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19</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PART C OF D</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C</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Who do we hire, and when do we pay more?</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No signed work, no hire. Pay rises when sales targets are met, and we fix each limit before it stops us.</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Rp88M</a:t>
            </a:r>
          </a:p>
          <a:p>
            <a:pPr algn="l">
              <a:spcAft>
                <a:spcPts val="200"/>
              </a:spcAft>
            </a:pPr>
            <a:r>
              <a:rPr sz="1100" b="0" i="0">
                <a:solidFill>
                  <a:srgbClr val="C9D2E3"/>
                </a:solidFill>
                <a:latin typeface="Arial"/>
              </a:rPr>
              <a:t>running cost a month, Oct 2027</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3</a:t>
            </a:r>
          </a:p>
          <a:p>
            <a:pPr algn="l">
              <a:spcAft>
                <a:spcPts val="200"/>
              </a:spcAft>
            </a:pPr>
            <a:r>
              <a:rPr sz="1100" b="0" i="0">
                <a:solidFill>
                  <a:srgbClr val="C9D2E3"/>
                </a:solidFill>
                <a:latin typeface="Arial"/>
              </a:rPr>
              <a:t>pay steps, unlocked by sales</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When do we hire?</a:t>
            </a:r>
          </a:p>
          <a:p>
            <a:pPr algn="l">
              <a:spcAft>
                <a:spcPts val="300"/>
              </a:spcAft>
            </a:pPr>
            <a:r>
              <a:rPr sz="1200" b="1" i="0">
                <a:solidFill>
                  <a:srgbClr val="E8904A"/>
                </a:solidFill>
                <a:latin typeface="Arial"/>
              </a:rPr>
              <a:t>•  </a:t>
            </a:r>
            <a:r>
              <a:rPr sz="1200" b="0" i="0">
                <a:solidFill>
                  <a:srgbClr val="C9D2E3"/>
                </a:solidFill>
                <a:latin typeface="Arial"/>
              </a:rPr>
              <a:t>When does pay rise?</a:t>
            </a:r>
          </a:p>
          <a:p>
            <a:pPr algn="l">
              <a:spcAft>
                <a:spcPts val="300"/>
              </a:spcAft>
            </a:pPr>
            <a:r>
              <a:rPr sz="1200" b="1" i="0">
                <a:solidFill>
                  <a:srgbClr val="E8904A"/>
                </a:solidFill>
                <a:latin typeface="Arial"/>
              </a:rPr>
              <a:t>•  </a:t>
            </a:r>
            <a:r>
              <a:rPr sz="1200" b="0" i="0">
                <a:solidFill>
                  <a:srgbClr val="C9D2E3"/>
                </a:solidFill>
                <a:latin typeface="Arial"/>
              </a:rPr>
              <a:t>How does our running cost grow?</a:t>
            </a:r>
          </a:p>
          <a:p>
            <a:pPr algn="l">
              <a:spcAft>
                <a:spcPts val="300"/>
              </a:spcAft>
            </a:pPr>
            <a:r>
              <a:rPr sz="1200" b="1" i="0">
                <a:solidFill>
                  <a:srgbClr val="E8904A"/>
                </a:solidFill>
                <a:latin typeface="Arial"/>
              </a:rPr>
              <a:t>•  </a:t>
            </a:r>
            <a:r>
              <a:rPr sz="1200" b="0" i="0">
                <a:solidFill>
                  <a:srgbClr val="C9D2E3"/>
                </a:solidFill>
                <a:latin typeface="Arial"/>
              </a:rPr>
              <a:t>What limits us, and when?</a:t>
            </a:r>
          </a:p>
          <a:p>
            <a:pPr algn="l">
              <a:spcAft>
                <a:spcPts val="300"/>
              </a:spcAft>
            </a:pPr>
            <a:r>
              <a:rPr sz="1200" b="1" i="0">
                <a:solidFill>
                  <a:srgbClr val="E8904A"/>
                </a:solidFill>
                <a:latin typeface="Arial"/>
              </a:rPr>
              <a:t>•  </a:t>
            </a:r>
            <a:r>
              <a:rPr sz="1200" b="0" i="0">
                <a:solidFill>
                  <a:srgbClr val="C9D2E3"/>
                </a:solidFill>
                <a:latin typeface="Arial"/>
              </a:rPr>
              <a:t>How do we treat each type of worker?</a:t>
            </a:r>
          </a:p>
        </p:txBody>
      </p:sp>
      <p:sp>
        <p:nvSpPr>
          <p:cNvPr id="10" name="TextBox 9"/>
          <p:cNvSpPr txBox="1"/>
          <p:nvPr/>
        </p:nvSpPr>
        <p:spPr>
          <a:xfrm>
            <a:off x="2240280" y="4663440"/>
            <a:ext cx="5943600" cy="365760"/>
          </a:xfrm>
          <a:prstGeom prst="rect">
            <a:avLst/>
          </a:prstGeom>
          <a:noFill/>
        </p:spPr>
        <p:txBody>
          <a:bodyPr wrap="square" anchor="ctr" lIns="0" rIns="0" tIns="36576" bIns="36576">
            <a:spAutoFit/>
          </a:bodyPr>
          <a:lstStyle/>
          <a:p>
            <a:pPr algn="l">
              <a:spcAft>
                <a:spcPts val="400"/>
              </a:spcAft>
            </a:pPr>
            <a:r>
              <a:rPr sz="1300" b="1" i="0">
                <a:solidFill>
                  <a:srgbClr val="E8904A"/>
                </a:solidFill>
                <a:latin typeface="Arial"/>
              </a:rPr>
              <a:t>Serves pillars:  </a:t>
            </a:r>
            <a:r>
              <a:rPr sz="1300" b="0" i="0">
                <a:solidFill>
                  <a:srgbClr val="C9D2E3"/>
                </a:solidFill>
                <a:latin typeface="Arial"/>
              </a:rPr>
              <a:t>2 People</a:t>
            </a:r>
          </a:p>
        </p:txBody>
      </p:sp>
      <p:sp>
        <p:nvSpPr>
          <p:cNvPr id="11" name="Rounded Rectangle 10"/>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12" name="Rounded Rectangle 11"/>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3" name="Rounded Rectangle 12"/>
          <p:cNvSpPr/>
          <p:nvPr/>
        </p:nvSpPr>
        <p:spPr>
          <a:xfrm>
            <a:off x="6995160" y="5715000"/>
            <a:ext cx="2240280" cy="43891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1E2A3A"/>
                </a:solidFill>
                <a:latin typeface="Arial"/>
              </a:rPr>
              <a:t>C  </a:t>
            </a:r>
            <a:r>
              <a:rPr sz="1300" b="1" i="0">
                <a:solidFill>
                  <a:srgbClr val="1E2A3A"/>
                </a:solidFill>
                <a:latin typeface="Arial"/>
              </a:rPr>
              <a:t>People</a:t>
            </a:r>
          </a:p>
        </p:txBody>
      </p:sp>
      <p:sp>
        <p:nvSpPr>
          <p:cNvPr id="14" name="Rounded Rectangle 13"/>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Every hire comes with </a:t>
            </a:r>
            <a:r>
              <a:rPr sz="2800" b="1" i="0">
                <a:solidFill>
                  <a:srgbClr val="9B3809"/>
                </a:solidFill>
                <a:latin typeface="Georgia"/>
              </a:rPr>
              <a:t>the work that pays for it</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No signed work, no hire. Red bars fall below our 15% target.</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 · PEOPLE</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a normal full year at the 2027 sales plan. Net margin after each step.</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20</a:t>
            </a:r>
          </a:p>
        </p:txBody>
      </p:sp>
      <p:graphicFrame>
        <p:nvGraphicFramePr>
          <p:cNvPr id="7" name="Chart 6"/>
          <p:cNvGraphicFramePr>
            <a:graphicFrameLocks noGrp="1"/>
          </p:cNvGraphicFramePr>
          <p:nvPr/>
        </p:nvGraphicFramePr>
        <p:xfrm>
          <a:off x="457200" y="1371600"/>
          <a:ext cx="758952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8321040" y="1463040"/>
            <a:ext cx="342900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12.3%</a:t>
            </a:r>
          </a:p>
          <a:p>
            <a:pPr algn="l">
              <a:spcAft>
                <a:spcPts val="200"/>
              </a:spcAft>
            </a:pPr>
            <a:r>
              <a:rPr sz="1200" b="0" i="0">
                <a:solidFill>
                  <a:srgbClr val="3D4F6A"/>
                </a:solidFill>
                <a:latin typeface="Arial"/>
              </a:rPr>
              <a:t>if all staff get fair pay at once. So in 2027 pay rises in steps (slide 21).</a:t>
            </a:r>
          </a:p>
        </p:txBody>
      </p:sp>
      <p:sp>
        <p:nvSpPr>
          <p:cNvPr id="9" name="Rounded Rectangle 8"/>
          <p:cNvSpPr/>
          <p:nvPr/>
        </p:nvSpPr>
        <p:spPr>
          <a:xfrm>
            <a:off x="8321040" y="3017520"/>
            <a:ext cx="342900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15.9%</a:t>
            </a:r>
          </a:p>
          <a:p>
            <a:pPr algn="l">
              <a:spcAft>
                <a:spcPts val="200"/>
              </a:spcAft>
            </a:pPr>
            <a:r>
              <a:rPr sz="1200" b="0" i="0">
                <a:solidFill>
                  <a:srgbClr val="3D4F6A"/>
                </a:solidFill>
                <a:latin typeface="Arial"/>
              </a:rPr>
              <a:t>if Teman Journey paid the CTO. So Theta's own income pays the CTO.</a:t>
            </a:r>
          </a:p>
        </p:txBody>
      </p:sp>
      <p:sp>
        <p:nvSpPr>
          <p:cNvPr id="10" name="Rounded Rectangle 9"/>
          <p:cNvSpPr/>
          <p:nvPr/>
        </p:nvSpPr>
        <p:spPr>
          <a:xfrm>
            <a:off x="8321040" y="4572000"/>
            <a:ext cx="3429000" cy="173736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9B3809"/>
                </a:solidFill>
                <a:latin typeface="Georgia"/>
              </a:rPr>
              <a:t>The rule</a:t>
            </a:r>
          </a:p>
          <a:p>
            <a:pPr algn="l">
              <a:spcAft>
                <a:spcPts val="500"/>
              </a:spcAft>
            </a:pPr>
            <a:r>
              <a:rPr sz="1300" b="0" i="0">
                <a:solidFill>
                  <a:srgbClr val="3D4F6A"/>
                </a:solidFill>
                <a:latin typeface="Arial"/>
              </a:rPr>
              <a:t>A new person and the new work that pays for them arrive together.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Pay rises when </a:t>
            </a:r>
            <a:r>
              <a:rPr sz="2800" b="1" i="0">
                <a:solidFill>
                  <a:srgbClr val="9B3809"/>
                </a:solidFill>
                <a:latin typeface="Georgia"/>
              </a:rPr>
              <a:t>sales targets</a:t>
            </a:r>
            <a:r>
              <a:rPr sz="2800" b="1" i="0">
                <a:solidFill>
                  <a:srgbClr val="1E2A3A"/>
                </a:solidFill>
                <a:latin typeface="Georgia"/>
              </a:rPr>
              <a:t> are met</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A step unlocks when average sales of the last 3 months reach the target, and never goes back down.</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 · PEOPLE</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(Pay_Plan sheet, rows 27-30). Rp M a month. The Instagram booking bonus is new and not yet in the model.</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21</a:t>
            </a:r>
          </a:p>
        </p:txBody>
      </p:sp>
      <p:graphicFrame>
        <p:nvGraphicFramePr>
          <p:cNvPr id="7" name="Table 6"/>
          <p:cNvGraphicFramePr>
            <a:graphicFrameLocks noGrp="1"/>
          </p:cNvGraphicFramePr>
          <p:nvPr/>
        </p:nvGraphicFramePr>
        <p:xfrm>
          <a:off x="457200" y="1371600"/>
          <a:ext cx="11247120" cy="3840480"/>
        </p:xfrm>
        <a:graphic>
          <a:graphicData uri="http://schemas.openxmlformats.org/drawingml/2006/table">
            <a:tbl>
              <a:tblPr firstRow="1" bandRow="1">
                <a:tableStyleId>{5C22544A-7EE6-4342-B048-85BDC9FD1C3A}</a:tableStyleId>
              </a:tblPr>
              <a:tblGrid>
                <a:gridCol w="2011680"/>
                <a:gridCol w="1600200"/>
                <a:gridCol w="1463040"/>
                <a:gridCol w="1417320"/>
                <a:gridCol w="1325880"/>
                <a:gridCol w="3429000"/>
              </a:tblGrid>
              <a:tr h="548640">
                <a:tc>
                  <a:txBody>
                    <a:bodyPr wrap="square"/>
                    <a:lstStyle/>
                    <a:p>
                      <a:r>
                        <a:rPr sz="1100" b="1">
                          <a:solidFill>
                            <a:srgbClr val="FFFFFF"/>
                          </a:solidFill>
                          <a:latin typeface="Arial"/>
                        </a:rPr>
                        <a:t>Role</a:t>
                      </a:r>
                    </a:p>
                  </a:txBody>
                  <a:tcPr marL="73152" marR="73152" marT="27432" marB="27432" anchor="ctr">
                    <a:solidFill>
                      <a:srgbClr val="1E2A3A"/>
                    </a:solidFill>
                  </a:tcPr>
                </a:tc>
                <a:tc>
                  <a:txBody>
                    <a:bodyPr wrap="square"/>
                    <a:lstStyle/>
                    <a:p>
                      <a:r>
                        <a:rPr sz="1100" b="1">
                          <a:solidFill>
                            <a:srgbClr val="FFFFFF"/>
                          </a:solidFill>
                          <a:latin typeface="Arial"/>
                        </a:rPr>
                        <a:t>Now</a:t>
                      </a:r>
                    </a:p>
                  </a:txBody>
                  <a:tcPr marL="73152" marR="73152" marT="27432" marB="27432" anchor="ctr">
                    <a:solidFill>
                      <a:srgbClr val="1E2A3A"/>
                    </a:solidFill>
                  </a:tcPr>
                </a:tc>
                <a:tc>
                  <a:txBody>
                    <a:bodyPr wrap="square"/>
                    <a:lstStyle/>
                    <a:p>
                      <a:r>
                        <a:rPr sz="1100" b="1">
                          <a:solidFill>
                            <a:srgbClr val="FFFFFF"/>
                          </a:solidFill>
                          <a:latin typeface="Arial"/>
                        </a:rPr>
                        <a:t>Step 1: sales Rp100M+</a:t>
                      </a:r>
                    </a:p>
                  </a:txBody>
                  <a:tcPr marL="73152" marR="73152" marT="27432" marB="27432" anchor="ctr">
                    <a:solidFill>
                      <a:srgbClr val="1E2A3A"/>
                    </a:solidFill>
                  </a:tcPr>
                </a:tc>
                <a:tc>
                  <a:txBody>
                    <a:bodyPr wrap="square"/>
                    <a:lstStyle/>
                    <a:p>
                      <a:r>
                        <a:rPr sz="1100" b="1">
                          <a:solidFill>
                            <a:srgbClr val="FFFFFF"/>
                          </a:solidFill>
                          <a:latin typeface="Arial"/>
                        </a:rPr>
                        <a:t>Step 2: sales Rp150M+</a:t>
                      </a:r>
                    </a:p>
                  </a:txBody>
                  <a:tcPr marL="73152" marR="73152" marT="27432" marB="27432" anchor="ctr">
                    <a:solidFill>
                      <a:srgbClr val="1E2A3A"/>
                    </a:solidFill>
                  </a:tcPr>
                </a:tc>
                <a:tc>
                  <a:txBody>
                    <a:bodyPr wrap="square"/>
                    <a:lstStyle/>
                    <a:p>
                      <a:r>
                        <a:rPr sz="1100" b="1">
                          <a:solidFill>
                            <a:srgbClr val="FFFFFF"/>
                          </a:solidFill>
                          <a:latin typeface="Arial"/>
                        </a:rPr>
                        <a:t>Step 3: sales Rp200M+</a:t>
                      </a:r>
                    </a:p>
                  </a:txBody>
                  <a:tcPr marL="73152" marR="73152" marT="27432" marB="27432" anchor="ctr">
                    <a:solidFill>
                      <a:srgbClr val="1E2A3A"/>
                    </a:solidFill>
                  </a:tcPr>
                </a:tc>
                <a:tc>
                  <a:txBody>
                    <a:bodyPr wrap="square"/>
                    <a:lstStyle/>
                    <a:p>
                      <a:r>
                        <a:rPr sz="1100" b="1">
                          <a:solidFill>
                            <a:srgbClr val="FFFFFF"/>
                          </a:solidFill>
                          <a:latin typeface="Arial"/>
                        </a:rPr>
                        <a:t>Monthly KPI and bonus</a:t>
                      </a:r>
                    </a:p>
                  </a:txBody>
                  <a:tcPr marL="73152" marR="73152" marT="27432" marB="27432" anchor="ctr">
                    <a:solidFill>
                      <a:srgbClr val="1E2A3A"/>
                    </a:solidFill>
                  </a:tcPr>
                </a:tc>
              </a:tr>
              <a:tr h="548640">
                <a:tc>
                  <a:txBody>
                    <a:bodyPr wrap="square"/>
                    <a:lstStyle/>
                    <a:p>
                      <a:r>
                        <a:rPr sz="1100" b="1">
                          <a:solidFill>
                            <a:srgbClr val="1E2A3A"/>
                          </a:solidFill>
                          <a:latin typeface="Arial"/>
                        </a:rPr>
                        <a:t>Admin</a:t>
                      </a:r>
                    </a:p>
                  </a:txBody>
                  <a:tcPr marL="73152" marR="73152" marT="27432" marB="27432" anchor="ctr">
                    <a:solidFill>
                      <a:srgbClr val="FFFFFF"/>
                    </a:solidFill>
                  </a:tcPr>
                </a:tc>
                <a:tc>
                  <a:txBody>
                    <a:bodyPr wrap="square"/>
                    <a:lstStyle/>
                    <a:p>
                      <a:r>
                        <a:rPr sz="1100" b="0">
                          <a:solidFill>
                            <a:srgbClr val="3D4F6A"/>
                          </a:solidFill>
                          <a:latin typeface="Arial"/>
                        </a:rPr>
                        <a:t>1.8 + Rp17k a client + 0.62 bonus</a:t>
                      </a:r>
                    </a:p>
                  </a:txBody>
                  <a:tcPr marL="73152" marR="73152" marT="27432" marB="27432" anchor="ctr">
                    <a:solidFill>
                      <a:srgbClr val="FFFFFF"/>
                    </a:solidFill>
                  </a:tcPr>
                </a:tc>
                <a:tc>
                  <a:txBody>
                    <a:bodyPr wrap="square"/>
                    <a:lstStyle/>
                    <a:p>
                      <a:r>
                        <a:rPr sz="1100" b="0">
                          <a:solidFill>
                            <a:srgbClr val="3D4F6A"/>
                          </a:solidFill>
                          <a:latin typeface="Arial"/>
                        </a:rPr>
                        <a:t>same</a:t>
                      </a:r>
                    </a:p>
                  </a:txBody>
                  <a:tcPr marL="73152" marR="73152" marT="27432" marB="27432" anchor="ctr">
                    <a:solidFill>
                      <a:srgbClr val="FFFFFF"/>
                    </a:solidFill>
                  </a:tcPr>
                </a:tc>
                <a:tc>
                  <a:txBody>
                    <a:bodyPr wrap="square"/>
                    <a:lstStyle/>
                    <a:p>
                      <a:r>
                        <a:rPr sz="1100" b="0">
                          <a:solidFill>
                            <a:srgbClr val="3D4F6A"/>
                          </a:solidFill>
                          <a:latin typeface="Arial"/>
                        </a:rPr>
                        <a:t>at least 5.73</a:t>
                      </a:r>
                    </a:p>
                  </a:txBody>
                  <a:tcPr marL="73152" marR="73152" marT="27432" marB="27432" anchor="ctr">
                    <a:solidFill>
                      <a:srgbClr val="FFFFFF"/>
                    </a:solidFill>
                  </a:tcPr>
                </a:tc>
                <a:tc>
                  <a:txBody>
                    <a:bodyPr wrap="square"/>
                    <a:lstStyle/>
                    <a:p>
                      <a:r>
                        <a:rPr sz="1100" b="0">
                          <a:solidFill>
                            <a:srgbClr val="3D4F6A"/>
                          </a:solidFill>
                          <a:latin typeface="Arial"/>
                        </a:rPr>
                        <a:t>same</a:t>
                      </a:r>
                    </a:p>
                  </a:txBody>
                  <a:tcPr marL="73152" marR="73152" marT="27432" marB="27432" anchor="ctr">
                    <a:solidFill>
                      <a:srgbClr val="FFFFFF"/>
                    </a:solidFill>
                  </a:tcPr>
                </a:tc>
                <a:tc>
                  <a:txBody>
                    <a:bodyPr wrap="square"/>
                    <a:lstStyle/>
                    <a:p>
                      <a:r>
                        <a:rPr sz="1100" b="0">
                          <a:solidFill>
                            <a:srgbClr val="3D4F6A"/>
                          </a:solidFill>
                          <a:latin typeface="Arial"/>
                        </a:rPr>
                        <a:t>Invoice within 2 working days of client sign-off; reply to bookings the same day</a:t>
                      </a:r>
                    </a:p>
                  </a:txBody>
                  <a:tcPr marL="73152" marR="73152" marT="27432" marB="27432" anchor="ctr">
                    <a:solidFill>
                      <a:srgbClr val="FFFFFF"/>
                    </a:solidFill>
                  </a:tcPr>
                </a:tc>
              </a:tr>
              <a:tr h="548640">
                <a:tc>
                  <a:txBody>
                    <a:bodyPr wrap="square"/>
                    <a:lstStyle/>
                    <a:p>
                      <a:r>
                        <a:rPr sz="1100" b="1">
                          <a:solidFill>
                            <a:srgbClr val="1E2A3A"/>
                          </a:solidFill>
                          <a:latin typeface="Arial"/>
                        </a:rPr>
                        <a:t>Social media</a:t>
                      </a:r>
                    </a:p>
                  </a:txBody>
                  <a:tcPr marL="73152" marR="73152" marT="27432" marB="27432" anchor="ctr">
                    <a:solidFill>
                      <a:srgbClr val="F6F2EA"/>
                    </a:solidFill>
                  </a:tcPr>
                </a:tc>
                <a:tc>
                  <a:txBody>
                    <a:bodyPr wrap="square"/>
                    <a:lstStyle/>
                    <a:p>
                      <a:r>
                        <a:rPr sz="1100" b="0">
                          <a:solidFill>
                            <a:srgbClr val="3D4F6A"/>
                          </a:solidFill>
                          <a:latin typeface="Arial"/>
                        </a:rPr>
                        <a:t>1.5</a:t>
                      </a:r>
                    </a:p>
                  </a:txBody>
                  <a:tcPr marL="73152" marR="73152" marT="27432" marB="27432" anchor="ctr">
                    <a:solidFill>
                      <a:srgbClr val="F6F2EA"/>
                    </a:solidFill>
                  </a:tcPr>
                </a:tc>
                <a:tc>
                  <a:txBody>
                    <a:bodyPr wrap="square"/>
                    <a:lstStyle/>
                    <a:p>
                      <a:r>
                        <a:rPr sz="1100" b="0">
                          <a:solidFill>
                            <a:srgbClr val="3D4F6A"/>
                          </a:solidFill>
                          <a:latin typeface="Arial"/>
                        </a:rPr>
                        <a:t>3.0</a:t>
                      </a:r>
                    </a:p>
                  </a:txBody>
                  <a:tcPr marL="73152" marR="73152" marT="27432" marB="27432" anchor="ctr">
                    <a:solidFill>
                      <a:srgbClr val="F6F2EA"/>
                    </a:solidFill>
                  </a:tcPr>
                </a:tc>
                <a:tc>
                  <a:txBody>
                    <a:bodyPr wrap="square"/>
                    <a:lstStyle/>
                    <a:p>
                      <a:r>
                        <a:rPr sz="1100" b="0">
                          <a:solidFill>
                            <a:srgbClr val="3D4F6A"/>
                          </a:solidFill>
                          <a:latin typeface="Arial"/>
                        </a:rPr>
                        <a:t>4.5</a:t>
                      </a:r>
                    </a:p>
                  </a:txBody>
                  <a:tcPr marL="73152" marR="73152" marT="27432" marB="27432" anchor="ctr">
                    <a:solidFill>
                      <a:srgbClr val="F6F2EA"/>
                    </a:solidFill>
                  </a:tcPr>
                </a:tc>
                <a:tc>
                  <a:txBody>
                    <a:bodyPr wrap="square"/>
                    <a:lstStyle/>
                    <a:p>
                      <a:r>
                        <a:rPr sz="1100" b="0">
                          <a:solidFill>
                            <a:srgbClr val="3D4F6A"/>
                          </a:solidFill>
                          <a:latin typeface="Arial"/>
                        </a:rPr>
                        <a:t>5.73</a:t>
                      </a:r>
                    </a:p>
                  </a:txBody>
                  <a:tcPr marL="73152" marR="73152" marT="27432" marB="27432" anchor="ctr">
                    <a:solidFill>
                      <a:srgbClr val="F6F2EA"/>
                    </a:solidFill>
                  </a:tcPr>
                </a:tc>
                <a:tc>
                  <a:txBody>
                    <a:bodyPr wrap="square"/>
                    <a:lstStyle/>
                    <a:p>
                      <a:r>
                        <a:rPr sz="1100" b="0">
                          <a:solidFill>
                            <a:srgbClr val="3D4F6A"/>
                          </a:solidFill>
                          <a:latin typeface="Arial"/>
                        </a:rPr>
                        <a:t>3 posts a week; followers on track to 10k; Rp25k for each paid session booked through Instagram</a:t>
                      </a:r>
                    </a:p>
                  </a:txBody>
                  <a:tcPr marL="73152" marR="73152" marT="27432" marB="27432" anchor="ctr">
                    <a:solidFill>
                      <a:srgbClr val="F6F2EA"/>
                    </a:solidFill>
                  </a:tcPr>
                </a:tc>
              </a:tr>
              <a:tr h="548640">
                <a:tc>
                  <a:txBody>
                    <a:bodyPr wrap="square"/>
                    <a:lstStyle/>
                    <a:p>
                      <a:r>
                        <a:rPr sz="1100" b="1">
                          <a:solidFill>
                            <a:srgbClr val="1E2A3A"/>
                          </a:solidFill>
                          <a:latin typeface="Arial"/>
                        </a:rPr>
                        <a:t>Lead marketing (has shares)</a:t>
                      </a:r>
                    </a:p>
                  </a:txBody>
                  <a:tcPr marL="73152" marR="73152" marT="27432" marB="27432" anchor="ctr">
                    <a:solidFill>
                      <a:srgbClr val="FFFFFF"/>
                    </a:solidFill>
                  </a:tcPr>
                </a:tc>
                <a:tc>
                  <a:txBody>
                    <a:bodyPr wrap="square"/>
                    <a:lstStyle/>
                    <a:p>
                      <a:r>
                        <a:rPr sz="1100" b="0">
                          <a:solidFill>
                            <a:srgbClr val="3D4F6A"/>
                          </a:solidFill>
                          <a:latin typeface="Arial"/>
                        </a:rPr>
                        <a:t>2.5</a:t>
                      </a:r>
                    </a:p>
                  </a:txBody>
                  <a:tcPr marL="73152" marR="73152" marT="27432" marB="27432" anchor="ctr">
                    <a:solidFill>
                      <a:srgbClr val="FFFFFF"/>
                    </a:solidFill>
                  </a:tcPr>
                </a:tc>
                <a:tc>
                  <a:txBody>
                    <a:bodyPr wrap="square"/>
                    <a:lstStyle/>
                    <a:p>
                      <a:r>
                        <a:rPr sz="1100" b="0">
                          <a:solidFill>
                            <a:srgbClr val="3D4F6A"/>
                          </a:solidFill>
                          <a:latin typeface="Arial"/>
                        </a:rPr>
                        <a:t>4.0 (cap)</a:t>
                      </a:r>
                    </a:p>
                  </a:txBody>
                  <a:tcPr marL="73152" marR="73152" marT="27432" marB="27432" anchor="ctr">
                    <a:solidFill>
                      <a:srgbClr val="FFFFFF"/>
                    </a:solidFill>
                  </a:tcPr>
                </a:tc>
                <a:tc>
                  <a:txBody>
                    <a:bodyPr wrap="square"/>
                    <a:lstStyle/>
                    <a:p>
                      <a:r>
                        <a:rPr sz="1100" b="0">
                          <a:solidFill>
                            <a:srgbClr val="3D4F6A"/>
                          </a:solidFill>
                          <a:latin typeface="Arial"/>
                        </a:rPr>
                        <a:t>4.0</a:t>
                      </a:r>
                    </a:p>
                  </a:txBody>
                  <a:tcPr marL="73152" marR="73152" marT="27432" marB="27432" anchor="ctr">
                    <a:solidFill>
                      <a:srgbClr val="FFFFFF"/>
                    </a:solidFill>
                  </a:tcPr>
                </a:tc>
                <a:tc>
                  <a:txBody>
                    <a:bodyPr wrap="square"/>
                    <a:lstStyle/>
                    <a:p>
                      <a:r>
                        <a:rPr sz="1100" b="0">
                          <a:solidFill>
                            <a:srgbClr val="3D4F6A"/>
                          </a:solidFill>
                          <a:latin typeface="Arial"/>
                        </a:rPr>
                        <a:t>4.0</a:t>
                      </a:r>
                    </a:p>
                  </a:txBody>
                  <a:tcPr marL="73152" marR="73152" marT="27432" marB="27432" anchor="ctr">
                    <a:solidFill>
                      <a:srgbClr val="FFFFFF"/>
                    </a:solidFill>
                  </a:tcPr>
                </a:tc>
                <a:tc>
                  <a:txBody>
                    <a:bodyPr wrap="square"/>
                    <a:lstStyle/>
                    <a:p>
                      <a:r>
                        <a:rPr sz="1100" b="0">
                          <a:solidFill>
                            <a:srgbClr val="3D4F6A"/>
                          </a:solidFill>
                          <a:latin typeface="Arial"/>
                        </a:rPr>
                        <a:t>10k followers by December; ads must earn 3 times their cost (ROAS 3x)</a:t>
                      </a:r>
                    </a:p>
                  </a:txBody>
                  <a:tcPr marL="73152" marR="73152" marT="27432" marB="27432" anchor="ctr">
                    <a:solidFill>
                      <a:srgbClr val="FFFFFF"/>
                    </a:solidFill>
                  </a:tcPr>
                </a:tc>
              </a:tr>
              <a:tr h="548640">
                <a:tc>
                  <a:txBody>
                    <a:bodyPr wrap="square"/>
                    <a:lstStyle/>
                    <a:p>
                      <a:r>
                        <a:rPr sz="1100" b="1">
                          <a:solidFill>
                            <a:srgbClr val="1E2A3A"/>
                          </a:solidFill>
                          <a:latin typeface="Arial"/>
                        </a:rPr>
                        <a:t>Psychologist (part-time)</a:t>
                      </a:r>
                    </a:p>
                  </a:txBody>
                  <a:tcPr marL="73152" marR="73152" marT="27432" marB="27432" anchor="ctr">
                    <a:solidFill>
                      <a:srgbClr val="F6F2EA"/>
                    </a:solidFill>
                  </a:tcPr>
                </a:tc>
                <a:tc>
                  <a:txBody>
                    <a:bodyPr wrap="square"/>
                    <a:lstStyle/>
                    <a:p>
                      <a:r>
                        <a:rPr sz="1100" b="0">
                          <a:solidFill>
                            <a:srgbClr val="3D4F6A"/>
                          </a:solidFill>
                          <a:latin typeface="Arial"/>
                        </a:rPr>
                        <a:t>2.3</a:t>
                      </a:r>
                    </a:p>
                  </a:txBody>
                  <a:tcPr marL="73152" marR="73152" marT="27432" marB="27432" anchor="ctr">
                    <a:solidFill>
                      <a:srgbClr val="F6F2EA"/>
                    </a:solidFill>
                  </a:tcPr>
                </a:tc>
                <a:tc>
                  <a:txBody>
                    <a:bodyPr wrap="square"/>
                    <a:lstStyle/>
                    <a:p>
                      <a:r>
                        <a:rPr sz="1100" b="0">
                          <a:solidFill>
                            <a:srgbClr val="3D4F6A"/>
                          </a:solidFill>
                          <a:latin typeface="Arial"/>
                        </a:rPr>
                        <a:t>2.3</a:t>
                      </a:r>
                    </a:p>
                  </a:txBody>
                  <a:tcPr marL="73152" marR="73152" marT="27432" marB="27432" anchor="ctr">
                    <a:solidFill>
                      <a:srgbClr val="F6F2EA"/>
                    </a:solidFill>
                  </a:tcPr>
                </a:tc>
                <a:tc>
                  <a:txBody>
                    <a:bodyPr wrap="square"/>
                    <a:lstStyle/>
                    <a:p>
                      <a:r>
                        <a:rPr sz="1100" b="0">
                          <a:solidFill>
                            <a:srgbClr val="3D4F6A"/>
                          </a:solidFill>
                          <a:latin typeface="Arial"/>
                        </a:rPr>
                        <a:t>2.3</a:t>
                      </a:r>
                    </a:p>
                  </a:txBody>
                  <a:tcPr marL="73152" marR="73152" marT="27432" marB="27432" anchor="ctr">
                    <a:solidFill>
                      <a:srgbClr val="F6F2EA"/>
                    </a:solidFill>
                  </a:tcPr>
                </a:tc>
                <a:tc>
                  <a:txBody>
                    <a:bodyPr wrap="square"/>
                    <a:lstStyle/>
                    <a:p>
                      <a:r>
                        <a:rPr sz="1100" b="0">
                          <a:solidFill>
                            <a:srgbClr val="3D4F6A"/>
                          </a:solidFill>
                          <a:latin typeface="Arial"/>
                        </a:rPr>
                        <a:t>2.3</a:t>
                      </a:r>
                    </a:p>
                  </a:txBody>
                  <a:tcPr marL="73152" marR="73152" marT="27432" marB="27432" anchor="ctr">
                    <a:solidFill>
                      <a:srgbClr val="F6F2EA"/>
                    </a:solidFill>
                  </a:tcPr>
                </a:tc>
                <a:tc>
                  <a:txBody>
                    <a:bodyPr wrap="square"/>
                    <a:lstStyle/>
                    <a:p>
                      <a:r>
                        <a:rPr sz="1100" b="0">
                          <a:solidFill>
                            <a:srgbClr val="3D4F6A"/>
                          </a:solidFill>
                          <a:latin typeface="Arial"/>
                        </a:rPr>
                        <a:t>No full-time hire for now</a:t>
                      </a:r>
                    </a:p>
                  </a:txBody>
                  <a:tcPr marL="73152" marR="73152" marT="27432" marB="27432" anchor="ctr">
                    <a:solidFill>
                      <a:srgbClr val="F6F2EA"/>
                    </a:solidFill>
                  </a:tcPr>
                </a:tc>
              </a:tr>
              <a:tr h="548640">
                <a:tc>
                  <a:txBody>
                    <a:bodyPr wrap="square"/>
                    <a:lstStyle/>
                    <a:p>
                      <a:r>
                        <a:rPr sz="1100" b="1">
                          <a:solidFill>
                            <a:srgbClr val="1E2A3A"/>
                          </a:solidFill>
                          <a:latin typeface="Arial"/>
                        </a:rPr>
                        <a:t>Lead Partnership</a:t>
                      </a:r>
                    </a:p>
                  </a:txBody>
                  <a:tcPr marL="73152" marR="73152" marT="27432" marB="27432" anchor="ctr">
                    <a:solidFill>
                      <a:srgbClr val="FFFFFF"/>
                    </a:solidFill>
                  </a:tcPr>
                </a:tc>
                <a:tc>
                  <a:txBody>
                    <a:bodyPr wrap="square"/>
                    <a:lstStyle/>
                    <a:p>
                      <a:r>
                        <a:rPr sz="1100" b="0">
                          <a:solidFill>
                            <a:srgbClr val="3D4F6A"/>
                          </a:solidFill>
                          <a:latin typeface="Arial"/>
                        </a:rPr>
                        <a:t>-</a:t>
                      </a:r>
                    </a:p>
                  </a:txBody>
                  <a:tcPr marL="73152" marR="73152" marT="27432" marB="27432" anchor="ctr">
                    <a:solidFill>
                      <a:srgbClr val="FFFFFF"/>
                    </a:solidFill>
                  </a:tcPr>
                </a:tc>
                <a:tc>
                  <a:txBody>
                    <a:bodyPr wrap="square"/>
                    <a:lstStyle/>
                    <a:p>
                      <a:r>
                        <a:rPr sz="1100" b="0">
                          <a:solidFill>
                            <a:srgbClr val="3D4F6A"/>
                          </a:solidFill>
                          <a:latin typeface="Arial"/>
                        </a:rPr>
                        <a:t>-</a:t>
                      </a:r>
                    </a:p>
                  </a:txBody>
                  <a:tcPr marL="73152" marR="73152" marT="27432" marB="27432" anchor="ctr">
                    <a:solidFill>
                      <a:srgbClr val="FFFFFF"/>
                    </a:solidFill>
                  </a:tcPr>
                </a:tc>
                <a:tc>
                  <a:txBody>
                    <a:bodyPr wrap="square"/>
                    <a:lstStyle/>
                    <a:p>
                      <a:r>
                        <a:rPr sz="1100" b="0">
                          <a:solidFill>
                            <a:srgbClr val="3D4F6A"/>
                          </a:solidFill>
                          <a:latin typeface="Arial"/>
                        </a:rPr>
                        <a:t>6 (Oct 2027)</a:t>
                      </a:r>
                    </a:p>
                  </a:txBody>
                  <a:tcPr marL="73152" marR="73152" marT="27432" marB="27432" anchor="ctr">
                    <a:solidFill>
                      <a:srgbClr val="FFFFFF"/>
                    </a:solidFill>
                  </a:tcPr>
                </a:tc>
                <a:tc>
                  <a:txBody>
                    <a:bodyPr wrap="square"/>
                    <a:lstStyle/>
                    <a:p>
                      <a:r>
                        <a:rPr sz="1100" b="0">
                          <a:solidFill>
                            <a:srgbClr val="3D4F6A"/>
                          </a:solidFill>
                          <a:latin typeface="Arial"/>
                        </a:rPr>
                        <a:t>6</a:t>
                      </a:r>
                    </a:p>
                  </a:txBody>
                  <a:tcPr marL="73152" marR="73152" marT="27432" marB="27432" anchor="ctr">
                    <a:solidFill>
                      <a:srgbClr val="FFFFFF"/>
                    </a:solidFill>
                  </a:tcPr>
                </a:tc>
                <a:tc>
                  <a:txBody>
                    <a:bodyPr wrap="square"/>
                    <a:lstStyle/>
                    <a:p>
                      <a:r>
                        <a:rPr sz="1100" b="0">
                          <a:solidFill>
                            <a:srgbClr val="3D4F6A"/>
                          </a:solidFill>
                          <a:latin typeface="Arial"/>
                        </a:rPr>
                        <a:t>Starts when 3 EAP contracts run; brings EAP clients (estimate)</a:t>
                      </a:r>
                    </a:p>
                  </a:txBody>
                  <a:tcPr marL="73152" marR="73152" marT="27432" marB="27432" anchor="ctr">
                    <a:solidFill>
                      <a:srgbClr val="FFFFFF"/>
                    </a:solidFill>
                  </a:tcPr>
                </a:tc>
              </a:tr>
              <a:tr h="548640">
                <a:tc>
                  <a:txBody>
                    <a:bodyPr wrap="square"/>
                    <a:lstStyle/>
                    <a:p>
                      <a:r>
                        <a:rPr sz="1100" b="1">
                          <a:solidFill>
                            <a:srgbClr val="1E2A3A"/>
                          </a:solidFill>
                          <a:latin typeface="Arial"/>
                        </a:rPr>
                        <a:t>Founders</a:t>
                      </a:r>
                    </a:p>
                  </a:txBody>
                  <a:tcPr marL="73152" marR="73152" marT="27432" marB="27432" anchor="ctr">
                    <a:solidFill>
                      <a:srgbClr val="F6F2EA"/>
                    </a:solidFill>
                  </a:tcPr>
                </a:tc>
                <a:tc>
                  <a:txBody>
                    <a:bodyPr wrap="square"/>
                    <a:lstStyle/>
                    <a:p>
                      <a:r>
                        <a:rPr sz="1100" b="0">
                          <a:solidFill>
                            <a:srgbClr val="3D4F6A"/>
                          </a:solidFill>
                          <a:latin typeface="Arial"/>
                        </a:rPr>
                        <a:t>10 (one paid)</a:t>
                      </a:r>
                    </a:p>
                  </a:txBody>
                  <a:tcPr marL="73152" marR="73152" marT="27432" marB="27432" anchor="ctr">
                    <a:solidFill>
                      <a:srgbClr val="F6F2EA"/>
                    </a:solidFill>
                  </a:tcPr>
                </a:tc>
                <a:tc>
                  <a:txBody>
                    <a:bodyPr wrap="square"/>
                    <a:lstStyle/>
                    <a:p>
                      <a:r>
                        <a:rPr sz="1100" b="0">
                          <a:solidFill>
                            <a:srgbClr val="3D4F6A"/>
                          </a:solidFill>
                          <a:latin typeface="Arial"/>
                        </a:rPr>
                        <a:t>25 from March (room for both)</a:t>
                      </a:r>
                    </a:p>
                  </a:txBody>
                  <a:tcPr marL="73152" marR="73152" marT="27432" marB="27432" anchor="ctr">
                    <a:solidFill>
                      <a:srgbClr val="F6F2EA"/>
                    </a:solidFill>
                  </a:tcPr>
                </a:tc>
                <a:tc>
                  <a:txBody>
                    <a:bodyPr wrap="square"/>
                    <a:lstStyle/>
                    <a:p>
                      <a:r>
                        <a:rPr sz="1100" b="0">
                          <a:solidFill>
                            <a:srgbClr val="3D4F6A"/>
                          </a:solidFill>
                          <a:latin typeface="Arial"/>
                        </a:rPr>
                        <a:t>25</a:t>
                      </a:r>
                    </a:p>
                  </a:txBody>
                  <a:tcPr marL="73152" marR="73152" marT="27432" marB="27432" anchor="ctr">
                    <a:solidFill>
                      <a:srgbClr val="F6F2EA"/>
                    </a:solidFill>
                  </a:tcPr>
                </a:tc>
                <a:tc>
                  <a:txBody>
                    <a:bodyPr wrap="square"/>
                    <a:lstStyle/>
                    <a:p>
                      <a:r>
                        <a:rPr sz="1100" b="0">
                          <a:solidFill>
                            <a:srgbClr val="3D4F6A"/>
                          </a:solidFill>
                          <a:latin typeface="Arial"/>
                        </a:rPr>
                        <a:t>25</a:t>
                      </a:r>
                    </a:p>
                  </a:txBody>
                  <a:tcPr marL="73152" marR="73152" marT="27432" marB="27432" anchor="ctr">
                    <a:solidFill>
                      <a:srgbClr val="F6F2EA"/>
                    </a:solidFill>
                  </a:tcPr>
                </a:tc>
                <a:tc>
                  <a:txBody>
                    <a:bodyPr wrap="square"/>
                    <a:lstStyle/>
                    <a:p>
                      <a:r>
                        <a:rPr sz="1100" b="0">
                          <a:solidFill>
                            <a:srgbClr val="3D4F6A"/>
                          </a:solidFill>
                          <a:latin typeface="Arial"/>
                        </a:rPr>
                        <a:t>Rp10M for one founder is the minimum; the second start follows the guard rule</a:t>
                      </a:r>
                    </a:p>
                  </a:txBody>
                  <a:tcPr marL="73152" marR="73152" marT="27432" marB="27432" anchor="ctr">
                    <a:solidFill>
                      <a:srgbClr val="F6F2EA"/>
                    </a:solidFill>
                  </a:tcPr>
                </a:tc>
              </a:tr>
            </a:tbl>
          </a:graphicData>
        </a:graphic>
      </p:graphicFrame>
      <p:sp>
        <p:nvSpPr>
          <p:cNvPr id="8" name="Rounded Rectangle 7"/>
          <p:cNvSpPr/>
          <p:nvPr/>
        </p:nvSpPr>
        <p:spPr>
          <a:xfrm>
            <a:off x="457200" y="5349240"/>
            <a:ext cx="2377440" cy="960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000" b="1" i="0">
                <a:solidFill>
                  <a:srgbClr val="1E2A3A"/>
                </a:solidFill>
                <a:latin typeface="Georgia"/>
              </a:rPr>
              <a:t>May 2027</a:t>
            </a:r>
          </a:p>
          <a:p>
            <a:pPr algn="l">
              <a:spcAft>
                <a:spcPts val="200"/>
              </a:spcAft>
            </a:pPr>
            <a:r>
              <a:rPr sz="1100" b="0" i="0">
                <a:solidFill>
                  <a:srgbClr val="3D4F6A"/>
                </a:solidFill>
                <a:latin typeface="Arial"/>
              </a:rPr>
              <a:t>Step 1 in the current estimate</a:t>
            </a:r>
          </a:p>
        </p:txBody>
      </p:sp>
      <p:sp>
        <p:nvSpPr>
          <p:cNvPr id="9" name="Rounded Rectangle 8"/>
          <p:cNvSpPr/>
          <p:nvPr/>
        </p:nvSpPr>
        <p:spPr>
          <a:xfrm>
            <a:off x="2971800" y="5349240"/>
            <a:ext cx="2377440" cy="960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000" b="1" i="0">
                <a:solidFill>
                  <a:srgbClr val="1E2A3A"/>
                </a:solidFill>
                <a:latin typeface="Georgia"/>
              </a:rPr>
              <a:t>Aug 2027</a:t>
            </a:r>
          </a:p>
          <a:p>
            <a:pPr algn="l">
              <a:spcAft>
                <a:spcPts val="200"/>
              </a:spcAft>
            </a:pPr>
            <a:r>
              <a:rPr sz="1100" b="0" i="0">
                <a:solidFill>
                  <a:srgbClr val="3D4F6A"/>
                </a:solidFill>
                <a:latin typeface="Arial"/>
              </a:rPr>
              <a:t>Step 2 in the current estimate</a:t>
            </a:r>
          </a:p>
        </p:txBody>
      </p:sp>
      <p:sp>
        <p:nvSpPr>
          <p:cNvPr id="10" name="Rounded Rectangle 9"/>
          <p:cNvSpPr/>
          <p:nvPr/>
        </p:nvSpPr>
        <p:spPr>
          <a:xfrm>
            <a:off x="5486400" y="5349240"/>
            <a:ext cx="2377440" cy="960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000" b="1" i="0">
                <a:solidFill>
                  <a:srgbClr val="1E2A3A"/>
                </a:solidFill>
                <a:latin typeface="Georgia"/>
              </a:rPr>
              <a:t>Dec 2027</a:t>
            </a:r>
          </a:p>
          <a:p>
            <a:pPr algn="l">
              <a:spcAft>
                <a:spcPts val="200"/>
              </a:spcAft>
            </a:pPr>
            <a:r>
              <a:rPr sz="1100" b="0" i="0">
                <a:solidFill>
                  <a:srgbClr val="3D4F6A"/>
                </a:solidFill>
                <a:latin typeface="Arial"/>
              </a:rPr>
              <a:t>Step 3 in the current estimate</a:t>
            </a:r>
          </a:p>
        </p:txBody>
      </p:sp>
      <p:sp>
        <p:nvSpPr>
          <p:cNvPr id="11" name="Rounded Rectangle 10"/>
          <p:cNvSpPr/>
          <p:nvPr/>
        </p:nvSpPr>
        <p:spPr>
          <a:xfrm>
            <a:off x="8092440" y="5349240"/>
            <a:ext cx="3611880" cy="96012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100" b="1" i="0">
                <a:solidFill>
                  <a:srgbClr val="1E2A3A"/>
                </a:solidFill>
                <a:latin typeface="Arial"/>
              </a:rPr>
              <a:t>Always: </a:t>
            </a:r>
            <a:r>
              <a:rPr sz="1100" b="0" i="0">
                <a:solidFill>
                  <a:srgbClr val="3D4F6A"/>
                </a:solidFill>
                <a:latin typeface="Arial"/>
              </a:rPr>
              <a:t>BPJS and THR (18%) from January. Below-minimum pay is agreed in writing (PP 36/2021).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Our team and running cost grow </a:t>
            </a:r>
            <a:r>
              <a:rPr sz="2800" b="1" i="0">
                <a:solidFill>
                  <a:srgbClr val="9B3809"/>
                </a:solidFill>
                <a:latin typeface="Georgia"/>
              </a:rPr>
              <a:t>in steps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From Rp32M to Rp88M a month. Each column shows only what is new; each step follows signed work.</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 · PEOPLE</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(Pay_Plan sheet). Per-project and per-session people are paid only when there is work.</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22</a:t>
            </a:r>
          </a:p>
        </p:txBody>
      </p:sp>
      <p:sp>
        <p:nvSpPr>
          <p:cNvPr id="7" name="Rounded Rectangle 6"/>
          <p:cNvSpPr/>
          <p:nvPr/>
        </p:nvSpPr>
        <p:spPr>
          <a:xfrm>
            <a:off x="457200" y="1371600"/>
            <a:ext cx="2176272" cy="77724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1" i="0">
                <a:solidFill>
                  <a:srgbClr val="FFFFFF"/>
                </a:solidFill>
                <a:latin typeface="Arial"/>
              </a:rPr>
              <a:t>Now (Oct 2026)</a:t>
            </a:r>
          </a:p>
          <a:p>
            <a:pPr algn="ctr">
              <a:spcAft>
                <a:spcPts val="0"/>
              </a:spcAft>
            </a:pPr>
            <a:r>
              <a:rPr sz="1700" b="1" i="0">
                <a:solidFill>
                  <a:srgbClr val="E8904A"/>
                </a:solidFill>
                <a:latin typeface="Georgia"/>
              </a:rPr>
              <a:t>Rp32M a month</a:t>
            </a:r>
          </a:p>
        </p:txBody>
      </p:sp>
      <p:sp>
        <p:nvSpPr>
          <p:cNvPr id="8" name="TextBox 7"/>
          <p:cNvSpPr txBox="1"/>
          <p:nvPr/>
        </p:nvSpPr>
        <p:spPr>
          <a:xfrm>
            <a:off x="457200" y="2194560"/>
            <a:ext cx="2176272" cy="274320"/>
          </a:xfrm>
          <a:prstGeom prst="rect">
            <a:avLst/>
          </a:prstGeom>
          <a:noFill/>
        </p:spPr>
        <p:txBody>
          <a:bodyPr wrap="square" anchor="t" lIns="18288" rIns="18288" tIns="36576" bIns="36576">
            <a:spAutoFit/>
          </a:bodyPr>
          <a:lstStyle/>
          <a:p>
            <a:pPr algn="ctr">
              <a:spcAft>
                <a:spcPts val="400"/>
              </a:spcAft>
            </a:pPr>
            <a:r>
              <a:rPr sz="1000" b="1" i="0">
                <a:solidFill>
                  <a:srgbClr val="6B7A99"/>
                </a:solidFill>
                <a:latin typeface="Arial"/>
              </a:rPr>
              <a:t>Trigger: </a:t>
            </a:r>
            <a:r>
              <a:rPr sz="1000" b="0" i="0">
                <a:solidFill>
                  <a:srgbClr val="6B7A99"/>
                </a:solidFill>
                <a:latin typeface="Arial"/>
              </a:rPr>
              <a:t>Today</a:t>
            </a:r>
          </a:p>
        </p:txBody>
      </p:sp>
      <p:sp>
        <p:nvSpPr>
          <p:cNvPr id="9" name="Rounded Rectangle 8"/>
          <p:cNvSpPr/>
          <p:nvPr/>
        </p:nvSpPr>
        <p:spPr>
          <a:xfrm>
            <a:off x="457200" y="2514600"/>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Founders x2 (one paid, Rp10M)</a:t>
            </a:r>
          </a:p>
        </p:txBody>
      </p:sp>
      <p:sp>
        <p:nvSpPr>
          <p:cNvPr id="10" name="Rounded Rectangle 9"/>
          <p:cNvSpPr/>
          <p:nvPr/>
        </p:nvSpPr>
        <p:spPr>
          <a:xfrm>
            <a:off x="457200" y="2990088"/>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Lead marketing (semi full-time, has shares)</a:t>
            </a:r>
          </a:p>
        </p:txBody>
      </p:sp>
      <p:sp>
        <p:nvSpPr>
          <p:cNvPr id="11" name="Rounded Rectangle 10"/>
          <p:cNvSpPr/>
          <p:nvPr/>
        </p:nvSpPr>
        <p:spPr>
          <a:xfrm>
            <a:off x="457200" y="3465576"/>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Social media</a:t>
            </a:r>
          </a:p>
        </p:txBody>
      </p:sp>
      <p:sp>
        <p:nvSpPr>
          <p:cNvPr id="12" name="Rounded Rectangle 11"/>
          <p:cNvSpPr/>
          <p:nvPr/>
        </p:nvSpPr>
        <p:spPr>
          <a:xfrm>
            <a:off x="457200" y="3941064"/>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Admin (base + fee per client)</a:t>
            </a:r>
          </a:p>
        </p:txBody>
      </p:sp>
      <p:sp>
        <p:nvSpPr>
          <p:cNvPr id="13" name="Rounded Rectangle 12"/>
          <p:cNvSpPr/>
          <p:nvPr/>
        </p:nvSpPr>
        <p:spPr>
          <a:xfrm>
            <a:off x="457200" y="4416552"/>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Lead psychologist, part-time</a:t>
            </a:r>
          </a:p>
        </p:txBody>
      </p:sp>
      <p:sp>
        <p:nvSpPr>
          <p:cNvPr id="14" name="Rounded Rectangle 13"/>
          <p:cNvSpPr/>
          <p:nvPr/>
        </p:nvSpPr>
        <p:spPr>
          <a:xfrm>
            <a:off x="457200" y="4892040"/>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2 interns</a:t>
            </a:r>
          </a:p>
        </p:txBody>
      </p:sp>
      <p:sp>
        <p:nvSpPr>
          <p:cNvPr id="15" name="Rounded Rectangle 14"/>
          <p:cNvSpPr/>
          <p:nvPr/>
        </p:nvSpPr>
        <p:spPr>
          <a:xfrm>
            <a:off x="457200" y="5367528"/>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Project manager (per project)</a:t>
            </a:r>
          </a:p>
        </p:txBody>
      </p:sp>
      <p:sp>
        <p:nvSpPr>
          <p:cNvPr id="16" name="Rounded Rectangle 15"/>
          <p:cNvSpPr/>
          <p:nvPr/>
        </p:nvSpPr>
        <p:spPr>
          <a:xfrm>
            <a:off x="457200" y="5843016"/>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2 trainers (per event)</a:t>
            </a:r>
          </a:p>
        </p:txBody>
      </p:sp>
      <p:sp>
        <p:nvSpPr>
          <p:cNvPr id="17" name="Right Arrow 16"/>
          <p:cNvSpPr/>
          <p:nvPr/>
        </p:nvSpPr>
        <p:spPr>
          <a:xfrm>
            <a:off x="2638044" y="1627632"/>
            <a:ext cx="91440"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18" name="Rounded Rectangle 17"/>
          <p:cNvSpPr/>
          <p:nvPr/>
        </p:nvSpPr>
        <p:spPr>
          <a:xfrm>
            <a:off x="2729484" y="1371600"/>
            <a:ext cx="2176272" cy="7772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1" i="0">
                <a:solidFill>
                  <a:srgbClr val="FFFFFF"/>
                </a:solidFill>
                <a:latin typeface="Arial"/>
              </a:rPr>
              <a:t>Jan 2027</a:t>
            </a:r>
          </a:p>
          <a:p>
            <a:pPr algn="ctr">
              <a:spcAft>
                <a:spcPts val="0"/>
              </a:spcAft>
            </a:pPr>
            <a:r>
              <a:rPr sz="1700" b="1" i="0">
                <a:solidFill>
                  <a:srgbClr val="FFFFFF"/>
                </a:solidFill>
                <a:latin typeface="Georgia"/>
              </a:rPr>
              <a:t>Rp42M a month</a:t>
            </a:r>
          </a:p>
        </p:txBody>
      </p:sp>
      <p:sp>
        <p:nvSpPr>
          <p:cNvPr id="19" name="TextBox 18"/>
          <p:cNvSpPr txBox="1"/>
          <p:nvPr/>
        </p:nvSpPr>
        <p:spPr>
          <a:xfrm>
            <a:off x="2729484" y="2194560"/>
            <a:ext cx="2176272" cy="274320"/>
          </a:xfrm>
          <a:prstGeom prst="rect">
            <a:avLst/>
          </a:prstGeom>
          <a:noFill/>
        </p:spPr>
        <p:txBody>
          <a:bodyPr wrap="square" anchor="t" lIns="18288" rIns="18288" tIns="36576" bIns="36576">
            <a:spAutoFit/>
          </a:bodyPr>
          <a:lstStyle/>
          <a:p>
            <a:pPr algn="ctr">
              <a:spcAft>
                <a:spcPts val="400"/>
              </a:spcAft>
            </a:pPr>
            <a:r>
              <a:rPr sz="1000" b="1" i="0">
                <a:solidFill>
                  <a:srgbClr val="6B7A99"/>
                </a:solidFill>
                <a:latin typeface="Arial"/>
              </a:rPr>
              <a:t>Trigger: </a:t>
            </a:r>
            <a:r>
              <a:rPr sz="1000" b="0" i="0">
                <a:solidFill>
                  <a:srgbClr val="6B7A99"/>
                </a:solidFill>
                <a:latin typeface="Arial"/>
              </a:rPr>
              <a:t>New prices start</a:t>
            </a:r>
          </a:p>
        </p:txBody>
      </p:sp>
      <p:sp>
        <p:nvSpPr>
          <p:cNvPr id="20" name="Rounded Rectangle 19"/>
          <p:cNvSpPr/>
          <p:nvPr/>
        </p:nvSpPr>
        <p:spPr>
          <a:xfrm>
            <a:off x="2729484" y="2514600"/>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BPJS + THR for all staff</a:t>
            </a:r>
          </a:p>
        </p:txBody>
      </p:sp>
      <p:sp>
        <p:nvSpPr>
          <p:cNvPr id="21" name="Rounded Rectangle 20"/>
          <p:cNvSpPr/>
          <p:nvPr/>
        </p:nvSpPr>
        <p:spPr>
          <a:xfrm>
            <a:off x="2729484" y="2990088"/>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Instagram ads Rp4.5M in total</a:t>
            </a:r>
          </a:p>
        </p:txBody>
      </p:sp>
      <p:sp>
        <p:nvSpPr>
          <p:cNvPr id="22" name="Rounded Rectangle 21"/>
          <p:cNvSpPr/>
          <p:nvPr/>
        </p:nvSpPr>
        <p:spPr>
          <a:xfrm>
            <a:off x="2729484" y="3465576"/>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Pay scheme: rises unlock with sales targets</a:t>
            </a:r>
          </a:p>
        </p:txBody>
      </p:sp>
      <p:sp>
        <p:nvSpPr>
          <p:cNvPr id="23" name="Rounded Rectangle 22"/>
          <p:cNvSpPr/>
          <p:nvPr/>
        </p:nvSpPr>
        <p:spPr>
          <a:xfrm>
            <a:off x="2729484" y="3941064"/>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Magang Nasional intern (bonus, if approved)</a:t>
            </a:r>
          </a:p>
        </p:txBody>
      </p:sp>
      <p:sp>
        <p:nvSpPr>
          <p:cNvPr id="24" name="Right Arrow 23"/>
          <p:cNvSpPr/>
          <p:nvPr/>
        </p:nvSpPr>
        <p:spPr>
          <a:xfrm>
            <a:off x="4910328" y="1627632"/>
            <a:ext cx="91440"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25" name="Rounded Rectangle 24"/>
          <p:cNvSpPr/>
          <p:nvPr/>
        </p:nvSpPr>
        <p:spPr>
          <a:xfrm>
            <a:off x="5001768" y="1371600"/>
            <a:ext cx="2176272" cy="7772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1" i="0">
                <a:solidFill>
                  <a:srgbClr val="FFFFFF"/>
                </a:solidFill>
                <a:latin typeface="Arial"/>
              </a:rPr>
              <a:t>Mar 2027</a:t>
            </a:r>
          </a:p>
          <a:p>
            <a:pPr algn="ctr">
              <a:spcAft>
                <a:spcPts val="0"/>
              </a:spcAft>
            </a:pPr>
            <a:r>
              <a:rPr sz="1700" b="1" i="0">
                <a:solidFill>
                  <a:srgbClr val="FFFFFF"/>
                </a:solidFill>
                <a:latin typeface="Georgia"/>
              </a:rPr>
              <a:t>Rp59M a month</a:t>
            </a:r>
          </a:p>
        </p:txBody>
      </p:sp>
      <p:sp>
        <p:nvSpPr>
          <p:cNvPr id="26" name="TextBox 25"/>
          <p:cNvSpPr txBox="1"/>
          <p:nvPr/>
        </p:nvSpPr>
        <p:spPr>
          <a:xfrm>
            <a:off x="5001768" y="2194560"/>
            <a:ext cx="2176272" cy="274320"/>
          </a:xfrm>
          <a:prstGeom prst="rect">
            <a:avLst/>
          </a:prstGeom>
          <a:noFill/>
        </p:spPr>
        <p:txBody>
          <a:bodyPr wrap="square" anchor="t" lIns="18288" rIns="18288" tIns="36576" bIns="36576">
            <a:spAutoFit/>
          </a:bodyPr>
          <a:lstStyle/>
          <a:p>
            <a:pPr algn="ctr">
              <a:spcAft>
                <a:spcPts val="400"/>
              </a:spcAft>
            </a:pPr>
            <a:r>
              <a:rPr sz="1000" b="1" i="0">
                <a:solidFill>
                  <a:srgbClr val="6B7A99"/>
                </a:solidFill>
                <a:latin typeface="Arial"/>
              </a:rPr>
              <a:t>Trigger: </a:t>
            </a:r>
            <a:r>
              <a:rPr sz="1000" b="0" i="0">
                <a:solidFill>
                  <a:srgbClr val="6B7A99"/>
                </a:solidFill>
                <a:latin typeface="Arial"/>
              </a:rPr>
              <a:t>New work; EAP 2 since Feb</a:t>
            </a:r>
          </a:p>
        </p:txBody>
      </p:sp>
      <p:sp>
        <p:nvSpPr>
          <p:cNvPr id="27" name="Rounded Rectangle 26"/>
          <p:cNvSpPr/>
          <p:nvPr/>
        </p:nvSpPr>
        <p:spPr>
          <a:xfrm>
            <a:off x="5001768" y="2514600"/>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Room for both founders (Rp25M)</a:t>
            </a:r>
          </a:p>
        </p:txBody>
      </p:sp>
      <p:sp>
        <p:nvSpPr>
          <p:cNvPr id="28" name="Rounded Rectangle 27"/>
          <p:cNvSpPr/>
          <p:nvPr/>
        </p:nvSpPr>
        <p:spPr>
          <a:xfrm>
            <a:off x="5001768" y="2990088"/>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EAP part-time psychologists (per session)</a:t>
            </a:r>
          </a:p>
        </p:txBody>
      </p:sp>
      <p:sp>
        <p:nvSpPr>
          <p:cNvPr id="29" name="Right Arrow 28"/>
          <p:cNvSpPr/>
          <p:nvPr/>
        </p:nvSpPr>
        <p:spPr>
          <a:xfrm>
            <a:off x="7182612" y="1627632"/>
            <a:ext cx="91440"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0" name="Rounded Rectangle 29"/>
          <p:cNvSpPr/>
          <p:nvPr/>
        </p:nvSpPr>
        <p:spPr>
          <a:xfrm>
            <a:off x="7274052" y="1371600"/>
            <a:ext cx="2176272" cy="7772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1" i="0">
                <a:solidFill>
                  <a:srgbClr val="FFFFFF"/>
                </a:solidFill>
                <a:latin typeface="Arial"/>
              </a:rPr>
              <a:t>Jul 2027</a:t>
            </a:r>
          </a:p>
          <a:p>
            <a:pPr algn="ctr">
              <a:spcAft>
                <a:spcPts val="0"/>
              </a:spcAft>
            </a:pPr>
            <a:r>
              <a:rPr sz="1700" b="1" i="0">
                <a:solidFill>
                  <a:srgbClr val="FFFFFF"/>
                </a:solidFill>
                <a:latin typeface="Georgia"/>
              </a:rPr>
              <a:t>Rp74M a month</a:t>
            </a:r>
          </a:p>
        </p:txBody>
      </p:sp>
      <p:sp>
        <p:nvSpPr>
          <p:cNvPr id="31" name="TextBox 30"/>
          <p:cNvSpPr txBox="1"/>
          <p:nvPr/>
        </p:nvSpPr>
        <p:spPr>
          <a:xfrm>
            <a:off x="7274052" y="2194560"/>
            <a:ext cx="2176272" cy="274320"/>
          </a:xfrm>
          <a:prstGeom prst="rect">
            <a:avLst/>
          </a:prstGeom>
          <a:noFill/>
        </p:spPr>
        <p:txBody>
          <a:bodyPr wrap="square" anchor="t" lIns="18288" rIns="18288" tIns="36576" bIns="36576">
            <a:spAutoFit/>
          </a:bodyPr>
          <a:lstStyle/>
          <a:p>
            <a:pPr algn="ctr">
              <a:spcAft>
                <a:spcPts val="400"/>
              </a:spcAft>
            </a:pPr>
            <a:r>
              <a:rPr sz="1000" b="1" i="0">
                <a:solidFill>
                  <a:srgbClr val="6B7A99"/>
                </a:solidFill>
                <a:latin typeface="Arial"/>
              </a:rPr>
              <a:t>Trigger: </a:t>
            </a:r>
            <a:r>
              <a:rPr sz="1000" b="0" i="0">
                <a:solidFill>
                  <a:srgbClr val="6B7A99"/>
                </a:solidFill>
                <a:latin typeface="Arial"/>
              </a:rPr>
              <a:t>EAP 3; sales over Rp100M</a:t>
            </a:r>
          </a:p>
        </p:txBody>
      </p:sp>
      <p:sp>
        <p:nvSpPr>
          <p:cNvPr id="32" name="Rounded Rectangle 31"/>
          <p:cNvSpPr/>
          <p:nvPr/>
        </p:nvSpPr>
        <p:spPr>
          <a:xfrm>
            <a:off x="7274052" y="2514600"/>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Pay step 1 (since May): social media Rp3M, lead marketing Rp4M</a:t>
            </a:r>
          </a:p>
        </p:txBody>
      </p:sp>
      <p:sp>
        <p:nvSpPr>
          <p:cNvPr id="33" name="Rounded Rectangle 32"/>
          <p:cNvSpPr/>
          <p:nvPr/>
        </p:nvSpPr>
        <p:spPr>
          <a:xfrm>
            <a:off x="7274052" y="2990088"/>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Sales co-founder</a:t>
            </a:r>
          </a:p>
        </p:txBody>
      </p:sp>
      <p:sp>
        <p:nvSpPr>
          <p:cNvPr id="34" name="Rounded Rectangle 33"/>
          <p:cNvSpPr/>
          <p:nvPr/>
        </p:nvSpPr>
        <p:spPr>
          <a:xfrm>
            <a:off x="7274052" y="3465576"/>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EAP contract 3</a:t>
            </a:r>
          </a:p>
        </p:txBody>
      </p:sp>
      <p:sp>
        <p:nvSpPr>
          <p:cNvPr id="35" name="Rounded Rectangle 34"/>
          <p:cNvSpPr/>
          <p:nvPr/>
        </p:nvSpPr>
        <p:spPr>
          <a:xfrm>
            <a:off x="7274052" y="3941064"/>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Standby project manager (per project)</a:t>
            </a:r>
          </a:p>
        </p:txBody>
      </p:sp>
      <p:sp>
        <p:nvSpPr>
          <p:cNvPr id="36" name="Right Arrow 35"/>
          <p:cNvSpPr/>
          <p:nvPr/>
        </p:nvSpPr>
        <p:spPr>
          <a:xfrm>
            <a:off x="9454896" y="1627632"/>
            <a:ext cx="91440"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7" name="Rounded Rectangle 36"/>
          <p:cNvSpPr/>
          <p:nvPr/>
        </p:nvSpPr>
        <p:spPr>
          <a:xfrm>
            <a:off x="9546336" y="1371600"/>
            <a:ext cx="2176272" cy="7772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1" i="0">
                <a:solidFill>
                  <a:srgbClr val="FFFFFF"/>
                </a:solidFill>
                <a:latin typeface="Arial"/>
              </a:rPr>
              <a:t>Oct 2027</a:t>
            </a:r>
          </a:p>
          <a:p>
            <a:pPr algn="ctr">
              <a:spcAft>
                <a:spcPts val="0"/>
              </a:spcAft>
            </a:pPr>
            <a:r>
              <a:rPr sz="1700" b="1" i="0">
                <a:solidFill>
                  <a:srgbClr val="FFFFFF"/>
                </a:solidFill>
                <a:latin typeface="Georgia"/>
              </a:rPr>
              <a:t>Rp88M a month</a:t>
            </a:r>
          </a:p>
        </p:txBody>
      </p:sp>
      <p:sp>
        <p:nvSpPr>
          <p:cNvPr id="38" name="TextBox 37"/>
          <p:cNvSpPr txBox="1"/>
          <p:nvPr/>
        </p:nvSpPr>
        <p:spPr>
          <a:xfrm>
            <a:off x="9546336" y="2194560"/>
            <a:ext cx="2176272" cy="274320"/>
          </a:xfrm>
          <a:prstGeom prst="rect">
            <a:avLst/>
          </a:prstGeom>
          <a:noFill/>
        </p:spPr>
        <p:txBody>
          <a:bodyPr wrap="square" anchor="t" lIns="18288" rIns="18288" tIns="36576" bIns="36576">
            <a:spAutoFit/>
          </a:bodyPr>
          <a:lstStyle/>
          <a:p>
            <a:pPr algn="ctr">
              <a:spcAft>
                <a:spcPts val="400"/>
              </a:spcAft>
            </a:pPr>
            <a:r>
              <a:rPr sz="1000" b="1" i="0">
                <a:solidFill>
                  <a:srgbClr val="6B7A99"/>
                </a:solidFill>
                <a:latin typeface="Arial"/>
              </a:rPr>
              <a:t>Trigger: </a:t>
            </a:r>
            <a:r>
              <a:rPr sz="1000" b="0" i="0">
                <a:solidFill>
                  <a:srgbClr val="6B7A99"/>
                </a:solidFill>
                <a:latin typeface="Arial"/>
              </a:rPr>
              <a:t>3 EAP; sales over Rp150M</a:t>
            </a:r>
          </a:p>
        </p:txBody>
      </p:sp>
      <p:sp>
        <p:nvSpPr>
          <p:cNvPr id="39" name="Rounded Rectangle 38"/>
          <p:cNvSpPr/>
          <p:nvPr/>
        </p:nvSpPr>
        <p:spPr>
          <a:xfrm>
            <a:off x="9546336" y="2514600"/>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Pay step 2: admin at minimum wage, social media Rp4.5M</a:t>
            </a:r>
          </a:p>
        </p:txBody>
      </p:sp>
      <p:sp>
        <p:nvSpPr>
          <p:cNvPr id="40" name="Rounded Rectangle 39"/>
          <p:cNvSpPr/>
          <p:nvPr/>
        </p:nvSpPr>
        <p:spPr>
          <a:xfrm>
            <a:off x="9546336" y="2990088"/>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Lead Partnership (non-psychologist)</a:t>
            </a:r>
          </a:p>
        </p:txBody>
      </p:sp>
      <p:sp>
        <p:nvSpPr>
          <p:cNvPr id="41" name="Rounded Rectangle 40"/>
          <p:cNvSpPr/>
          <p:nvPr/>
        </p:nvSpPr>
        <p:spPr>
          <a:xfrm>
            <a:off x="9546336" y="3465576"/>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Bank training days</a:t>
            </a:r>
          </a:p>
        </p:txBody>
      </p:sp>
      <p:sp>
        <p:nvSpPr>
          <p:cNvPr id="42" name="Rounded Rectangle 41"/>
          <p:cNvSpPr/>
          <p:nvPr/>
        </p:nvSpPr>
        <p:spPr>
          <a:xfrm>
            <a:off x="9546336" y="3941064"/>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Intern for invoices (from Sep)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Our </a:t>
            </a:r>
            <a:r>
              <a:rPr sz="2800" b="1" i="0">
                <a:solidFill>
                  <a:srgbClr val="9B3809"/>
                </a:solidFill>
                <a:latin typeface="Georgia"/>
              </a:rPr>
              <a:t>limit moves</a:t>
            </a:r>
            <a:r>
              <a:rPr sz="2800" b="1" i="0">
                <a:solidFill>
                  <a:srgbClr val="1E2A3A"/>
                </a:solidFill>
                <a:latin typeface="Georgia"/>
              </a:rPr>
              <a:t> during the year</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Founders' selling time now, the project manager from July, trainers from October.</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 · PEOPLE</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(capacity rows). One event = one project. Each trainer runs at most 2 events a month.</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23</a:t>
            </a:r>
          </a:p>
        </p:txBody>
      </p:sp>
      <p:graphicFrame>
        <p:nvGraphicFramePr>
          <p:cNvPr id="7" name="Chart 6"/>
          <p:cNvGraphicFramePr>
            <a:graphicFrameLocks noGrp="1"/>
          </p:cNvGraphicFramePr>
          <p:nvPr/>
        </p:nvGraphicFramePr>
        <p:xfrm>
          <a:off x="457200" y="1371600"/>
          <a:ext cx="5577840" cy="29718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6172200" y="1371600"/>
          <a:ext cx="5577840" cy="2971800"/>
        </p:xfrm>
        <a:graphic>
          <a:graphicData uri="http://schemas.openxmlformats.org/drawingml/2006/chart">
            <c:chart xmlns:c="http://schemas.openxmlformats.org/drawingml/2006/chart" r:id="rId3"/>
          </a:graphicData>
        </a:graphic>
      </p:graphicFrame>
      <p:sp>
        <p:nvSpPr>
          <p:cNvPr id="9" name="Rounded Rectangle 8"/>
          <p:cNvSpPr/>
          <p:nvPr/>
        </p:nvSpPr>
        <p:spPr>
          <a:xfrm>
            <a:off x="457200" y="4480560"/>
            <a:ext cx="3611880" cy="54864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400" b="1" i="0">
                <a:solidFill>
                  <a:srgbClr val="FFFFFF"/>
                </a:solidFill>
                <a:latin typeface="Georgia"/>
              </a:rPr>
              <a:t>Founders' selling time</a:t>
            </a:r>
          </a:p>
          <a:p>
            <a:pPr algn="l">
              <a:spcAft>
                <a:spcPts val="0"/>
              </a:spcAft>
            </a:pPr>
            <a:r>
              <a:rPr sz="1100" b="0" i="0">
                <a:solidFill>
                  <a:srgbClr val="FFFFFF"/>
                </a:solidFill>
                <a:latin typeface="Arial"/>
              </a:rPr>
              <a:t>Oct 2026 to Feb 2027</a:t>
            </a:r>
          </a:p>
        </p:txBody>
      </p:sp>
      <p:sp>
        <p:nvSpPr>
          <p:cNvPr id="10" name="Rounded Rectangle 9"/>
          <p:cNvSpPr/>
          <p:nvPr/>
        </p:nvSpPr>
        <p:spPr>
          <a:xfrm>
            <a:off x="457200" y="5074920"/>
            <a:ext cx="3611880" cy="12344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36576" bIns="36576"/>
          <a:lstStyle/>
          <a:p>
            <a:pPr algn="l">
              <a:spcAft>
                <a:spcPts val="300"/>
              </a:spcAft>
            </a:pPr>
            <a:r>
              <a:rPr sz="1100" b="1" i="0">
                <a:solidFill>
                  <a:srgbClr val="1E2A3A"/>
                </a:solidFill>
                <a:latin typeface="Arial"/>
              </a:rPr>
              <a:t>Why: </a:t>
            </a:r>
            <a:r>
              <a:rPr sz="1100" b="0" i="0">
                <a:solidFill>
                  <a:srgbClr val="3D4F6A"/>
                </a:solidFill>
                <a:latin typeface="Arial"/>
              </a:rPr>
              <a:t>4 to 5 new clients, about 40 hours each; one founder is in Singapore.</a:t>
            </a:r>
          </a:p>
          <a:p>
            <a:pPr algn="l">
              <a:spcAft>
                <a:spcPts val="300"/>
              </a:spcAft>
            </a:pPr>
            <a:r>
              <a:rPr sz="1100" b="1" i="0">
                <a:solidFill>
                  <a:srgbClr val="1E2A3A"/>
                </a:solidFill>
                <a:latin typeface="Arial"/>
              </a:rPr>
              <a:t>Fix: </a:t>
            </a:r>
            <a:r>
              <a:rPr sz="1100" b="0" i="0">
                <a:solidFill>
                  <a:srgbClr val="3D4F6A"/>
                </a:solidFill>
                <a:latin typeface="Arial"/>
              </a:rPr>
              <a:t>Kia (CEO) leads BI and banks; Galih leads EAP 2 and people.</a:t>
            </a:r>
          </a:p>
        </p:txBody>
      </p:sp>
      <p:sp>
        <p:nvSpPr>
          <p:cNvPr id="11" name="Rounded Rectangle 10"/>
          <p:cNvSpPr/>
          <p:nvPr/>
        </p:nvSpPr>
        <p:spPr>
          <a:xfrm>
            <a:off x="4251960" y="4480560"/>
            <a:ext cx="3611880" cy="54864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400" b="1" i="0">
                <a:solidFill>
                  <a:srgbClr val="FFFFFF"/>
                </a:solidFill>
                <a:latin typeface="Georgia"/>
              </a:rPr>
              <a:t>Project manager</a:t>
            </a:r>
          </a:p>
          <a:p>
            <a:pPr algn="l">
              <a:spcAft>
                <a:spcPts val="0"/>
              </a:spcAft>
            </a:pPr>
            <a:r>
              <a:rPr sz="1100" b="0" i="0">
                <a:solidFill>
                  <a:srgbClr val="FFFFFF"/>
                </a:solidFill>
                <a:latin typeface="Arial"/>
              </a:rPr>
              <a:t>Jul to Dec 2027</a:t>
            </a:r>
          </a:p>
        </p:txBody>
      </p:sp>
      <p:sp>
        <p:nvSpPr>
          <p:cNvPr id="12" name="Rounded Rectangle 11"/>
          <p:cNvSpPr/>
          <p:nvPr/>
        </p:nvSpPr>
        <p:spPr>
          <a:xfrm>
            <a:off x="4251960" y="5074920"/>
            <a:ext cx="3611880" cy="12344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36576" bIns="36576"/>
          <a:lstStyle/>
          <a:p>
            <a:pPr algn="l">
              <a:spcAft>
                <a:spcPts val="300"/>
              </a:spcAft>
            </a:pPr>
            <a:r>
              <a:rPr sz="1100" b="1" i="0">
                <a:solidFill>
                  <a:srgbClr val="1E2A3A"/>
                </a:solidFill>
                <a:latin typeface="Arial"/>
              </a:rPr>
              <a:t>Why: </a:t>
            </a:r>
            <a:r>
              <a:rPr sz="1100" b="0" i="0">
                <a:solidFill>
                  <a:srgbClr val="3D4F6A"/>
                </a:solidFill>
                <a:latin typeface="Arial"/>
              </a:rPr>
              <a:t>Up to 6 projects a month: 3 times what she can run.</a:t>
            </a:r>
          </a:p>
          <a:p>
            <a:pPr algn="l">
              <a:spcAft>
                <a:spcPts val="300"/>
              </a:spcAft>
            </a:pPr>
            <a:r>
              <a:rPr sz="1100" b="1" i="0">
                <a:solidFill>
                  <a:srgbClr val="1E2A3A"/>
                </a:solidFill>
                <a:latin typeface="Arial"/>
              </a:rPr>
              <a:t>Fix: </a:t>
            </a:r>
            <a:r>
              <a:rPr sz="1100" b="0" i="0">
                <a:solidFill>
                  <a:srgbClr val="3D4F6A"/>
                </a:solidFill>
                <a:latin typeface="Arial"/>
              </a:rPr>
              <a:t>A standby project manager at Rp2M a project, booked by May.</a:t>
            </a:r>
          </a:p>
        </p:txBody>
      </p:sp>
      <p:sp>
        <p:nvSpPr>
          <p:cNvPr id="13" name="Rounded Rectangle 12"/>
          <p:cNvSpPr/>
          <p:nvPr/>
        </p:nvSpPr>
        <p:spPr>
          <a:xfrm>
            <a:off x="8046720" y="4480560"/>
            <a:ext cx="3611880" cy="5486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400" b="1" i="0">
                <a:solidFill>
                  <a:srgbClr val="FFFFFF"/>
                </a:solidFill>
                <a:latin typeface="Georgia"/>
              </a:rPr>
              <a:t>Trainers</a:t>
            </a:r>
          </a:p>
          <a:p>
            <a:pPr algn="l">
              <a:spcAft>
                <a:spcPts val="0"/>
              </a:spcAft>
            </a:pPr>
            <a:r>
              <a:rPr sz="1100" b="0" i="0">
                <a:solidFill>
                  <a:srgbClr val="FFFFFF"/>
                </a:solidFill>
                <a:latin typeface="Arial"/>
              </a:rPr>
              <a:t>Oct to Dec 2027</a:t>
            </a:r>
          </a:p>
        </p:txBody>
      </p:sp>
      <p:sp>
        <p:nvSpPr>
          <p:cNvPr id="14" name="Rounded Rectangle 13"/>
          <p:cNvSpPr/>
          <p:nvPr/>
        </p:nvSpPr>
        <p:spPr>
          <a:xfrm>
            <a:off x="8046720" y="5074920"/>
            <a:ext cx="3611880" cy="12344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36576" bIns="36576"/>
          <a:lstStyle/>
          <a:p>
            <a:pPr algn="l">
              <a:spcAft>
                <a:spcPts val="300"/>
              </a:spcAft>
            </a:pPr>
            <a:r>
              <a:rPr sz="1100" b="1" i="0">
                <a:solidFill>
                  <a:srgbClr val="1E2A3A"/>
                </a:solidFill>
                <a:latin typeface="Arial"/>
              </a:rPr>
              <a:t>Why: </a:t>
            </a:r>
            <a:r>
              <a:rPr sz="1100" b="0" i="0">
                <a:solidFill>
                  <a:srgbClr val="3D4F6A"/>
                </a:solidFill>
                <a:latin typeface="Arial"/>
              </a:rPr>
              <a:t>8 needed in the busiest month; we have 2 today.</a:t>
            </a:r>
          </a:p>
          <a:p>
            <a:pPr algn="l">
              <a:spcAft>
                <a:spcPts val="300"/>
              </a:spcAft>
            </a:pPr>
            <a:r>
              <a:rPr sz="1100" b="1" i="0">
                <a:solidFill>
                  <a:srgbClr val="1E2A3A"/>
                </a:solidFill>
                <a:latin typeface="Arial"/>
              </a:rPr>
              <a:t>Fix: </a:t>
            </a:r>
            <a:r>
              <a:rPr sz="1100" b="0" i="0">
                <a:solidFill>
                  <a:srgbClr val="3D4F6A"/>
                </a:solidFill>
                <a:latin typeface="Arial"/>
              </a:rPr>
              <a:t>Recruit in July, certify by September. 8 is enough, not 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Treat each type of worker </a:t>
            </a:r>
            <a:r>
              <a:rPr sz="2800" b="1" i="0">
                <a:solidFill>
                  <a:srgbClr val="9B3809"/>
                </a:solidFill>
                <a:latin typeface="Georgia"/>
              </a:rPr>
              <a:t>differently</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Sort our people by how hard they are to replace and how much they affect our results.</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 · PEOPLE</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Kraljic, P. (1983), Purchasing must become supply management, Harvard Business Review. Team numbers from our model.</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24</a:t>
            </a:r>
          </a:p>
        </p:txBody>
      </p:sp>
      <p:sp>
        <p:nvSpPr>
          <p:cNvPr id="7" name="Rounded Rectangle 6"/>
          <p:cNvSpPr/>
          <p:nvPr/>
        </p:nvSpPr>
        <p:spPr>
          <a:xfrm>
            <a:off x="1143000" y="1463040"/>
            <a:ext cx="3291840" cy="21717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500"/>
              </a:spcAft>
            </a:pPr>
            <a:r>
              <a:rPr sz="1400" b="1" i="0">
                <a:solidFill>
                  <a:srgbClr val="576C94"/>
                </a:solidFill>
                <a:latin typeface="Georgia"/>
              </a:rPr>
              <a:t>Hard to replace, smaller effect</a:t>
            </a:r>
          </a:p>
          <a:p>
            <a:pPr algn="l">
              <a:spcAft>
                <a:spcPts val="500"/>
              </a:spcAft>
            </a:pPr>
            <a:r>
              <a:rPr sz="1200" b="0" i="0">
                <a:solidFill>
                  <a:srgbClr val="3D4F6A"/>
                </a:solidFill>
                <a:latin typeface="Arial"/>
              </a:rPr>
              <a:t>Project manager: only 1 person</a:t>
            </a:r>
          </a:p>
          <a:p>
            <a:pPr algn="l">
              <a:spcAft>
                <a:spcPts val="500"/>
              </a:spcAft>
            </a:pPr>
            <a:r>
              <a:rPr sz="1200" b="0" i="0">
                <a:solidFill>
                  <a:srgbClr val="3D4F6A"/>
                </a:solidFill>
                <a:latin typeface="Arial"/>
              </a:rPr>
              <a:t>Trainers: 2 today, up to 8 needed</a:t>
            </a:r>
          </a:p>
          <a:p>
            <a:pPr algn="l">
              <a:spcAft>
                <a:spcPts val="500"/>
              </a:spcAft>
            </a:pPr>
            <a:r>
              <a:rPr sz="1200" b="1" i="0">
                <a:solidFill>
                  <a:srgbClr val="576C94"/>
                </a:solidFill>
                <a:latin typeface="Arial"/>
              </a:rPr>
              <a:t>Do: </a:t>
            </a:r>
            <a:r>
              <a:rPr sz="1200" b="1" i="0">
                <a:solidFill>
                  <a:srgbClr val="1E2A3A"/>
                </a:solidFill>
                <a:latin typeface="Arial"/>
              </a:rPr>
              <a:t>Secure them</a:t>
            </a:r>
          </a:p>
        </p:txBody>
      </p:sp>
      <p:sp>
        <p:nvSpPr>
          <p:cNvPr id="8" name="Rounded Rectangle 7"/>
          <p:cNvSpPr/>
          <p:nvPr/>
        </p:nvSpPr>
        <p:spPr>
          <a:xfrm>
            <a:off x="4526280" y="1463040"/>
            <a:ext cx="3291840" cy="2171700"/>
          </a:xfrm>
          <a:prstGeom prst="roundRect">
            <a:avLst>
              <a:gd name="adj" fmla="val 6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500"/>
              </a:spcAft>
            </a:pPr>
            <a:r>
              <a:rPr sz="1400" b="1" i="0">
                <a:solidFill>
                  <a:srgbClr val="9B3809"/>
                </a:solidFill>
                <a:latin typeface="Georgia"/>
              </a:rPr>
              <a:t>Hard to replace, big effect</a:t>
            </a:r>
          </a:p>
          <a:p>
            <a:pPr algn="l">
              <a:spcAft>
                <a:spcPts val="500"/>
              </a:spcAft>
            </a:pPr>
            <a:r>
              <a:rPr sz="1200" b="0" i="0">
                <a:solidFill>
                  <a:srgbClr val="3D4F6A"/>
                </a:solidFill>
                <a:latin typeface="Arial"/>
              </a:rPr>
              <a:t>Lead psychologist (part-time)</a:t>
            </a:r>
          </a:p>
          <a:p>
            <a:pPr algn="l">
              <a:spcAft>
                <a:spcPts val="500"/>
              </a:spcAft>
            </a:pPr>
            <a:r>
              <a:rPr sz="1200" b="0" i="0">
                <a:solidFill>
                  <a:srgbClr val="3D4F6A"/>
                </a:solidFill>
                <a:latin typeface="Arial"/>
              </a:rPr>
              <a:t>Lead trainers that regulators trust</a:t>
            </a:r>
          </a:p>
          <a:p>
            <a:pPr algn="l">
              <a:spcAft>
                <a:spcPts val="500"/>
              </a:spcAft>
            </a:pPr>
            <a:r>
              <a:rPr sz="1200" b="1" i="0">
                <a:solidFill>
                  <a:srgbClr val="9B3809"/>
                </a:solidFill>
                <a:latin typeface="Arial"/>
              </a:rPr>
              <a:t>Do: </a:t>
            </a:r>
            <a:r>
              <a:rPr sz="1200" b="1" i="0">
                <a:solidFill>
                  <a:srgbClr val="1E2A3A"/>
                </a:solidFill>
                <a:latin typeface="Arial"/>
              </a:rPr>
              <a:t>Long-term partnership, fair pay, a career path</a:t>
            </a:r>
          </a:p>
        </p:txBody>
      </p:sp>
      <p:sp>
        <p:nvSpPr>
          <p:cNvPr id="9" name="Rounded Rectangle 8"/>
          <p:cNvSpPr/>
          <p:nvPr/>
        </p:nvSpPr>
        <p:spPr>
          <a:xfrm>
            <a:off x="1143000" y="3726180"/>
            <a:ext cx="3291840" cy="2171700"/>
          </a:xfrm>
          <a:prstGeom prst="roundRect">
            <a:avLst>
              <a:gd name="adj" fmla="val 6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500"/>
              </a:spcAft>
            </a:pPr>
            <a:r>
              <a:rPr sz="1400" b="1" i="0">
                <a:solidFill>
                  <a:srgbClr val="6B7A99"/>
                </a:solidFill>
                <a:latin typeface="Georgia"/>
              </a:rPr>
              <a:t>Easy to replace, smaller effect</a:t>
            </a:r>
          </a:p>
          <a:p>
            <a:pPr algn="l">
              <a:spcAft>
                <a:spcPts val="500"/>
              </a:spcAft>
            </a:pPr>
            <a:r>
              <a:rPr sz="1200" b="0" i="0">
                <a:solidFill>
                  <a:srgbClr val="3D4F6A"/>
                </a:solidFill>
                <a:latin typeface="Arial"/>
              </a:rPr>
              <a:t>Event helpers, design, interns</a:t>
            </a:r>
          </a:p>
          <a:p>
            <a:pPr algn="l">
              <a:spcAft>
                <a:spcPts val="500"/>
              </a:spcAft>
            </a:pPr>
            <a:r>
              <a:rPr sz="1200" b="0" i="0">
                <a:solidFill>
                  <a:srgbClr val="3D4F6A"/>
                </a:solidFill>
                <a:latin typeface="Arial"/>
              </a:rPr>
              <a:t>Venue and travel (client pays)</a:t>
            </a:r>
          </a:p>
          <a:p>
            <a:pPr algn="l">
              <a:spcAft>
                <a:spcPts val="500"/>
              </a:spcAft>
            </a:pPr>
            <a:r>
              <a:rPr sz="1200" b="1" i="0">
                <a:solidFill>
                  <a:srgbClr val="6B7A99"/>
                </a:solidFill>
                <a:latin typeface="Arial"/>
              </a:rPr>
              <a:t>Do: </a:t>
            </a:r>
            <a:r>
              <a:rPr sz="1200" b="1" i="0">
                <a:solidFill>
                  <a:srgbClr val="1E2A3A"/>
                </a:solidFill>
                <a:latin typeface="Arial"/>
              </a:rPr>
              <a:t>Keep it simple, pay per day</a:t>
            </a:r>
          </a:p>
        </p:txBody>
      </p:sp>
      <p:sp>
        <p:nvSpPr>
          <p:cNvPr id="10" name="Rounded Rectangle 9"/>
          <p:cNvSpPr/>
          <p:nvPr/>
        </p:nvSpPr>
        <p:spPr>
          <a:xfrm>
            <a:off x="4526280" y="3726180"/>
            <a:ext cx="3291840" cy="21717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500"/>
              </a:spcAft>
            </a:pPr>
            <a:r>
              <a:rPr sz="1400" b="1" i="0">
                <a:solidFill>
                  <a:srgbClr val="1E2A3A"/>
                </a:solidFill>
                <a:latin typeface="Georgia"/>
              </a:rPr>
              <a:t>Easy to replace, big effect</a:t>
            </a:r>
          </a:p>
          <a:p>
            <a:pPr algn="l">
              <a:spcAft>
                <a:spcPts val="500"/>
              </a:spcAft>
            </a:pPr>
            <a:r>
              <a:rPr sz="1200" b="0" i="0">
                <a:solidFill>
                  <a:srgbClr val="3D4F6A"/>
                </a:solidFill>
                <a:latin typeface="Arial"/>
              </a:rPr>
              <a:t>Part-time psychologists for EAP</a:t>
            </a:r>
          </a:p>
          <a:p>
            <a:pPr algn="l">
              <a:spcAft>
                <a:spcPts val="500"/>
              </a:spcAft>
            </a:pPr>
            <a:r>
              <a:rPr sz="1200" b="0" i="0">
                <a:solidFill>
                  <a:srgbClr val="3D4F6A"/>
                </a:solidFill>
                <a:latin typeface="Arial"/>
              </a:rPr>
              <a:t>Many licensed psychologists in Jakarta</a:t>
            </a:r>
          </a:p>
          <a:p>
            <a:pPr algn="l">
              <a:spcAft>
                <a:spcPts val="500"/>
              </a:spcAft>
            </a:pPr>
            <a:r>
              <a:rPr sz="1200" b="1" i="0">
                <a:solidFill>
                  <a:srgbClr val="1E2A3A"/>
                </a:solidFill>
                <a:latin typeface="Arial"/>
              </a:rPr>
              <a:t>Do: </a:t>
            </a:r>
            <a:r>
              <a:rPr sz="1200" b="1" i="0">
                <a:solidFill>
                  <a:srgbClr val="1E2A3A"/>
                </a:solidFill>
                <a:latin typeface="Arial"/>
              </a:rPr>
              <a:t>Build a group, pay per session</a:t>
            </a:r>
          </a:p>
        </p:txBody>
      </p:sp>
      <p:sp>
        <p:nvSpPr>
          <p:cNvPr id="11" name="RiskAxis"/>
          <p:cNvSpPr txBox="1"/>
          <p:nvPr/>
        </p:nvSpPr>
        <p:spPr>
          <a:xfrm rot="16200000">
            <a:off x="-1485900" y="3497580"/>
            <a:ext cx="4526280" cy="365760"/>
          </a:xfrm>
          <a:prstGeom prst="rect">
            <a:avLst/>
          </a:prstGeom>
          <a:noFill/>
        </p:spPr>
        <p:txBody>
          <a:bodyPr wrap="square" anchor="ctr" lIns="73152" rIns="73152" tIns="36576" bIns="36576">
            <a:spAutoFit/>
          </a:bodyPr>
          <a:lstStyle/>
          <a:p>
            <a:pPr algn="ctr">
              <a:spcAft>
                <a:spcPts val="400"/>
              </a:spcAft>
            </a:pPr>
            <a:r>
              <a:rPr sz="1200" b="1" i="0">
                <a:solidFill>
                  <a:srgbClr val="6B7A99"/>
                </a:solidFill>
                <a:latin typeface="Arial"/>
              </a:rPr>
              <a:t>How hard to replace them</a:t>
            </a:r>
          </a:p>
        </p:txBody>
      </p:sp>
      <p:sp>
        <p:nvSpPr>
          <p:cNvPr id="12" name="TextBox 11"/>
          <p:cNvSpPr txBox="1"/>
          <p:nvPr/>
        </p:nvSpPr>
        <p:spPr>
          <a:xfrm>
            <a:off x="1097280" y="5961888"/>
            <a:ext cx="6766560" cy="320040"/>
          </a:xfrm>
          <a:prstGeom prst="rect">
            <a:avLst/>
          </a:prstGeom>
          <a:noFill/>
        </p:spPr>
        <p:txBody>
          <a:bodyPr wrap="square" anchor="t" lIns="73152" rIns="73152" tIns="36576" bIns="36576">
            <a:spAutoFit/>
          </a:bodyPr>
          <a:lstStyle/>
          <a:p>
            <a:pPr algn="ctr">
              <a:spcAft>
                <a:spcPts val="400"/>
              </a:spcAft>
            </a:pPr>
            <a:r>
              <a:rPr sz="1200" b="1" i="0">
                <a:solidFill>
                  <a:srgbClr val="6B7A99"/>
                </a:solidFill>
                <a:latin typeface="Arial"/>
              </a:rPr>
              <a:t>How much they affect our results and our clients' trust</a:t>
            </a:r>
          </a:p>
        </p:txBody>
      </p:sp>
      <p:sp>
        <p:nvSpPr>
          <p:cNvPr id="13" name="Rounded Rectangle 12"/>
          <p:cNvSpPr/>
          <p:nvPr/>
        </p:nvSpPr>
        <p:spPr>
          <a:xfrm>
            <a:off x="8183879" y="1463040"/>
            <a:ext cx="356616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Rp48M</a:t>
            </a:r>
          </a:p>
          <a:p>
            <a:pPr algn="l">
              <a:spcAft>
                <a:spcPts val="200"/>
              </a:spcAft>
            </a:pPr>
            <a:r>
              <a:rPr sz="1200" b="0" i="0">
                <a:solidFill>
                  <a:srgbClr val="3D4F6A"/>
                </a:solidFill>
                <a:latin typeface="Arial"/>
              </a:rPr>
              <a:t>a year: all we save if we cut delivery costs by 10%. Keeping people matters more.</a:t>
            </a:r>
          </a:p>
        </p:txBody>
      </p:sp>
      <p:sp>
        <p:nvSpPr>
          <p:cNvPr id="14" name="Rounded Rectangle 13"/>
          <p:cNvSpPr/>
          <p:nvPr/>
        </p:nvSpPr>
        <p:spPr>
          <a:xfrm>
            <a:off x="8183879" y="3017520"/>
            <a:ext cx="3566160" cy="32918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800"/>
              </a:spcAft>
            </a:pPr>
            <a:r>
              <a:rPr sz="1500" b="1" i="0">
                <a:solidFill>
                  <a:srgbClr val="1E2A3A"/>
                </a:solidFill>
                <a:latin typeface="Georgia"/>
              </a:rPr>
              <a:t>What this means</a:t>
            </a:r>
          </a:p>
          <a:p>
            <a:pPr algn="l">
              <a:spcAft>
                <a:spcPts val="800"/>
              </a:spcAft>
            </a:pPr>
            <a:r>
              <a:rPr sz="1300" b="1" i="0">
                <a:solidFill>
                  <a:srgbClr val="9B3809"/>
                </a:solidFill>
                <a:latin typeface="Arial"/>
              </a:rPr>
              <a:t>•  </a:t>
            </a:r>
            <a:r>
              <a:rPr sz="1300" b="0" i="0">
                <a:solidFill>
                  <a:srgbClr val="3D4F6A"/>
                </a:solidFill>
                <a:latin typeface="Arial"/>
              </a:rPr>
              <a:t>Do not cut pay: the right price is not the lowest price.</a:t>
            </a:r>
          </a:p>
          <a:p>
            <a:pPr algn="l">
              <a:spcAft>
                <a:spcPts val="800"/>
              </a:spcAft>
            </a:pPr>
            <a:r>
              <a:rPr sz="1300" b="1" i="0">
                <a:solidFill>
                  <a:srgbClr val="9B3809"/>
                </a:solidFill>
                <a:latin typeface="Arial"/>
              </a:rPr>
              <a:t>•  </a:t>
            </a:r>
            <a:r>
              <a:rPr sz="1300" b="0" i="0">
                <a:solidFill>
                  <a:srgbClr val="3D4F6A"/>
                </a:solidFill>
                <a:latin typeface="Arial"/>
              </a:rPr>
              <a:t>One project manager and two trainers limit how much we can sell.</a:t>
            </a:r>
          </a:p>
          <a:p>
            <a:pPr algn="l">
              <a:spcAft>
                <a:spcPts val="800"/>
              </a:spcAft>
            </a:pPr>
            <a:r>
              <a:rPr sz="1300" b="1" i="0">
                <a:solidFill>
                  <a:srgbClr val="9B3809"/>
                </a:solidFill>
                <a:latin typeface="Arial"/>
              </a:rPr>
              <a:t>•  </a:t>
            </a:r>
            <a:r>
              <a:rPr sz="1300" b="0" i="0">
                <a:solidFill>
                  <a:srgbClr val="3D4F6A"/>
                </a:solidFill>
                <a:latin typeface="Arial"/>
              </a:rPr>
              <a:t>Pay part-timers per piece of work, so quiet months do not burn cash.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25</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PART D OF D</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D</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Is our cash safe, and when can we invest?</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Safe in all three estimates if we sell early and get paid earlier. We invest only above a 6-month cushion.</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26.1%</a:t>
            </a:r>
          </a:p>
          <a:p>
            <a:pPr algn="l">
              <a:spcAft>
                <a:spcPts val="200"/>
              </a:spcAft>
            </a:pPr>
            <a:r>
              <a:rPr sz="1100" b="0" i="0">
                <a:solidFill>
                  <a:srgbClr val="C9D2E3"/>
                </a:solidFill>
                <a:latin typeface="Arial"/>
              </a:rPr>
              <a:t>net margin, current estimate</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Rp82M</a:t>
            </a:r>
          </a:p>
          <a:p>
            <a:pPr algn="l">
              <a:spcAft>
                <a:spcPts val="200"/>
              </a:spcAft>
            </a:pPr>
            <a:r>
              <a:rPr sz="1100" b="0" i="0">
                <a:solidFill>
                  <a:srgbClr val="C9D2E3"/>
                </a:solidFill>
                <a:latin typeface="Arial"/>
              </a:rPr>
              <a:t>lowest cash, Feb 2027</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What if the year is bad, or good?</a:t>
            </a:r>
          </a:p>
          <a:p>
            <a:pPr algn="l">
              <a:spcAft>
                <a:spcPts val="300"/>
              </a:spcAft>
            </a:pPr>
            <a:r>
              <a:rPr sz="1200" b="1" i="0">
                <a:solidFill>
                  <a:srgbClr val="E8904A"/>
                </a:solidFill>
                <a:latin typeface="Arial"/>
              </a:rPr>
              <a:t>•  </a:t>
            </a:r>
            <a:r>
              <a:rPr sz="1200" b="0" i="0">
                <a:solidFill>
                  <a:srgbClr val="C9D2E3"/>
                </a:solidFill>
                <a:latin typeface="Arial"/>
              </a:rPr>
              <a:t>How do we protect cash until March?</a:t>
            </a:r>
          </a:p>
          <a:p>
            <a:pPr algn="l">
              <a:spcAft>
                <a:spcPts val="300"/>
              </a:spcAft>
            </a:pPr>
            <a:r>
              <a:rPr sz="1200" b="1" i="0">
                <a:solidFill>
                  <a:srgbClr val="E8904A"/>
                </a:solidFill>
                <a:latin typeface="Arial"/>
              </a:rPr>
              <a:t>•  </a:t>
            </a:r>
            <a:r>
              <a:rPr sz="1200" b="0" i="0">
                <a:solidFill>
                  <a:srgbClr val="C9D2E3"/>
                </a:solidFill>
                <a:latin typeface="Arial"/>
              </a:rPr>
              <a:t>When can we invest in new units?</a:t>
            </a:r>
          </a:p>
        </p:txBody>
      </p:sp>
      <p:sp>
        <p:nvSpPr>
          <p:cNvPr id="10" name="TextBox 9"/>
          <p:cNvSpPr txBox="1"/>
          <p:nvPr/>
        </p:nvSpPr>
        <p:spPr>
          <a:xfrm>
            <a:off x="2240280" y="4663440"/>
            <a:ext cx="5943600" cy="365760"/>
          </a:xfrm>
          <a:prstGeom prst="rect">
            <a:avLst/>
          </a:prstGeom>
          <a:noFill/>
        </p:spPr>
        <p:txBody>
          <a:bodyPr wrap="square" anchor="ctr" lIns="0" rIns="0" tIns="36576" bIns="36576">
            <a:spAutoFit/>
          </a:bodyPr>
          <a:lstStyle/>
          <a:p>
            <a:pPr algn="l">
              <a:spcAft>
                <a:spcPts val="400"/>
              </a:spcAft>
            </a:pPr>
            <a:r>
              <a:rPr sz="1300" b="1" i="0">
                <a:solidFill>
                  <a:srgbClr val="E8904A"/>
                </a:solidFill>
                <a:latin typeface="Arial"/>
              </a:rPr>
              <a:t>Serves pillars:  </a:t>
            </a:r>
            <a:r>
              <a:rPr sz="1300" b="0" i="0">
                <a:solidFill>
                  <a:srgbClr val="C9D2E3"/>
                </a:solidFill>
                <a:latin typeface="Arial"/>
              </a:rPr>
              <a:t>3 Company</a:t>
            </a:r>
          </a:p>
        </p:txBody>
      </p:sp>
      <p:sp>
        <p:nvSpPr>
          <p:cNvPr id="11" name="Rounded Rectangle 10"/>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12" name="Rounded Rectangle 11"/>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3" name="Rounded Rectangle 12"/>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4" name="Rounded Rectangle 13"/>
          <p:cNvSpPr/>
          <p:nvPr/>
        </p:nvSpPr>
        <p:spPr>
          <a:xfrm>
            <a:off x="9372600" y="5715000"/>
            <a:ext cx="2240280" cy="43891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1E2A3A"/>
                </a:solidFill>
                <a:latin typeface="Arial"/>
              </a:rPr>
              <a:t>D  </a:t>
            </a:r>
            <a:r>
              <a:rPr sz="1300" b="1" i="0">
                <a:solidFill>
                  <a:srgbClr val="1E2A3A"/>
                </a:solidFill>
                <a:latin typeface="Arial"/>
              </a:rPr>
              <a:t>Money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Three estimates: </a:t>
            </a:r>
            <a:r>
              <a:rPr sz="2800" b="1" i="0">
                <a:solidFill>
                  <a:srgbClr val="9B3809"/>
                </a:solidFill>
                <a:latin typeface="Georgia"/>
              </a:rPr>
              <a:t>a bad year</a:t>
            </a:r>
            <a:r>
              <a:rPr sz="2800" b="1" i="0">
                <a:solidFill>
                  <a:srgbClr val="1E2A3A"/>
                </a:solidFill>
                <a:latin typeface="Georgia"/>
              </a:rPr>
              <a:t>, our plan, a good year</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Even in the bad year the margin stays above 15%, because pay steps and hires wait for sales.</a:t>
            </a:r>
          </a:p>
        </p:txBody>
      </p:sp>
      <p:sp>
        <p:nvSpPr>
          <p:cNvPr id="4" name="Tag"/>
          <p:cNvSpPr/>
          <p:nvPr/>
        </p:nvSpPr>
        <p:spPr>
          <a:xfrm>
            <a:off x="10469880" y="420624"/>
            <a:ext cx="1280160" cy="310896"/>
          </a:xfrm>
          <a:prstGeom prst="roundRect">
            <a:avLst>
              <a:gd name="adj" fmla="val 5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D · MONEY</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every estimate recalculated in Excel.</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26</a:t>
            </a:r>
          </a:p>
        </p:txBody>
      </p:sp>
      <p:graphicFrame>
        <p:nvGraphicFramePr>
          <p:cNvPr id="7" name="Chart 6"/>
          <p:cNvGraphicFramePr>
            <a:graphicFrameLocks noGrp="1"/>
          </p:cNvGraphicFramePr>
          <p:nvPr/>
        </p:nvGraphicFramePr>
        <p:xfrm>
          <a:off x="457200" y="1371600"/>
          <a:ext cx="5120640" cy="493776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5852160" y="1417320"/>
          <a:ext cx="5897880" cy="3200400"/>
        </p:xfrm>
        <a:graphic>
          <a:graphicData uri="http://schemas.openxmlformats.org/drawingml/2006/table">
            <a:tbl>
              <a:tblPr firstRow="1" bandRow="1">
                <a:tableStyleId>{5C22544A-7EE6-4342-B048-85BDC9FD1C3A}</a:tableStyleId>
              </a:tblPr>
              <a:tblGrid>
                <a:gridCol w="2057400"/>
                <a:gridCol w="1280160"/>
                <a:gridCol w="1280160"/>
                <a:gridCol w="1280160"/>
              </a:tblGrid>
              <a:tr h="457200">
                <a:tc>
                  <a:txBody>
                    <a:bodyPr wrap="square"/>
                    <a:lstStyle/>
                    <a:p>
                      <a:r>
                        <a:rPr sz="1100" b="1">
                          <a:solidFill>
                            <a:srgbClr val="FFFFFF"/>
                          </a:solidFill>
                          <a:latin typeface="Arial"/>
                        </a:rPr>
                        <a:t>2027</a:t>
                      </a:r>
                    </a:p>
                  </a:txBody>
                  <a:tcPr marL="73152" marR="73152" marT="27432" marB="27432" anchor="ctr">
                    <a:solidFill>
                      <a:srgbClr val="1E2A3A"/>
                    </a:solidFill>
                  </a:tcPr>
                </a:tc>
                <a:tc>
                  <a:txBody>
                    <a:bodyPr wrap="square"/>
                    <a:lstStyle/>
                    <a:p>
                      <a:r>
                        <a:rPr sz="1100" b="1">
                          <a:solidFill>
                            <a:srgbClr val="FFFFFF"/>
                          </a:solidFill>
                          <a:latin typeface="Arial"/>
                        </a:rPr>
                        <a:t>Conservative</a:t>
                      </a:r>
                    </a:p>
                  </a:txBody>
                  <a:tcPr marL="73152" marR="73152" marT="27432" marB="27432" anchor="ctr">
                    <a:solidFill>
                      <a:srgbClr val="1E2A3A"/>
                    </a:solidFill>
                  </a:tcPr>
                </a:tc>
                <a:tc>
                  <a:txBody>
                    <a:bodyPr wrap="square"/>
                    <a:lstStyle/>
                    <a:p>
                      <a:r>
                        <a:rPr sz="1100" b="1">
                          <a:solidFill>
                            <a:srgbClr val="FFFFFF"/>
                          </a:solidFill>
                          <a:latin typeface="Arial"/>
                        </a:rPr>
                        <a:t>Current</a:t>
                      </a:r>
                    </a:p>
                  </a:txBody>
                  <a:tcPr marL="73152" marR="73152" marT="27432" marB="27432" anchor="ctr">
                    <a:solidFill>
                      <a:srgbClr val="1E2A3A"/>
                    </a:solidFill>
                  </a:tcPr>
                </a:tc>
                <a:tc>
                  <a:txBody>
                    <a:bodyPr wrap="square"/>
                    <a:lstStyle/>
                    <a:p>
                      <a:r>
                        <a:rPr sz="1100" b="1">
                          <a:solidFill>
                            <a:srgbClr val="FFFFFF"/>
                          </a:solidFill>
                          <a:latin typeface="Arial"/>
                        </a:rPr>
                        <a:t>Aggressive</a:t>
                      </a:r>
                    </a:p>
                  </a:txBody>
                  <a:tcPr marL="73152" marR="73152" marT="27432" marB="27432" anchor="ctr">
                    <a:solidFill>
                      <a:srgbClr val="1E2A3A"/>
                    </a:solidFill>
                  </a:tcPr>
                </a:tc>
              </a:tr>
              <a:tr h="457200">
                <a:tc>
                  <a:txBody>
                    <a:bodyPr wrap="square"/>
                    <a:lstStyle/>
                    <a:p>
                      <a:r>
                        <a:rPr sz="1100" b="1">
                          <a:solidFill>
                            <a:srgbClr val="1E2A3A"/>
                          </a:solidFill>
                          <a:latin typeface="Arial"/>
                        </a:rPr>
                        <a:t>What it assumes</a:t>
                      </a:r>
                    </a:p>
                  </a:txBody>
                  <a:tcPr marL="73152" marR="73152" marT="27432" marB="27432" anchor="ctr">
                    <a:solidFill>
                      <a:srgbClr val="FFFFFF"/>
                    </a:solidFill>
                  </a:tcPr>
                </a:tc>
                <a:tc>
                  <a:txBody>
                    <a:bodyPr wrap="square"/>
                    <a:lstStyle/>
                    <a:p>
                      <a:r>
                        <a:rPr sz="1100" b="0">
                          <a:solidFill>
                            <a:srgbClr val="3D4F6A"/>
                          </a:solidFill>
                          <a:latin typeface="Arial"/>
                        </a:rPr>
                        <a:t>BI buys 30% less, no bank deal</a:t>
                      </a:r>
                    </a:p>
                  </a:txBody>
                  <a:tcPr marL="73152" marR="73152" marT="27432" marB="27432" anchor="ctr">
                    <a:solidFill>
                      <a:srgbClr val="FFFFFF"/>
                    </a:solidFill>
                  </a:tcPr>
                </a:tc>
                <a:tc>
                  <a:txBody>
                    <a:bodyPr wrap="square"/>
                    <a:lstStyle/>
                    <a:p>
                      <a:r>
                        <a:rPr sz="1100" b="0">
                          <a:solidFill>
                            <a:srgbClr val="3D4F6A"/>
                          </a:solidFill>
                          <a:latin typeface="Arial"/>
                        </a:rPr>
                        <a:t>our plan</a:t>
                      </a:r>
                    </a:p>
                  </a:txBody>
                  <a:tcPr marL="73152" marR="73152" marT="27432" marB="27432" anchor="ctr">
                    <a:solidFill>
                      <a:srgbClr val="DDE6F5"/>
                    </a:solidFill>
                  </a:tcPr>
                </a:tc>
                <a:tc>
                  <a:txBody>
                    <a:bodyPr wrap="square"/>
                    <a:lstStyle/>
                    <a:p>
                      <a:r>
                        <a:rPr sz="1100" b="0">
                          <a:solidFill>
                            <a:srgbClr val="3D4F6A"/>
                          </a:solidFill>
                          <a:latin typeface="Arial"/>
                        </a:rPr>
                        <a:t>bank deal from July, 2 days a month</a:t>
                      </a:r>
                    </a:p>
                  </a:txBody>
                  <a:tcPr marL="73152" marR="73152" marT="27432" marB="27432" anchor="ctr">
                    <a:solidFill>
                      <a:srgbClr val="FFFFFF"/>
                    </a:solidFill>
                  </a:tcPr>
                </a:tc>
              </a:tr>
              <a:tr h="457200">
                <a:tc>
                  <a:txBody>
                    <a:bodyPr wrap="square"/>
                    <a:lstStyle/>
                    <a:p>
                      <a:r>
                        <a:rPr sz="1100" b="1">
                          <a:solidFill>
                            <a:srgbClr val="1E2A3A"/>
                          </a:solidFill>
                          <a:latin typeface="Arial"/>
                        </a:rPr>
                        <a:t>Sales (Rp M)</a:t>
                      </a:r>
                    </a:p>
                  </a:txBody>
                  <a:tcPr marL="73152" marR="73152" marT="27432" marB="27432" anchor="ctr">
                    <a:solidFill>
                      <a:srgbClr val="F6F2EA"/>
                    </a:solidFill>
                  </a:tcPr>
                </a:tc>
                <a:tc>
                  <a:txBody>
                    <a:bodyPr wrap="square"/>
                    <a:lstStyle/>
                    <a:p>
                      <a:r>
                        <a:rPr sz="1100" b="0">
                          <a:solidFill>
                            <a:srgbClr val="3D4F6A"/>
                          </a:solidFill>
                          <a:latin typeface="Arial"/>
                        </a:rPr>
                        <a:t>1,606</a:t>
                      </a:r>
                    </a:p>
                  </a:txBody>
                  <a:tcPr marL="73152" marR="73152" marT="27432" marB="27432" anchor="ctr">
                    <a:solidFill>
                      <a:srgbClr val="F6F2EA"/>
                    </a:solidFill>
                  </a:tcPr>
                </a:tc>
                <a:tc>
                  <a:txBody>
                    <a:bodyPr wrap="square"/>
                    <a:lstStyle/>
                    <a:p>
                      <a:r>
                        <a:rPr sz="1100" b="0">
                          <a:solidFill>
                            <a:srgbClr val="3D4F6A"/>
                          </a:solidFill>
                          <a:latin typeface="Arial"/>
                        </a:rPr>
                        <a:t>2,040</a:t>
                      </a:r>
                    </a:p>
                  </a:txBody>
                  <a:tcPr marL="73152" marR="73152" marT="27432" marB="27432" anchor="ctr">
                    <a:solidFill>
                      <a:srgbClr val="DDE6F5"/>
                    </a:solidFill>
                  </a:tcPr>
                </a:tc>
                <a:tc>
                  <a:txBody>
                    <a:bodyPr wrap="square"/>
                    <a:lstStyle/>
                    <a:p>
                      <a:r>
                        <a:rPr sz="1100" b="0">
                          <a:solidFill>
                            <a:srgbClr val="3D4F6A"/>
                          </a:solidFill>
                          <a:latin typeface="Arial"/>
                        </a:rPr>
                        <a:t>2,521</a:t>
                      </a:r>
                    </a:p>
                  </a:txBody>
                  <a:tcPr marL="73152" marR="73152" marT="27432" marB="27432" anchor="ctr">
                    <a:solidFill>
                      <a:srgbClr val="F6F2EA"/>
                    </a:solidFill>
                  </a:tcPr>
                </a:tc>
              </a:tr>
              <a:tr h="457200">
                <a:tc>
                  <a:txBody>
                    <a:bodyPr wrap="square"/>
                    <a:lstStyle/>
                    <a:p>
                      <a:r>
                        <a:rPr sz="1100" b="1">
                          <a:solidFill>
                            <a:srgbClr val="1E2A3A"/>
                          </a:solidFill>
                          <a:latin typeface="Arial"/>
                        </a:rPr>
                        <a:t>Net profit (Rp M)</a:t>
                      </a:r>
                    </a:p>
                  </a:txBody>
                  <a:tcPr marL="73152" marR="73152" marT="27432" marB="27432" anchor="ctr">
                    <a:solidFill>
                      <a:srgbClr val="FFFFFF"/>
                    </a:solidFill>
                  </a:tcPr>
                </a:tc>
                <a:tc>
                  <a:txBody>
                    <a:bodyPr wrap="square"/>
                    <a:lstStyle/>
                    <a:p>
                      <a:r>
                        <a:rPr sz="1100" b="0">
                          <a:solidFill>
                            <a:srgbClr val="3D4F6A"/>
                          </a:solidFill>
                          <a:latin typeface="Arial"/>
                        </a:rPr>
                        <a:t>267</a:t>
                      </a:r>
                    </a:p>
                  </a:txBody>
                  <a:tcPr marL="73152" marR="73152" marT="27432" marB="27432" anchor="ctr">
                    <a:solidFill>
                      <a:srgbClr val="FFFFFF"/>
                    </a:solidFill>
                  </a:tcPr>
                </a:tc>
                <a:tc>
                  <a:txBody>
                    <a:bodyPr wrap="square"/>
                    <a:lstStyle/>
                    <a:p>
                      <a:r>
                        <a:rPr sz="1100" b="0">
                          <a:solidFill>
                            <a:srgbClr val="3D4F6A"/>
                          </a:solidFill>
                          <a:latin typeface="Arial"/>
                        </a:rPr>
                        <a:t>532</a:t>
                      </a:r>
                    </a:p>
                  </a:txBody>
                  <a:tcPr marL="73152" marR="73152" marT="27432" marB="27432" anchor="ctr">
                    <a:solidFill>
                      <a:srgbClr val="DDE6F5"/>
                    </a:solidFill>
                  </a:tcPr>
                </a:tc>
                <a:tc>
                  <a:txBody>
                    <a:bodyPr wrap="square"/>
                    <a:lstStyle/>
                    <a:p>
                      <a:r>
                        <a:rPr sz="1100" b="0">
                          <a:solidFill>
                            <a:srgbClr val="3D4F6A"/>
                          </a:solidFill>
                          <a:latin typeface="Arial"/>
                        </a:rPr>
                        <a:t>845</a:t>
                      </a:r>
                    </a:p>
                  </a:txBody>
                  <a:tcPr marL="73152" marR="73152" marT="27432" marB="27432" anchor="ctr">
                    <a:solidFill>
                      <a:srgbClr val="FFFFFF"/>
                    </a:solidFill>
                  </a:tcPr>
                </a:tc>
              </a:tr>
              <a:tr h="457200">
                <a:tc>
                  <a:txBody>
                    <a:bodyPr wrap="square"/>
                    <a:lstStyle/>
                    <a:p>
                      <a:r>
                        <a:rPr sz="1100" b="1">
                          <a:solidFill>
                            <a:srgbClr val="1E2A3A"/>
                          </a:solidFill>
                          <a:latin typeface="Arial"/>
                        </a:rPr>
                        <a:t>Lowest cash (Rp M)</a:t>
                      </a:r>
                    </a:p>
                  </a:txBody>
                  <a:tcPr marL="73152" marR="73152" marT="27432" marB="27432" anchor="ctr">
                    <a:solidFill>
                      <a:srgbClr val="F6F2EA"/>
                    </a:solidFill>
                  </a:tcPr>
                </a:tc>
                <a:tc>
                  <a:txBody>
                    <a:bodyPr wrap="square"/>
                    <a:lstStyle/>
                    <a:p>
                      <a:r>
                        <a:rPr sz="1100" b="0">
                          <a:solidFill>
                            <a:srgbClr val="3D4F6A"/>
                          </a:solidFill>
                          <a:latin typeface="Arial"/>
                        </a:rPr>
                        <a:t>67</a:t>
                      </a:r>
                    </a:p>
                  </a:txBody>
                  <a:tcPr marL="73152" marR="73152" marT="27432" marB="27432" anchor="ctr">
                    <a:solidFill>
                      <a:srgbClr val="F6F2EA"/>
                    </a:solidFill>
                  </a:tcPr>
                </a:tc>
                <a:tc>
                  <a:txBody>
                    <a:bodyPr wrap="square"/>
                    <a:lstStyle/>
                    <a:p>
                      <a:r>
                        <a:rPr sz="1100" b="0">
                          <a:solidFill>
                            <a:srgbClr val="3D4F6A"/>
                          </a:solidFill>
                          <a:latin typeface="Arial"/>
                        </a:rPr>
                        <a:t>82</a:t>
                      </a:r>
                    </a:p>
                  </a:txBody>
                  <a:tcPr marL="73152" marR="73152" marT="27432" marB="27432" anchor="ctr">
                    <a:solidFill>
                      <a:srgbClr val="DDE6F5"/>
                    </a:solidFill>
                  </a:tcPr>
                </a:tc>
                <a:tc>
                  <a:txBody>
                    <a:bodyPr wrap="square"/>
                    <a:lstStyle/>
                    <a:p>
                      <a:r>
                        <a:rPr sz="1100" b="0">
                          <a:solidFill>
                            <a:srgbClr val="3D4F6A"/>
                          </a:solidFill>
                          <a:latin typeface="Arial"/>
                        </a:rPr>
                        <a:t>82</a:t>
                      </a:r>
                    </a:p>
                  </a:txBody>
                  <a:tcPr marL="73152" marR="73152" marT="27432" marB="27432" anchor="ctr">
                    <a:solidFill>
                      <a:srgbClr val="F6F2EA"/>
                    </a:solidFill>
                  </a:tcPr>
                </a:tc>
              </a:tr>
              <a:tr h="457200">
                <a:tc>
                  <a:txBody>
                    <a:bodyPr wrap="square"/>
                    <a:lstStyle/>
                    <a:p>
                      <a:r>
                        <a:rPr sz="1100" b="1">
                          <a:solidFill>
                            <a:srgbClr val="1E2A3A"/>
                          </a:solidFill>
                          <a:latin typeface="Arial"/>
                        </a:rPr>
                        <a:t>Cash at end of 2027 (Rp M)</a:t>
                      </a:r>
                    </a:p>
                  </a:txBody>
                  <a:tcPr marL="73152" marR="73152" marT="27432" marB="27432" anchor="ctr">
                    <a:solidFill>
                      <a:srgbClr val="FFFFFF"/>
                    </a:solidFill>
                  </a:tcPr>
                </a:tc>
                <a:tc>
                  <a:txBody>
                    <a:bodyPr wrap="square"/>
                    <a:lstStyle/>
                    <a:p>
                      <a:r>
                        <a:rPr sz="1100" b="0">
                          <a:solidFill>
                            <a:srgbClr val="3D4F6A"/>
                          </a:solidFill>
                          <a:latin typeface="Arial"/>
                        </a:rPr>
                        <a:t>328</a:t>
                      </a:r>
                    </a:p>
                  </a:txBody>
                  <a:tcPr marL="73152" marR="73152" marT="27432" marB="27432" anchor="ctr">
                    <a:solidFill>
                      <a:srgbClr val="FFFFFF"/>
                    </a:solidFill>
                  </a:tcPr>
                </a:tc>
                <a:tc>
                  <a:txBody>
                    <a:bodyPr wrap="square"/>
                    <a:lstStyle/>
                    <a:p>
                      <a:r>
                        <a:rPr sz="1100" b="0">
                          <a:solidFill>
                            <a:srgbClr val="3D4F6A"/>
                          </a:solidFill>
                          <a:latin typeface="Arial"/>
                        </a:rPr>
                        <a:t>524</a:t>
                      </a:r>
                    </a:p>
                  </a:txBody>
                  <a:tcPr marL="73152" marR="73152" marT="27432" marB="27432" anchor="ctr">
                    <a:solidFill>
                      <a:srgbClr val="DDE6F5"/>
                    </a:solidFill>
                  </a:tcPr>
                </a:tc>
                <a:tc>
                  <a:txBody>
                    <a:bodyPr wrap="square"/>
                    <a:lstStyle/>
                    <a:p>
                      <a:r>
                        <a:rPr sz="1100" b="0">
                          <a:solidFill>
                            <a:srgbClr val="3D4F6A"/>
                          </a:solidFill>
                          <a:latin typeface="Arial"/>
                        </a:rPr>
                        <a:t>779</a:t>
                      </a:r>
                    </a:p>
                  </a:txBody>
                  <a:tcPr marL="73152" marR="73152" marT="27432" marB="27432" anchor="ctr">
                    <a:solidFill>
                      <a:srgbClr val="FFFFFF"/>
                    </a:solidFill>
                  </a:tcPr>
                </a:tc>
              </a:tr>
              <a:tr h="457200">
                <a:tc>
                  <a:txBody>
                    <a:bodyPr wrap="square"/>
                    <a:lstStyle/>
                    <a:p>
                      <a:r>
                        <a:rPr sz="1100" b="1">
                          <a:solidFill>
                            <a:srgbClr val="1E2A3A"/>
                          </a:solidFill>
                          <a:latin typeface="Arial"/>
                        </a:rPr>
                        <a:t>Months below the safety floor</a:t>
                      </a:r>
                    </a:p>
                  </a:txBody>
                  <a:tcPr marL="73152" marR="73152" marT="27432" marB="27432" anchor="ctr">
                    <a:solidFill>
                      <a:srgbClr val="F6F2EA"/>
                    </a:solidFill>
                  </a:tcPr>
                </a:tc>
                <a:tc>
                  <a:txBody>
                    <a:bodyPr wrap="square"/>
                    <a:lstStyle/>
                    <a:p>
                      <a:r>
                        <a:rPr sz="1100" b="0">
                          <a:solidFill>
                            <a:srgbClr val="3D4F6A"/>
                          </a:solidFill>
                          <a:latin typeface="Arial"/>
                        </a:rPr>
                        <a:t>4</a:t>
                      </a:r>
                    </a:p>
                  </a:txBody>
                  <a:tcPr marL="73152" marR="73152" marT="27432" marB="27432" anchor="ctr">
                    <a:solidFill>
                      <a:srgbClr val="F6F2EA"/>
                    </a:solidFill>
                  </a:tcPr>
                </a:tc>
                <a:tc>
                  <a:txBody>
                    <a:bodyPr wrap="square"/>
                    <a:lstStyle/>
                    <a:p>
                      <a:r>
                        <a:rPr sz="1100" b="0">
                          <a:solidFill>
                            <a:srgbClr val="3D4F6A"/>
                          </a:solidFill>
                          <a:latin typeface="Arial"/>
                        </a:rPr>
                        <a:t>1</a:t>
                      </a:r>
                    </a:p>
                  </a:txBody>
                  <a:tcPr marL="73152" marR="73152" marT="27432" marB="27432" anchor="ctr">
                    <a:solidFill>
                      <a:srgbClr val="DDE6F5"/>
                    </a:solidFill>
                  </a:tcPr>
                </a:tc>
                <a:tc>
                  <a:txBody>
                    <a:bodyPr wrap="square"/>
                    <a:lstStyle/>
                    <a:p>
                      <a:r>
                        <a:rPr sz="1100" b="0">
                          <a:solidFill>
                            <a:srgbClr val="3D4F6A"/>
                          </a:solidFill>
                          <a:latin typeface="Arial"/>
                        </a:rPr>
                        <a:t>2</a:t>
                      </a:r>
                    </a:p>
                  </a:txBody>
                  <a:tcPr marL="73152" marR="73152" marT="27432" marB="27432" anchor="ctr">
                    <a:solidFill>
                      <a:srgbClr val="F6F2EA"/>
                    </a:solidFill>
                  </a:tcPr>
                </a:tc>
              </a:tr>
            </a:tbl>
          </a:graphicData>
        </a:graphic>
      </p:graphicFrame>
      <p:sp>
        <p:nvSpPr>
          <p:cNvPr id="9" name="Rounded Rectangle 8"/>
          <p:cNvSpPr/>
          <p:nvPr/>
        </p:nvSpPr>
        <p:spPr>
          <a:xfrm>
            <a:off x="5852160" y="4846320"/>
            <a:ext cx="5897880" cy="14630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200" b="1" i="0">
                <a:solidFill>
                  <a:srgbClr val="1E2A3A"/>
                </a:solidFill>
                <a:latin typeface="Arial"/>
              </a:rPr>
              <a:t>What makes the bad year safe: </a:t>
            </a:r>
            <a:r>
              <a:rPr sz="1200" b="0" i="0">
                <a:solidFill>
                  <a:srgbClr val="3D4F6A"/>
                </a:solidFill>
                <a:latin typeface="Arial"/>
              </a:rPr>
              <a:t>the pay steps do not unlock, no one is hired without signed work, and B2C pays our psychologists. What makes it unsafe: cash in February to April, so the guard rule stays.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
            </a:r>
            <a:r>
              <a:rPr sz="2800" b="1" i="0">
                <a:solidFill>
                  <a:srgbClr val="9B3809"/>
                </a:solidFill>
                <a:latin typeface="Georgia"/>
              </a:rPr>
              <a:t>Protect cash</a:t>
            </a:r>
            <a:r>
              <a:rPr sz="2800" b="1" i="0">
                <a:solidFill>
                  <a:srgbClr val="1E2A3A"/>
                </a:solidFill>
                <a:latin typeface="Georgia"/>
              </a:rPr>
              <a:t> in the pitch months</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Oct to Feb: we earn about Rp11M a month after delivery costs, but running cost is Rp32M to Rp42M a month.</a:t>
            </a:r>
          </a:p>
        </p:txBody>
      </p:sp>
      <p:sp>
        <p:nvSpPr>
          <p:cNvPr id="4" name="Tag"/>
          <p:cNvSpPr/>
          <p:nvPr/>
        </p:nvSpPr>
        <p:spPr>
          <a:xfrm>
            <a:off x="10469880" y="420624"/>
            <a:ext cx="1280160" cy="310896"/>
          </a:xfrm>
          <a:prstGeom prst="roundRect">
            <a:avLst>
              <a:gd name="adj" fmla="val 5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D · MONEY</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Steps 2 and 4 recalculated in Excel; steps 3, 5, 6 and 7 are estimates.</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27</a:t>
            </a:r>
          </a:p>
        </p:txBody>
      </p:sp>
      <p:graphicFrame>
        <p:nvGraphicFramePr>
          <p:cNvPr id="7" name="Table 6"/>
          <p:cNvGraphicFramePr>
            <a:graphicFrameLocks noGrp="1"/>
          </p:cNvGraphicFramePr>
          <p:nvPr/>
        </p:nvGraphicFramePr>
        <p:xfrm>
          <a:off x="457200" y="1371600"/>
          <a:ext cx="7589520" cy="4096512"/>
        </p:xfrm>
        <a:graphic>
          <a:graphicData uri="http://schemas.openxmlformats.org/drawingml/2006/table">
            <a:tbl>
              <a:tblPr firstRow="1" bandRow="1">
                <a:tableStyleId>{5C22544A-7EE6-4342-B048-85BDC9FD1C3A}</a:tableStyleId>
              </a:tblPr>
              <a:tblGrid>
                <a:gridCol w="320040"/>
                <a:gridCol w="3154680"/>
                <a:gridCol w="1417320"/>
                <a:gridCol w="1965960"/>
                <a:gridCol w="731520"/>
              </a:tblGrid>
              <a:tr h="512064">
                <a:tc>
                  <a:txBody>
                    <a:bodyPr wrap="square"/>
                    <a:lstStyle/>
                    <a:p>
                      <a:r>
                        <a:rPr sz="1100" b="1">
                          <a:solidFill>
                            <a:srgbClr val="FFFFFF"/>
                          </a:solidFill>
                          <a:latin typeface="Arial"/>
                        </a:rPr>
                        <a:t>#</a:t>
                      </a:r>
                    </a:p>
                  </a:txBody>
                  <a:tcPr marL="73152" marR="73152" marT="27432" marB="27432" anchor="ctr">
                    <a:solidFill>
                      <a:srgbClr val="1E2A3A"/>
                    </a:solidFill>
                  </a:tcPr>
                </a:tc>
                <a:tc>
                  <a:txBody>
                    <a:bodyPr wrap="square"/>
                    <a:lstStyle/>
                    <a:p>
                      <a:r>
                        <a:rPr sz="1100" b="1">
                          <a:solidFill>
                            <a:srgbClr val="FFFFFF"/>
                          </a:solidFill>
                          <a:latin typeface="Arial"/>
                        </a:rPr>
                        <a:t>Step</a:t>
                      </a:r>
                    </a:p>
                  </a:txBody>
                  <a:tcPr marL="73152" marR="73152" marT="27432" marB="27432" anchor="ctr">
                    <a:solidFill>
                      <a:srgbClr val="1E2A3A"/>
                    </a:solidFill>
                  </a:tcPr>
                </a:tc>
                <a:tc>
                  <a:txBody>
                    <a:bodyPr wrap="square"/>
                    <a:lstStyle/>
                    <a:p>
                      <a:r>
                        <a:rPr sz="1100" b="1">
                          <a:solidFill>
                            <a:srgbClr val="FFFFFF"/>
                          </a:solidFill>
                          <a:latin typeface="Arial"/>
                        </a:rPr>
                        <a:t>Cash gained</a:t>
                      </a:r>
                    </a:p>
                  </a:txBody>
                  <a:tcPr marL="73152" marR="73152" marT="27432" marB="27432" anchor="ctr">
                    <a:solidFill>
                      <a:srgbClr val="1E2A3A"/>
                    </a:solidFill>
                  </a:tcPr>
                </a:tc>
                <a:tc>
                  <a:txBody>
                    <a:bodyPr wrap="square"/>
                    <a:lstStyle/>
                    <a:p>
                      <a:r>
                        <a:rPr sz="1100" b="1">
                          <a:solidFill>
                            <a:srgbClr val="FFFFFF"/>
                          </a:solidFill>
                          <a:latin typeface="Arial"/>
                        </a:rPr>
                        <a:t>What it takes</a:t>
                      </a:r>
                    </a:p>
                  </a:txBody>
                  <a:tcPr marL="73152" marR="73152" marT="27432" marB="27432" anchor="ctr">
                    <a:solidFill>
                      <a:srgbClr val="1E2A3A"/>
                    </a:solidFill>
                  </a:tcPr>
                </a:tc>
                <a:tc>
                  <a:txBody>
                    <a:bodyPr wrap="square"/>
                    <a:lstStyle/>
                    <a:p>
                      <a:r>
                        <a:rPr sz="1100" b="1">
                          <a:solidFill>
                            <a:srgbClr val="FFFFFF"/>
                          </a:solidFill>
                          <a:latin typeface="Arial"/>
                        </a:rPr>
                        <a:t>When</a:t>
                      </a:r>
                    </a:p>
                  </a:txBody>
                  <a:tcPr marL="73152" marR="73152" marT="27432" marB="27432" anchor="ctr">
                    <a:solidFill>
                      <a:srgbClr val="1E2A3A"/>
                    </a:solidFill>
                  </a:tcPr>
                </a:tc>
              </a:tr>
              <a:tr h="512064">
                <a:tc>
                  <a:txBody>
                    <a:bodyPr wrap="square"/>
                    <a:lstStyle/>
                    <a:p>
                      <a:r>
                        <a:rPr sz="1100" b="1">
                          <a:solidFill>
                            <a:srgbClr val="1E2A3A"/>
                          </a:solidFill>
                          <a:latin typeface="Arial"/>
                        </a:rPr>
                        <a:t>1</a:t>
                      </a:r>
                    </a:p>
                  </a:txBody>
                  <a:tcPr marL="73152" marR="73152" marT="27432" marB="27432" anchor="ctr">
                    <a:solidFill>
                      <a:srgbClr val="FFFFFF"/>
                    </a:solidFill>
                  </a:tcPr>
                </a:tc>
                <a:tc>
                  <a:txBody>
                    <a:bodyPr wrap="square"/>
                    <a:lstStyle/>
                    <a:p>
                      <a:r>
                        <a:rPr sz="1100" b="0">
                          <a:solidFill>
                            <a:srgbClr val="3D4F6A"/>
                          </a:solidFill>
                          <a:latin typeface="Arial"/>
                        </a:rPr>
                        <a:t>Keep the extra Instagram ads, and check the return every month</a:t>
                      </a:r>
                    </a:p>
                  </a:txBody>
                  <a:tcPr marL="73152" marR="73152" marT="27432" marB="27432" anchor="ctr">
                    <a:solidFill>
                      <a:srgbClr val="FFFFFF"/>
                    </a:solidFill>
                  </a:tcPr>
                </a:tc>
                <a:tc>
                  <a:txBody>
                    <a:bodyPr wrap="square"/>
                    <a:lstStyle/>
                    <a:p>
                      <a:r>
                        <a:rPr sz="1100" b="0">
                          <a:solidFill>
                            <a:srgbClr val="3D4F6A"/>
                          </a:solidFill>
                          <a:latin typeface="Arial"/>
                        </a:rPr>
                        <a:t>Rp0: ads pay for themselves</a:t>
                      </a:r>
                    </a:p>
                  </a:txBody>
                  <a:tcPr marL="73152" marR="73152" marT="27432" marB="27432" anchor="ctr">
                    <a:solidFill>
                      <a:srgbClr val="FFFFFF"/>
                    </a:solidFill>
                  </a:tcPr>
                </a:tc>
                <a:tc>
                  <a:txBody>
                    <a:bodyPr wrap="square"/>
                    <a:lstStyle/>
                    <a:p>
                      <a:r>
                        <a:rPr sz="1100" b="0">
                          <a:solidFill>
                            <a:srgbClr val="3D4F6A"/>
                          </a:solidFill>
                          <a:latin typeface="Arial"/>
                        </a:rPr>
                        <a:t>Break-even: 6 paid sessions a month from ads (ROAS 1.7x). Target 3x</a:t>
                      </a:r>
                    </a:p>
                  </a:txBody>
                  <a:tcPr marL="73152" marR="73152" marT="27432" marB="27432" anchor="ctr">
                    <a:solidFill>
                      <a:srgbClr val="FFFFFF"/>
                    </a:solidFill>
                  </a:tcPr>
                </a:tc>
                <a:tc>
                  <a:txBody>
                    <a:bodyPr wrap="square"/>
                    <a:lstStyle/>
                    <a:p>
                      <a:r>
                        <a:rPr sz="1100" b="0">
                          <a:solidFill>
                            <a:srgbClr val="3D4F6A"/>
                          </a:solidFill>
                          <a:latin typeface="Arial"/>
                        </a:rPr>
                        <a:t>Do now</a:t>
                      </a:r>
                    </a:p>
                  </a:txBody>
                  <a:tcPr marL="73152" marR="73152" marT="27432" marB="27432" anchor="ctr">
                    <a:solidFill>
                      <a:srgbClr val="DDE6F5"/>
                    </a:solidFill>
                  </a:tcPr>
                </a:tc>
              </a:tr>
              <a:tr h="512064">
                <a:tc>
                  <a:txBody>
                    <a:bodyPr wrap="square"/>
                    <a:lstStyle/>
                    <a:p>
                      <a:r>
                        <a:rPr sz="1100" b="1">
                          <a:solidFill>
                            <a:srgbClr val="1E2A3A"/>
                          </a:solidFill>
                          <a:latin typeface="Arial"/>
                        </a:rPr>
                        <a:t>2</a:t>
                      </a:r>
                    </a:p>
                  </a:txBody>
                  <a:tcPr marL="73152" marR="73152" marT="27432" marB="27432" anchor="ctr">
                    <a:solidFill>
                      <a:srgbClr val="F6F2EA"/>
                    </a:solidFill>
                  </a:tcPr>
                </a:tc>
                <a:tc>
                  <a:txBody>
                    <a:bodyPr wrap="square"/>
                    <a:lstStyle/>
                    <a:p>
                      <a:r>
                        <a:rPr sz="1100" b="0">
                          <a:solidFill>
                            <a:srgbClr val="3D4F6A"/>
                          </a:solidFill>
                          <a:latin typeface="Arial"/>
                        </a:rPr>
                        <a:t>Pay rises unlock with sales targets, not dates (slide 21)</a:t>
                      </a:r>
                    </a:p>
                  </a:txBody>
                  <a:tcPr marL="73152" marR="73152" marT="27432" marB="27432" anchor="ctr">
                    <a:solidFill>
                      <a:srgbClr val="F6F2EA"/>
                    </a:solidFill>
                  </a:tcPr>
                </a:tc>
                <a:tc>
                  <a:txBody>
                    <a:bodyPr wrap="square"/>
                    <a:lstStyle/>
                    <a:p>
                      <a:r>
                        <a:rPr sz="1100" b="0">
                          <a:solidFill>
                            <a:srgbClr val="3D4F6A"/>
                          </a:solidFill>
                          <a:latin typeface="Arial"/>
                        </a:rPr>
                        <a:t>about +Rp7M by Feb, more in 2027</a:t>
                      </a:r>
                    </a:p>
                  </a:txBody>
                  <a:tcPr marL="73152" marR="73152" marT="27432" marB="27432" anchor="ctr">
                    <a:solidFill>
                      <a:srgbClr val="F6F2EA"/>
                    </a:solidFill>
                  </a:tcPr>
                </a:tc>
                <a:tc>
                  <a:txBody>
                    <a:bodyPr wrap="square"/>
                    <a:lstStyle/>
                    <a:p>
                      <a:r>
                        <a:rPr sz="1100" b="0">
                          <a:solidFill>
                            <a:srgbClr val="3D4F6A"/>
                          </a:solidFill>
                          <a:latin typeface="Arial"/>
                        </a:rPr>
                        <a:t>Agree the scheme with staff now</a:t>
                      </a:r>
                    </a:p>
                  </a:txBody>
                  <a:tcPr marL="73152" marR="73152" marT="27432" marB="27432" anchor="ctr">
                    <a:solidFill>
                      <a:srgbClr val="F6F2EA"/>
                    </a:solidFill>
                  </a:tcPr>
                </a:tc>
                <a:tc>
                  <a:txBody>
                    <a:bodyPr wrap="square"/>
                    <a:lstStyle/>
                    <a:p>
                      <a:r>
                        <a:rPr sz="1100" b="0">
                          <a:solidFill>
                            <a:srgbClr val="3D4F6A"/>
                          </a:solidFill>
                          <a:latin typeface="Arial"/>
                        </a:rPr>
                        <a:t>In the plan</a:t>
                      </a:r>
                    </a:p>
                  </a:txBody>
                  <a:tcPr marL="73152" marR="73152" marT="27432" marB="27432" anchor="ctr">
                    <a:solidFill>
                      <a:srgbClr val="DDE6F5"/>
                    </a:solidFill>
                  </a:tcPr>
                </a:tc>
              </a:tr>
              <a:tr h="512064">
                <a:tc>
                  <a:txBody>
                    <a:bodyPr wrap="square"/>
                    <a:lstStyle/>
                    <a:p>
                      <a:r>
                        <a:rPr sz="1100" b="1">
                          <a:solidFill>
                            <a:srgbClr val="1E2A3A"/>
                          </a:solidFill>
                          <a:latin typeface="Arial"/>
                        </a:rPr>
                        <a:t>3</a:t>
                      </a:r>
                    </a:p>
                  </a:txBody>
                  <a:tcPr marL="73152" marR="73152" marT="27432" marB="27432" anchor="ctr">
                    <a:solidFill>
                      <a:srgbClr val="FFFFFF"/>
                    </a:solidFill>
                  </a:tcPr>
                </a:tc>
                <a:tc>
                  <a:txBody>
                    <a:bodyPr wrap="square"/>
                    <a:lstStyle/>
                    <a:p>
                      <a:r>
                        <a:rPr sz="1100" b="0">
                          <a:solidFill>
                            <a:srgbClr val="3D4F6A"/>
                          </a:solidFill>
                          <a:latin typeface="Arial"/>
                        </a:rPr>
                        <a:t>Bill EAP 2 one quarter in advance</a:t>
                      </a:r>
                    </a:p>
                  </a:txBody>
                  <a:tcPr marL="73152" marR="73152" marT="27432" marB="27432" anchor="ctr">
                    <a:solidFill>
                      <a:srgbClr val="FFFFFF"/>
                    </a:solidFill>
                  </a:tcPr>
                </a:tc>
                <a:tc>
                  <a:txBody>
                    <a:bodyPr wrap="square"/>
                    <a:lstStyle/>
                    <a:p>
                      <a:r>
                        <a:rPr sz="1100" b="0">
                          <a:solidFill>
                            <a:srgbClr val="3D4F6A"/>
                          </a:solidFill>
                          <a:latin typeface="Arial"/>
                        </a:rPr>
                        <a:t>about +Rp30M by Feb</a:t>
                      </a:r>
                    </a:p>
                  </a:txBody>
                  <a:tcPr marL="73152" marR="73152" marT="27432" marB="27432" anchor="ctr">
                    <a:solidFill>
                      <a:srgbClr val="FFFFFF"/>
                    </a:solidFill>
                  </a:tcPr>
                </a:tc>
                <a:tc>
                  <a:txBody>
                    <a:bodyPr wrap="square"/>
                    <a:lstStyle/>
                    <a:p>
                      <a:r>
                        <a:rPr sz="1100" b="0">
                          <a:solidFill>
                            <a:srgbClr val="3D4F6A"/>
                          </a:solidFill>
                          <a:latin typeface="Arial"/>
                        </a:rPr>
                        <a:t>Maybe a 2-3% discount</a:t>
                      </a:r>
                    </a:p>
                  </a:txBody>
                  <a:tcPr marL="73152" marR="73152" marT="27432" marB="27432" anchor="ctr">
                    <a:solidFill>
                      <a:srgbClr val="FFFFFF"/>
                    </a:solidFill>
                  </a:tcPr>
                </a:tc>
                <a:tc>
                  <a:txBody>
                    <a:bodyPr wrap="square"/>
                    <a:lstStyle/>
                    <a:p>
                      <a:r>
                        <a:rPr sz="1100" b="0">
                          <a:solidFill>
                            <a:srgbClr val="3D4F6A"/>
                          </a:solidFill>
                          <a:latin typeface="Arial"/>
                        </a:rPr>
                        <a:t>Do now</a:t>
                      </a:r>
                    </a:p>
                  </a:txBody>
                  <a:tcPr marL="73152" marR="73152" marT="27432" marB="27432" anchor="ctr">
                    <a:solidFill>
                      <a:srgbClr val="DDE6F5"/>
                    </a:solidFill>
                  </a:tcPr>
                </a:tc>
              </a:tr>
              <a:tr h="512064">
                <a:tc>
                  <a:txBody>
                    <a:bodyPr wrap="square"/>
                    <a:lstStyle/>
                    <a:p>
                      <a:r>
                        <a:rPr sz="1100" b="1">
                          <a:solidFill>
                            <a:srgbClr val="1E2A3A"/>
                          </a:solidFill>
                          <a:latin typeface="Arial"/>
                        </a:rPr>
                        <a:t>4</a:t>
                      </a:r>
                    </a:p>
                  </a:txBody>
                  <a:tcPr marL="73152" marR="73152" marT="27432" marB="27432" anchor="ctr">
                    <a:solidFill>
                      <a:srgbClr val="F6F2EA"/>
                    </a:solidFill>
                  </a:tcPr>
                </a:tc>
                <a:tc>
                  <a:txBody>
                    <a:bodyPr wrap="square"/>
                    <a:lstStyle/>
                    <a:p>
                      <a:r>
                        <a:rPr sz="1100" b="0">
                          <a:solidFill>
                            <a:srgbClr val="3D4F6A"/>
                          </a:solidFill>
                          <a:latin typeface="Arial"/>
                        </a:rPr>
                        <a:t>30% down payment on the March head-office program, paid in February</a:t>
                      </a:r>
                    </a:p>
                  </a:txBody>
                  <a:tcPr marL="73152" marR="73152" marT="27432" marB="27432" anchor="ctr">
                    <a:solidFill>
                      <a:srgbClr val="F6F2EA"/>
                    </a:solidFill>
                  </a:tcPr>
                </a:tc>
                <a:tc>
                  <a:txBody>
                    <a:bodyPr wrap="square"/>
                    <a:lstStyle/>
                    <a:p>
                      <a:r>
                        <a:rPr sz="1100" b="0">
                          <a:solidFill>
                            <a:srgbClr val="3D4F6A"/>
                          </a:solidFill>
                          <a:latin typeface="Arial"/>
                        </a:rPr>
                        <a:t>+Rp30M by Feb</a:t>
                      </a:r>
                    </a:p>
                  </a:txBody>
                  <a:tcPr marL="73152" marR="73152" marT="27432" marB="27432" anchor="ctr">
                    <a:solidFill>
                      <a:srgbClr val="F6F2EA"/>
                    </a:solidFill>
                  </a:tcPr>
                </a:tc>
                <a:tc>
                  <a:txBody>
                    <a:bodyPr wrap="square"/>
                    <a:lstStyle/>
                    <a:p>
                      <a:r>
                        <a:rPr sz="1100" b="0">
                          <a:solidFill>
                            <a:srgbClr val="3D4F6A"/>
                          </a:solidFill>
                          <a:latin typeface="Arial"/>
                        </a:rPr>
                        <a:t>Ask BI in the 17 October proposal</a:t>
                      </a:r>
                    </a:p>
                  </a:txBody>
                  <a:tcPr marL="73152" marR="73152" marT="27432" marB="27432" anchor="ctr">
                    <a:solidFill>
                      <a:srgbClr val="F6F2EA"/>
                    </a:solidFill>
                  </a:tcPr>
                </a:tc>
                <a:tc>
                  <a:txBody>
                    <a:bodyPr wrap="square"/>
                    <a:lstStyle/>
                    <a:p>
                      <a:r>
                        <a:rPr sz="1100" b="0">
                          <a:solidFill>
                            <a:srgbClr val="3D4F6A"/>
                          </a:solidFill>
                          <a:latin typeface="Arial"/>
                        </a:rPr>
                        <a:t>Do now</a:t>
                      </a:r>
                    </a:p>
                  </a:txBody>
                  <a:tcPr marL="73152" marR="73152" marT="27432" marB="27432" anchor="ctr">
                    <a:solidFill>
                      <a:srgbClr val="DDE6F5"/>
                    </a:solidFill>
                  </a:tcPr>
                </a:tc>
              </a:tr>
              <a:tr h="512064">
                <a:tc>
                  <a:txBody>
                    <a:bodyPr wrap="square"/>
                    <a:lstStyle/>
                    <a:p>
                      <a:r>
                        <a:rPr sz="1100" b="1">
                          <a:solidFill>
                            <a:srgbClr val="1E2A3A"/>
                          </a:solidFill>
                          <a:latin typeface="Arial"/>
                        </a:rPr>
                        <a:t>5</a:t>
                      </a:r>
                    </a:p>
                  </a:txBody>
                  <a:tcPr marL="73152" marR="73152" marT="27432" marB="27432" anchor="ctr">
                    <a:solidFill>
                      <a:srgbClr val="FFFFFF"/>
                    </a:solidFill>
                  </a:tcPr>
                </a:tc>
                <a:tc>
                  <a:txBody>
                    <a:bodyPr wrap="square"/>
                    <a:lstStyle/>
                    <a:p>
                      <a:r>
                        <a:rPr sz="1100" b="0">
                          <a:solidFill>
                            <a:srgbClr val="3D4F6A"/>
                          </a:solidFill>
                          <a:latin typeface="Arial"/>
                        </a:rPr>
                        <a:t>One public event between December and February</a:t>
                      </a:r>
                    </a:p>
                  </a:txBody>
                  <a:tcPr marL="73152" marR="73152" marT="27432" marB="27432" anchor="ctr">
                    <a:solidFill>
                      <a:srgbClr val="FFFFFF"/>
                    </a:solidFill>
                  </a:tcPr>
                </a:tc>
                <a:tc>
                  <a:txBody>
                    <a:bodyPr wrap="square"/>
                    <a:lstStyle/>
                    <a:p>
                      <a:r>
                        <a:rPr sz="1100" b="0">
                          <a:solidFill>
                            <a:srgbClr val="3D4F6A"/>
                          </a:solidFill>
                          <a:latin typeface="Arial"/>
                        </a:rPr>
                        <a:t>about +Rp12M</a:t>
                      </a:r>
                    </a:p>
                  </a:txBody>
                  <a:tcPr marL="73152" marR="73152" marT="27432" marB="27432" anchor="ctr">
                    <a:solidFill>
                      <a:srgbClr val="FFFFFF"/>
                    </a:solidFill>
                  </a:tcPr>
                </a:tc>
                <a:tc>
                  <a:txBody>
                    <a:bodyPr wrap="square"/>
                    <a:lstStyle/>
                    <a:p>
                      <a:r>
                        <a:rPr sz="1100" b="0">
                          <a:solidFill>
                            <a:srgbClr val="3D4F6A"/>
                          </a:solidFill>
                          <a:latin typeface="Arial"/>
                        </a:rPr>
                        <a:t>Team time in pitch season</a:t>
                      </a:r>
                    </a:p>
                  </a:txBody>
                  <a:tcPr marL="73152" marR="73152" marT="27432" marB="27432" anchor="ctr">
                    <a:solidFill>
                      <a:srgbClr val="FFFFFF"/>
                    </a:solidFill>
                  </a:tcPr>
                </a:tc>
                <a:tc>
                  <a:txBody>
                    <a:bodyPr wrap="square"/>
                    <a:lstStyle/>
                    <a:p>
                      <a:r>
                        <a:rPr sz="1100" b="0">
                          <a:solidFill>
                            <a:srgbClr val="3D4F6A"/>
                          </a:solidFill>
                          <a:latin typeface="Arial"/>
                        </a:rPr>
                        <a:t>Do now</a:t>
                      </a:r>
                    </a:p>
                  </a:txBody>
                  <a:tcPr marL="73152" marR="73152" marT="27432" marB="27432" anchor="ctr">
                    <a:solidFill>
                      <a:srgbClr val="DDE6F5"/>
                    </a:solidFill>
                  </a:tcPr>
                </a:tc>
              </a:tr>
              <a:tr h="512064">
                <a:tc>
                  <a:txBody>
                    <a:bodyPr wrap="square"/>
                    <a:lstStyle/>
                    <a:p>
                      <a:r>
                        <a:rPr sz="1100" b="1">
                          <a:solidFill>
                            <a:srgbClr val="1E2A3A"/>
                          </a:solidFill>
                          <a:latin typeface="Arial"/>
                        </a:rPr>
                        <a:t>6</a:t>
                      </a:r>
                    </a:p>
                  </a:txBody>
                  <a:tcPr marL="73152" marR="73152" marT="27432" marB="27432" anchor="ctr">
                    <a:solidFill>
                      <a:srgbClr val="F6F2EA"/>
                    </a:solidFill>
                  </a:tcPr>
                </a:tc>
                <a:tc>
                  <a:txBody>
                    <a:bodyPr wrap="square"/>
                    <a:lstStyle/>
                    <a:p>
                      <a:r>
                        <a:rPr sz="1100" b="0">
                          <a:solidFill>
                            <a:srgbClr val="3D4F6A"/>
                          </a:solidFill>
                          <a:latin typeface="Arial"/>
                        </a:rPr>
                        <a:t>Second founder's pay waits longer. One founder's Rp10M is the minimum and stays</a:t>
                      </a:r>
                    </a:p>
                  </a:txBody>
                  <a:tcPr marL="73152" marR="73152" marT="27432" marB="27432" anchor="ctr">
                    <a:solidFill>
                      <a:srgbClr val="F6F2EA"/>
                    </a:solidFill>
                  </a:tcPr>
                </a:tc>
                <a:tc>
                  <a:txBody>
                    <a:bodyPr wrap="square"/>
                    <a:lstStyle/>
                    <a:p>
                      <a:r>
                        <a:rPr sz="1100" b="0">
                          <a:solidFill>
                            <a:srgbClr val="3D4F6A"/>
                          </a:solidFill>
                          <a:latin typeface="Arial"/>
                        </a:rPr>
                        <a:t>+Rp15M a month of delay</a:t>
                      </a:r>
                    </a:p>
                  </a:txBody>
                  <a:tcPr marL="73152" marR="73152" marT="27432" marB="27432" anchor="ctr">
                    <a:solidFill>
                      <a:srgbClr val="F6F2EA"/>
                    </a:solidFill>
                  </a:tcPr>
                </a:tc>
                <a:tc>
                  <a:txBody>
                    <a:bodyPr wrap="square"/>
                    <a:lstStyle/>
                    <a:p>
                      <a:r>
                        <a:rPr sz="1100" b="0">
                          <a:solidFill>
                            <a:srgbClr val="3D4F6A"/>
                          </a:solidFill>
                          <a:latin typeface="Arial"/>
                        </a:rPr>
                        <a:t>Founders' decision</a:t>
                      </a:r>
                    </a:p>
                  </a:txBody>
                  <a:tcPr marL="73152" marR="73152" marT="27432" marB="27432" anchor="ctr">
                    <a:solidFill>
                      <a:srgbClr val="F6F2EA"/>
                    </a:solidFill>
                  </a:tcPr>
                </a:tc>
                <a:tc>
                  <a:txBody>
                    <a:bodyPr wrap="square"/>
                    <a:lstStyle/>
                    <a:p>
                      <a:r>
                        <a:rPr sz="1100" b="0">
                          <a:solidFill>
                            <a:srgbClr val="3D4F6A"/>
                          </a:solidFill>
                          <a:latin typeface="Arial"/>
                        </a:rPr>
                        <a:t>Reserve</a:t>
                      </a:r>
                    </a:p>
                  </a:txBody>
                  <a:tcPr marL="73152" marR="73152" marT="27432" marB="27432" anchor="ctr">
                    <a:solidFill>
                      <a:srgbClr val="F5EDD8"/>
                    </a:solidFill>
                  </a:tcPr>
                </a:tc>
              </a:tr>
              <a:tr h="512064">
                <a:tc>
                  <a:txBody>
                    <a:bodyPr wrap="square"/>
                    <a:lstStyle/>
                    <a:p>
                      <a:r>
                        <a:rPr sz="1100" b="1">
                          <a:solidFill>
                            <a:srgbClr val="1E2A3A"/>
                          </a:solidFill>
                          <a:latin typeface="Arial"/>
                        </a:rPr>
                        <a:t>7</a:t>
                      </a:r>
                    </a:p>
                  </a:txBody>
                  <a:tcPr marL="73152" marR="73152" marT="27432" marB="27432" anchor="ctr">
                    <a:solidFill>
                      <a:srgbClr val="FFFFFF"/>
                    </a:solidFill>
                  </a:tcPr>
                </a:tc>
                <a:tc>
                  <a:txBody>
                    <a:bodyPr wrap="square"/>
                    <a:lstStyle/>
                    <a:p>
                      <a:r>
                        <a:rPr sz="1100" b="0">
                          <a:solidFill>
                            <a:srgbClr val="3D4F6A"/>
                          </a:solidFill>
                          <a:latin typeface="Arial"/>
                        </a:rPr>
                        <a:t>Smaller office or coworking space in the pitch months</a:t>
                      </a:r>
                    </a:p>
                  </a:txBody>
                  <a:tcPr marL="73152" marR="73152" marT="27432" marB="27432" anchor="ctr">
                    <a:solidFill>
                      <a:srgbClr val="FFFFFF"/>
                    </a:solidFill>
                  </a:tcPr>
                </a:tc>
                <a:tc>
                  <a:txBody>
                    <a:bodyPr wrap="square"/>
                    <a:lstStyle/>
                    <a:p>
                      <a:r>
                        <a:rPr sz="1100" b="0">
                          <a:solidFill>
                            <a:srgbClr val="3D4F6A"/>
                          </a:solidFill>
                          <a:latin typeface="Arial"/>
                        </a:rPr>
                        <a:t>about +Rp15M</a:t>
                      </a:r>
                    </a:p>
                  </a:txBody>
                  <a:tcPr marL="73152" marR="73152" marT="27432" marB="27432" anchor="ctr">
                    <a:solidFill>
                      <a:srgbClr val="FFFFFF"/>
                    </a:solidFill>
                  </a:tcPr>
                </a:tc>
                <a:tc>
                  <a:txBody>
                    <a:bodyPr wrap="square"/>
                    <a:lstStyle/>
                    <a:p>
                      <a:r>
                        <a:rPr sz="1100" b="0">
                          <a:solidFill>
                            <a:srgbClr val="3D4F6A"/>
                          </a:solidFill>
                          <a:latin typeface="Arial"/>
                        </a:rPr>
                        <a:t>Only if the lease allows</a:t>
                      </a:r>
                    </a:p>
                  </a:txBody>
                  <a:tcPr marL="73152" marR="73152" marT="27432" marB="27432" anchor="ctr">
                    <a:solidFill>
                      <a:srgbClr val="FFFFFF"/>
                    </a:solidFill>
                  </a:tcPr>
                </a:tc>
                <a:tc>
                  <a:txBody>
                    <a:bodyPr wrap="square"/>
                    <a:lstStyle/>
                    <a:p>
                      <a:r>
                        <a:rPr sz="1100" b="0">
                          <a:solidFill>
                            <a:srgbClr val="3D4F6A"/>
                          </a:solidFill>
                          <a:latin typeface="Arial"/>
                        </a:rPr>
                        <a:t>Reserve</a:t>
                      </a:r>
                    </a:p>
                  </a:txBody>
                  <a:tcPr marL="73152" marR="73152" marT="27432" marB="27432" anchor="ctr">
                    <a:solidFill>
                      <a:srgbClr val="F5EDD8"/>
                    </a:solidFill>
                  </a:tcPr>
                </a:tc>
              </a:tr>
            </a:tbl>
          </a:graphicData>
        </a:graphic>
      </p:graphicFrame>
      <p:sp>
        <p:nvSpPr>
          <p:cNvPr id="8" name="Rounded Rectangle 7"/>
          <p:cNvSpPr/>
          <p:nvPr/>
        </p:nvSpPr>
        <p:spPr>
          <a:xfrm>
            <a:off x="8321040" y="1463040"/>
            <a:ext cx="342900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1E2A3A"/>
                </a:solidFill>
                <a:latin typeface="Georgia"/>
              </a:rPr>
              <a:t>Rp82M → Rp112M</a:t>
            </a:r>
          </a:p>
          <a:p>
            <a:pPr algn="l">
              <a:spcAft>
                <a:spcPts val="200"/>
              </a:spcAft>
            </a:pPr>
            <a:r>
              <a:rPr sz="1200" b="0" i="0">
                <a:solidFill>
                  <a:srgbClr val="3D4F6A"/>
                </a:solidFill>
                <a:latin typeface="Arial"/>
              </a:rPr>
              <a:t>cash at the end of February, with step 4</a:t>
            </a:r>
          </a:p>
        </p:txBody>
      </p:sp>
      <p:sp>
        <p:nvSpPr>
          <p:cNvPr id="9" name="Rounded Rectangle 8"/>
          <p:cNvSpPr/>
          <p:nvPr/>
        </p:nvSpPr>
        <p:spPr>
          <a:xfrm>
            <a:off x="8321040" y="2788920"/>
            <a:ext cx="342900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9B3809"/>
                </a:solidFill>
                <a:latin typeface="Georgia"/>
              </a:rPr>
              <a:t>Rp82M → Rp90M</a:t>
            </a:r>
          </a:p>
          <a:p>
            <a:pPr algn="l">
              <a:spcAft>
                <a:spcPts val="200"/>
              </a:spcAft>
            </a:pPr>
            <a:r>
              <a:rPr sz="1200" b="0" i="0">
                <a:solidFill>
                  <a:srgbClr val="3D4F6A"/>
                </a:solidFill>
                <a:latin typeface="Arial"/>
              </a:rPr>
              <a:t>lowest cash in 2027, with step 4</a:t>
            </a:r>
          </a:p>
        </p:txBody>
      </p:sp>
      <p:sp>
        <p:nvSpPr>
          <p:cNvPr id="10" name="Rounded Rectangle 9"/>
          <p:cNvSpPr/>
          <p:nvPr/>
        </p:nvSpPr>
        <p:spPr>
          <a:xfrm>
            <a:off x="8321040" y="4114800"/>
            <a:ext cx="3429000" cy="9144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000" b="1" i="0">
                <a:solidFill>
                  <a:srgbClr val="1E2A3A"/>
                </a:solidFill>
                <a:latin typeface="Georgia"/>
              </a:rPr>
              <a:t>+Rp42M</a:t>
            </a:r>
          </a:p>
          <a:p>
            <a:pPr algn="l">
              <a:spcAft>
                <a:spcPts val="200"/>
              </a:spcAft>
            </a:pPr>
            <a:r>
              <a:rPr sz="1100" b="0" i="0">
                <a:solidFill>
                  <a:srgbClr val="3D4F6A"/>
                </a:solidFill>
                <a:latin typeface="Arial"/>
              </a:rPr>
              <a:t>more by February if steps 3 and 5 also work (estimate)</a:t>
            </a:r>
          </a:p>
        </p:txBody>
      </p:sp>
      <p:sp>
        <p:nvSpPr>
          <p:cNvPr id="11" name="Rounded Rectangle 10"/>
          <p:cNvSpPr/>
          <p:nvPr/>
        </p:nvSpPr>
        <p:spPr>
          <a:xfrm>
            <a:off x="8321040" y="5166360"/>
            <a:ext cx="3429000" cy="11430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Do not cut: </a:t>
            </a:r>
            <a:r>
              <a:rPr sz="1200" b="0" i="0">
                <a:solidFill>
                  <a:srgbClr val="3D4F6A"/>
                </a:solidFill>
                <a:latin typeface="Arial"/>
              </a:rPr>
              <a:t>sales travel, trainer certification in January, BPJS and THR, and founder pay below Rp10M.</a:t>
            </a:r>
          </a:p>
        </p:txBody>
      </p:sp>
      <p:sp>
        <p:nvSpPr>
          <p:cNvPr id="12" name="TextBox 11"/>
          <p:cNvSpPr txBox="1"/>
          <p:nvPr/>
        </p:nvSpPr>
        <p:spPr>
          <a:xfrm>
            <a:off x="457200" y="5623560"/>
            <a:ext cx="7589520" cy="685800"/>
          </a:xfrm>
          <a:prstGeom prst="rect">
            <a:avLst/>
          </a:prstGeom>
          <a:noFill/>
        </p:spPr>
        <p:txBody>
          <a:bodyPr wrap="square" anchor="t" lIns="73152" rIns="73152" tIns="36576" bIns="36576">
            <a:spAutoFit/>
          </a:bodyPr>
          <a:lstStyle/>
          <a:p>
            <a:pPr algn="l">
              <a:spcAft>
                <a:spcPts val="400"/>
              </a:spcAft>
            </a:pPr>
            <a:r>
              <a:rPr sz="1100" b="1" i="0">
                <a:solidFill>
                  <a:srgbClr val="1E2A3A"/>
                </a:solidFill>
                <a:latin typeface="Arial"/>
              </a:rPr>
              <a:t>Check first: </a:t>
            </a:r>
            <a:r>
              <a:rPr sz="1100" b="0" i="0">
                <a:solidFill>
                  <a:srgbClr val="3D4F6A"/>
                </a:solidFill>
                <a:latin typeface="Arial"/>
              </a:rPr>
              <a:t>was September's EAP invoice sent (about +Rp15M in October)? What do our 4 small corporate clients pay, and when? Can the office lease change?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Invest in new units only above a </a:t>
            </a:r>
            <a:r>
              <a:rPr sz="2800" b="1" i="0">
                <a:solidFill>
                  <a:srgbClr val="9B3809"/>
                </a:solidFill>
                <a:latin typeface="Georgia"/>
              </a:rPr>
              <a:t>6-month cushion</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The cushion is about Rp559M. Cash is Rp524M at the end of 2027, so the earliest start is January 2028.</a:t>
            </a:r>
          </a:p>
        </p:txBody>
      </p:sp>
      <p:sp>
        <p:nvSpPr>
          <p:cNvPr id="4" name="Tag"/>
          <p:cNvSpPr/>
          <p:nvPr/>
        </p:nvSpPr>
        <p:spPr>
          <a:xfrm>
            <a:off x="10469880" y="420624"/>
            <a:ext cx="1280160" cy="310896"/>
          </a:xfrm>
          <a:prstGeom prst="roundRect">
            <a:avLst>
              <a:gd name="adj" fmla="val 5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D · MONEY</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(Outlook sheet).</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28</a:t>
            </a:r>
          </a:p>
        </p:txBody>
      </p:sp>
      <p:graphicFrame>
        <p:nvGraphicFramePr>
          <p:cNvPr id="7" name="Chart 6"/>
          <p:cNvGraphicFramePr>
            <a:graphicFrameLocks noGrp="1"/>
          </p:cNvGraphicFramePr>
          <p:nvPr/>
        </p:nvGraphicFramePr>
        <p:xfrm>
          <a:off x="457200" y="1371600"/>
          <a:ext cx="704088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7772400" y="1463040"/>
            <a:ext cx="3977639"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9" name="Oval 8"/>
          <p:cNvSpPr/>
          <p:nvPr/>
        </p:nvSpPr>
        <p:spPr>
          <a:xfrm>
            <a:off x="7955279" y="1645920"/>
            <a:ext cx="457200" cy="457200"/>
          </a:xfrm>
          <a:prstGeom prst="ellipse">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1</a:t>
            </a:r>
          </a:p>
        </p:txBody>
      </p:sp>
      <p:sp>
        <p:nvSpPr>
          <p:cNvPr id="10" name="TextBox 9"/>
          <p:cNvSpPr txBox="1"/>
          <p:nvPr/>
        </p:nvSpPr>
        <p:spPr>
          <a:xfrm>
            <a:off x="8522208" y="1600200"/>
            <a:ext cx="3108960" cy="1234440"/>
          </a:xfrm>
          <a:prstGeom prst="rect">
            <a:avLst/>
          </a:prstGeom>
          <a:noFill/>
        </p:spPr>
        <p:txBody>
          <a:bodyPr wrap="square" anchor="t" lIns="73152" rIns="73152" tIns="36576" bIns="36576">
            <a:spAutoFit/>
          </a:bodyPr>
          <a:lstStyle/>
          <a:p>
            <a:pPr algn="l">
              <a:spcAft>
                <a:spcPts val="300"/>
              </a:spcAft>
            </a:pPr>
            <a:r>
              <a:rPr sz="1500" b="1" i="0">
                <a:solidFill>
                  <a:srgbClr val="1E2A3A"/>
                </a:solidFill>
                <a:latin typeface="Georgia"/>
              </a:rPr>
              <a:t>Keep the cushion</a:t>
            </a:r>
          </a:p>
          <a:p>
            <a:pPr algn="l">
              <a:spcAft>
                <a:spcPts val="300"/>
              </a:spcAft>
            </a:pPr>
            <a:r>
              <a:rPr sz="1200" b="0" i="0">
                <a:solidFill>
                  <a:srgbClr val="3D4F6A"/>
                </a:solidFill>
                <a:latin typeface="Arial"/>
              </a:rPr>
              <a:t>About Rp559M stays in the bank for bad times.</a:t>
            </a:r>
          </a:p>
        </p:txBody>
      </p:sp>
      <p:sp>
        <p:nvSpPr>
          <p:cNvPr id="11" name="Rounded Rectangle 10"/>
          <p:cNvSpPr/>
          <p:nvPr/>
        </p:nvSpPr>
        <p:spPr>
          <a:xfrm>
            <a:off x="7772400" y="3090672"/>
            <a:ext cx="3977639"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2" name="Oval 11"/>
          <p:cNvSpPr/>
          <p:nvPr/>
        </p:nvSpPr>
        <p:spPr>
          <a:xfrm>
            <a:off x="7955279" y="3273552"/>
            <a:ext cx="457200" cy="457200"/>
          </a:xfrm>
          <a:prstGeom prst="ellipse">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2</a:t>
            </a:r>
          </a:p>
        </p:txBody>
      </p:sp>
      <p:sp>
        <p:nvSpPr>
          <p:cNvPr id="13" name="TextBox 12"/>
          <p:cNvSpPr txBox="1"/>
          <p:nvPr/>
        </p:nvSpPr>
        <p:spPr>
          <a:xfrm>
            <a:off x="8522208" y="3227832"/>
            <a:ext cx="3108960" cy="1234440"/>
          </a:xfrm>
          <a:prstGeom prst="rect">
            <a:avLst/>
          </a:prstGeom>
          <a:noFill/>
        </p:spPr>
        <p:txBody>
          <a:bodyPr wrap="square" anchor="t" lIns="73152" rIns="73152" tIns="36576" bIns="36576">
            <a:spAutoFit/>
          </a:bodyPr>
          <a:lstStyle/>
          <a:p>
            <a:pPr algn="l">
              <a:spcAft>
                <a:spcPts val="300"/>
              </a:spcAft>
            </a:pPr>
            <a:r>
              <a:rPr sz="1500" b="1" i="0">
                <a:solidFill>
                  <a:srgbClr val="1E2A3A"/>
                </a:solidFill>
                <a:latin typeface="Georgia"/>
              </a:rPr>
              <a:t>Invest above it</a:t>
            </a:r>
          </a:p>
          <a:p>
            <a:pPr algn="l">
              <a:spcAft>
                <a:spcPts val="300"/>
              </a:spcAft>
            </a:pPr>
            <a:r>
              <a:rPr sz="1200" b="0" i="0">
                <a:solidFill>
                  <a:srgbClr val="3D4F6A"/>
                </a:solidFill>
                <a:latin typeface="Arial"/>
              </a:rPr>
              <a:t>Up to half of each year's net profit goes to new units, such as Theta and Coreitera.</a:t>
            </a:r>
          </a:p>
        </p:txBody>
      </p:sp>
      <p:sp>
        <p:nvSpPr>
          <p:cNvPr id="14" name="Rounded Rectangle 13"/>
          <p:cNvSpPr/>
          <p:nvPr/>
        </p:nvSpPr>
        <p:spPr>
          <a:xfrm>
            <a:off x="7772400" y="4718304"/>
            <a:ext cx="3977639"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5" name="Oval 14"/>
          <p:cNvSpPr/>
          <p:nvPr/>
        </p:nvSpPr>
        <p:spPr>
          <a:xfrm>
            <a:off x="7955279" y="4901184"/>
            <a:ext cx="457200" cy="457200"/>
          </a:xfrm>
          <a:prstGeom prst="ellipse">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3</a:t>
            </a:r>
          </a:p>
        </p:txBody>
      </p:sp>
      <p:sp>
        <p:nvSpPr>
          <p:cNvPr id="16" name="TextBox 15"/>
          <p:cNvSpPr txBox="1"/>
          <p:nvPr/>
        </p:nvSpPr>
        <p:spPr>
          <a:xfrm>
            <a:off x="8522208" y="4855464"/>
            <a:ext cx="3108960" cy="1234440"/>
          </a:xfrm>
          <a:prstGeom prst="rect">
            <a:avLst/>
          </a:prstGeom>
          <a:noFill/>
        </p:spPr>
        <p:txBody>
          <a:bodyPr wrap="square" anchor="t" lIns="73152" rIns="73152" tIns="36576" bIns="36576">
            <a:spAutoFit/>
          </a:bodyPr>
          <a:lstStyle/>
          <a:p>
            <a:pPr algn="l">
              <a:spcAft>
                <a:spcPts val="300"/>
              </a:spcAft>
            </a:pPr>
            <a:r>
              <a:rPr sz="1500" b="1" i="0">
                <a:solidFill>
                  <a:srgbClr val="1E2A3A"/>
                </a:solidFill>
                <a:latin typeface="Georgia"/>
              </a:rPr>
              <a:t>How much</a:t>
            </a:r>
          </a:p>
          <a:p>
            <a:pPr algn="l">
              <a:spcAft>
                <a:spcPts val="300"/>
              </a:spcAft>
            </a:pPr>
            <a:r>
              <a:rPr sz="1200" b="0" i="0">
                <a:solidFill>
                  <a:srgbClr val="3D4F6A"/>
                </a:solidFill>
                <a:latin typeface="Arial"/>
              </a:rPr>
              <a:t>A normal full year makes about Rp579M, so about Rp290M a year for new units.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29</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WHAT WE DO NOW</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What do we do in the next 90 days?</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Eight actions with an owner and a date, and six decisions only the founders can make.</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17 Oct</a:t>
            </a:r>
          </a:p>
          <a:p>
            <a:pPr algn="l">
              <a:spcAft>
                <a:spcPts val="200"/>
              </a:spcAft>
            </a:pPr>
            <a:r>
              <a:rPr sz="1100" b="0" i="0">
                <a:solidFill>
                  <a:srgbClr val="C9D2E3"/>
                </a:solidFill>
                <a:latin typeface="Arial"/>
              </a:rPr>
              <a:t>first deadline: BI proposal</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Kia + Galih</a:t>
            </a:r>
          </a:p>
          <a:p>
            <a:pPr algn="l">
              <a:spcAft>
                <a:spcPts val="200"/>
              </a:spcAft>
            </a:pPr>
            <a:r>
              <a:rPr sz="1100" b="0" i="0">
                <a:solidFill>
                  <a:srgbClr val="C9D2E3"/>
                </a:solidFill>
                <a:latin typeface="Arial"/>
              </a:rPr>
              <a:t>owners until the BD co-founder joins</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What must happen, by whom and by when?</a:t>
            </a:r>
          </a:p>
          <a:p>
            <a:pPr algn="l">
              <a:spcAft>
                <a:spcPts val="300"/>
              </a:spcAft>
            </a:pPr>
            <a:r>
              <a:rPr sz="1200" b="1" i="0">
                <a:solidFill>
                  <a:srgbClr val="E8904A"/>
                </a:solidFill>
                <a:latin typeface="Arial"/>
              </a:rPr>
              <a:t>•  </a:t>
            </a:r>
            <a:r>
              <a:rPr sz="1200" b="0" i="0">
                <a:solidFill>
                  <a:srgbClr val="C9D2E3"/>
                </a:solidFill>
                <a:latin typeface="Arial"/>
              </a:rPr>
              <a:t>What must the founders decide?</a:t>
            </a:r>
          </a:p>
        </p:txBody>
      </p:sp>
      <p:sp>
        <p:nvSpPr>
          <p:cNvPr id="10" name="Rounded Rectangle 9"/>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11" name="Rounded Rectangle 10"/>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2" name="Rounded Rectangle 11"/>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3" name="Rounded Rectangle 12"/>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The next 90 days: </a:t>
            </a:r>
            <a:r>
              <a:rPr sz="2800" b="1" i="0">
                <a:solidFill>
                  <a:srgbClr val="9B3809"/>
                </a:solidFill>
                <a:latin typeface="Georgia"/>
              </a:rPr>
              <a:t>who does what</a:t>
            </a:r>
            <a:r>
              <a:rPr sz="2800" b="1" i="0">
                <a:solidFill>
                  <a:srgbClr val="1E2A3A"/>
                </a:solidFill>
                <a:latin typeface="Georgia"/>
              </a:rPr>
              <a:t>, by when</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Owners for now: Kia (CEO) and Galih, until the BD co-founder joins. Review every Monday for 30 minutes.</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NEXT STEPS</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Roadmap sheet in our model and the stop dates on the risks slide.</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30</a:t>
            </a:r>
          </a:p>
        </p:txBody>
      </p:sp>
      <p:graphicFrame>
        <p:nvGraphicFramePr>
          <p:cNvPr id="7" name="Table 6"/>
          <p:cNvGraphicFramePr>
            <a:graphicFrameLocks noGrp="1"/>
          </p:cNvGraphicFramePr>
          <p:nvPr/>
        </p:nvGraphicFramePr>
        <p:xfrm>
          <a:off x="457200" y="1417320"/>
          <a:ext cx="11247120" cy="4773168"/>
        </p:xfrm>
        <a:graphic>
          <a:graphicData uri="http://schemas.openxmlformats.org/drawingml/2006/table">
            <a:tbl>
              <a:tblPr firstRow="1" bandRow="1">
                <a:tableStyleId>{5C22544A-7EE6-4342-B048-85BDC9FD1C3A}</a:tableStyleId>
              </a:tblPr>
              <a:tblGrid>
                <a:gridCol w="365760"/>
                <a:gridCol w="5120640"/>
                <a:gridCol w="1417320"/>
                <a:gridCol w="1325880"/>
                <a:gridCol w="3017520"/>
              </a:tblGrid>
              <a:tr h="530352">
                <a:tc>
                  <a:txBody>
                    <a:bodyPr wrap="square"/>
                    <a:lstStyle/>
                    <a:p>
                      <a:r>
                        <a:rPr sz="1200" b="1">
                          <a:solidFill>
                            <a:srgbClr val="FFFFFF"/>
                          </a:solidFill>
                          <a:latin typeface="Arial"/>
                        </a:rPr>
                        <a:t>#</a:t>
                      </a:r>
                    </a:p>
                  </a:txBody>
                  <a:tcPr marL="73152" marR="73152" marT="27432" marB="27432" anchor="ctr">
                    <a:solidFill>
                      <a:srgbClr val="1E2A3A"/>
                    </a:solidFill>
                  </a:tcPr>
                </a:tc>
                <a:tc>
                  <a:txBody>
                    <a:bodyPr wrap="square"/>
                    <a:lstStyle/>
                    <a:p>
                      <a:r>
                        <a:rPr sz="1200" b="1">
                          <a:solidFill>
                            <a:srgbClr val="FFFFFF"/>
                          </a:solidFill>
                          <a:latin typeface="Arial"/>
                        </a:rPr>
                        <a:t>Action</a:t>
                      </a:r>
                    </a:p>
                  </a:txBody>
                  <a:tcPr marL="73152" marR="73152" marT="27432" marB="27432" anchor="ctr">
                    <a:solidFill>
                      <a:srgbClr val="1E2A3A"/>
                    </a:solidFill>
                  </a:tcPr>
                </a:tc>
                <a:tc>
                  <a:txBody>
                    <a:bodyPr wrap="square"/>
                    <a:lstStyle/>
                    <a:p>
                      <a:r>
                        <a:rPr sz="1200" b="1">
                          <a:solidFill>
                            <a:srgbClr val="FFFFFF"/>
                          </a:solidFill>
                          <a:latin typeface="Arial"/>
                        </a:rPr>
                        <a:t>Owner</a:t>
                      </a:r>
                    </a:p>
                  </a:txBody>
                  <a:tcPr marL="73152" marR="73152" marT="27432" marB="27432" anchor="ctr">
                    <a:solidFill>
                      <a:srgbClr val="1E2A3A"/>
                    </a:solidFill>
                  </a:tcPr>
                </a:tc>
                <a:tc>
                  <a:txBody>
                    <a:bodyPr wrap="square"/>
                    <a:lstStyle/>
                    <a:p>
                      <a:r>
                        <a:rPr sz="1200" b="1">
                          <a:solidFill>
                            <a:srgbClr val="FFFFFF"/>
                          </a:solidFill>
                          <a:latin typeface="Arial"/>
                        </a:rPr>
                        <a:t>By when</a:t>
                      </a:r>
                    </a:p>
                  </a:txBody>
                  <a:tcPr marL="73152" marR="73152" marT="27432" marB="27432" anchor="ctr">
                    <a:solidFill>
                      <a:srgbClr val="1E2A3A"/>
                    </a:solidFill>
                  </a:tcPr>
                </a:tc>
                <a:tc>
                  <a:txBody>
                    <a:bodyPr wrap="square"/>
                    <a:lstStyle/>
                    <a:p>
                      <a:r>
                        <a:rPr sz="1200" b="1">
                          <a:solidFill>
                            <a:srgbClr val="FFFFFF"/>
                          </a:solidFill>
                          <a:latin typeface="Arial"/>
                        </a:rPr>
                        <a:t>If it slips</a:t>
                      </a:r>
                    </a:p>
                  </a:txBody>
                  <a:tcPr marL="73152" marR="73152" marT="27432" marB="27432" anchor="ctr">
                    <a:solidFill>
                      <a:srgbClr val="1E2A3A"/>
                    </a:solidFill>
                  </a:tcPr>
                </a:tc>
              </a:tr>
              <a:tr h="530352">
                <a:tc>
                  <a:txBody>
                    <a:bodyPr wrap="square"/>
                    <a:lstStyle/>
                    <a:p>
                      <a:r>
                        <a:rPr sz="1200" b="1">
                          <a:solidFill>
                            <a:srgbClr val="1E2A3A"/>
                          </a:solidFill>
                          <a:latin typeface="Arial"/>
                        </a:rPr>
                        <a:t>1</a:t>
                      </a:r>
                    </a:p>
                  </a:txBody>
                  <a:tcPr marL="73152" marR="73152" marT="27432" marB="27432" anchor="ctr">
                    <a:solidFill>
                      <a:srgbClr val="FFFFFF"/>
                    </a:solidFill>
                  </a:tcPr>
                </a:tc>
                <a:tc>
                  <a:txBody>
                    <a:bodyPr wrap="square"/>
                    <a:lstStyle/>
                    <a:p>
                      <a:r>
                        <a:rPr sz="1200" b="0">
                          <a:solidFill>
                            <a:srgbClr val="3D4F6A"/>
                          </a:solidFill>
                          <a:latin typeface="Arial"/>
                        </a:rPr>
                        <a:t>BI: one full-year 2027 proposal; 3 events moved to Jul-Sep; 30% down payment</a:t>
                      </a:r>
                    </a:p>
                  </a:txBody>
                  <a:tcPr marL="73152" marR="73152" marT="27432" marB="27432" anchor="ctr">
                    <a:solidFill>
                      <a:srgbClr val="FFFFFF"/>
                    </a:solidFill>
                  </a:tcPr>
                </a:tc>
                <a:tc>
                  <a:txBody>
                    <a:bodyPr wrap="square"/>
                    <a:lstStyle/>
                    <a:p>
                      <a:r>
                        <a:rPr sz="1200" b="0">
                          <a:solidFill>
                            <a:srgbClr val="3D4F6A"/>
                          </a:solidFill>
                          <a:latin typeface="Arial"/>
                        </a:rPr>
                        <a:t>Kia</a:t>
                      </a:r>
                    </a:p>
                  </a:txBody>
                  <a:tcPr marL="73152" marR="73152" marT="27432" marB="27432" anchor="ctr">
                    <a:solidFill>
                      <a:srgbClr val="FFFFFF"/>
                    </a:solidFill>
                  </a:tcPr>
                </a:tc>
                <a:tc>
                  <a:txBody>
                    <a:bodyPr wrap="square"/>
                    <a:lstStyle/>
                    <a:p>
                      <a:r>
                        <a:rPr sz="1200" b="0">
                          <a:solidFill>
                            <a:srgbClr val="3D4F6A"/>
                          </a:solidFill>
                          <a:latin typeface="Arial"/>
                        </a:rPr>
                        <a:t>17 Oct 2026</a:t>
                      </a:r>
                    </a:p>
                  </a:txBody>
                  <a:tcPr marL="73152" marR="73152" marT="27432" marB="27432" anchor="ctr">
                    <a:solidFill>
                      <a:srgbClr val="F5EDD8"/>
                    </a:solidFill>
                  </a:tcPr>
                </a:tc>
                <a:tc>
                  <a:txBody>
                    <a:bodyPr wrap="square"/>
                    <a:lstStyle/>
                    <a:p>
                      <a:r>
                        <a:rPr sz="1200" b="0">
                          <a:solidFill>
                            <a:srgbClr val="3D4F6A"/>
                          </a:solidFill>
                          <a:latin typeface="Arial"/>
                        </a:rPr>
                        <a:t>Escalate to the regional offices</a:t>
                      </a:r>
                    </a:p>
                  </a:txBody>
                  <a:tcPr marL="73152" marR="73152" marT="27432" marB="27432" anchor="ctr">
                    <a:solidFill>
                      <a:srgbClr val="FFFFFF"/>
                    </a:solidFill>
                  </a:tcPr>
                </a:tc>
              </a:tr>
              <a:tr h="530352">
                <a:tc>
                  <a:txBody>
                    <a:bodyPr wrap="square"/>
                    <a:lstStyle/>
                    <a:p>
                      <a:r>
                        <a:rPr sz="1200" b="1">
                          <a:solidFill>
                            <a:srgbClr val="1E2A3A"/>
                          </a:solidFill>
                          <a:latin typeface="Arial"/>
                        </a:rPr>
                        <a:t>2</a:t>
                      </a:r>
                    </a:p>
                  </a:txBody>
                  <a:tcPr marL="73152" marR="73152" marT="27432" marB="27432" anchor="ctr">
                    <a:solidFill>
                      <a:srgbClr val="F6F2EA"/>
                    </a:solidFill>
                  </a:tcPr>
                </a:tc>
                <a:tc>
                  <a:txBody>
                    <a:bodyPr wrap="square"/>
                    <a:lstStyle/>
                    <a:p>
                      <a:r>
                        <a:rPr sz="1200" b="0">
                          <a:solidFill>
                            <a:srgbClr val="3D4F6A"/>
                          </a:solidFill>
                          <a:latin typeface="Arial"/>
                        </a:rPr>
                        <a:t>Start the BD co-founder search</a:t>
                      </a:r>
                    </a:p>
                  </a:txBody>
                  <a:tcPr marL="73152" marR="73152" marT="27432" marB="27432" anchor="ctr">
                    <a:solidFill>
                      <a:srgbClr val="F6F2EA"/>
                    </a:solidFill>
                  </a:tcPr>
                </a:tc>
                <a:tc>
                  <a:txBody>
                    <a:bodyPr wrap="square"/>
                    <a:lstStyle/>
                    <a:p>
                      <a:r>
                        <a:rPr sz="1200" b="0">
                          <a:solidFill>
                            <a:srgbClr val="3D4F6A"/>
                          </a:solidFill>
                          <a:latin typeface="Arial"/>
                        </a:rPr>
                        <a:t>Kia and Galih</a:t>
                      </a:r>
                    </a:p>
                  </a:txBody>
                  <a:tcPr marL="73152" marR="73152" marT="27432" marB="27432" anchor="ctr">
                    <a:solidFill>
                      <a:srgbClr val="F6F2EA"/>
                    </a:solidFill>
                  </a:tcPr>
                </a:tc>
                <a:tc>
                  <a:txBody>
                    <a:bodyPr wrap="square"/>
                    <a:lstStyle/>
                    <a:p>
                      <a:r>
                        <a:rPr sz="1200" b="0">
                          <a:solidFill>
                            <a:srgbClr val="3D4F6A"/>
                          </a:solidFill>
                          <a:latin typeface="Arial"/>
                        </a:rPr>
                        <a:t>Oct 2026</a:t>
                      </a:r>
                    </a:p>
                  </a:txBody>
                  <a:tcPr marL="73152" marR="73152" marT="27432" marB="27432" anchor="ctr">
                    <a:solidFill>
                      <a:srgbClr val="F6F2EA"/>
                    </a:solidFill>
                  </a:tcPr>
                </a:tc>
                <a:tc>
                  <a:txBody>
                    <a:bodyPr wrap="square"/>
                    <a:lstStyle/>
                    <a:p>
                      <a:r>
                        <a:rPr sz="1200" b="0">
                          <a:solidFill>
                            <a:srgbClr val="3D4F6A"/>
                          </a:solidFill>
                          <a:latin typeface="Arial"/>
                        </a:rPr>
                        <a:t>Founders keep selling alone</a:t>
                      </a:r>
                    </a:p>
                  </a:txBody>
                  <a:tcPr marL="73152" marR="73152" marT="27432" marB="27432" anchor="ctr">
                    <a:solidFill>
                      <a:srgbClr val="F6F2EA"/>
                    </a:solidFill>
                  </a:tcPr>
                </a:tc>
              </a:tr>
              <a:tr h="530352">
                <a:tc>
                  <a:txBody>
                    <a:bodyPr wrap="square"/>
                    <a:lstStyle/>
                    <a:p>
                      <a:r>
                        <a:rPr sz="1200" b="1">
                          <a:solidFill>
                            <a:srgbClr val="1E2A3A"/>
                          </a:solidFill>
                          <a:latin typeface="Arial"/>
                        </a:rPr>
                        <a:t>3</a:t>
                      </a:r>
                    </a:p>
                  </a:txBody>
                  <a:tcPr marL="73152" marR="73152" marT="27432" marB="27432" anchor="ctr">
                    <a:solidFill>
                      <a:srgbClr val="FFFFFF"/>
                    </a:solidFill>
                  </a:tcPr>
                </a:tc>
                <a:tc>
                  <a:txBody>
                    <a:bodyPr wrap="square"/>
                    <a:lstStyle/>
                    <a:p>
                      <a:r>
                        <a:rPr sz="1200" b="0">
                          <a:solidFill>
                            <a:srgbClr val="3D4F6A"/>
                          </a:solidFill>
                          <a:latin typeface="Arial"/>
                        </a:rPr>
                        <a:t>Hire the second paid part-time psychologist (starts January)</a:t>
                      </a:r>
                    </a:p>
                  </a:txBody>
                  <a:tcPr marL="73152" marR="73152" marT="27432" marB="27432" anchor="ctr">
                    <a:solidFill>
                      <a:srgbClr val="FFFFFF"/>
                    </a:solidFill>
                  </a:tcPr>
                </a:tc>
                <a:tc>
                  <a:txBody>
                    <a:bodyPr wrap="square"/>
                    <a:lstStyle/>
                    <a:p>
                      <a:r>
                        <a:rPr sz="1200" b="0">
                          <a:solidFill>
                            <a:srgbClr val="3D4F6A"/>
                          </a:solidFill>
                          <a:latin typeface="Arial"/>
                        </a:rPr>
                        <a:t>Galih</a:t>
                      </a:r>
                    </a:p>
                  </a:txBody>
                  <a:tcPr marL="73152" marR="73152" marT="27432" marB="27432" anchor="ctr">
                    <a:solidFill>
                      <a:srgbClr val="FFFFFF"/>
                    </a:solidFill>
                  </a:tcPr>
                </a:tc>
                <a:tc>
                  <a:txBody>
                    <a:bodyPr wrap="square"/>
                    <a:lstStyle/>
                    <a:p>
                      <a:r>
                        <a:rPr sz="1200" b="0">
                          <a:solidFill>
                            <a:srgbClr val="3D4F6A"/>
                          </a:solidFill>
                          <a:latin typeface="Arial"/>
                        </a:rPr>
                        <a:t>30 Nov 2026</a:t>
                      </a:r>
                    </a:p>
                  </a:txBody>
                  <a:tcPr marL="73152" marR="73152" marT="27432" marB="27432" anchor="ctr">
                    <a:solidFill>
                      <a:srgbClr val="F5EDD8"/>
                    </a:solidFill>
                  </a:tcPr>
                </a:tc>
                <a:tc>
                  <a:txBody>
                    <a:bodyPr wrap="square"/>
                    <a:lstStyle/>
                    <a:p>
                      <a:r>
                        <a:rPr sz="1200" b="0">
                          <a:solidFill>
                            <a:srgbClr val="3D4F6A"/>
                          </a:solidFill>
                          <a:latin typeface="Arial"/>
                        </a:rPr>
                        <a:t>Pool of 20 covers evenings</a:t>
                      </a:r>
                    </a:p>
                  </a:txBody>
                  <a:tcPr marL="73152" marR="73152" marT="27432" marB="27432" anchor="ctr">
                    <a:solidFill>
                      <a:srgbClr val="FFFFFF"/>
                    </a:solidFill>
                  </a:tcPr>
                </a:tc>
              </a:tr>
              <a:tr h="530352">
                <a:tc>
                  <a:txBody>
                    <a:bodyPr wrap="square"/>
                    <a:lstStyle/>
                    <a:p>
                      <a:r>
                        <a:rPr sz="1200" b="1">
                          <a:solidFill>
                            <a:srgbClr val="1E2A3A"/>
                          </a:solidFill>
                          <a:latin typeface="Arial"/>
                        </a:rPr>
                        <a:t>4</a:t>
                      </a:r>
                    </a:p>
                  </a:txBody>
                  <a:tcPr marL="73152" marR="73152" marT="27432" marB="27432" anchor="ctr">
                    <a:solidFill>
                      <a:srgbClr val="F6F2EA"/>
                    </a:solidFill>
                  </a:tcPr>
                </a:tc>
                <a:tc>
                  <a:txBody>
                    <a:bodyPr wrap="square"/>
                    <a:lstStyle/>
                    <a:p>
                      <a:r>
                        <a:rPr sz="1200" b="0">
                          <a:solidFill>
                            <a:srgbClr val="3D4F6A"/>
                          </a:solidFill>
                          <a:latin typeface="Arial"/>
                        </a:rPr>
                        <a:t>Banks: put EAP 3 and training days into their 2027 budgets</a:t>
                      </a:r>
                    </a:p>
                  </a:txBody>
                  <a:tcPr marL="73152" marR="73152" marT="27432" marB="27432" anchor="ctr">
                    <a:solidFill>
                      <a:srgbClr val="F6F2EA"/>
                    </a:solidFill>
                  </a:tcPr>
                </a:tc>
                <a:tc>
                  <a:txBody>
                    <a:bodyPr wrap="square"/>
                    <a:lstStyle/>
                    <a:p>
                      <a:r>
                        <a:rPr sz="1200" b="0">
                          <a:solidFill>
                            <a:srgbClr val="3D4F6A"/>
                          </a:solidFill>
                          <a:latin typeface="Arial"/>
                        </a:rPr>
                        <a:t>Kia</a:t>
                      </a:r>
                    </a:p>
                  </a:txBody>
                  <a:tcPr marL="73152" marR="73152" marT="27432" marB="27432" anchor="ctr">
                    <a:solidFill>
                      <a:srgbClr val="F6F2EA"/>
                    </a:solidFill>
                  </a:tcPr>
                </a:tc>
                <a:tc>
                  <a:txBody>
                    <a:bodyPr wrap="square"/>
                    <a:lstStyle/>
                    <a:p>
                      <a:r>
                        <a:rPr sz="1200" b="0">
                          <a:solidFill>
                            <a:srgbClr val="3D4F6A"/>
                          </a:solidFill>
                          <a:latin typeface="Arial"/>
                        </a:rPr>
                        <a:t>31 Dec 2026</a:t>
                      </a:r>
                    </a:p>
                  </a:txBody>
                  <a:tcPr marL="73152" marR="73152" marT="27432" marB="27432" anchor="ctr">
                    <a:solidFill>
                      <a:srgbClr val="F6F2EA"/>
                    </a:solidFill>
                  </a:tcPr>
                </a:tc>
                <a:tc>
                  <a:txBody>
                    <a:bodyPr wrap="square"/>
                    <a:lstStyle/>
                    <a:p>
                      <a:r>
                        <a:rPr sz="1200" b="0">
                          <a:solidFill>
                            <a:srgbClr val="3D4F6A"/>
                          </a:solidFill>
                          <a:latin typeface="Arial"/>
                        </a:rPr>
                        <a:t>Bank deals move to 2028</a:t>
                      </a:r>
                    </a:p>
                  </a:txBody>
                  <a:tcPr marL="73152" marR="73152" marT="27432" marB="27432" anchor="ctr">
                    <a:solidFill>
                      <a:srgbClr val="F6F2EA"/>
                    </a:solidFill>
                  </a:tcPr>
                </a:tc>
              </a:tr>
              <a:tr h="530352">
                <a:tc>
                  <a:txBody>
                    <a:bodyPr wrap="square"/>
                    <a:lstStyle/>
                    <a:p>
                      <a:r>
                        <a:rPr sz="1200" b="1">
                          <a:solidFill>
                            <a:srgbClr val="1E2A3A"/>
                          </a:solidFill>
                          <a:latin typeface="Arial"/>
                        </a:rPr>
                        <a:t>5</a:t>
                      </a:r>
                    </a:p>
                  </a:txBody>
                  <a:tcPr marL="73152" marR="73152" marT="27432" marB="27432" anchor="ctr">
                    <a:solidFill>
                      <a:srgbClr val="FFFFFF"/>
                    </a:solidFill>
                  </a:tcPr>
                </a:tc>
                <a:tc>
                  <a:txBody>
                    <a:bodyPr wrap="square"/>
                    <a:lstStyle/>
                    <a:p>
                      <a:r>
                        <a:rPr sz="1200" b="0">
                          <a:solidFill>
                            <a:srgbClr val="3D4F6A"/>
                          </a:solidFill>
                          <a:latin typeface="Arial"/>
                        </a:rPr>
                        <a:t>EAP 2: sign the warm lead, billed a quarter ahead</a:t>
                      </a:r>
                    </a:p>
                  </a:txBody>
                  <a:tcPr marL="73152" marR="73152" marT="27432" marB="27432" anchor="ctr">
                    <a:solidFill>
                      <a:srgbClr val="FFFFFF"/>
                    </a:solidFill>
                  </a:tcPr>
                </a:tc>
                <a:tc>
                  <a:txBody>
                    <a:bodyPr wrap="square"/>
                    <a:lstStyle/>
                    <a:p>
                      <a:r>
                        <a:rPr sz="1200" b="0">
                          <a:solidFill>
                            <a:srgbClr val="3D4F6A"/>
                          </a:solidFill>
                          <a:latin typeface="Arial"/>
                        </a:rPr>
                        <a:t>Galih</a:t>
                      </a:r>
                    </a:p>
                  </a:txBody>
                  <a:tcPr marL="73152" marR="73152" marT="27432" marB="27432" anchor="ctr">
                    <a:solidFill>
                      <a:srgbClr val="FFFFFF"/>
                    </a:solidFill>
                  </a:tcPr>
                </a:tc>
                <a:tc>
                  <a:txBody>
                    <a:bodyPr wrap="square"/>
                    <a:lstStyle/>
                    <a:p>
                      <a:r>
                        <a:rPr sz="1200" b="0">
                          <a:solidFill>
                            <a:srgbClr val="3D4F6A"/>
                          </a:solidFill>
                          <a:latin typeface="Arial"/>
                        </a:rPr>
                        <a:t>15 Jan 2027</a:t>
                      </a:r>
                    </a:p>
                  </a:txBody>
                  <a:tcPr marL="73152" marR="73152" marT="27432" marB="27432" anchor="ctr">
                    <a:solidFill>
                      <a:srgbClr val="F5EDD8"/>
                    </a:solidFill>
                  </a:tcPr>
                </a:tc>
                <a:tc>
                  <a:txBody>
                    <a:bodyPr wrap="square"/>
                    <a:lstStyle/>
                    <a:p>
                      <a:r>
                        <a:rPr sz="1200" b="0">
                          <a:solidFill>
                            <a:srgbClr val="3D4F6A"/>
                          </a:solidFill>
                          <a:latin typeface="Arial"/>
                        </a:rPr>
                        <a:t>No EAP 2 by 15 Dec: delay the April pay step</a:t>
                      </a:r>
                    </a:p>
                  </a:txBody>
                  <a:tcPr marL="73152" marR="73152" marT="27432" marB="27432" anchor="ctr">
                    <a:solidFill>
                      <a:srgbClr val="FFFFFF"/>
                    </a:solidFill>
                  </a:tcPr>
                </a:tc>
              </a:tr>
              <a:tr h="530352">
                <a:tc>
                  <a:txBody>
                    <a:bodyPr wrap="square"/>
                    <a:lstStyle/>
                    <a:p>
                      <a:r>
                        <a:rPr sz="1200" b="1">
                          <a:solidFill>
                            <a:srgbClr val="1E2A3A"/>
                          </a:solidFill>
                          <a:latin typeface="Arial"/>
                        </a:rPr>
                        <a:t>6</a:t>
                      </a:r>
                    </a:p>
                  </a:txBody>
                  <a:tcPr marL="73152" marR="73152" marT="27432" marB="27432" anchor="ctr">
                    <a:solidFill>
                      <a:srgbClr val="F6F2EA"/>
                    </a:solidFill>
                  </a:tcPr>
                </a:tc>
                <a:tc>
                  <a:txBody>
                    <a:bodyPr wrap="square"/>
                    <a:lstStyle/>
                    <a:p>
                      <a:r>
                        <a:rPr sz="1200" b="0">
                          <a:solidFill>
                            <a:srgbClr val="3D4F6A"/>
                          </a:solidFill>
                          <a:latin typeface="Arial"/>
                        </a:rPr>
                        <a:t>Pay scheme in writing with staff; BPJS registered</a:t>
                      </a:r>
                    </a:p>
                  </a:txBody>
                  <a:tcPr marL="73152" marR="73152" marT="27432" marB="27432" anchor="ctr">
                    <a:solidFill>
                      <a:srgbClr val="F6F2EA"/>
                    </a:solidFill>
                  </a:tcPr>
                </a:tc>
                <a:tc>
                  <a:txBody>
                    <a:bodyPr wrap="square"/>
                    <a:lstStyle/>
                    <a:p>
                      <a:r>
                        <a:rPr sz="1200" b="0">
                          <a:solidFill>
                            <a:srgbClr val="3D4F6A"/>
                          </a:solidFill>
                          <a:latin typeface="Arial"/>
                        </a:rPr>
                        <a:t>Kia</a:t>
                      </a:r>
                    </a:p>
                  </a:txBody>
                  <a:tcPr marL="73152" marR="73152" marT="27432" marB="27432" anchor="ctr">
                    <a:solidFill>
                      <a:srgbClr val="F6F2EA"/>
                    </a:solidFill>
                  </a:tcPr>
                </a:tc>
                <a:tc>
                  <a:txBody>
                    <a:bodyPr wrap="square"/>
                    <a:lstStyle/>
                    <a:p>
                      <a:r>
                        <a:rPr sz="1200" b="0">
                          <a:solidFill>
                            <a:srgbClr val="3D4F6A"/>
                          </a:solidFill>
                          <a:latin typeface="Arial"/>
                        </a:rPr>
                        <a:t>31 Dec 2026</a:t>
                      </a:r>
                    </a:p>
                  </a:txBody>
                  <a:tcPr marL="73152" marR="73152" marT="27432" marB="27432" anchor="ctr">
                    <a:solidFill>
                      <a:srgbClr val="F6F2EA"/>
                    </a:solidFill>
                  </a:tcPr>
                </a:tc>
                <a:tc>
                  <a:txBody>
                    <a:bodyPr wrap="square"/>
                    <a:lstStyle/>
                    <a:p>
                      <a:r>
                        <a:rPr sz="1200" b="0">
                          <a:solidFill>
                            <a:srgbClr val="3D4F6A"/>
                          </a:solidFill>
                          <a:latin typeface="Arial"/>
                        </a:rPr>
                        <a:t>No pay change without it</a:t>
                      </a:r>
                    </a:p>
                  </a:txBody>
                  <a:tcPr marL="73152" marR="73152" marT="27432" marB="27432" anchor="ctr">
                    <a:solidFill>
                      <a:srgbClr val="F6F2EA"/>
                    </a:solidFill>
                  </a:tcPr>
                </a:tc>
              </a:tr>
              <a:tr h="530352">
                <a:tc>
                  <a:txBody>
                    <a:bodyPr wrap="square"/>
                    <a:lstStyle/>
                    <a:p>
                      <a:r>
                        <a:rPr sz="1200" b="1">
                          <a:solidFill>
                            <a:srgbClr val="1E2A3A"/>
                          </a:solidFill>
                          <a:latin typeface="Arial"/>
                        </a:rPr>
                        <a:t>7</a:t>
                      </a:r>
                    </a:p>
                  </a:txBody>
                  <a:tcPr marL="73152" marR="73152" marT="27432" marB="27432" anchor="ctr">
                    <a:solidFill>
                      <a:srgbClr val="FFFFFF"/>
                    </a:solidFill>
                  </a:tcPr>
                </a:tc>
                <a:tc>
                  <a:txBody>
                    <a:bodyPr wrap="square"/>
                    <a:lstStyle/>
                    <a:p>
                      <a:r>
                        <a:rPr sz="1200" b="0">
                          <a:solidFill>
                            <a:srgbClr val="3D4F6A"/>
                          </a:solidFill>
                          <a:latin typeface="Arial"/>
                        </a:rPr>
                        <a:t>Booking link, session packages and referral tracking live</a:t>
                      </a:r>
                    </a:p>
                  </a:txBody>
                  <a:tcPr marL="73152" marR="73152" marT="27432" marB="27432" anchor="ctr">
                    <a:solidFill>
                      <a:srgbClr val="FFFFFF"/>
                    </a:solidFill>
                  </a:tcPr>
                </a:tc>
                <a:tc>
                  <a:txBody>
                    <a:bodyPr wrap="square"/>
                    <a:lstStyle/>
                    <a:p>
                      <a:r>
                        <a:rPr sz="1200" b="0">
                          <a:solidFill>
                            <a:srgbClr val="3D4F6A"/>
                          </a:solidFill>
                          <a:latin typeface="Arial"/>
                        </a:rPr>
                        <a:t>Galih + admin</a:t>
                      </a:r>
                    </a:p>
                  </a:txBody>
                  <a:tcPr marL="73152" marR="73152" marT="27432" marB="27432" anchor="ctr">
                    <a:solidFill>
                      <a:srgbClr val="FFFFFF"/>
                    </a:solidFill>
                  </a:tcPr>
                </a:tc>
                <a:tc>
                  <a:txBody>
                    <a:bodyPr wrap="square"/>
                    <a:lstStyle/>
                    <a:p>
                      <a:r>
                        <a:rPr sz="1200" b="0">
                          <a:solidFill>
                            <a:srgbClr val="3D4F6A"/>
                          </a:solidFill>
                          <a:latin typeface="Arial"/>
                        </a:rPr>
                        <a:t>31 Jan 2027</a:t>
                      </a:r>
                    </a:p>
                  </a:txBody>
                  <a:tcPr marL="73152" marR="73152" marT="27432" marB="27432" anchor="ctr">
                    <a:solidFill>
                      <a:srgbClr val="FFFFFF"/>
                    </a:solidFill>
                  </a:tcPr>
                </a:tc>
                <a:tc>
                  <a:txBody>
                    <a:bodyPr wrap="square"/>
                    <a:lstStyle/>
                    <a:p>
                      <a:r>
                        <a:rPr sz="1200" b="0">
                          <a:solidFill>
                            <a:srgbClr val="3D4F6A"/>
                          </a:solidFill>
                          <a:latin typeface="Arial"/>
                        </a:rPr>
                        <a:t>Cut extra ads to Rp1M</a:t>
                      </a:r>
                    </a:p>
                  </a:txBody>
                  <a:tcPr marL="73152" marR="73152" marT="27432" marB="27432" anchor="ctr">
                    <a:solidFill>
                      <a:srgbClr val="FFFFFF"/>
                    </a:solidFill>
                  </a:tcPr>
                </a:tc>
              </a:tr>
              <a:tr h="530352">
                <a:tc>
                  <a:txBody>
                    <a:bodyPr wrap="square"/>
                    <a:lstStyle/>
                    <a:p>
                      <a:r>
                        <a:rPr sz="1200" b="1">
                          <a:solidFill>
                            <a:srgbClr val="1E2A3A"/>
                          </a:solidFill>
                          <a:latin typeface="Arial"/>
                        </a:rPr>
                        <a:t>8</a:t>
                      </a:r>
                    </a:p>
                  </a:txBody>
                  <a:tcPr marL="73152" marR="73152" marT="27432" marB="27432" anchor="ctr">
                    <a:solidFill>
                      <a:srgbClr val="F6F2EA"/>
                    </a:solidFill>
                  </a:tcPr>
                </a:tc>
                <a:tc>
                  <a:txBody>
                    <a:bodyPr wrap="square"/>
                    <a:lstStyle/>
                    <a:p>
                      <a:r>
                        <a:rPr sz="1200" b="0">
                          <a:solidFill>
                            <a:srgbClr val="3D4F6A"/>
                          </a:solidFill>
                          <a:latin typeface="Arial"/>
                        </a:rPr>
                        <a:t>Certify 1 more trainer for March; one public event</a:t>
                      </a:r>
                    </a:p>
                  </a:txBody>
                  <a:tcPr marL="73152" marR="73152" marT="27432" marB="27432" anchor="ctr">
                    <a:solidFill>
                      <a:srgbClr val="F6F2EA"/>
                    </a:solidFill>
                  </a:tcPr>
                </a:tc>
                <a:tc>
                  <a:txBody>
                    <a:bodyPr wrap="square"/>
                    <a:lstStyle/>
                    <a:p>
                      <a:r>
                        <a:rPr sz="1200" b="0">
                          <a:solidFill>
                            <a:srgbClr val="3D4F6A"/>
                          </a:solidFill>
                          <a:latin typeface="Arial"/>
                        </a:rPr>
                        <a:t>Galih</a:t>
                      </a:r>
                    </a:p>
                  </a:txBody>
                  <a:tcPr marL="73152" marR="73152" marT="27432" marB="27432" anchor="ctr">
                    <a:solidFill>
                      <a:srgbClr val="F6F2EA"/>
                    </a:solidFill>
                  </a:tcPr>
                </a:tc>
                <a:tc>
                  <a:txBody>
                    <a:bodyPr wrap="square"/>
                    <a:lstStyle/>
                    <a:p>
                      <a:r>
                        <a:rPr sz="1200" b="0">
                          <a:solidFill>
                            <a:srgbClr val="3D4F6A"/>
                          </a:solidFill>
                          <a:latin typeface="Arial"/>
                        </a:rPr>
                        <a:t>Feb 2027</a:t>
                      </a:r>
                    </a:p>
                  </a:txBody>
                  <a:tcPr marL="73152" marR="73152" marT="27432" marB="27432" anchor="ctr">
                    <a:solidFill>
                      <a:srgbClr val="F6F2EA"/>
                    </a:solidFill>
                  </a:tcPr>
                </a:tc>
                <a:tc>
                  <a:txBody>
                    <a:bodyPr wrap="square"/>
                    <a:lstStyle/>
                    <a:p>
                      <a:r>
                        <a:rPr sz="1200" b="0">
                          <a:solidFill>
                            <a:srgbClr val="3D4F6A"/>
                          </a:solidFill>
                          <a:latin typeface="Arial"/>
                        </a:rPr>
                        <a:t>No BI work order by 31 Jan: March slips</a:t>
                      </a:r>
                    </a:p>
                  </a:txBody>
                  <a:tcPr marL="73152" marR="73152" marT="27432" marB="27432" anchor="ctr">
                    <a:solidFill>
                      <a:srgbClr val="F6F2EA"/>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What we need to </a:t>
            </a:r>
            <a:r>
              <a:rPr sz="2800" b="1" i="0">
                <a:solidFill>
                  <a:srgbClr val="9B3809"/>
                </a:solidFill>
                <a:latin typeface="Georgia"/>
              </a:rPr>
              <a:t>decide now</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Each decision changes a number in this plan. Our proposal is in each box.</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NEXT STEPS</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founders' discussion, 5 October 2026.</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31</a:t>
            </a:r>
          </a:p>
        </p:txBody>
      </p:sp>
      <p:sp>
        <p:nvSpPr>
          <p:cNvPr id="7" name="Rounded Rectangle 6"/>
          <p:cNvSpPr/>
          <p:nvPr/>
        </p:nvSpPr>
        <p:spPr>
          <a:xfrm>
            <a:off x="457200" y="1463040"/>
            <a:ext cx="3611880" cy="2286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Second founder's pay</a:t>
            </a:r>
          </a:p>
          <a:p>
            <a:pPr algn="l">
              <a:spcAft>
                <a:spcPts val="500"/>
              </a:spcAft>
            </a:pPr>
            <a:r>
              <a:rPr sz="1200" b="0" i="0">
                <a:solidFill>
                  <a:srgbClr val="3D4F6A"/>
                </a:solidFill>
                <a:latin typeface="Arial"/>
              </a:rPr>
              <a:t>Room of Rp15M a month from March; the guard rule says wait until May if February cash is under Rp80M.</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End of Feb 2027</a:t>
            </a:r>
          </a:p>
        </p:txBody>
      </p:sp>
      <p:sp>
        <p:nvSpPr>
          <p:cNvPr id="8" name="Rounded Rectangle 7"/>
          <p:cNvSpPr/>
          <p:nvPr/>
        </p:nvSpPr>
        <p:spPr>
          <a:xfrm>
            <a:off x="4251960" y="1463040"/>
            <a:ext cx="3611880" cy="22860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Sales targets for pay steps</a:t>
            </a:r>
          </a:p>
          <a:p>
            <a:pPr algn="l">
              <a:spcAft>
                <a:spcPts val="500"/>
              </a:spcAft>
            </a:pPr>
            <a:r>
              <a:rPr sz="1200" b="0" i="0">
                <a:solidFill>
                  <a:srgbClr val="3D4F6A"/>
                </a:solidFill>
                <a:latin typeface="Arial"/>
              </a:rPr>
              <a:t>Rp100M, Rp150M and Rp200M a month (3-month average). Agree them with staff in writing.</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Dec 2026</a:t>
            </a:r>
          </a:p>
        </p:txBody>
      </p:sp>
      <p:sp>
        <p:nvSpPr>
          <p:cNvPr id="9" name="Rounded Rectangle 8"/>
          <p:cNvSpPr/>
          <p:nvPr/>
        </p:nvSpPr>
        <p:spPr>
          <a:xfrm>
            <a:off x="8046720" y="1463040"/>
            <a:ext cx="3611880" cy="2286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Lead Partnership hire</a:t>
            </a:r>
          </a:p>
          <a:p>
            <a:pPr algn="l">
              <a:spcAft>
                <a:spcPts val="500"/>
              </a:spcAft>
            </a:pPr>
            <a:r>
              <a:rPr sz="1200" b="0" i="0">
                <a:solidFill>
                  <a:srgbClr val="3D4F6A"/>
                </a:solidFill>
                <a:latin typeface="Arial"/>
              </a:rPr>
              <a:t>A non-psychologist who manages EAP clients from Oct 2027, about Rp6M a month (estimate).</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Jul 2027</a:t>
            </a:r>
          </a:p>
        </p:txBody>
      </p:sp>
      <p:sp>
        <p:nvSpPr>
          <p:cNvPr id="10" name="Rounded Rectangle 9"/>
          <p:cNvSpPr/>
          <p:nvPr/>
        </p:nvSpPr>
        <p:spPr>
          <a:xfrm>
            <a:off x="457200" y="3931920"/>
            <a:ext cx="3611880" cy="22860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Referral reward</a:t>
            </a:r>
          </a:p>
          <a:p>
            <a:pPr algn="l">
              <a:spcAft>
                <a:spcPts val="500"/>
              </a:spcAft>
            </a:pPr>
            <a:r>
              <a:rPr sz="1200" b="0" i="0">
                <a:solidFill>
                  <a:srgbClr val="3D4F6A"/>
                </a:solidFill>
                <a:latin typeface="Arial"/>
              </a:rPr>
              <a:t>Rp100k session credit to each side. Our lead psychologist checks it against the HIMPSI code.</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Nov 2026</a:t>
            </a:r>
          </a:p>
        </p:txBody>
      </p:sp>
      <p:sp>
        <p:nvSpPr>
          <p:cNvPr id="11" name="Rounded Rectangle 10"/>
          <p:cNvSpPr/>
          <p:nvPr/>
        </p:nvSpPr>
        <p:spPr>
          <a:xfrm>
            <a:off x="4251960" y="3931920"/>
            <a:ext cx="3611880" cy="2286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How the pool of 20 is paid</a:t>
            </a:r>
          </a:p>
          <a:p>
            <a:pPr algn="l">
              <a:spcAft>
                <a:spcPts val="500"/>
              </a:spcAft>
            </a:pPr>
            <a:r>
              <a:rPr sz="1200" b="0" i="0">
                <a:solidFill>
                  <a:srgbClr val="3D4F6A"/>
                </a:solidFill>
                <a:latin typeface="Arial"/>
              </a:rPr>
              <a:t>Per session (40% of the price), with 8 open hours a month each. Trainees cannot counsel alone.</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Oct 2026</a:t>
            </a:r>
          </a:p>
        </p:txBody>
      </p:sp>
      <p:sp>
        <p:nvSpPr>
          <p:cNvPr id="12" name="Rounded Rectangle 11"/>
          <p:cNvSpPr/>
          <p:nvPr/>
        </p:nvSpPr>
        <p:spPr>
          <a:xfrm>
            <a:off x="8046720" y="3931920"/>
            <a:ext cx="3611880" cy="22860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Down payment from BI</a:t>
            </a:r>
          </a:p>
          <a:p>
            <a:pPr algn="l">
              <a:spcAft>
                <a:spcPts val="500"/>
              </a:spcAft>
            </a:pPr>
            <a:r>
              <a:rPr sz="1200" b="0" i="0">
                <a:solidFill>
                  <a:srgbClr val="3D4F6A"/>
                </a:solidFill>
                <a:latin typeface="Arial"/>
              </a:rPr>
              <a:t>Ask for 30% before the March head-office program, or invoices in stages.</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17 Oct 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32</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APPENDIX</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Where do the numbers come from?</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The tables, rules and checks behind each slide, so anyone can test the plan.</a:t>
            </a:r>
          </a:p>
        </p:txBody>
      </p:sp>
      <p:sp>
        <p:nvSpPr>
          <p:cNvPr id="7" name="TextBox 6"/>
          <p:cNvSpPr txBox="1"/>
          <p:nvPr/>
        </p:nvSpPr>
        <p:spPr>
          <a:xfrm>
            <a:off x="2240280" y="3246120"/>
            <a:ext cx="950975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What are the numbers behind each chart?</a:t>
            </a:r>
          </a:p>
          <a:p>
            <a:pPr algn="l">
              <a:spcAft>
                <a:spcPts val="300"/>
              </a:spcAft>
            </a:pPr>
            <a:r>
              <a:rPr sz="1200" b="1" i="0">
                <a:solidFill>
                  <a:srgbClr val="E8904A"/>
                </a:solidFill>
                <a:latin typeface="Arial"/>
              </a:rPr>
              <a:t>•  </a:t>
            </a:r>
            <a:r>
              <a:rPr sz="1200" b="0" i="0">
                <a:solidFill>
                  <a:srgbClr val="C9D2E3"/>
                </a:solidFill>
                <a:latin typeface="Arial"/>
              </a:rPr>
              <a:t>How are running cost, contracts and capacity set?</a:t>
            </a:r>
          </a:p>
          <a:p>
            <a:pPr algn="l">
              <a:spcAft>
                <a:spcPts val="300"/>
              </a:spcAft>
            </a:pPr>
            <a:r>
              <a:rPr sz="1200" b="1" i="0">
                <a:solidFill>
                  <a:srgbClr val="E8904A"/>
                </a:solidFill>
                <a:latin typeface="Arial"/>
              </a:rPr>
              <a:t>•  </a:t>
            </a:r>
            <a:r>
              <a:rPr sz="1200" b="0" i="0">
                <a:solidFill>
                  <a:srgbClr val="C9D2E3"/>
                </a:solidFill>
                <a:latin typeface="Arial"/>
              </a:rPr>
              <a:t>What are the risks?</a:t>
            </a:r>
          </a:p>
          <a:p>
            <a:pPr algn="l">
              <a:spcAft>
                <a:spcPts val="300"/>
              </a:spcAft>
            </a:pPr>
            <a:r>
              <a:rPr sz="1200" b="1" i="0">
                <a:solidFill>
                  <a:srgbClr val="E8904A"/>
                </a:solidFill>
                <a:latin typeface="Arial"/>
              </a:rPr>
              <a:t>•  </a:t>
            </a:r>
            <a:r>
              <a:rPr sz="1200" b="0" i="0">
                <a:solidFill>
                  <a:srgbClr val="C9D2E3"/>
                </a:solidFill>
                <a:latin typeface="Arial"/>
              </a:rPr>
              <a:t>What do the business words mean?</a:t>
            </a:r>
          </a:p>
          <a:p>
            <a:pPr algn="l">
              <a:spcAft>
                <a:spcPts val="300"/>
              </a:spcAft>
            </a:pPr>
            <a:r>
              <a:rPr sz="1200" b="1" i="0">
                <a:solidFill>
                  <a:srgbClr val="E8904A"/>
                </a:solidFill>
                <a:latin typeface="Arial"/>
              </a:rPr>
              <a:t>•  </a:t>
            </a:r>
            <a:r>
              <a:rPr sz="1200" b="0" i="0">
                <a:solidFill>
                  <a:srgbClr val="C9D2E3"/>
                </a:solidFill>
                <a:latin typeface="Arial"/>
              </a:rPr>
              <a:t>What is still an estimate?</a:t>
            </a:r>
          </a:p>
        </p:txBody>
      </p:sp>
      <p:sp>
        <p:nvSpPr>
          <p:cNvPr id="8" name="Rounded Rectangle 7"/>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9" name="Rounded Rectangle 8"/>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0" name="Rounded Rectangle 9"/>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1" name="Rounded Rectangle 10"/>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The numbers behind the charts</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Three estimates for 2027, then a normal full year, one change per row.</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Excel recalculated every case. Tax is 0.5% of sales.</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33</a:t>
            </a:r>
          </a:p>
        </p:txBody>
      </p:sp>
      <p:graphicFrame>
        <p:nvGraphicFramePr>
          <p:cNvPr id="7" name="Table 6"/>
          <p:cNvGraphicFramePr>
            <a:graphicFrameLocks noGrp="1"/>
          </p:cNvGraphicFramePr>
          <p:nvPr/>
        </p:nvGraphicFramePr>
        <p:xfrm>
          <a:off x="457200" y="1371600"/>
          <a:ext cx="11247120" cy="1856232"/>
        </p:xfrm>
        <a:graphic>
          <a:graphicData uri="http://schemas.openxmlformats.org/drawingml/2006/table">
            <a:tbl>
              <a:tblPr firstRow="1" bandRow="1">
                <a:tableStyleId>{5C22544A-7EE6-4342-B048-85BDC9FD1C3A}</a:tableStyleId>
              </a:tblPr>
              <a:tblGrid>
                <a:gridCol w="4206240"/>
                <a:gridCol w="960120"/>
                <a:gridCol w="1051560"/>
                <a:gridCol w="1051560"/>
                <a:gridCol w="1463040"/>
                <a:gridCol w="1234440"/>
                <a:gridCol w="1280160"/>
              </a:tblGrid>
              <a:tr h="265176">
                <a:tc>
                  <a:txBody>
                    <a:bodyPr wrap="square"/>
                    <a:lstStyle/>
                    <a:p>
                      <a:r>
                        <a:rPr sz="1100" b="1">
                          <a:solidFill>
                            <a:srgbClr val="FFFFFF"/>
                          </a:solidFill>
                          <a:latin typeface="Arial"/>
                        </a:rPr>
                        <a:t>2027 estimate</a:t>
                      </a:r>
                    </a:p>
                  </a:txBody>
                  <a:tcPr marL="73152" marR="73152" marT="27432" marB="27432" anchor="ctr">
                    <a:solidFill>
                      <a:srgbClr val="1E2A3A"/>
                    </a:solidFill>
                  </a:tcPr>
                </a:tc>
                <a:tc>
                  <a:txBody>
                    <a:bodyPr wrap="square"/>
                    <a:lstStyle/>
                    <a:p>
                      <a:r>
                        <a:rPr sz="1100" b="1">
                          <a:solidFill>
                            <a:srgbClr val="FFFFFF"/>
                          </a:solidFill>
                          <a:latin typeface="Arial"/>
                        </a:rPr>
                        <a:t>Sales</a:t>
                      </a:r>
                    </a:p>
                  </a:txBody>
                  <a:tcPr marL="73152" marR="73152" marT="27432" marB="27432" anchor="ctr">
                    <a:solidFill>
                      <a:srgbClr val="1E2A3A"/>
                    </a:solidFill>
                  </a:tcPr>
                </a:tc>
                <a:tc>
                  <a:txBody>
                    <a:bodyPr wrap="square"/>
                    <a:lstStyle/>
                    <a:p>
                      <a:r>
                        <a:rPr sz="1100" b="1">
                          <a:solidFill>
                            <a:srgbClr val="FFFFFF"/>
                          </a:solidFill>
                          <a:latin typeface="Arial"/>
                        </a:rPr>
                        <a:t>Net profit</a:t>
                      </a:r>
                    </a:p>
                  </a:txBody>
                  <a:tcPr marL="73152" marR="73152" marT="27432" marB="27432" anchor="ctr">
                    <a:solidFill>
                      <a:srgbClr val="1E2A3A"/>
                    </a:solidFill>
                  </a:tcPr>
                </a:tc>
                <a:tc>
                  <a:txBody>
                    <a:bodyPr wrap="square"/>
                    <a:lstStyle/>
                    <a:p>
                      <a:r>
                        <a:rPr sz="1100" b="1">
                          <a:solidFill>
                            <a:srgbClr val="FFFFFF"/>
                          </a:solidFill>
                          <a:latin typeface="Arial"/>
                        </a:rPr>
                        <a:t>Net margin</a:t>
                      </a:r>
                    </a:p>
                  </a:txBody>
                  <a:tcPr marL="73152" marR="73152" marT="27432" marB="27432" anchor="ctr">
                    <a:solidFill>
                      <a:srgbClr val="1E2A3A"/>
                    </a:solidFill>
                  </a:tcPr>
                </a:tc>
                <a:tc>
                  <a:txBody>
                    <a:bodyPr wrap="square"/>
                    <a:lstStyle/>
                    <a:p>
                      <a:r>
                        <a:rPr sz="1100" b="1">
                          <a:solidFill>
                            <a:srgbClr val="FFFFFF"/>
                          </a:solidFill>
                          <a:latin typeface="Arial"/>
                        </a:rPr>
                        <a:t>Lowest cash</a:t>
                      </a:r>
                    </a:p>
                  </a:txBody>
                  <a:tcPr marL="73152" marR="73152" marT="27432" marB="27432" anchor="ctr">
                    <a:solidFill>
                      <a:srgbClr val="1E2A3A"/>
                    </a:solidFill>
                  </a:tcPr>
                </a:tc>
                <a:tc>
                  <a:txBody>
                    <a:bodyPr wrap="square"/>
                    <a:lstStyle/>
                    <a:p>
                      <a:r>
                        <a:rPr sz="1100" b="1">
                          <a:solidFill>
                            <a:srgbClr val="FFFFFF"/>
                          </a:solidFill>
                          <a:latin typeface="Arial"/>
                        </a:rPr>
                        <a:t>Cash end 2027</a:t>
                      </a:r>
                    </a:p>
                  </a:txBody>
                  <a:tcPr marL="73152" marR="73152" marT="27432" marB="27432" anchor="ctr">
                    <a:solidFill>
                      <a:srgbClr val="1E2A3A"/>
                    </a:solidFill>
                  </a:tcPr>
                </a:tc>
                <a:tc>
                  <a:txBody>
                    <a:bodyPr wrap="square"/>
                    <a:lstStyle/>
                    <a:p>
                      <a:r>
                        <a:rPr sz="1100" b="1">
                          <a:solidFill>
                            <a:srgbClr val="FFFFFF"/>
                          </a:solidFill>
                          <a:latin typeface="Arial"/>
                        </a:rPr>
                        <a:t>Months below floor</a:t>
                      </a:r>
                    </a:p>
                  </a:txBody>
                  <a:tcPr marL="73152" marR="73152" marT="27432" marB="27432" anchor="ctr">
                    <a:solidFill>
                      <a:srgbClr val="1E2A3A"/>
                    </a:solidFill>
                  </a:tcPr>
                </a:tc>
              </a:tr>
              <a:tr h="265176">
                <a:tc>
                  <a:txBody>
                    <a:bodyPr wrap="square"/>
                    <a:lstStyle/>
                    <a:p>
                      <a:r>
                        <a:rPr sz="1100" b="1">
                          <a:solidFill>
                            <a:srgbClr val="1E2A3A"/>
                          </a:solidFill>
                          <a:latin typeface="Arial"/>
                        </a:rPr>
                        <a:t>Conservative: BI buys 30% less, no bank deal</a:t>
                      </a:r>
                    </a:p>
                  </a:txBody>
                  <a:tcPr marL="73152" marR="73152" marT="27432" marB="27432" anchor="ctr">
                    <a:solidFill>
                      <a:srgbClr val="F7DDD2"/>
                    </a:solidFill>
                  </a:tcPr>
                </a:tc>
                <a:tc>
                  <a:txBody>
                    <a:bodyPr wrap="square"/>
                    <a:lstStyle/>
                    <a:p>
                      <a:r>
                        <a:rPr sz="1100" b="0">
                          <a:solidFill>
                            <a:srgbClr val="3D4F6A"/>
                          </a:solidFill>
                          <a:latin typeface="Arial"/>
                        </a:rPr>
                        <a:t>1,606</a:t>
                      </a:r>
                    </a:p>
                  </a:txBody>
                  <a:tcPr marL="73152" marR="73152" marT="27432" marB="27432" anchor="ctr">
                    <a:solidFill>
                      <a:srgbClr val="F7DDD2"/>
                    </a:solidFill>
                  </a:tcPr>
                </a:tc>
                <a:tc>
                  <a:txBody>
                    <a:bodyPr wrap="square"/>
                    <a:lstStyle/>
                    <a:p>
                      <a:r>
                        <a:rPr sz="1100" b="0">
                          <a:solidFill>
                            <a:srgbClr val="3D4F6A"/>
                          </a:solidFill>
                          <a:latin typeface="Arial"/>
                        </a:rPr>
                        <a:t>267</a:t>
                      </a:r>
                    </a:p>
                  </a:txBody>
                  <a:tcPr marL="73152" marR="73152" marT="27432" marB="27432" anchor="ctr">
                    <a:solidFill>
                      <a:srgbClr val="F7DDD2"/>
                    </a:solidFill>
                  </a:tcPr>
                </a:tc>
                <a:tc>
                  <a:txBody>
                    <a:bodyPr wrap="square"/>
                    <a:lstStyle/>
                    <a:p>
                      <a:r>
                        <a:rPr sz="1100" b="0">
                          <a:solidFill>
                            <a:srgbClr val="3D4F6A"/>
                          </a:solidFill>
                          <a:latin typeface="Arial"/>
                        </a:rPr>
                        <a:t>16.6%</a:t>
                      </a:r>
                    </a:p>
                  </a:txBody>
                  <a:tcPr marL="73152" marR="73152" marT="27432" marB="27432" anchor="ctr">
                    <a:solidFill>
                      <a:srgbClr val="F7DDD2"/>
                    </a:solidFill>
                  </a:tcPr>
                </a:tc>
                <a:tc>
                  <a:txBody>
                    <a:bodyPr wrap="square"/>
                    <a:lstStyle/>
                    <a:p>
                      <a:r>
                        <a:rPr sz="1100" b="0">
                          <a:solidFill>
                            <a:srgbClr val="3D4F6A"/>
                          </a:solidFill>
                          <a:latin typeface="Arial"/>
                        </a:rPr>
                        <a:t>67 (Apr 27)</a:t>
                      </a:r>
                    </a:p>
                  </a:txBody>
                  <a:tcPr marL="73152" marR="73152" marT="27432" marB="27432" anchor="ctr">
                    <a:solidFill>
                      <a:srgbClr val="F7DDD2"/>
                    </a:solidFill>
                  </a:tcPr>
                </a:tc>
                <a:tc>
                  <a:txBody>
                    <a:bodyPr wrap="square"/>
                    <a:lstStyle/>
                    <a:p>
                      <a:r>
                        <a:rPr sz="1100" b="0">
                          <a:solidFill>
                            <a:srgbClr val="3D4F6A"/>
                          </a:solidFill>
                          <a:latin typeface="Arial"/>
                        </a:rPr>
                        <a:t>328</a:t>
                      </a:r>
                    </a:p>
                  </a:txBody>
                  <a:tcPr marL="73152" marR="73152" marT="27432" marB="27432" anchor="ctr">
                    <a:solidFill>
                      <a:srgbClr val="F7DDD2"/>
                    </a:solidFill>
                  </a:tcPr>
                </a:tc>
                <a:tc>
                  <a:txBody>
                    <a:bodyPr wrap="square"/>
                    <a:lstStyle/>
                    <a:p>
                      <a:r>
                        <a:rPr sz="1100" b="0">
                          <a:solidFill>
                            <a:srgbClr val="3D4F6A"/>
                          </a:solidFill>
                          <a:latin typeface="Arial"/>
                        </a:rPr>
                        <a:t>4</a:t>
                      </a:r>
                    </a:p>
                  </a:txBody>
                  <a:tcPr marL="73152" marR="73152" marT="27432" marB="27432" anchor="ctr">
                    <a:solidFill>
                      <a:srgbClr val="F7DDD2"/>
                    </a:solidFill>
                  </a:tcPr>
                </a:tc>
              </a:tr>
              <a:tr h="265176">
                <a:tc>
                  <a:txBody>
                    <a:bodyPr wrap="square"/>
                    <a:lstStyle/>
                    <a:p>
                      <a:r>
                        <a:rPr sz="1100" b="1">
                          <a:solidFill>
                            <a:srgbClr val="1E2A3A"/>
                          </a:solidFill>
                          <a:latin typeface="Arial"/>
                        </a:rPr>
                        <a:t>Current: our plan</a:t>
                      </a:r>
                    </a:p>
                  </a:txBody>
                  <a:tcPr marL="73152" marR="73152" marT="27432" marB="27432" anchor="ctr">
                    <a:solidFill>
                      <a:srgbClr val="DDE6F5"/>
                    </a:solidFill>
                  </a:tcPr>
                </a:tc>
                <a:tc>
                  <a:txBody>
                    <a:bodyPr wrap="square"/>
                    <a:lstStyle/>
                    <a:p>
                      <a:r>
                        <a:rPr sz="1100" b="0">
                          <a:solidFill>
                            <a:srgbClr val="3D4F6A"/>
                          </a:solidFill>
                          <a:latin typeface="Arial"/>
                        </a:rPr>
                        <a:t>2,040</a:t>
                      </a:r>
                    </a:p>
                  </a:txBody>
                  <a:tcPr marL="73152" marR="73152" marT="27432" marB="27432" anchor="ctr">
                    <a:solidFill>
                      <a:srgbClr val="DDE6F5"/>
                    </a:solidFill>
                  </a:tcPr>
                </a:tc>
                <a:tc>
                  <a:txBody>
                    <a:bodyPr wrap="square"/>
                    <a:lstStyle/>
                    <a:p>
                      <a:r>
                        <a:rPr sz="1100" b="0">
                          <a:solidFill>
                            <a:srgbClr val="3D4F6A"/>
                          </a:solidFill>
                          <a:latin typeface="Arial"/>
                        </a:rPr>
                        <a:t>532</a:t>
                      </a:r>
                    </a:p>
                  </a:txBody>
                  <a:tcPr marL="73152" marR="73152" marT="27432" marB="27432" anchor="ctr">
                    <a:solidFill>
                      <a:srgbClr val="DDE6F5"/>
                    </a:solidFill>
                  </a:tcPr>
                </a:tc>
                <a:tc>
                  <a:txBody>
                    <a:bodyPr wrap="square"/>
                    <a:lstStyle/>
                    <a:p>
                      <a:r>
                        <a:rPr sz="1100" b="0">
                          <a:solidFill>
                            <a:srgbClr val="3D4F6A"/>
                          </a:solidFill>
                          <a:latin typeface="Arial"/>
                        </a:rPr>
                        <a:t>26.1%</a:t>
                      </a:r>
                    </a:p>
                  </a:txBody>
                  <a:tcPr marL="73152" marR="73152" marT="27432" marB="27432" anchor="ctr">
                    <a:solidFill>
                      <a:srgbClr val="DDE6F5"/>
                    </a:solidFill>
                  </a:tcPr>
                </a:tc>
                <a:tc>
                  <a:txBody>
                    <a:bodyPr wrap="square"/>
                    <a:lstStyle/>
                    <a:p>
                      <a:r>
                        <a:rPr sz="1100" b="0">
                          <a:solidFill>
                            <a:srgbClr val="3D4F6A"/>
                          </a:solidFill>
                          <a:latin typeface="Arial"/>
                        </a:rPr>
                        <a:t>82 (Feb 27)</a:t>
                      </a:r>
                    </a:p>
                  </a:txBody>
                  <a:tcPr marL="73152" marR="73152" marT="27432" marB="27432" anchor="ctr">
                    <a:solidFill>
                      <a:srgbClr val="DDE6F5"/>
                    </a:solidFill>
                  </a:tcPr>
                </a:tc>
                <a:tc>
                  <a:txBody>
                    <a:bodyPr wrap="square"/>
                    <a:lstStyle/>
                    <a:p>
                      <a:r>
                        <a:rPr sz="1100" b="0">
                          <a:solidFill>
                            <a:srgbClr val="3D4F6A"/>
                          </a:solidFill>
                          <a:latin typeface="Arial"/>
                        </a:rPr>
                        <a:t>524</a:t>
                      </a:r>
                    </a:p>
                  </a:txBody>
                  <a:tcPr marL="73152" marR="73152" marT="27432" marB="27432" anchor="ctr">
                    <a:solidFill>
                      <a:srgbClr val="DDE6F5"/>
                    </a:solidFill>
                  </a:tcPr>
                </a:tc>
                <a:tc>
                  <a:txBody>
                    <a:bodyPr wrap="square"/>
                    <a:lstStyle/>
                    <a:p>
                      <a:r>
                        <a:rPr sz="1100" b="0">
                          <a:solidFill>
                            <a:srgbClr val="3D4F6A"/>
                          </a:solidFill>
                          <a:latin typeface="Arial"/>
                        </a:rPr>
                        <a:t>1</a:t>
                      </a:r>
                    </a:p>
                  </a:txBody>
                  <a:tcPr marL="73152" marR="73152" marT="27432" marB="27432" anchor="ctr">
                    <a:solidFill>
                      <a:srgbClr val="DDE6F5"/>
                    </a:solidFill>
                  </a:tcPr>
                </a:tc>
              </a:tr>
              <a:tr h="265176">
                <a:tc>
                  <a:txBody>
                    <a:bodyPr wrap="square"/>
                    <a:lstStyle/>
                    <a:p>
                      <a:r>
                        <a:rPr sz="1100" b="1">
                          <a:solidFill>
                            <a:srgbClr val="1E2A3A"/>
                          </a:solidFill>
                          <a:latin typeface="Arial"/>
                        </a:rPr>
                        <a:t>Aggressive: bank deal from July, 2 days a month</a:t>
                      </a:r>
                    </a:p>
                  </a:txBody>
                  <a:tcPr marL="73152" marR="73152" marT="27432" marB="27432" anchor="ctr">
                    <a:solidFill>
                      <a:srgbClr val="FFFFFF"/>
                    </a:solidFill>
                  </a:tcPr>
                </a:tc>
                <a:tc>
                  <a:txBody>
                    <a:bodyPr wrap="square"/>
                    <a:lstStyle/>
                    <a:p>
                      <a:r>
                        <a:rPr sz="1100" b="0">
                          <a:solidFill>
                            <a:srgbClr val="3D4F6A"/>
                          </a:solidFill>
                          <a:latin typeface="Arial"/>
                        </a:rPr>
                        <a:t>2,521</a:t>
                      </a:r>
                    </a:p>
                  </a:txBody>
                  <a:tcPr marL="73152" marR="73152" marT="27432" marB="27432" anchor="ctr">
                    <a:solidFill>
                      <a:srgbClr val="FFFFFF"/>
                    </a:solidFill>
                  </a:tcPr>
                </a:tc>
                <a:tc>
                  <a:txBody>
                    <a:bodyPr wrap="square"/>
                    <a:lstStyle/>
                    <a:p>
                      <a:r>
                        <a:rPr sz="1100" b="0">
                          <a:solidFill>
                            <a:srgbClr val="3D4F6A"/>
                          </a:solidFill>
                          <a:latin typeface="Arial"/>
                        </a:rPr>
                        <a:t>845</a:t>
                      </a:r>
                    </a:p>
                  </a:txBody>
                  <a:tcPr marL="73152" marR="73152" marT="27432" marB="27432" anchor="ctr">
                    <a:solidFill>
                      <a:srgbClr val="FFFFFF"/>
                    </a:solidFill>
                  </a:tcPr>
                </a:tc>
                <a:tc>
                  <a:txBody>
                    <a:bodyPr wrap="square"/>
                    <a:lstStyle/>
                    <a:p>
                      <a:r>
                        <a:rPr sz="1100" b="0">
                          <a:solidFill>
                            <a:srgbClr val="3D4F6A"/>
                          </a:solidFill>
                          <a:latin typeface="Arial"/>
                        </a:rPr>
                        <a:t>33.5%</a:t>
                      </a:r>
                    </a:p>
                  </a:txBody>
                  <a:tcPr marL="73152" marR="73152" marT="27432" marB="27432" anchor="ctr">
                    <a:solidFill>
                      <a:srgbClr val="FFFFFF"/>
                    </a:solidFill>
                  </a:tcPr>
                </a:tc>
                <a:tc>
                  <a:txBody>
                    <a:bodyPr wrap="square"/>
                    <a:lstStyle/>
                    <a:p>
                      <a:r>
                        <a:rPr sz="1100" b="0">
                          <a:solidFill>
                            <a:srgbClr val="3D4F6A"/>
                          </a:solidFill>
                          <a:latin typeface="Arial"/>
                        </a:rPr>
                        <a:t>82 (Feb 27)</a:t>
                      </a:r>
                    </a:p>
                  </a:txBody>
                  <a:tcPr marL="73152" marR="73152" marT="27432" marB="27432" anchor="ctr">
                    <a:solidFill>
                      <a:srgbClr val="FFFFFF"/>
                    </a:solidFill>
                  </a:tcPr>
                </a:tc>
                <a:tc>
                  <a:txBody>
                    <a:bodyPr wrap="square"/>
                    <a:lstStyle/>
                    <a:p>
                      <a:r>
                        <a:rPr sz="1100" b="0">
                          <a:solidFill>
                            <a:srgbClr val="3D4F6A"/>
                          </a:solidFill>
                          <a:latin typeface="Arial"/>
                        </a:rPr>
                        <a:t>779</a:t>
                      </a:r>
                    </a:p>
                  </a:txBody>
                  <a:tcPr marL="73152" marR="73152" marT="27432" marB="27432" anchor="ctr">
                    <a:solidFill>
                      <a:srgbClr val="FFFFFF"/>
                    </a:solidFill>
                  </a:tcPr>
                </a:tc>
                <a:tc>
                  <a:txBody>
                    <a:bodyPr wrap="square"/>
                    <a:lstStyle/>
                    <a:p>
                      <a:r>
                        <a:rPr sz="1100" b="0">
                          <a:solidFill>
                            <a:srgbClr val="3D4F6A"/>
                          </a:solidFill>
                          <a:latin typeface="Arial"/>
                        </a:rPr>
                        <a:t>2</a:t>
                      </a:r>
                    </a:p>
                  </a:txBody>
                  <a:tcPr marL="73152" marR="73152" marT="27432" marB="27432" anchor="ctr">
                    <a:solidFill>
                      <a:srgbClr val="FFFFFF"/>
                    </a:solidFill>
                  </a:tcPr>
                </a:tc>
              </a:tr>
              <a:tr h="265176">
                <a:tc>
                  <a:txBody>
                    <a:bodyPr wrap="square"/>
                    <a:lstStyle/>
                    <a:p>
                      <a:r>
                        <a:rPr sz="1100" b="1">
                          <a:solidFill>
                            <a:srgbClr val="1E2A3A"/>
                          </a:solidFill>
                          <a:latin typeface="Arial"/>
                        </a:rPr>
                        <a:t>Current + guard rule</a:t>
                      </a:r>
                    </a:p>
                  </a:txBody>
                  <a:tcPr marL="73152" marR="73152" marT="27432" marB="27432" anchor="ctr">
                    <a:solidFill>
                      <a:srgbClr val="F6F2EA"/>
                    </a:solidFill>
                  </a:tcPr>
                </a:tc>
                <a:tc>
                  <a:txBody>
                    <a:bodyPr wrap="square"/>
                    <a:lstStyle/>
                    <a:p>
                      <a:r>
                        <a:rPr sz="1100" b="0">
                          <a:solidFill>
                            <a:srgbClr val="3D4F6A"/>
                          </a:solidFill>
                          <a:latin typeface="Arial"/>
                        </a:rPr>
                        <a:t>2,040</a:t>
                      </a:r>
                    </a:p>
                  </a:txBody>
                  <a:tcPr marL="73152" marR="73152" marT="27432" marB="27432" anchor="ctr">
                    <a:solidFill>
                      <a:srgbClr val="F6F2EA"/>
                    </a:solidFill>
                  </a:tcPr>
                </a:tc>
                <a:tc>
                  <a:txBody>
                    <a:bodyPr wrap="square"/>
                    <a:lstStyle/>
                    <a:p>
                      <a:r>
                        <a:rPr sz="1100" b="0">
                          <a:solidFill>
                            <a:srgbClr val="3D4F6A"/>
                          </a:solidFill>
                          <a:latin typeface="Arial"/>
                        </a:rPr>
                        <a:t>569</a:t>
                      </a:r>
                    </a:p>
                  </a:txBody>
                  <a:tcPr marL="73152" marR="73152" marT="27432" marB="27432" anchor="ctr">
                    <a:solidFill>
                      <a:srgbClr val="F6F2EA"/>
                    </a:solidFill>
                  </a:tcPr>
                </a:tc>
                <a:tc>
                  <a:txBody>
                    <a:bodyPr wrap="square"/>
                    <a:lstStyle/>
                    <a:p>
                      <a:r>
                        <a:rPr sz="1100" b="0">
                          <a:solidFill>
                            <a:srgbClr val="3D4F6A"/>
                          </a:solidFill>
                          <a:latin typeface="Arial"/>
                        </a:rPr>
                        <a:t>27.9%</a:t>
                      </a:r>
                    </a:p>
                  </a:txBody>
                  <a:tcPr marL="73152" marR="73152" marT="27432" marB="27432" anchor="ctr">
                    <a:solidFill>
                      <a:srgbClr val="F6F2EA"/>
                    </a:solidFill>
                  </a:tcPr>
                </a:tc>
                <a:tc>
                  <a:txBody>
                    <a:bodyPr wrap="square"/>
                    <a:lstStyle/>
                    <a:p>
                      <a:r>
                        <a:rPr sz="1100" b="0">
                          <a:solidFill>
                            <a:srgbClr val="3D4F6A"/>
                          </a:solidFill>
                          <a:latin typeface="Arial"/>
                        </a:rPr>
                        <a:t>89 (Feb 27)</a:t>
                      </a:r>
                    </a:p>
                  </a:txBody>
                  <a:tcPr marL="73152" marR="73152" marT="27432" marB="27432" anchor="ctr">
                    <a:solidFill>
                      <a:srgbClr val="F6F2EA"/>
                    </a:solidFill>
                  </a:tcPr>
                </a:tc>
                <a:tc>
                  <a:txBody>
                    <a:bodyPr wrap="square"/>
                    <a:lstStyle/>
                    <a:p>
                      <a:r>
                        <a:rPr sz="1100" b="0">
                          <a:solidFill>
                            <a:srgbClr val="3D4F6A"/>
                          </a:solidFill>
                          <a:latin typeface="Arial"/>
                        </a:rPr>
                        <a:t>561</a:t>
                      </a:r>
                    </a:p>
                  </a:txBody>
                  <a:tcPr marL="73152" marR="73152" marT="27432" marB="27432" anchor="ctr">
                    <a:solidFill>
                      <a:srgbClr val="F6F2EA"/>
                    </a:solidFill>
                  </a:tcPr>
                </a:tc>
                <a:tc>
                  <a:txBody>
                    <a:bodyPr wrap="square"/>
                    <a:lstStyle/>
                    <a:p>
                      <a:r>
                        <a:rPr sz="1100" b="0">
                          <a:solidFill>
                            <a:srgbClr val="3D4F6A"/>
                          </a:solidFill>
                          <a:latin typeface="Arial"/>
                        </a:rPr>
                        <a:t>0</a:t>
                      </a:r>
                    </a:p>
                  </a:txBody>
                  <a:tcPr marL="73152" marR="73152" marT="27432" marB="27432" anchor="ctr">
                    <a:solidFill>
                      <a:srgbClr val="F6F2EA"/>
                    </a:solidFill>
                  </a:tcPr>
                </a:tc>
              </a:tr>
              <a:tr h="265176">
                <a:tc>
                  <a:txBody>
                    <a:bodyPr wrap="square"/>
                    <a:lstStyle/>
                    <a:p>
                      <a:r>
                        <a:rPr sz="1100" b="1">
                          <a:solidFill>
                            <a:srgbClr val="1E2A3A"/>
                          </a:solidFill>
                          <a:latin typeface="Arial"/>
                        </a:rPr>
                        <a:t>Current + guard rule + both cash levers</a:t>
                      </a:r>
                    </a:p>
                  </a:txBody>
                  <a:tcPr marL="73152" marR="73152" marT="27432" marB="27432" anchor="ctr">
                    <a:solidFill>
                      <a:srgbClr val="FFFFFF"/>
                    </a:solidFill>
                  </a:tcPr>
                </a:tc>
                <a:tc>
                  <a:txBody>
                    <a:bodyPr wrap="square"/>
                    <a:lstStyle/>
                    <a:p>
                      <a:r>
                        <a:rPr sz="1100" b="0">
                          <a:solidFill>
                            <a:srgbClr val="3D4F6A"/>
                          </a:solidFill>
                          <a:latin typeface="Arial"/>
                        </a:rPr>
                        <a:t>2,040</a:t>
                      </a:r>
                    </a:p>
                  </a:txBody>
                  <a:tcPr marL="73152" marR="73152" marT="27432" marB="27432" anchor="ctr">
                    <a:solidFill>
                      <a:srgbClr val="FFFFFF"/>
                    </a:solidFill>
                  </a:tcPr>
                </a:tc>
                <a:tc>
                  <a:txBody>
                    <a:bodyPr wrap="square"/>
                    <a:lstStyle/>
                    <a:p>
                      <a:r>
                        <a:rPr sz="1100" b="0">
                          <a:solidFill>
                            <a:srgbClr val="3D4F6A"/>
                          </a:solidFill>
                          <a:latin typeface="Arial"/>
                        </a:rPr>
                        <a:t>569</a:t>
                      </a:r>
                    </a:p>
                  </a:txBody>
                  <a:tcPr marL="73152" marR="73152" marT="27432" marB="27432" anchor="ctr">
                    <a:solidFill>
                      <a:srgbClr val="FFFFFF"/>
                    </a:solidFill>
                  </a:tcPr>
                </a:tc>
                <a:tc>
                  <a:txBody>
                    <a:bodyPr wrap="square"/>
                    <a:lstStyle/>
                    <a:p>
                      <a:r>
                        <a:rPr sz="1100" b="0">
                          <a:solidFill>
                            <a:srgbClr val="3D4F6A"/>
                          </a:solidFill>
                          <a:latin typeface="Arial"/>
                        </a:rPr>
                        <a:t>27.9%</a:t>
                      </a:r>
                    </a:p>
                  </a:txBody>
                  <a:tcPr marL="73152" marR="73152" marT="27432" marB="27432" anchor="ctr">
                    <a:solidFill>
                      <a:srgbClr val="FFFFFF"/>
                    </a:solidFill>
                  </a:tcPr>
                </a:tc>
                <a:tc>
                  <a:txBody>
                    <a:bodyPr wrap="square"/>
                    <a:lstStyle/>
                    <a:p>
                      <a:r>
                        <a:rPr sz="1100" b="0">
                          <a:solidFill>
                            <a:srgbClr val="3D4F6A"/>
                          </a:solidFill>
                          <a:latin typeface="Arial"/>
                        </a:rPr>
                        <a:t>107 (Jan 27)</a:t>
                      </a:r>
                    </a:p>
                  </a:txBody>
                  <a:tcPr marL="73152" marR="73152" marT="27432" marB="27432" anchor="ctr">
                    <a:solidFill>
                      <a:srgbClr val="FFFFFF"/>
                    </a:solidFill>
                  </a:tcPr>
                </a:tc>
                <a:tc>
                  <a:txBody>
                    <a:bodyPr wrap="square"/>
                    <a:lstStyle/>
                    <a:p>
                      <a:r>
                        <a:rPr sz="1100" b="0">
                          <a:solidFill>
                            <a:srgbClr val="3D4F6A"/>
                          </a:solidFill>
                          <a:latin typeface="Arial"/>
                        </a:rPr>
                        <a:t>572</a:t>
                      </a:r>
                    </a:p>
                  </a:txBody>
                  <a:tcPr marL="73152" marR="73152" marT="27432" marB="27432" anchor="ctr">
                    <a:solidFill>
                      <a:srgbClr val="FFFFFF"/>
                    </a:solidFill>
                  </a:tcPr>
                </a:tc>
                <a:tc>
                  <a:txBody>
                    <a:bodyPr wrap="square"/>
                    <a:lstStyle/>
                    <a:p>
                      <a:r>
                        <a:rPr sz="1100" b="0">
                          <a:solidFill>
                            <a:srgbClr val="3D4F6A"/>
                          </a:solidFill>
                          <a:latin typeface="Arial"/>
                        </a:rPr>
                        <a:t>0</a:t>
                      </a:r>
                    </a:p>
                  </a:txBody>
                  <a:tcPr marL="73152" marR="73152" marT="27432" marB="27432" anchor="ctr">
                    <a:solidFill>
                      <a:srgbClr val="FFFFFF"/>
                    </a:solidFill>
                  </a:tcPr>
                </a:tc>
              </a:tr>
              <a:tr h="265176">
                <a:tc>
                  <a:txBody>
                    <a:bodyPr wrap="square"/>
                    <a:lstStyle/>
                    <a:p>
                      <a:r>
                        <a:rPr sz="1100" b="1">
                          <a:solidFill>
                            <a:srgbClr val="1E2A3A"/>
                          </a:solidFill>
                          <a:latin typeface="Arial"/>
                        </a:rPr>
                        <a:t>Current, but EAP 2 signed with a bank (April)</a:t>
                      </a:r>
                    </a:p>
                  </a:txBody>
                  <a:tcPr marL="73152" marR="73152" marT="27432" marB="27432" anchor="ctr">
                    <a:solidFill>
                      <a:srgbClr val="F6F2EA"/>
                    </a:solidFill>
                  </a:tcPr>
                </a:tc>
                <a:tc>
                  <a:txBody>
                    <a:bodyPr wrap="square"/>
                    <a:lstStyle/>
                    <a:p>
                      <a:r>
                        <a:rPr sz="1100" b="0">
                          <a:solidFill>
                            <a:srgbClr val="3D4F6A"/>
                          </a:solidFill>
                          <a:latin typeface="Arial"/>
                        </a:rPr>
                        <a:t>2,010</a:t>
                      </a:r>
                    </a:p>
                  </a:txBody>
                  <a:tcPr marL="73152" marR="73152" marT="27432" marB="27432" anchor="ctr">
                    <a:solidFill>
                      <a:srgbClr val="F6F2EA"/>
                    </a:solidFill>
                  </a:tcPr>
                </a:tc>
                <a:tc>
                  <a:txBody>
                    <a:bodyPr wrap="square"/>
                    <a:lstStyle/>
                    <a:p>
                      <a:r>
                        <a:rPr sz="1100" b="0">
                          <a:solidFill>
                            <a:srgbClr val="3D4F6A"/>
                          </a:solidFill>
                          <a:latin typeface="Arial"/>
                        </a:rPr>
                        <a:t>518</a:t>
                      </a:r>
                    </a:p>
                  </a:txBody>
                  <a:tcPr marL="73152" marR="73152" marT="27432" marB="27432" anchor="ctr">
                    <a:solidFill>
                      <a:srgbClr val="F6F2EA"/>
                    </a:solidFill>
                  </a:tcPr>
                </a:tc>
                <a:tc>
                  <a:txBody>
                    <a:bodyPr wrap="square"/>
                    <a:lstStyle/>
                    <a:p>
                      <a:r>
                        <a:rPr sz="1100" b="0">
                          <a:solidFill>
                            <a:srgbClr val="3D4F6A"/>
                          </a:solidFill>
                          <a:latin typeface="Arial"/>
                        </a:rPr>
                        <a:t>25.8%</a:t>
                      </a:r>
                    </a:p>
                  </a:txBody>
                  <a:tcPr marL="73152" marR="73152" marT="27432" marB="27432" anchor="ctr">
                    <a:solidFill>
                      <a:srgbClr val="F6F2EA"/>
                    </a:solidFill>
                  </a:tcPr>
                </a:tc>
                <a:tc>
                  <a:txBody>
                    <a:bodyPr wrap="square"/>
                    <a:lstStyle/>
                    <a:p>
                      <a:r>
                        <a:rPr sz="1100" b="0">
                          <a:solidFill>
                            <a:srgbClr val="3D4F6A"/>
                          </a:solidFill>
                          <a:latin typeface="Arial"/>
                        </a:rPr>
                        <a:t>71 (Apr 27)</a:t>
                      </a:r>
                    </a:p>
                  </a:txBody>
                  <a:tcPr marL="73152" marR="73152" marT="27432" marB="27432" anchor="ctr">
                    <a:solidFill>
                      <a:srgbClr val="F6F2EA"/>
                    </a:solidFill>
                  </a:tcPr>
                </a:tc>
                <a:tc>
                  <a:txBody>
                    <a:bodyPr wrap="square"/>
                    <a:lstStyle/>
                    <a:p>
                      <a:r>
                        <a:rPr sz="1100" b="0">
                          <a:solidFill>
                            <a:srgbClr val="3D4F6A"/>
                          </a:solidFill>
                          <a:latin typeface="Arial"/>
                        </a:rPr>
                        <a:t>509</a:t>
                      </a:r>
                    </a:p>
                  </a:txBody>
                  <a:tcPr marL="73152" marR="73152" marT="27432" marB="27432" anchor="ctr">
                    <a:solidFill>
                      <a:srgbClr val="F6F2EA"/>
                    </a:solidFill>
                  </a:tcPr>
                </a:tc>
                <a:tc>
                  <a:txBody>
                    <a:bodyPr wrap="square"/>
                    <a:lstStyle/>
                    <a:p>
                      <a:r>
                        <a:rPr sz="1100" b="0">
                          <a:solidFill>
                            <a:srgbClr val="3D4F6A"/>
                          </a:solidFill>
                          <a:latin typeface="Arial"/>
                        </a:rPr>
                        <a:t>2</a:t>
                      </a:r>
                    </a:p>
                  </a:txBody>
                  <a:tcPr marL="73152" marR="73152" marT="27432" marB="27432" anchor="ctr">
                    <a:solidFill>
                      <a:srgbClr val="F6F2EA"/>
                    </a:solidFill>
                  </a:tcPr>
                </a:tc>
              </a:tr>
            </a:tbl>
          </a:graphicData>
        </a:graphic>
      </p:graphicFrame>
      <p:graphicFrame>
        <p:nvGraphicFramePr>
          <p:cNvPr id="8" name="Table 7"/>
          <p:cNvGraphicFramePr>
            <a:graphicFrameLocks noGrp="1"/>
          </p:cNvGraphicFramePr>
          <p:nvPr/>
        </p:nvGraphicFramePr>
        <p:xfrm>
          <a:off x="457200" y="3429000"/>
          <a:ext cx="11247120" cy="2560320"/>
        </p:xfrm>
        <a:graphic>
          <a:graphicData uri="http://schemas.openxmlformats.org/drawingml/2006/table">
            <a:tbl>
              <a:tblPr firstRow="1" bandRow="1">
                <a:tableStyleId>{5C22544A-7EE6-4342-B048-85BDC9FD1C3A}</a:tableStyleId>
              </a:tblPr>
              <a:tblGrid>
                <a:gridCol w="4846320"/>
                <a:gridCol w="1280160"/>
                <a:gridCol w="1280160"/>
                <a:gridCol w="1280160"/>
                <a:gridCol w="1280160"/>
                <a:gridCol w="1280160"/>
              </a:tblGrid>
              <a:tr h="256032">
                <a:tc>
                  <a:txBody>
                    <a:bodyPr wrap="square"/>
                    <a:lstStyle/>
                    <a:p>
                      <a:r>
                        <a:rPr sz="1100" b="1">
                          <a:solidFill>
                            <a:srgbClr val="FFFFFF"/>
                          </a:solidFill>
                          <a:latin typeface="Arial"/>
                        </a:rPr>
                        <a:t>A normal full year (2027 sales plan)</a:t>
                      </a:r>
                    </a:p>
                  </a:txBody>
                  <a:tcPr marL="73152" marR="73152" marT="27432" marB="27432" anchor="ctr">
                    <a:solidFill>
                      <a:srgbClr val="576C94"/>
                    </a:solidFill>
                  </a:tcPr>
                </a:tc>
                <a:tc>
                  <a:txBody>
                    <a:bodyPr wrap="square"/>
                    <a:lstStyle/>
                    <a:p>
                      <a:r>
                        <a:rPr sz="1100" b="1">
                          <a:solidFill>
                            <a:srgbClr val="FFFFFF"/>
                          </a:solidFill>
                          <a:latin typeface="Arial"/>
                        </a:rPr>
                        <a:t>Sales</a:t>
                      </a:r>
                    </a:p>
                  </a:txBody>
                  <a:tcPr marL="73152" marR="73152" marT="27432" marB="27432" anchor="ctr">
                    <a:solidFill>
                      <a:srgbClr val="576C94"/>
                    </a:solidFill>
                  </a:tcPr>
                </a:tc>
                <a:tc>
                  <a:txBody>
                    <a:bodyPr wrap="square"/>
                    <a:lstStyle/>
                    <a:p>
                      <a:r>
                        <a:rPr sz="1100" b="1">
                          <a:solidFill>
                            <a:srgbClr val="FFFFFF"/>
                          </a:solidFill>
                          <a:latin typeface="Arial"/>
                        </a:rPr>
                        <a:t>Gross profit</a:t>
                      </a:r>
                    </a:p>
                  </a:txBody>
                  <a:tcPr marL="73152" marR="73152" marT="27432" marB="27432" anchor="ctr">
                    <a:solidFill>
                      <a:srgbClr val="576C94"/>
                    </a:solidFill>
                  </a:tcPr>
                </a:tc>
                <a:tc>
                  <a:txBody>
                    <a:bodyPr wrap="square"/>
                    <a:lstStyle/>
                    <a:p>
                      <a:r>
                        <a:rPr sz="1100" b="1">
                          <a:solidFill>
                            <a:srgbClr val="FFFFFF"/>
                          </a:solidFill>
                          <a:latin typeface="Arial"/>
                        </a:rPr>
                        <a:t>Fixed cost</a:t>
                      </a:r>
                    </a:p>
                  </a:txBody>
                  <a:tcPr marL="73152" marR="73152" marT="27432" marB="27432" anchor="ctr">
                    <a:solidFill>
                      <a:srgbClr val="576C94"/>
                    </a:solidFill>
                  </a:tcPr>
                </a:tc>
                <a:tc>
                  <a:txBody>
                    <a:bodyPr wrap="square"/>
                    <a:lstStyle/>
                    <a:p>
                      <a:r>
                        <a:rPr sz="1100" b="1">
                          <a:solidFill>
                            <a:srgbClr val="FFFFFF"/>
                          </a:solidFill>
                          <a:latin typeface="Arial"/>
                        </a:rPr>
                        <a:t>Net profit</a:t>
                      </a:r>
                    </a:p>
                  </a:txBody>
                  <a:tcPr marL="73152" marR="73152" marT="27432" marB="27432" anchor="ctr">
                    <a:solidFill>
                      <a:srgbClr val="576C94"/>
                    </a:solidFill>
                  </a:tcPr>
                </a:tc>
                <a:tc>
                  <a:txBody>
                    <a:bodyPr wrap="square"/>
                    <a:lstStyle/>
                    <a:p>
                      <a:r>
                        <a:rPr sz="1100" b="1">
                          <a:solidFill>
                            <a:srgbClr val="FFFFFF"/>
                          </a:solidFill>
                          <a:latin typeface="Arial"/>
                        </a:rPr>
                        <a:t>Net margin</a:t>
                      </a:r>
                    </a:p>
                  </a:txBody>
                  <a:tcPr marL="73152" marR="73152" marT="27432" marB="27432" anchor="ctr">
                    <a:solidFill>
                      <a:srgbClr val="576C94"/>
                    </a:solidFill>
                  </a:tcPr>
                </a:tc>
              </a:tr>
              <a:tr h="256032">
                <a:tc>
                  <a:txBody>
                    <a:bodyPr wrap="square"/>
                    <a:lstStyle/>
                    <a:p>
                      <a:r>
                        <a:rPr sz="1100" b="1">
                          <a:solidFill>
                            <a:srgbClr val="1E2A3A"/>
                          </a:solidFill>
                          <a:latin typeface="Arial"/>
                        </a:rPr>
                        <a:t>Old prices, today's pay</a:t>
                      </a:r>
                    </a:p>
                  </a:txBody>
                  <a:tcPr marL="73152" marR="73152" marT="27432" marB="27432" anchor="ctr">
                    <a:solidFill>
                      <a:srgbClr val="FFFFFF"/>
                    </a:solidFill>
                  </a:tcPr>
                </a:tc>
                <a:tc>
                  <a:txBody>
                    <a:bodyPr wrap="square"/>
                    <a:lstStyle/>
                    <a:p>
                      <a:r>
                        <a:rPr sz="1100" b="0">
                          <a:solidFill>
                            <a:srgbClr val="3D4F6A"/>
                          </a:solidFill>
                          <a:latin typeface="Arial"/>
                        </a:rPr>
                        <a:t>1,208</a:t>
                      </a:r>
                    </a:p>
                  </a:txBody>
                  <a:tcPr marL="73152" marR="73152" marT="27432" marB="27432" anchor="ctr">
                    <a:solidFill>
                      <a:srgbClr val="FFFFFF"/>
                    </a:solidFill>
                  </a:tcPr>
                </a:tc>
                <a:tc>
                  <a:txBody>
                    <a:bodyPr wrap="square"/>
                    <a:lstStyle/>
                    <a:p>
                      <a:r>
                        <a:rPr sz="1100" b="0">
                          <a:solidFill>
                            <a:srgbClr val="3D4F6A"/>
                          </a:solidFill>
                          <a:latin typeface="Arial"/>
                        </a:rPr>
                        <a:t/>
                      </a:r>
                    </a:p>
                  </a:txBody>
                  <a:tcPr marL="73152" marR="73152" marT="27432" marB="27432" anchor="ctr">
                    <a:solidFill>
                      <a:srgbClr val="FFFFFF"/>
                    </a:solidFill>
                  </a:tcPr>
                </a:tc>
                <a:tc>
                  <a:txBody>
                    <a:bodyPr wrap="square"/>
                    <a:lstStyle/>
                    <a:p>
                      <a:r>
                        <a:rPr sz="1100" b="0">
                          <a:solidFill>
                            <a:srgbClr val="3D4F6A"/>
                          </a:solidFill>
                          <a:latin typeface="Arial"/>
                        </a:rPr>
                        <a:t/>
                      </a:r>
                    </a:p>
                  </a:txBody>
                  <a:tcPr marL="73152" marR="73152" marT="27432" marB="27432" anchor="ctr">
                    <a:solidFill>
                      <a:srgbClr val="FFFFFF"/>
                    </a:solidFill>
                  </a:tcPr>
                </a:tc>
                <a:tc>
                  <a:txBody>
                    <a:bodyPr wrap="square"/>
                    <a:lstStyle/>
                    <a:p>
                      <a:r>
                        <a:rPr sz="1100" b="0">
                          <a:solidFill>
                            <a:srgbClr val="3D4F6A"/>
                          </a:solidFill>
                          <a:latin typeface="Arial"/>
                        </a:rPr>
                        <a:t>152</a:t>
                      </a:r>
                    </a:p>
                  </a:txBody>
                  <a:tcPr marL="73152" marR="73152" marT="27432" marB="27432" anchor="ctr">
                    <a:solidFill>
                      <a:srgbClr val="FFFFFF"/>
                    </a:solidFill>
                  </a:tcPr>
                </a:tc>
                <a:tc>
                  <a:txBody>
                    <a:bodyPr wrap="square"/>
                    <a:lstStyle/>
                    <a:p>
                      <a:r>
                        <a:rPr sz="1100" b="0">
                          <a:solidFill>
                            <a:srgbClr val="3D4F6A"/>
                          </a:solidFill>
                          <a:latin typeface="Arial"/>
                        </a:rPr>
                        <a:t>12.5%</a:t>
                      </a:r>
                    </a:p>
                  </a:txBody>
                  <a:tcPr marL="73152" marR="73152" marT="27432" marB="27432" anchor="ctr">
                    <a:solidFill>
                      <a:srgbClr val="F7DDD2"/>
                    </a:solidFill>
                  </a:tcPr>
                </a:tc>
              </a:tr>
              <a:tr h="256032">
                <a:tc>
                  <a:txBody>
                    <a:bodyPr wrap="square"/>
                    <a:lstStyle/>
                    <a:p>
                      <a:r>
                        <a:rPr sz="1100" b="1">
                          <a:solidFill>
                            <a:srgbClr val="1E2A3A"/>
                          </a:solidFill>
                          <a:latin typeface="Arial"/>
                        </a:rPr>
                        <a:t>New prices, today's pay</a:t>
                      </a:r>
                    </a:p>
                  </a:txBody>
                  <a:tcPr marL="73152" marR="73152" marT="27432" marB="27432" anchor="ctr">
                    <a:solidFill>
                      <a:srgbClr val="F6F2EA"/>
                    </a:solidFill>
                  </a:tcPr>
                </a:tc>
                <a:tc>
                  <a:txBody>
                    <a:bodyPr wrap="square"/>
                    <a:lstStyle/>
                    <a:p>
                      <a:r>
                        <a:rPr sz="1100" b="0">
                          <a:solidFill>
                            <a:srgbClr val="3D4F6A"/>
                          </a:solidFill>
                          <a:latin typeface="Arial"/>
                        </a:rPr>
                        <a:t>1,502</a:t>
                      </a:r>
                    </a:p>
                  </a:txBody>
                  <a:tcPr marL="73152" marR="73152" marT="27432" marB="27432" anchor="ctr">
                    <a:solidFill>
                      <a:srgbClr val="F6F2EA"/>
                    </a:solidFill>
                  </a:tcPr>
                </a:tc>
                <a:tc>
                  <a:txBody>
                    <a:bodyPr wrap="square"/>
                    <a:lstStyle/>
                    <a:p>
                      <a:r>
                        <a:rPr sz="1100" b="0">
                          <a:solidFill>
                            <a:srgbClr val="3D4F6A"/>
                          </a:solidFill>
                          <a:latin typeface="Arial"/>
                        </a:rPr>
                        <a:t>1,018</a:t>
                      </a:r>
                    </a:p>
                  </a:txBody>
                  <a:tcPr marL="73152" marR="73152" marT="27432" marB="27432" anchor="ctr">
                    <a:solidFill>
                      <a:srgbClr val="F6F2EA"/>
                    </a:solidFill>
                  </a:tcPr>
                </a:tc>
                <a:tc>
                  <a:txBody>
                    <a:bodyPr wrap="square"/>
                    <a:lstStyle/>
                    <a:p>
                      <a:r>
                        <a:rPr sz="1100" b="0">
                          <a:solidFill>
                            <a:srgbClr val="3D4F6A"/>
                          </a:solidFill>
                          <a:latin typeface="Arial"/>
                        </a:rPr>
                        <a:t>632</a:t>
                      </a:r>
                    </a:p>
                  </a:txBody>
                  <a:tcPr marL="73152" marR="73152" marT="27432" marB="27432" anchor="ctr">
                    <a:solidFill>
                      <a:srgbClr val="F6F2EA"/>
                    </a:solidFill>
                  </a:tcPr>
                </a:tc>
                <a:tc>
                  <a:txBody>
                    <a:bodyPr wrap="square"/>
                    <a:lstStyle/>
                    <a:p>
                      <a:r>
                        <a:rPr sz="1100" b="0">
                          <a:solidFill>
                            <a:srgbClr val="3D4F6A"/>
                          </a:solidFill>
                          <a:latin typeface="Arial"/>
                        </a:rPr>
                        <a:t>378</a:t>
                      </a:r>
                    </a:p>
                  </a:txBody>
                  <a:tcPr marL="73152" marR="73152" marT="27432" marB="27432" anchor="ctr">
                    <a:solidFill>
                      <a:srgbClr val="F6F2EA"/>
                    </a:solidFill>
                  </a:tcPr>
                </a:tc>
                <a:tc>
                  <a:txBody>
                    <a:bodyPr wrap="square"/>
                    <a:lstStyle/>
                    <a:p>
                      <a:r>
                        <a:rPr sz="1100" b="0">
                          <a:solidFill>
                            <a:srgbClr val="3D4F6A"/>
                          </a:solidFill>
                          <a:latin typeface="Arial"/>
                        </a:rPr>
                        <a:t>25.2%</a:t>
                      </a:r>
                    </a:p>
                  </a:txBody>
                  <a:tcPr marL="73152" marR="73152" marT="27432" marB="27432" anchor="ctr">
                    <a:solidFill>
                      <a:srgbClr val="DDE6F5"/>
                    </a:solidFill>
                  </a:tcPr>
                </a:tc>
              </a:tr>
              <a:tr h="256032">
                <a:tc>
                  <a:txBody>
                    <a:bodyPr wrap="square"/>
                    <a:lstStyle/>
                    <a:p>
                      <a:r>
                        <a:rPr sz="1100" b="1">
                          <a:solidFill>
                            <a:srgbClr val="1E2A3A"/>
                          </a:solidFill>
                          <a:latin typeface="Arial"/>
                        </a:rPr>
                        <a:t>+ fair pay, Lead Partnership, Instagram ads</a:t>
                      </a:r>
                    </a:p>
                  </a:txBody>
                  <a:tcPr marL="73152" marR="73152" marT="27432" marB="27432" anchor="ctr">
                    <a:solidFill>
                      <a:srgbClr val="FFFFFF"/>
                    </a:solidFill>
                  </a:tcPr>
                </a:tc>
                <a:tc>
                  <a:txBody>
                    <a:bodyPr wrap="square"/>
                    <a:lstStyle/>
                    <a:p>
                      <a:r>
                        <a:rPr sz="1100" b="0">
                          <a:solidFill>
                            <a:srgbClr val="3D4F6A"/>
                          </a:solidFill>
                          <a:latin typeface="Arial"/>
                        </a:rPr>
                        <a:t>1,502</a:t>
                      </a:r>
                    </a:p>
                  </a:txBody>
                  <a:tcPr marL="73152" marR="73152" marT="27432" marB="27432" anchor="ctr">
                    <a:solidFill>
                      <a:srgbClr val="FFFFFF"/>
                    </a:solidFill>
                  </a:tcPr>
                </a:tc>
                <a:tc>
                  <a:txBody>
                    <a:bodyPr wrap="square"/>
                    <a:lstStyle/>
                    <a:p>
                      <a:r>
                        <a:rPr sz="1100" b="0">
                          <a:solidFill>
                            <a:srgbClr val="3D4F6A"/>
                          </a:solidFill>
                          <a:latin typeface="Arial"/>
                        </a:rPr>
                        <a:t>1,018</a:t>
                      </a:r>
                    </a:p>
                  </a:txBody>
                  <a:tcPr marL="73152" marR="73152" marT="27432" marB="27432" anchor="ctr">
                    <a:solidFill>
                      <a:srgbClr val="FFFFFF"/>
                    </a:solidFill>
                  </a:tcPr>
                </a:tc>
                <a:tc>
                  <a:txBody>
                    <a:bodyPr wrap="square"/>
                    <a:lstStyle/>
                    <a:p>
                      <a:r>
                        <a:rPr sz="1100" b="0">
                          <a:solidFill>
                            <a:srgbClr val="3D4F6A"/>
                          </a:solidFill>
                          <a:latin typeface="Arial"/>
                        </a:rPr>
                        <a:t>911</a:t>
                      </a:r>
                    </a:p>
                  </a:txBody>
                  <a:tcPr marL="73152" marR="73152" marT="27432" marB="27432" anchor="ctr">
                    <a:solidFill>
                      <a:srgbClr val="FFFFFF"/>
                    </a:solidFill>
                  </a:tcPr>
                </a:tc>
                <a:tc>
                  <a:txBody>
                    <a:bodyPr wrap="square"/>
                    <a:lstStyle/>
                    <a:p>
                      <a:r>
                        <a:rPr sz="1100" b="0">
                          <a:solidFill>
                            <a:srgbClr val="3D4F6A"/>
                          </a:solidFill>
                          <a:latin typeface="Arial"/>
                        </a:rPr>
                        <a:t>100</a:t>
                      </a:r>
                    </a:p>
                  </a:txBody>
                  <a:tcPr marL="73152" marR="73152" marT="27432" marB="27432" anchor="ctr">
                    <a:solidFill>
                      <a:srgbClr val="FFFFFF"/>
                    </a:solidFill>
                  </a:tcPr>
                </a:tc>
                <a:tc>
                  <a:txBody>
                    <a:bodyPr wrap="square"/>
                    <a:lstStyle/>
                    <a:p>
                      <a:r>
                        <a:rPr sz="1100" b="0">
                          <a:solidFill>
                            <a:srgbClr val="3D4F6A"/>
                          </a:solidFill>
                          <a:latin typeface="Arial"/>
                        </a:rPr>
                        <a:t>6.6%</a:t>
                      </a:r>
                    </a:p>
                  </a:txBody>
                  <a:tcPr marL="73152" marR="73152" marT="27432" marB="27432" anchor="ctr">
                    <a:solidFill>
                      <a:srgbClr val="F7DDD2"/>
                    </a:solidFill>
                  </a:tcPr>
                </a:tc>
              </a:tr>
              <a:tr h="256032">
                <a:tc>
                  <a:txBody>
                    <a:bodyPr wrap="square"/>
                    <a:lstStyle/>
                    <a:p>
                      <a:r>
                        <a:rPr sz="1100" b="1">
                          <a:solidFill>
                            <a:srgbClr val="1E2A3A"/>
                          </a:solidFill>
                          <a:latin typeface="Arial"/>
                        </a:rPr>
                        <a:t>+ 2 more EAP contracts</a:t>
                      </a:r>
                    </a:p>
                  </a:txBody>
                  <a:tcPr marL="73152" marR="73152" marT="27432" marB="27432" anchor="ctr">
                    <a:solidFill>
                      <a:srgbClr val="F6F2EA"/>
                    </a:solidFill>
                  </a:tcPr>
                </a:tc>
                <a:tc>
                  <a:txBody>
                    <a:bodyPr wrap="square"/>
                    <a:lstStyle/>
                    <a:p>
                      <a:r>
                        <a:rPr sz="1100" b="0">
                          <a:solidFill>
                            <a:srgbClr val="3D4F6A"/>
                          </a:solidFill>
                          <a:latin typeface="Arial"/>
                        </a:rPr>
                        <a:t>1,862</a:t>
                      </a:r>
                    </a:p>
                  </a:txBody>
                  <a:tcPr marL="73152" marR="73152" marT="27432" marB="27432" anchor="ctr">
                    <a:solidFill>
                      <a:srgbClr val="F6F2EA"/>
                    </a:solidFill>
                  </a:tcPr>
                </a:tc>
                <a:tc>
                  <a:txBody>
                    <a:bodyPr wrap="square"/>
                    <a:lstStyle/>
                    <a:p>
                      <a:r>
                        <a:rPr sz="1100" b="0">
                          <a:solidFill>
                            <a:srgbClr val="3D4F6A"/>
                          </a:solidFill>
                          <a:latin typeface="Arial"/>
                        </a:rPr>
                        <a:t>1,258</a:t>
                      </a:r>
                    </a:p>
                  </a:txBody>
                  <a:tcPr marL="73152" marR="73152" marT="27432" marB="27432" anchor="ctr">
                    <a:solidFill>
                      <a:srgbClr val="F6F2EA"/>
                    </a:solidFill>
                  </a:tcPr>
                </a:tc>
                <a:tc>
                  <a:txBody>
                    <a:bodyPr wrap="square"/>
                    <a:lstStyle/>
                    <a:p>
                      <a:r>
                        <a:rPr sz="1100" b="0">
                          <a:solidFill>
                            <a:srgbClr val="3D4F6A"/>
                          </a:solidFill>
                          <a:latin typeface="Arial"/>
                        </a:rPr>
                        <a:t>911</a:t>
                      </a:r>
                    </a:p>
                  </a:txBody>
                  <a:tcPr marL="73152" marR="73152" marT="27432" marB="27432" anchor="ctr">
                    <a:solidFill>
                      <a:srgbClr val="F6F2EA"/>
                    </a:solidFill>
                  </a:tcPr>
                </a:tc>
                <a:tc>
                  <a:txBody>
                    <a:bodyPr wrap="square"/>
                    <a:lstStyle/>
                    <a:p>
                      <a:r>
                        <a:rPr sz="1100" b="0">
                          <a:solidFill>
                            <a:srgbClr val="3D4F6A"/>
                          </a:solidFill>
                          <a:latin typeface="Arial"/>
                        </a:rPr>
                        <a:t>338</a:t>
                      </a:r>
                    </a:p>
                  </a:txBody>
                  <a:tcPr marL="73152" marR="73152" marT="27432" marB="27432" anchor="ctr">
                    <a:solidFill>
                      <a:srgbClr val="F6F2EA"/>
                    </a:solidFill>
                  </a:tcPr>
                </a:tc>
                <a:tc>
                  <a:txBody>
                    <a:bodyPr wrap="square"/>
                    <a:lstStyle/>
                    <a:p>
                      <a:r>
                        <a:rPr sz="1100" b="0">
                          <a:solidFill>
                            <a:srgbClr val="3D4F6A"/>
                          </a:solidFill>
                          <a:latin typeface="Arial"/>
                        </a:rPr>
                        <a:t>18.1%</a:t>
                      </a:r>
                    </a:p>
                  </a:txBody>
                  <a:tcPr marL="73152" marR="73152" marT="27432" marB="27432" anchor="ctr">
                    <a:solidFill>
                      <a:srgbClr val="DDE6F5"/>
                    </a:solidFill>
                  </a:tcPr>
                </a:tc>
              </a:tr>
              <a:tr h="256032">
                <a:tc>
                  <a:txBody>
                    <a:bodyPr wrap="square"/>
                    <a:lstStyle/>
                    <a:p>
                      <a:r>
                        <a:rPr sz="1100" b="1">
                          <a:solidFill>
                            <a:srgbClr val="1E2A3A"/>
                          </a:solidFill>
                          <a:latin typeface="Arial"/>
                        </a:rPr>
                        <a:t>+ co-founder, but no new deal</a:t>
                      </a:r>
                    </a:p>
                  </a:txBody>
                  <a:tcPr marL="73152" marR="73152" marT="27432" marB="27432" anchor="ctr">
                    <a:solidFill>
                      <a:srgbClr val="FFFFFF"/>
                    </a:solidFill>
                  </a:tcPr>
                </a:tc>
                <a:tc>
                  <a:txBody>
                    <a:bodyPr wrap="square"/>
                    <a:lstStyle/>
                    <a:p>
                      <a:r>
                        <a:rPr sz="1100" b="0">
                          <a:solidFill>
                            <a:srgbClr val="3D4F6A"/>
                          </a:solidFill>
                          <a:latin typeface="Arial"/>
                        </a:rPr>
                        <a:t>1,862</a:t>
                      </a:r>
                    </a:p>
                  </a:txBody>
                  <a:tcPr marL="73152" marR="73152" marT="27432" marB="27432" anchor="ctr">
                    <a:solidFill>
                      <a:srgbClr val="FFFFFF"/>
                    </a:solidFill>
                  </a:tcPr>
                </a:tc>
                <a:tc>
                  <a:txBody>
                    <a:bodyPr wrap="square"/>
                    <a:lstStyle/>
                    <a:p>
                      <a:r>
                        <a:rPr sz="1100" b="0">
                          <a:solidFill>
                            <a:srgbClr val="3D4F6A"/>
                          </a:solidFill>
                          <a:latin typeface="Arial"/>
                        </a:rPr>
                        <a:t>1,258</a:t>
                      </a:r>
                    </a:p>
                  </a:txBody>
                  <a:tcPr marL="73152" marR="73152" marT="27432" marB="27432" anchor="ctr">
                    <a:solidFill>
                      <a:srgbClr val="FFFFFF"/>
                    </a:solidFill>
                  </a:tcPr>
                </a:tc>
                <a:tc>
                  <a:txBody>
                    <a:bodyPr wrap="square"/>
                    <a:lstStyle/>
                    <a:p>
                      <a:r>
                        <a:rPr sz="1100" b="0">
                          <a:solidFill>
                            <a:srgbClr val="3D4F6A"/>
                          </a:solidFill>
                          <a:latin typeface="Arial"/>
                        </a:rPr>
                        <a:t>1,007</a:t>
                      </a:r>
                    </a:p>
                  </a:txBody>
                  <a:tcPr marL="73152" marR="73152" marT="27432" marB="27432" anchor="ctr">
                    <a:solidFill>
                      <a:srgbClr val="FFFFFF"/>
                    </a:solidFill>
                  </a:tcPr>
                </a:tc>
                <a:tc>
                  <a:txBody>
                    <a:bodyPr wrap="square"/>
                    <a:lstStyle/>
                    <a:p>
                      <a:r>
                        <a:rPr sz="1100" b="0">
                          <a:solidFill>
                            <a:srgbClr val="3D4F6A"/>
                          </a:solidFill>
                          <a:latin typeface="Arial"/>
                        </a:rPr>
                        <a:t>242</a:t>
                      </a:r>
                    </a:p>
                  </a:txBody>
                  <a:tcPr marL="73152" marR="73152" marT="27432" marB="27432" anchor="ctr">
                    <a:solidFill>
                      <a:srgbClr val="FFFFFF"/>
                    </a:solidFill>
                  </a:tcPr>
                </a:tc>
                <a:tc>
                  <a:txBody>
                    <a:bodyPr wrap="square"/>
                    <a:lstStyle/>
                    <a:p>
                      <a:r>
                        <a:rPr sz="1100" b="0">
                          <a:solidFill>
                            <a:srgbClr val="3D4F6A"/>
                          </a:solidFill>
                          <a:latin typeface="Arial"/>
                        </a:rPr>
                        <a:t>13.0%</a:t>
                      </a:r>
                    </a:p>
                  </a:txBody>
                  <a:tcPr marL="73152" marR="73152" marT="27432" marB="27432" anchor="ctr">
                    <a:solidFill>
                      <a:srgbClr val="F7DDD2"/>
                    </a:solidFill>
                  </a:tcPr>
                </a:tc>
              </a:tr>
              <a:tr h="256032">
                <a:tc>
                  <a:txBody>
                    <a:bodyPr wrap="square"/>
                    <a:lstStyle/>
                    <a:p>
                      <a:r>
                        <a:rPr sz="1100" b="1">
                          <a:solidFill>
                            <a:srgbClr val="1E2A3A"/>
                          </a:solidFill>
                          <a:latin typeface="Arial"/>
                        </a:rPr>
                        <a:t>+ co-founder wins 10 bank training days</a:t>
                      </a:r>
                    </a:p>
                  </a:txBody>
                  <a:tcPr marL="73152" marR="73152" marT="27432" marB="27432" anchor="ctr">
                    <a:solidFill>
                      <a:srgbClr val="F6F2EA"/>
                    </a:solidFill>
                  </a:tcPr>
                </a:tc>
                <a:tc>
                  <a:txBody>
                    <a:bodyPr wrap="square"/>
                    <a:lstStyle/>
                    <a:p>
                      <a:r>
                        <a:rPr sz="1100" b="0">
                          <a:solidFill>
                            <a:srgbClr val="3D4F6A"/>
                          </a:solidFill>
                          <a:latin typeface="Arial"/>
                        </a:rPr>
                        <a:t>2,372</a:t>
                      </a:r>
                    </a:p>
                  </a:txBody>
                  <a:tcPr marL="73152" marR="73152" marT="27432" marB="27432" anchor="ctr">
                    <a:solidFill>
                      <a:srgbClr val="F6F2EA"/>
                    </a:solidFill>
                  </a:tcPr>
                </a:tc>
                <a:tc>
                  <a:txBody>
                    <a:bodyPr wrap="square"/>
                    <a:lstStyle/>
                    <a:p>
                      <a:r>
                        <a:rPr sz="1100" b="0">
                          <a:solidFill>
                            <a:srgbClr val="3D4F6A"/>
                          </a:solidFill>
                          <a:latin typeface="Arial"/>
                        </a:rPr>
                        <a:t>1,598</a:t>
                      </a:r>
                    </a:p>
                  </a:txBody>
                  <a:tcPr marL="73152" marR="73152" marT="27432" marB="27432" anchor="ctr">
                    <a:solidFill>
                      <a:srgbClr val="F6F2EA"/>
                    </a:solidFill>
                  </a:tcPr>
                </a:tc>
                <a:tc>
                  <a:txBody>
                    <a:bodyPr wrap="square"/>
                    <a:lstStyle/>
                    <a:p>
                      <a:r>
                        <a:rPr sz="1100" b="0">
                          <a:solidFill>
                            <a:srgbClr val="3D4F6A"/>
                          </a:solidFill>
                          <a:latin typeface="Arial"/>
                        </a:rPr>
                        <a:t>1,007</a:t>
                      </a:r>
                    </a:p>
                  </a:txBody>
                  <a:tcPr marL="73152" marR="73152" marT="27432" marB="27432" anchor="ctr">
                    <a:solidFill>
                      <a:srgbClr val="F6F2EA"/>
                    </a:solidFill>
                  </a:tcPr>
                </a:tc>
                <a:tc>
                  <a:txBody>
                    <a:bodyPr wrap="square"/>
                    <a:lstStyle/>
                    <a:p>
                      <a:r>
                        <a:rPr sz="1100" b="0">
                          <a:solidFill>
                            <a:srgbClr val="3D4F6A"/>
                          </a:solidFill>
                          <a:latin typeface="Arial"/>
                        </a:rPr>
                        <a:t>579</a:t>
                      </a:r>
                    </a:p>
                  </a:txBody>
                  <a:tcPr marL="73152" marR="73152" marT="27432" marB="27432" anchor="ctr">
                    <a:solidFill>
                      <a:srgbClr val="F6F2EA"/>
                    </a:solidFill>
                  </a:tcPr>
                </a:tc>
                <a:tc>
                  <a:txBody>
                    <a:bodyPr wrap="square"/>
                    <a:lstStyle/>
                    <a:p>
                      <a:r>
                        <a:rPr sz="1100" b="0">
                          <a:solidFill>
                            <a:srgbClr val="3D4F6A"/>
                          </a:solidFill>
                          <a:latin typeface="Arial"/>
                        </a:rPr>
                        <a:t>24.4%</a:t>
                      </a:r>
                    </a:p>
                  </a:txBody>
                  <a:tcPr marL="73152" marR="73152" marT="27432" marB="27432" anchor="ctr">
                    <a:solidFill>
                      <a:srgbClr val="DDE6F5"/>
                    </a:solidFill>
                  </a:tcPr>
                </a:tc>
              </a:tr>
              <a:tr h="256032">
                <a:tc>
                  <a:txBody>
                    <a:bodyPr wrap="square"/>
                    <a:lstStyle/>
                    <a:p>
                      <a:r>
                        <a:rPr sz="1100" b="1">
                          <a:solidFill>
                            <a:srgbClr val="1E2A3A"/>
                          </a:solidFill>
                          <a:latin typeface="Arial"/>
                        </a:rPr>
                        <a:t>+ Teman Journey pays the CTO</a:t>
                      </a:r>
                    </a:p>
                  </a:txBody>
                  <a:tcPr marL="73152" marR="73152" marT="27432" marB="27432" anchor="ctr">
                    <a:solidFill>
                      <a:srgbClr val="FFFFFF"/>
                    </a:solidFill>
                  </a:tcPr>
                </a:tc>
                <a:tc>
                  <a:txBody>
                    <a:bodyPr wrap="square"/>
                    <a:lstStyle/>
                    <a:p>
                      <a:r>
                        <a:rPr sz="1100" b="0">
                          <a:solidFill>
                            <a:srgbClr val="3D4F6A"/>
                          </a:solidFill>
                          <a:latin typeface="Arial"/>
                        </a:rPr>
                        <a:t>2,372</a:t>
                      </a:r>
                    </a:p>
                  </a:txBody>
                  <a:tcPr marL="73152" marR="73152" marT="27432" marB="27432" anchor="ctr">
                    <a:solidFill>
                      <a:srgbClr val="FFFFFF"/>
                    </a:solidFill>
                  </a:tcPr>
                </a:tc>
                <a:tc>
                  <a:txBody>
                    <a:bodyPr wrap="square"/>
                    <a:lstStyle/>
                    <a:p>
                      <a:r>
                        <a:rPr sz="1100" b="0">
                          <a:solidFill>
                            <a:srgbClr val="3D4F6A"/>
                          </a:solidFill>
                          <a:latin typeface="Arial"/>
                        </a:rPr>
                        <a:t>1,598</a:t>
                      </a:r>
                    </a:p>
                  </a:txBody>
                  <a:tcPr marL="73152" marR="73152" marT="27432" marB="27432" anchor="ctr">
                    <a:solidFill>
                      <a:srgbClr val="FFFFFF"/>
                    </a:solidFill>
                  </a:tcPr>
                </a:tc>
                <a:tc>
                  <a:txBody>
                    <a:bodyPr wrap="square"/>
                    <a:lstStyle/>
                    <a:p>
                      <a:r>
                        <a:rPr sz="1100" b="0">
                          <a:solidFill>
                            <a:srgbClr val="3D4F6A"/>
                          </a:solidFill>
                          <a:latin typeface="Arial"/>
                        </a:rPr>
                        <a:t>1,127</a:t>
                      </a:r>
                    </a:p>
                  </a:txBody>
                  <a:tcPr marL="73152" marR="73152" marT="27432" marB="27432" anchor="ctr">
                    <a:solidFill>
                      <a:srgbClr val="FFFFFF"/>
                    </a:solidFill>
                  </a:tcPr>
                </a:tc>
                <a:tc>
                  <a:txBody>
                    <a:bodyPr wrap="square"/>
                    <a:lstStyle/>
                    <a:p>
                      <a:r>
                        <a:rPr sz="1100" b="0">
                          <a:solidFill>
                            <a:srgbClr val="3D4F6A"/>
                          </a:solidFill>
                          <a:latin typeface="Arial"/>
                        </a:rPr>
                        <a:t>459</a:t>
                      </a:r>
                    </a:p>
                  </a:txBody>
                  <a:tcPr marL="73152" marR="73152" marT="27432" marB="27432" anchor="ctr">
                    <a:solidFill>
                      <a:srgbClr val="FFFFFF"/>
                    </a:solidFill>
                  </a:tcPr>
                </a:tc>
                <a:tc>
                  <a:txBody>
                    <a:bodyPr wrap="square"/>
                    <a:lstStyle/>
                    <a:p>
                      <a:r>
                        <a:rPr sz="1100" b="0">
                          <a:solidFill>
                            <a:srgbClr val="3D4F6A"/>
                          </a:solidFill>
                          <a:latin typeface="Arial"/>
                        </a:rPr>
                        <a:t>19.4%</a:t>
                      </a:r>
                    </a:p>
                  </a:txBody>
                  <a:tcPr marL="73152" marR="73152" marT="27432" marB="27432" anchor="ctr">
                    <a:solidFill>
                      <a:srgbClr val="DDE6F5"/>
                    </a:solidFill>
                  </a:tcPr>
                </a:tc>
              </a:tr>
              <a:tr h="256032">
                <a:tc>
                  <a:txBody>
                    <a:bodyPr wrap="square"/>
                    <a:lstStyle/>
                    <a:p>
                      <a:r>
                        <a:rPr sz="1100" b="1">
                          <a:solidFill>
                            <a:srgbClr val="1E2A3A"/>
                          </a:solidFill>
                          <a:latin typeface="Arial"/>
                        </a:rPr>
                        <a:t>+ second admin</a:t>
                      </a:r>
                    </a:p>
                  </a:txBody>
                  <a:tcPr marL="73152" marR="73152" marT="27432" marB="27432" anchor="ctr">
                    <a:solidFill>
                      <a:srgbClr val="F6F2EA"/>
                    </a:solidFill>
                  </a:tcPr>
                </a:tc>
                <a:tc>
                  <a:txBody>
                    <a:bodyPr wrap="square"/>
                    <a:lstStyle/>
                    <a:p>
                      <a:r>
                        <a:rPr sz="1100" b="0">
                          <a:solidFill>
                            <a:srgbClr val="3D4F6A"/>
                          </a:solidFill>
                          <a:latin typeface="Arial"/>
                        </a:rPr>
                        <a:t>2,372</a:t>
                      </a:r>
                    </a:p>
                  </a:txBody>
                  <a:tcPr marL="73152" marR="73152" marT="27432" marB="27432" anchor="ctr">
                    <a:solidFill>
                      <a:srgbClr val="F6F2EA"/>
                    </a:solidFill>
                  </a:tcPr>
                </a:tc>
                <a:tc>
                  <a:txBody>
                    <a:bodyPr wrap="square"/>
                    <a:lstStyle/>
                    <a:p>
                      <a:r>
                        <a:rPr sz="1100" b="0">
                          <a:solidFill>
                            <a:srgbClr val="3D4F6A"/>
                          </a:solidFill>
                          <a:latin typeface="Arial"/>
                        </a:rPr>
                        <a:t>1,598</a:t>
                      </a:r>
                    </a:p>
                  </a:txBody>
                  <a:tcPr marL="73152" marR="73152" marT="27432" marB="27432" anchor="ctr">
                    <a:solidFill>
                      <a:srgbClr val="F6F2EA"/>
                    </a:solidFill>
                  </a:tcPr>
                </a:tc>
                <a:tc>
                  <a:txBody>
                    <a:bodyPr wrap="square"/>
                    <a:lstStyle/>
                    <a:p>
                      <a:r>
                        <a:rPr sz="1100" b="0">
                          <a:solidFill>
                            <a:srgbClr val="3D4F6A"/>
                          </a:solidFill>
                          <a:latin typeface="Arial"/>
                        </a:rPr>
                        <a:t>1,208</a:t>
                      </a:r>
                    </a:p>
                  </a:txBody>
                  <a:tcPr marL="73152" marR="73152" marT="27432" marB="27432" anchor="ctr">
                    <a:solidFill>
                      <a:srgbClr val="F6F2EA"/>
                    </a:solidFill>
                  </a:tcPr>
                </a:tc>
                <a:tc>
                  <a:txBody>
                    <a:bodyPr wrap="square"/>
                    <a:lstStyle/>
                    <a:p>
                      <a:r>
                        <a:rPr sz="1100" b="0">
                          <a:solidFill>
                            <a:srgbClr val="3D4F6A"/>
                          </a:solidFill>
                          <a:latin typeface="Arial"/>
                        </a:rPr>
                        <a:t>378</a:t>
                      </a:r>
                    </a:p>
                  </a:txBody>
                  <a:tcPr marL="73152" marR="73152" marT="27432" marB="27432" anchor="ctr">
                    <a:solidFill>
                      <a:srgbClr val="F6F2EA"/>
                    </a:solidFill>
                  </a:tcPr>
                </a:tc>
                <a:tc>
                  <a:txBody>
                    <a:bodyPr wrap="square"/>
                    <a:lstStyle/>
                    <a:p>
                      <a:r>
                        <a:rPr sz="1100" b="0">
                          <a:solidFill>
                            <a:srgbClr val="3D4F6A"/>
                          </a:solidFill>
                          <a:latin typeface="Arial"/>
                        </a:rPr>
                        <a:t>15.9%</a:t>
                      </a:r>
                    </a:p>
                  </a:txBody>
                  <a:tcPr marL="73152" marR="73152" marT="27432" marB="27432" anchor="ctr">
                    <a:solidFill>
                      <a:srgbClr val="DDE6F5"/>
                    </a:solidFill>
                  </a:tcPr>
                </a:tc>
              </a:tr>
              <a:tr h="256032">
                <a:tc>
                  <a:txBody>
                    <a:bodyPr wrap="square"/>
                    <a:lstStyle/>
                    <a:p>
                      <a:r>
                        <a:rPr sz="1100" b="1">
                          <a:solidFill>
                            <a:srgbClr val="1E2A3A"/>
                          </a:solidFill>
                          <a:latin typeface="Arial"/>
                        </a:rPr>
                        <a:t>Full team, Theta pays the CTO</a:t>
                      </a:r>
                    </a:p>
                  </a:txBody>
                  <a:tcPr marL="73152" marR="73152" marT="27432" marB="27432" anchor="ctr">
                    <a:solidFill>
                      <a:srgbClr val="FFFFFF"/>
                    </a:solidFill>
                  </a:tcPr>
                </a:tc>
                <a:tc>
                  <a:txBody>
                    <a:bodyPr wrap="square"/>
                    <a:lstStyle/>
                    <a:p>
                      <a:r>
                        <a:rPr sz="1100" b="0">
                          <a:solidFill>
                            <a:srgbClr val="3D4F6A"/>
                          </a:solidFill>
                          <a:latin typeface="Arial"/>
                        </a:rPr>
                        <a:t>2,372</a:t>
                      </a:r>
                    </a:p>
                  </a:txBody>
                  <a:tcPr marL="73152" marR="73152" marT="27432" marB="27432" anchor="ctr">
                    <a:solidFill>
                      <a:srgbClr val="FFFFFF"/>
                    </a:solidFill>
                  </a:tcPr>
                </a:tc>
                <a:tc>
                  <a:txBody>
                    <a:bodyPr wrap="square"/>
                    <a:lstStyle/>
                    <a:p>
                      <a:r>
                        <a:rPr sz="1100" b="0">
                          <a:solidFill>
                            <a:srgbClr val="3D4F6A"/>
                          </a:solidFill>
                          <a:latin typeface="Arial"/>
                        </a:rPr>
                        <a:t>1,598</a:t>
                      </a:r>
                    </a:p>
                  </a:txBody>
                  <a:tcPr marL="73152" marR="73152" marT="27432" marB="27432" anchor="ctr">
                    <a:solidFill>
                      <a:srgbClr val="FFFFFF"/>
                    </a:solidFill>
                  </a:tcPr>
                </a:tc>
                <a:tc>
                  <a:txBody>
                    <a:bodyPr wrap="square"/>
                    <a:lstStyle/>
                    <a:p>
                      <a:r>
                        <a:rPr sz="1100" b="0">
                          <a:solidFill>
                            <a:srgbClr val="3D4F6A"/>
                          </a:solidFill>
                          <a:latin typeface="Arial"/>
                        </a:rPr>
                        <a:t>1,088</a:t>
                      </a:r>
                    </a:p>
                  </a:txBody>
                  <a:tcPr marL="73152" marR="73152" marT="27432" marB="27432" anchor="ctr">
                    <a:solidFill>
                      <a:srgbClr val="FFFFFF"/>
                    </a:solidFill>
                  </a:tcPr>
                </a:tc>
                <a:tc>
                  <a:txBody>
                    <a:bodyPr wrap="square"/>
                    <a:lstStyle/>
                    <a:p>
                      <a:r>
                        <a:rPr sz="1100" b="0">
                          <a:solidFill>
                            <a:srgbClr val="3D4F6A"/>
                          </a:solidFill>
                          <a:latin typeface="Arial"/>
                        </a:rPr>
                        <a:t>498</a:t>
                      </a:r>
                    </a:p>
                  </a:txBody>
                  <a:tcPr marL="73152" marR="73152" marT="27432" marB="27432" anchor="ctr">
                    <a:solidFill>
                      <a:srgbClr val="FFFFFF"/>
                    </a:solidFill>
                  </a:tcPr>
                </a:tc>
                <a:tc>
                  <a:txBody>
                    <a:bodyPr wrap="square"/>
                    <a:lstStyle/>
                    <a:p>
                      <a:r>
                        <a:rPr sz="1100" b="0">
                          <a:solidFill>
                            <a:srgbClr val="3D4F6A"/>
                          </a:solidFill>
                          <a:latin typeface="Arial"/>
                        </a:rPr>
                        <a:t>21.0%</a:t>
                      </a:r>
                    </a:p>
                  </a:txBody>
                  <a:tcPr marL="73152" marR="73152" marT="27432" marB="27432" anchor="ctr">
                    <a:solidFill>
                      <a:srgbClr val="DDE6F5"/>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Running cost grows in steps: </a:t>
            </a:r>
            <a:r>
              <a:rPr sz="2800" b="1" i="0">
                <a:solidFill>
                  <a:srgbClr val="9B3809"/>
                </a:solidFill>
                <a:latin typeface="Georgia"/>
              </a:rPr>
              <a:t>Rp32M to Rp88M</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Running cost = all fixed costs in one month. Each step starts after the work that pays for it is signed.</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(Pay_Plan sheet).</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34</a:t>
            </a:r>
          </a:p>
        </p:txBody>
      </p:sp>
      <p:graphicFrame>
        <p:nvGraphicFramePr>
          <p:cNvPr id="7" name="Chart 6"/>
          <p:cNvGraphicFramePr>
            <a:graphicFrameLocks noGrp="1"/>
          </p:cNvGraphicFramePr>
          <p:nvPr/>
        </p:nvGraphicFramePr>
        <p:xfrm>
          <a:off x="457200" y="1371600"/>
          <a:ext cx="704088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7772400" y="1463040"/>
            <a:ext cx="3977639" cy="1097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36576" bIns="36576"/>
          <a:lstStyle/>
          <a:p>
            <a:pPr algn="l">
              <a:spcAft>
                <a:spcPts val="200"/>
              </a:spcAft>
            </a:pPr>
            <a:r>
              <a:rPr sz="1500" b="1" i="0">
                <a:solidFill>
                  <a:srgbClr val="9B3809"/>
                </a:solidFill>
                <a:latin typeface="Georgia"/>
              </a:rPr>
              <a:t>Jan 2027</a:t>
            </a:r>
          </a:p>
          <a:p>
            <a:pPr algn="l">
              <a:spcAft>
                <a:spcPts val="200"/>
              </a:spcAft>
            </a:pPr>
            <a:r>
              <a:rPr sz="1200" b="0" i="0">
                <a:solidFill>
                  <a:srgbClr val="3D4F6A"/>
                </a:solidFill>
                <a:latin typeface="Arial"/>
              </a:rPr>
              <a:t>BPJS and THR; Instagram ads Rp4.5M in total</a:t>
            </a:r>
          </a:p>
        </p:txBody>
      </p:sp>
      <p:sp>
        <p:nvSpPr>
          <p:cNvPr id="9" name="Rounded Rectangle 8"/>
          <p:cNvSpPr/>
          <p:nvPr/>
        </p:nvSpPr>
        <p:spPr>
          <a:xfrm>
            <a:off x="7772400" y="2679192"/>
            <a:ext cx="3977639" cy="1097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36576" bIns="36576"/>
          <a:lstStyle/>
          <a:p>
            <a:pPr algn="l">
              <a:spcAft>
                <a:spcPts val="200"/>
              </a:spcAft>
            </a:pPr>
            <a:r>
              <a:rPr sz="1500" b="1" i="0">
                <a:solidFill>
                  <a:srgbClr val="9B3809"/>
                </a:solidFill>
                <a:latin typeface="Georgia"/>
              </a:rPr>
              <a:t>Mar 2027</a:t>
            </a:r>
          </a:p>
          <a:p>
            <a:pPr algn="l">
              <a:spcAft>
                <a:spcPts val="200"/>
              </a:spcAft>
            </a:pPr>
            <a:r>
              <a:rPr sz="1200" b="0" i="0">
                <a:solidFill>
                  <a:srgbClr val="3D4F6A"/>
                </a:solidFill>
                <a:latin typeface="Arial"/>
              </a:rPr>
              <a:t>room for both founders (Rp25M); first new programs</a:t>
            </a:r>
          </a:p>
        </p:txBody>
      </p:sp>
      <p:sp>
        <p:nvSpPr>
          <p:cNvPr id="10" name="Rounded Rectangle 9"/>
          <p:cNvSpPr/>
          <p:nvPr/>
        </p:nvSpPr>
        <p:spPr>
          <a:xfrm>
            <a:off x="7772400" y="3895344"/>
            <a:ext cx="3977639" cy="1097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36576" bIns="36576"/>
          <a:lstStyle/>
          <a:p>
            <a:pPr algn="l">
              <a:spcAft>
                <a:spcPts val="200"/>
              </a:spcAft>
            </a:pPr>
            <a:r>
              <a:rPr sz="1500" b="1" i="0">
                <a:solidFill>
                  <a:srgbClr val="9B3809"/>
                </a:solidFill>
                <a:latin typeface="Georgia"/>
              </a:rPr>
              <a:t>Jul 2027</a:t>
            </a:r>
          </a:p>
          <a:p>
            <a:pPr algn="l">
              <a:spcAft>
                <a:spcPts val="200"/>
              </a:spcAft>
            </a:pPr>
            <a:r>
              <a:rPr sz="1200" b="0" i="0">
                <a:solidFill>
                  <a:srgbClr val="3D4F6A"/>
                </a:solidFill>
                <a:latin typeface="Arial"/>
              </a:rPr>
              <a:t>pay step 1 (since May); sales co-founder; standby project manager</a:t>
            </a:r>
          </a:p>
        </p:txBody>
      </p:sp>
      <p:sp>
        <p:nvSpPr>
          <p:cNvPr id="11" name="Rounded Rectangle 10"/>
          <p:cNvSpPr/>
          <p:nvPr/>
        </p:nvSpPr>
        <p:spPr>
          <a:xfrm>
            <a:off x="7772400" y="5111496"/>
            <a:ext cx="3977639" cy="1097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36576" bIns="36576"/>
          <a:lstStyle/>
          <a:p>
            <a:pPr algn="l">
              <a:spcAft>
                <a:spcPts val="200"/>
              </a:spcAft>
            </a:pPr>
            <a:r>
              <a:rPr sz="1500" b="1" i="0">
                <a:solidFill>
                  <a:srgbClr val="9B3809"/>
                </a:solidFill>
                <a:latin typeface="Georgia"/>
              </a:rPr>
              <a:t>Oct 2027</a:t>
            </a:r>
          </a:p>
          <a:p>
            <a:pPr algn="l">
              <a:spcAft>
                <a:spcPts val="200"/>
              </a:spcAft>
            </a:pPr>
            <a:r>
              <a:rPr sz="1200" b="0" i="0">
                <a:solidFill>
                  <a:srgbClr val="3D4F6A"/>
                </a:solidFill>
                <a:latin typeface="Arial"/>
              </a:rPr>
              <a:t>pay step 2: admin at minimum wage; Lead Partnership; first bank days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Better contracts in </a:t>
            </a:r>
            <a:r>
              <a:rPr sz="2800" b="1" i="0">
                <a:solidFill>
                  <a:srgbClr val="9B3809"/>
                </a:solidFill>
                <a:latin typeface="Georgia"/>
              </a:rPr>
              <a:t>four areas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We keep part-time pay levels. We change how the contracts work.</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Session fees and day rates are estimates; compare them with the market before you sign.</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35</a:t>
            </a:r>
          </a:p>
        </p:txBody>
      </p:sp>
      <p:graphicFrame>
        <p:nvGraphicFramePr>
          <p:cNvPr id="7" name="Table 6"/>
          <p:cNvGraphicFramePr>
            <a:graphicFrameLocks noGrp="1"/>
          </p:cNvGraphicFramePr>
          <p:nvPr/>
        </p:nvGraphicFramePr>
        <p:xfrm>
          <a:off x="457200" y="1371600"/>
          <a:ext cx="11247120" cy="3931920"/>
        </p:xfrm>
        <a:graphic>
          <a:graphicData uri="http://schemas.openxmlformats.org/drawingml/2006/table">
            <a:tbl>
              <a:tblPr firstRow="1" bandRow="1">
                <a:tableStyleId>{5C22544A-7EE6-4342-B048-85BDC9FD1C3A}</a:tableStyleId>
              </a:tblPr>
              <a:tblGrid>
                <a:gridCol w="2011680"/>
                <a:gridCol w="3291840"/>
                <a:gridCol w="3017520"/>
                <a:gridCol w="2926080"/>
              </a:tblGrid>
              <a:tr h="786384">
                <a:tc>
                  <a:txBody>
                    <a:bodyPr wrap="square"/>
                    <a:lstStyle/>
                    <a:p>
                      <a:r>
                        <a:rPr sz="1200" b="1">
                          <a:solidFill>
                            <a:srgbClr val="FFFFFF"/>
                          </a:solidFill>
                          <a:latin typeface="Arial"/>
                        </a:rPr>
                        <a:t>Area</a:t>
                      </a:r>
                    </a:p>
                  </a:txBody>
                  <a:tcPr marL="73152" marR="73152" marT="27432" marB="27432" anchor="ctr">
                    <a:solidFill>
                      <a:srgbClr val="1E2A3A"/>
                    </a:solidFill>
                  </a:tcPr>
                </a:tc>
                <a:tc>
                  <a:txBody>
                    <a:bodyPr wrap="square"/>
                    <a:lstStyle/>
                    <a:p>
                      <a:r>
                        <a:rPr sz="1200" b="1">
                          <a:solidFill>
                            <a:srgbClr val="FFFFFF"/>
                          </a:solidFill>
                          <a:latin typeface="Arial"/>
                        </a:rPr>
                        <a:t>Psychologists</a:t>
                      </a:r>
                    </a:p>
                  </a:txBody>
                  <a:tcPr marL="73152" marR="73152" marT="27432" marB="27432" anchor="ctr">
                    <a:solidFill>
                      <a:srgbClr val="1E2A3A"/>
                    </a:solidFill>
                  </a:tcPr>
                </a:tc>
                <a:tc>
                  <a:txBody>
                    <a:bodyPr wrap="square"/>
                    <a:lstStyle/>
                    <a:p>
                      <a:r>
                        <a:rPr sz="1200" b="1">
                          <a:solidFill>
                            <a:srgbClr val="FFFFFF"/>
                          </a:solidFill>
                          <a:latin typeface="Arial"/>
                        </a:rPr>
                        <a:t>Trainers</a:t>
                      </a:r>
                    </a:p>
                  </a:txBody>
                  <a:tcPr marL="73152" marR="73152" marT="27432" marB="27432" anchor="ctr">
                    <a:solidFill>
                      <a:srgbClr val="1E2A3A"/>
                    </a:solidFill>
                  </a:tcPr>
                </a:tc>
                <a:tc>
                  <a:txBody>
                    <a:bodyPr wrap="square"/>
                    <a:lstStyle/>
                    <a:p>
                      <a:r>
                        <a:rPr sz="1200" b="1">
                          <a:solidFill>
                            <a:srgbClr val="FFFFFF"/>
                          </a:solidFill>
                          <a:latin typeface="Arial"/>
                        </a:rPr>
                        <a:t>Project manager</a:t>
                      </a:r>
                    </a:p>
                  </a:txBody>
                  <a:tcPr marL="73152" marR="73152" marT="27432" marB="27432" anchor="ctr">
                    <a:solidFill>
                      <a:srgbClr val="1E2A3A"/>
                    </a:solidFill>
                  </a:tcPr>
                </a:tc>
              </a:tr>
              <a:tr h="786384">
                <a:tc>
                  <a:txBody>
                    <a:bodyPr wrap="square"/>
                    <a:lstStyle/>
                    <a:p>
                      <a:r>
                        <a:rPr sz="1200" b="1">
                          <a:solidFill>
                            <a:srgbClr val="1E2A3A"/>
                          </a:solidFill>
                          <a:latin typeface="Arial"/>
                        </a:rPr>
                        <a:t>1. How we pay</a:t>
                      </a:r>
                    </a:p>
                  </a:txBody>
                  <a:tcPr marL="73152" marR="73152" marT="27432" marB="27432" anchor="ctr">
                    <a:solidFill>
                      <a:srgbClr val="FFFFFF"/>
                    </a:solidFill>
                  </a:tcPr>
                </a:tc>
                <a:tc>
                  <a:txBody>
                    <a:bodyPr wrap="square"/>
                    <a:lstStyle/>
                    <a:p>
                      <a:r>
                        <a:rPr sz="1200" b="0">
                          <a:solidFill>
                            <a:srgbClr val="3D4F6A"/>
                          </a:solidFill>
                          <a:latin typeface="Arial"/>
                        </a:rPr>
                        <a:t>Full-time: market salary + bonus when an EAP client renews. Part-time: fee per session</a:t>
                      </a:r>
                    </a:p>
                  </a:txBody>
                  <a:tcPr marL="73152" marR="73152" marT="27432" marB="27432" anchor="ctr">
                    <a:solidFill>
                      <a:srgbClr val="FFFFFF"/>
                    </a:solidFill>
                  </a:tcPr>
                </a:tc>
                <a:tc>
                  <a:txBody>
                    <a:bodyPr wrap="square"/>
                    <a:lstStyle/>
                    <a:p>
                      <a:r>
                        <a:rPr sz="1200" b="0">
                          <a:solidFill>
                            <a:srgbClr val="3D4F6A"/>
                          </a:solidFill>
                          <a:latin typeface="Arial"/>
                        </a:rPr>
                        <a:t>Day rate by level; client pays travel; repays training cost if leaving before 4 events</a:t>
                      </a:r>
                    </a:p>
                  </a:txBody>
                  <a:tcPr marL="73152" marR="73152" marT="27432" marB="27432" anchor="ctr">
                    <a:solidFill>
                      <a:srgbClr val="FFFFFF"/>
                    </a:solidFill>
                  </a:tcPr>
                </a:tc>
                <a:tc>
                  <a:txBody>
                    <a:bodyPr wrap="square"/>
                    <a:lstStyle/>
                    <a:p>
                      <a:r>
                        <a:rPr sz="1200" b="0">
                          <a:solidFill>
                            <a:srgbClr val="3D4F6A"/>
                          </a:solidFill>
                          <a:latin typeface="Arial"/>
                        </a:rPr>
                        <a:t>Small monthly fee to stay available + Rp2M per project</a:t>
                      </a:r>
                    </a:p>
                  </a:txBody>
                  <a:tcPr marL="73152" marR="73152" marT="27432" marB="27432" anchor="ctr">
                    <a:solidFill>
                      <a:srgbClr val="FFFFFF"/>
                    </a:solidFill>
                  </a:tcPr>
                </a:tc>
              </a:tr>
              <a:tr h="786384">
                <a:tc>
                  <a:txBody>
                    <a:bodyPr wrap="square"/>
                    <a:lstStyle/>
                    <a:p>
                      <a:r>
                        <a:rPr sz="1200" b="1">
                          <a:solidFill>
                            <a:srgbClr val="1E2A3A"/>
                          </a:solidFill>
                          <a:latin typeface="Arial"/>
                        </a:rPr>
                        <a:t>2. What they promise</a:t>
                      </a:r>
                    </a:p>
                  </a:txBody>
                  <a:tcPr marL="73152" marR="73152" marT="27432" marB="27432" anchor="ctr">
                    <a:solidFill>
                      <a:srgbClr val="F6F2EA"/>
                    </a:solidFill>
                  </a:tcPr>
                </a:tc>
                <a:tc>
                  <a:txBody>
                    <a:bodyPr wrap="square"/>
                    <a:lstStyle/>
                    <a:p>
                      <a:r>
                        <a:rPr sz="1200" b="0">
                          <a:solidFill>
                            <a:srgbClr val="3D4F6A"/>
                          </a:solidFill>
                          <a:latin typeface="Arial"/>
                        </a:rPr>
                        <a:t>Part-time: 8+ hours a month on Theta; reply within 24 hours; 3 months notice</a:t>
                      </a:r>
                    </a:p>
                  </a:txBody>
                  <a:tcPr marL="73152" marR="73152" marT="27432" marB="27432" anchor="ctr">
                    <a:solidFill>
                      <a:srgbClr val="F6F2EA"/>
                    </a:solidFill>
                  </a:tcPr>
                </a:tc>
                <a:tc>
                  <a:txBody>
                    <a:bodyPr wrap="square"/>
                    <a:lstStyle/>
                    <a:p>
                      <a:r>
                        <a:rPr sz="1200" b="0">
                          <a:solidFill>
                            <a:srgbClr val="3D4F6A"/>
                          </a:solidFill>
                          <a:latin typeface="Arial"/>
                        </a:rPr>
                        <a:t>Yearly agreement; at most 2 events a month; confirm 30 days before</a:t>
                      </a:r>
                    </a:p>
                  </a:txBody>
                  <a:tcPr marL="73152" marR="73152" marT="27432" marB="27432" anchor="ctr">
                    <a:solidFill>
                      <a:srgbClr val="F6F2EA"/>
                    </a:solidFill>
                  </a:tcPr>
                </a:tc>
                <a:tc>
                  <a:txBody>
                    <a:bodyPr wrap="square"/>
                    <a:lstStyle/>
                    <a:p>
                      <a:r>
                        <a:rPr sz="1200" b="0">
                          <a:solidFill>
                            <a:srgbClr val="3D4F6A"/>
                          </a:solidFill>
                          <a:latin typeface="Arial"/>
                        </a:rPr>
                        <a:t>Up to 2 projects a month; we get the first call; a handover file</a:t>
                      </a:r>
                    </a:p>
                  </a:txBody>
                  <a:tcPr marL="73152" marR="73152" marT="27432" marB="27432" anchor="ctr">
                    <a:solidFill>
                      <a:srgbClr val="F6F2EA"/>
                    </a:solidFill>
                  </a:tcPr>
                </a:tc>
              </a:tr>
              <a:tr h="786384">
                <a:tc>
                  <a:txBody>
                    <a:bodyPr wrap="square"/>
                    <a:lstStyle/>
                    <a:p>
                      <a:r>
                        <a:rPr sz="1200" b="1">
                          <a:solidFill>
                            <a:srgbClr val="1E2A3A"/>
                          </a:solidFill>
                          <a:latin typeface="Arial"/>
                        </a:rPr>
                        <a:t>3. How we check quality</a:t>
                      </a:r>
                    </a:p>
                  </a:txBody>
                  <a:tcPr marL="73152" marR="73152" marT="27432" marB="27432" anchor="ctr">
                    <a:solidFill>
                      <a:srgbClr val="FFFFFF"/>
                    </a:solidFill>
                  </a:tcPr>
                </a:tc>
                <a:tc>
                  <a:txBody>
                    <a:bodyPr wrap="square"/>
                    <a:lstStyle/>
                    <a:p>
                      <a:r>
                        <a:rPr sz="1200" b="0">
                          <a:solidFill>
                            <a:srgbClr val="3D4F6A"/>
                          </a:solidFill>
                          <a:latin typeface="Arial"/>
                        </a:rPr>
                        <a:t>Client rating 4.5 of 5 or more; reports on time; review every 3 months</a:t>
                      </a:r>
                    </a:p>
                  </a:txBody>
                  <a:tcPr marL="73152" marR="73152" marT="27432" marB="27432" anchor="ctr">
                    <a:solidFill>
                      <a:srgbClr val="FFFFFF"/>
                    </a:solidFill>
                  </a:tcPr>
                </a:tc>
                <a:tc>
                  <a:txBody>
                    <a:bodyPr wrap="square"/>
                    <a:lstStyle/>
                    <a:p>
                      <a:r>
                        <a:rPr sz="1200" b="0">
                          <a:solidFill>
                            <a:srgbClr val="3D4F6A"/>
                          </a:solidFill>
                          <a:latin typeface="Arial"/>
                        </a:rPr>
                        <a:t>Participant scores; tests before and after the training</a:t>
                      </a:r>
                    </a:p>
                  </a:txBody>
                  <a:tcPr marL="73152" marR="73152" marT="27432" marB="27432" anchor="ctr">
                    <a:solidFill>
                      <a:srgbClr val="FFFFFF"/>
                    </a:solidFill>
                  </a:tcPr>
                </a:tc>
                <a:tc>
                  <a:txBody>
                    <a:bodyPr wrap="square"/>
                    <a:lstStyle/>
                    <a:p>
                      <a:r>
                        <a:rPr sz="1200" b="0">
                          <a:solidFill>
                            <a:srgbClr val="3D4F6A"/>
                          </a:solidFill>
                          <a:latin typeface="Arial"/>
                        </a:rPr>
                        <a:t>On time; invoice before BI's payment date; client rating</a:t>
                      </a:r>
                    </a:p>
                  </a:txBody>
                  <a:tcPr marL="73152" marR="73152" marT="27432" marB="27432" anchor="ctr">
                    <a:solidFill>
                      <a:srgbClr val="FFFFFF"/>
                    </a:solidFill>
                  </a:tcPr>
                </a:tc>
              </a:tr>
              <a:tr h="786384">
                <a:tc>
                  <a:txBody>
                    <a:bodyPr wrap="square"/>
                    <a:lstStyle/>
                    <a:p>
                      <a:r>
                        <a:rPr sz="1200" b="1">
                          <a:solidFill>
                            <a:srgbClr val="1E2A3A"/>
                          </a:solidFill>
                          <a:latin typeface="Arial"/>
                        </a:rPr>
                        <a:t>4. How we reduce risk</a:t>
                      </a:r>
                    </a:p>
                  </a:txBody>
                  <a:tcPr marL="73152" marR="73152" marT="27432" marB="27432" anchor="ctr">
                    <a:solidFill>
                      <a:srgbClr val="F6F2EA"/>
                    </a:solidFill>
                  </a:tcPr>
                </a:tc>
                <a:tc>
                  <a:txBody>
                    <a:bodyPr wrap="square"/>
                    <a:lstStyle/>
                    <a:p>
                      <a:r>
                        <a:rPr sz="1200" b="0">
                          <a:solidFill>
                            <a:srgbClr val="3D4F6A"/>
                          </a:solidFill>
                          <a:latin typeface="Arial"/>
                        </a:rPr>
                        <a:t>Client data kept private; senior supervision; insurance; no direct work with our clients for 12 months</a:t>
                      </a:r>
                    </a:p>
                  </a:txBody>
                  <a:tcPr marL="73152" marR="73152" marT="27432" marB="27432" anchor="ctr">
                    <a:solidFill>
                      <a:srgbClr val="F6F2EA"/>
                    </a:solidFill>
                  </a:tcPr>
                </a:tc>
                <a:tc>
                  <a:txBody>
                    <a:bodyPr wrap="square"/>
                    <a:lstStyle/>
                    <a:p>
                      <a:r>
                        <a:rPr sz="1200" b="0">
                          <a:solidFill>
                            <a:srgbClr val="3D4F6A"/>
                          </a:solidFill>
                          <a:latin typeface="Arial"/>
                        </a:rPr>
                        <a:t>We own the training material; a backup trainer for each event</a:t>
                      </a:r>
                    </a:p>
                  </a:txBody>
                  <a:tcPr marL="73152" marR="73152" marT="27432" marB="27432" anchor="ctr">
                    <a:solidFill>
                      <a:srgbClr val="F6F2EA"/>
                    </a:solidFill>
                  </a:tcPr>
                </a:tc>
                <a:tc>
                  <a:txBody>
                    <a:bodyPr wrap="square"/>
                    <a:lstStyle/>
                    <a:p>
                      <a:r>
                        <a:rPr sz="1200" b="0">
                          <a:solidFill>
                            <a:srgbClr val="3D4F6A"/>
                          </a:solidFill>
                          <a:latin typeface="Arial"/>
                        </a:rPr>
                        <a:t>A written guide; a second project manager learns one project every 3 months</a:t>
                      </a:r>
                    </a:p>
                  </a:txBody>
                  <a:tcPr marL="73152" marR="73152" marT="27432" marB="27432" anchor="ctr">
                    <a:solidFill>
                      <a:srgbClr val="F6F2EA"/>
                    </a:solidFill>
                  </a:tcPr>
                </a:tc>
              </a:tr>
            </a:tbl>
          </a:graphicData>
        </a:graphic>
      </p:graphicFrame>
      <p:sp>
        <p:nvSpPr>
          <p:cNvPr id="8" name="Rounded Rectangle 7"/>
          <p:cNvSpPr/>
          <p:nvPr/>
        </p:nvSpPr>
        <p:spPr>
          <a:xfrm>
            <a:off x="457200" y="5623560"/>
            <a:ext cx="11247120" cy="6858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Why psychologists will join us: </a:t>
            </a:r>
            <a:r>
              <a:rPr sz="1300" b="0" i="0">
                <a:solidFill>
                  <a:srgbClr val="3D4F6A"/>
                </a:solidFill>
                <a:latin typeface="Arial"/>
              </a:rPr>
              <a:t>paid hours we promise, supervision and SKP points (professional credits), work with BI and OJK, and flexible hours on Theta.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Psychologist capacity: </a:t>
            </a:r>
            <a:r>
              <a:rPr sz="2800" b="1" i="0">
                <a:solidFill>
                  <a:srgbClr val="9B3809"/>
                </a:solidFill>
                <a:latin typeface="Georgia"/>
              </a:rPr>
              <a:t>two part-timers and a pool</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Two paid part-timers cover up to 72 sessions a month. Our pool of 20 covers peaks, Sundays and special cases.</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(B2C sheet, capacity rows). Shifts: 3 a week per part-timer, 3 sessions each. EAP: 10 sessions a month per contract.</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36</a:t>
            </a:r>
          </a:p>
        </p:txBody>
      </p:sp>
      <p:graphicFrame>
        <p:nvGraphicFramePr>
          <p:cNvPr id="7" name="Chart 6"/>
          <p:cNvGraphicFramePr>
            <a:graphicFrameLocks noGrp="1"/>
          </p:cNvGraphicFramePr>
          <p:nvPr/>
        </p:nvGraphicFramePr>
        <p:xfrm>
          <a:off x="457200" y="1371600"/>
          <a:ext cx="6309360" cy="493776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7040880" y="1417320"/>
          <a:ext cx="4718304" cy="1152144"/>
        </p:xfrm>
        <a:graphic>
          <a:graphicData uri="http://schemas.openxmlformats.org/drawingml/2006/table">
            <a:tbl>
              <a:tblPr firstRow="1" bandRow="1">
                <a:tableStyleId>{5C22544A-7EE6-4342-B048-85BDC9FD1C3A}</a:tableStyleId>
              </a:tblPr>
              <a:tblGrid>
                <a:gridCol w="1325880"/>
                <a:gridCol w="484632"/>
                <a:gridCol w="484632"/>
                <a:gridCol w="484632"/>
                <a:gridCol w="484632"/>
                <a:gridCol w="484632"/>
                <a:gridCol w="484632"/>
                <a:gridCol w="484632"/>
              </a:tblGrid>
              <a:tr h="384048">
                <a:tc>
                  <a:txBody>
                    <a:bodyPr wrap="square"/>
                    <a:lstStyle/>
                    <a:p>
                      <a:r>
                        <a:rPr sz="1100" b="1">
                          <a:solidFill>
                            <a:srgbClr val="FFFFFF"/>
                          </a:solidFill>
                          <a:latin typeface="Arial"/>
                        </a:rPr>
                        <a:t/>
                      </a:r>
                    </a:p>
                  </a:txBody>
                  <a:tcPr marL="73152" marR="73152" marT="27432" marB="27432" anchor="ctr">
                    <a:solidFill>
                      <a:srgbClr val="1E2A3A"/>
                    </a:solidFill>
                  </a:tcPr>
                </a:tc>
                <a:tc>
                  <a:txBody>
                    <a:bodyPr wrap="square"/>
                    <a:lstStyle/>
                    <a:p>
                      <a:r>
                        <a:rPr sz="1100" b="1">
                          <a:solidFill>
                            <a:srgbClr val="FFFFFF"/>
                          </a:solidFill>
                          <a:latin typeface="Arial"/>
                        </a:rPr>
                        <a:t>Mon</a:t>
                      </a:r>
                    </a:p>
                  </a:txBody>
                  <a:tcPr marL="73152" marR="73152" marT="27432" marB="27432" anchor="ctr">
                    <a:solidFill>
                      <a:srgbClr val="1E2A3A"/>
                    </a:solidFill>
                  </a:tcPr>
                </a:tc>
                <a:tc>
                  <a:txBody>
                    <a:bodyPr wrap="square"/>
                    <a:lstStyle/>
                    <a:p>
                      <a:r>
                        <a:rPr sz="1100" b="1">
                          <a:solidFill>
                            <a:srgbClr val="FFFFFF"/>
                          </a:solidFill>
                          <a:latin typeface="Arial"/>
                        </a:rPr>
                        <a:t>Tue</a:t>
                      </a:r>
                    </a:p>
                  </a:txBody>
                  <a:tcPr marL="73152" marR="73152" marT="27432" marB="27432" anchor="ctr">
                    <a:solidFill>
                      <a:srgbClr val="1E2A3A"/>
                    </a:solidFill>
                  </a:tcPr>
                </a:tc>
                <a:tc>
                  <a:txBody>
                    <a:bodyPr wrap="square"/>
                    <a:lstStyle/>
                    <a:p>
                      <a:r>
                        <a:rPr sz="1100" b="1">
                          <a:solidFill>
                            <a:srgbClr val="FFFFFF"/>
                          </a:solidFill>
                          <a:latin typeface="Arial"/>
                        </a:rPr>
                        <a:t>Wed</a:t>
                      </a:r>
                    </a:p>
                  </a:txBody>
                  <a:tcPr marL="73152" marR="73152" marT="27432" marB="27432" anchor="ctr">
                    <a:solidFill>
                      <a:srgbClr val="1E2A3A"/>
                    </a:solidFill>
                  </a:tcPr>
                </a:tc>
                <a:tc>
                  <a:txBody>
                    <a:bodyPr wrap="square"/>
                    <a:lstStyle/>
                    <a:p>
                      <a:r>
                        <a:rPr sz="1100" b="1">
                          <a:solidFill>
                            <a:srgbClr val="FFFFFF"/>
                          </a:solidFill>
                          <a:latin typeface="Arial"/>
                        </a:rPr>
                        <a:t>Thu</a:t>
                      </a:r>
                    </a:p>
                  </a:txBody>
                  <a:tcPr marL="73152" marR="73152" marT="27432" marB="27432" anchor="ctr">
                    <a:solidFill>
                      <a:srgbClr val="1E2A3A"/>
                    </a:solidFill>
                  </a:tcPr>
                </a:tc>
                <a:tc>
                  <a:txBody>
                    <a:bodyPr wrap="square"/>
                    <a:lstStyle/>
                    <a:p>
                      <a:r>
                        <a:rPr sz="1100" b="1">
                          <a:solidFill>
                            <a:srgbClr val="FFFFFF"/>
                          </a:solidFill>
                          <a:latin typeface="Arial"/>
                        </a:rPr>
                        <a:t>Fri</a:t>
                      </a:r>
                    </a:p>
                  </a:txBody>
                  <a:tcPr marL="73152" marR="73152" marT="27432" marB="27432" anchor="ctr">
                    <a:solidFill>
                      <a:srgbClr val="1E2A3A"/>
                    </a:solidFill>
                  </a:tcPr>
                </a:tc>
                <a:tc>
                  <a:txBody>
                    <a:bodyPr wrap="square"/>
                    <a:lstStyle/>
                    <a:p>
                      <a:r>
                        <a:rPr sz="1100" b="1">
                          <a:solidFill>
                            <a:srgbClr val="FFFFFF"/>
                          </a:solidFill>
                          <a:latin typeface="Arial"/>
                        </a:rPr>
                        <a:t>Sat</a:t>
                      </a:r>
                    </a:p>
                  </a:txBody>
                  <a:tcPr marL="73152" marR="73152" marT="27432" marB="27432" anchor="ctr">
                    <a:solidFill>
                      <a:srgbClr val="1E2A3A"/>
                    </a:solidFill>
                  </a:tcPr>
                </a:tc>
                <a:tc>
                  <a:txBody>
                    <a:bodyPr wrap="square"/>
                    <a:lstStyle/>
                    <a:p>
                      <a:r>
                        <a:rPr sz="1100" b="1">
                          <a:solidFill>
                            <a:srgbClr val="FFFFFF"/>
                          </a:solidFill>
                          <a:latin typeface="Arial"/>
                        </a:rPr>
                        <a:t>Sun</a:t>
                      </a:r>
                    </a:p>
                  </a:txBody>
                  <a:tcPr marL="73152" marR="73152" marT="27432" marB="27432" anchor="ctr">
                    <a:solidFill>
                      <a:srgbClr val="1E2A3A"/>
                    </a:solidFill>
                  </a:tcPr>
                </a:tc>
              </a:tr>
              <a:tr h="384048">
                <a:tc>
                  <a:txBody>
                    <a:bodyPr wrap="square"/>
                    <a:lstStyle/>
                    <a:p>
                      <a:r>
                        <a:rPr sz="1100" b="1">
                          <a:solidFill>
                            <a:srgbClr val="1E2A3A"/>
                          </a:solidFill>
                          <a:latin typeface="Arial"/>
                        </a:rPr>
                        <a:t>Day (EAP)</a:t>
                      </a:r>
                    </a:p>
                  </a:txBody>
                  <a:tcPr marL="73152" marR="73152" marT="27432" marB="27432" anchor="ctr">
                    <a:solidFill>
                      <a:srgbClr val="FFFFFF"/>
                    </a:solidFill>
                  </a:tcPr>
                </a:tc>
                <a:tc>
                  <a:txBody>
                    <a:bodyPr wrap="square"/>
                    <a:lstStyle/>
                    <a:p>
                      <a:r>
                        <a:rPr sz="1100" b="0">
                          <a:solidFill>
                            <a:srgbClr val="3D4F6A"/>
                          </a:solidFill>
                          <a:latin typeface="Arial"/>
                        </a:rPr>
                        <a:t>A</a:t>
                      </a:r>
                    </a:p>
                  </a:txBody>
                  <a:tcPr marL="73152" marR="73152" marT="27432" marB="27432" anchor="ctr">
                    <a:solidFill>
                      <a:srgbClr val="EAF2FF"/>
                    </a:solidFill>
                  </a:tcPr>
                </a:tc>
                <a:tc>
                  <a:txBody>
                    <a:bodyPr wrap="square"/>
                    <a:lstStyle/>
                    <a:p>
                      <a:r>
                        <a:rPr sz="1100" b="0">
                          <a:solidFill>
                            <a:srgbClr val="3D4F6A"/>
                          </a:solidFill>
                          <a:latin typeface="Arial"/>
                        </a:rPr>
                        <a:t>A</a:t>
                      </a:r>
                    </a:p>
                  </a:txBody>
                  <a:tcPr marL="73152" marR="73152" marT="27432" marB="27432" anchor="ctr">
                    <a:solidFill>
                      <a:srgbClr val="EAF2FF"/>
                    </a:solidFill>
                  </a:tcPr>
                </a:tc>
                <a:tc>
                  <a:txBody>
                    <a:bodyPr wrap="square"/>
                    <a:lstStyle/>
                    <a:p>
                      <a:r>
                        <a:rPr sz="1100" b="0">
                          <a:solidFill>
                            <a:srgbClr val="3D4F6A"/>
                          </a:solidFill>
                          <a:latin typeface="Arial"/>
                        </a:rPr>
                        <a:t>A</a:t>
                      </a:r>
                    </a:p>
                  </a:txBody>
                  <a:tcPr marL="73152" marR="73152" marT="27432" marB="27432" anchor="ctr">
                    <a:solidFill>
                      <a:srgbClr val="EAF2FF"/>
                    </a:solidFill>
                  </a:tcPr>
                </a:tc>
                <a:tc>
                  <a:txBody>
                    <a:bodyPr wrap="square"/>
                    <a:lstStyle/>
                    <a:p>
                      <a:r>
                        <a:rPr sz="1100" b="0">
                          <a:solidFill>
                            <a:srgbClr val="3D4F6A"/>
                          </a:solidFill>
                          <a:latin typeface="Arial"/>
                        </a:rPr>
                        <a:t>B</a:t>
                      </a:r>
                    </a:p>
                  </a:txBody>
                  <a:tcPr marL="73152" marR="73152" marT="27432" marB="27432" anchor="ctr">
                    <a:solidFill>
                      <a:srgbClr val="DDE6F5"/>
                    </a:solidFill>
                  </a:tcPr>
                </a:tc>
                <a:tc>
                  <a:txBody>
                    <a:bodyPr wrap="square"/>
                    <a:lstStyle/>
                    <a:p>
                      <a:r>
                        <a:rPr sz="1100" b="0">
                          <a:solidFill>
                            <a:srgbClr val="3D4F6A"/>
                          </a:solidFill>
                          <a:latin typeface="Arial"/>
                        </a:rPr>
                        <a:t>B</a:t>
                      </a:r>
                    </a:p>
                  </a:txBody>
                  <a:tcPr marL="73152" marR="73152" marT="27432" marB="27432" anchor="ctr">
                    <a:solidFill>
                      <a:srgbClr val="DDE6F5"/>
                    </a:solidFill>
                  </a:tcPr>
                </a:tc>
                <a:tc>
                  <a:txBody>
                    <a:bodyPr wrap="square"/>
                    <a:lstStyle/>
                    <a:p>
                      <a:r>
                        <a:rPr sz="1100" b="0">
                          <a:solidFill>
                            <a:srgbClr val="3D4F6A"/>
                          </a:solidFill>
                          <a:latin typeface="Arial"/>
                        </a:rPr>
                        <a:t>-</a:t>
                      </a:r>
                    </a:p>
                  </a:txBody>
                  <a:tcPr marL="73152" marR="73152" marT="27432" marB="27432" anchor="ctr">
                    <a:solidFill>
                      <a:srgbClr val="FFFFFF"/>
                    </a:solidFill>
                  </a:tcPr>
                </a:tc>
                <a:tc>
                  <a:txBody>
                    <a:bodyPr wrap="square"/>
                    <a:lstStyle/>
                    <a:p>
                      <a:r>
                        <a:rPr sz="1100" b="0">
                          <a:solidFill>
                            <a:srgbClr val="3D4F6A"/>
                          </a:solidFill>
                          <a:latin typeface="Arial"/>
                        </a:rPr>
                        <a:t>-</a:t>
                      </a:r>
                    </a:p>
                  </a:txBody>
                  <a:tcPr marL="73152" marR="73152" marT="27432" marB="27432" anchor="ctr">
                    <a:solidFill>
                      <a:srgbClr val="FFFFFF"/>
                    </a:solidFill>
                  </a:tcPr>
                </a:tc>
              </a:tr>
              <a:tr h="384048">
                <a:tc>
                  <a:txBody>
                    <a:bodyPr wrap="square"/>
                    <a:lstStyle/>
                    <a:p>
                      <a:r>
                        <a:rPr sz="1100" b="1">
                          <a:solidFill>
                            <a:srgbClr val="1E2A3A"/>
                          </a:solidFill>
                          <a:latin typeface="Arial"/>
                        </a:rPr>
                        <a:t>Evening 18-21 (B2C)</a:t>
                      </a:r>
                    </a:p>
                  </a:txBody>
                  <a:tcPr marL="73152" marR="73152" marT="27432" marB="27432" anchor="ctr">
                    <a:solidFill>
                      <a:srgbClr val="F6F2EA"/>
                    </a:solidFill>
                  </a:tcPr>
                </a:tc>
                <a:tc>
                  <a:txBody>
                    <a:bodyPr wrap="square"/>
                    <a:lstStyle/>
                    <a:p>
                      <a:r>
                        <a:rPr sz="1100" b="0">
                          <a:solidFill>
                            <a:srgbClr val="3D4F6A"/>
                          </a:solidFill>
                          <a:latin typeface="Arial"/>
                        </a:rPr>
                        <a:t>B</a:t>
                      </a:r>
                    </a:p>
                  </a:txBody>
                  <a:tcPr marL="73152" marR="73152" marT="27432" marB="27432" anchor="ctr">
                    <a:solidFill>
                      <a:srgbClr val="DDE6F5"/>
                    </a:solidFill>
                  </a:tcPr>
                </a:tc>
                <a:tc>
                  <a:txBody>
                    <a:bodyPr wrap="square"/>
                    <a:lstStyle/>
                    <a:p>
                      <a:r>
                        <a:rPr sz="1100" b="0">
                          <a:solidFill>
                            <a:srgbClr val="3D4F6A"/>
                          </a:solidFill>
                          <a:latin typeface="Arial"/>
                        </a:rPr>
                        <a:t>A</a:t>
                      </a:r>
                    </a:p>
                  </a:txBody>
                  <a:tcPr marL="73152" marR="73152" marT="27432" marB="27432" anchor="ctr">
                    <a:solidFill>
                      <a:srgbClr val="EAF2FF"/>
                    </a:solidFill>
                  </a:tcPr>
                </a:tc>
                <a:tc>
                  <a:txBody>
                    <a:bodyPr wrap="square"/>
                    <a:lstStyle/>
                    <a:p>
                      <a:r>
                        <a:rPr sz="1100" b="0">
                          <a:solidFill>
                            <a:srgbClr val="3D4F6A"/>
                          </a:solidFill>
                          <a:latin typeface="Arial"/>
                        </a:rPr>
                        <a:t>B</a:t>
                      </a:r>
                    </a:p>
                  </a:txBody>
                  <a:tcPr marL="73152" marR="73152" marT="27432" marB="27432" anchor="ctr">
                    <a:solidFill>
                      <a:srgbClr val="DDE6F5"/>
                    </a:solidFill>
                  </a:tcPr>
                </a:tc>
                <a:tc>
                  <a:txBody>
                    <a:bodyPr wrap="square"/>
                    <a:lstStyle/>
                    <a:p>
                      <a:r>
                        <a:rPr sz="1100" b="0">
                          <a:solidFill>
                            <a:srgbClr val="3D4F6A"/>
                          </a:solidFill>
                          <a:latin typeface="Arial"/>
                        </a:rPr>
                        <a:t>A</a:t>
                      </a:r>
                    </a:p>
                  </a:txBody>
                  <a:tcPr marL="73152" marR="73152" marT="27432" marB="27432" anchor="ctr">
                    <a:solidFill>
                      <a:srgbClr val="EAF2FF"/>
                    </a:solidFill>
                  </a:tcPr>
                </a:tc>
                <a:tc>
                  <a:txBody>
                    <a:bodyPr wrap="square"/>
                    <a:lstStyle/>
                    <a:p>
                      <a:r>
                        <a:rPr sz="1100" b="0">
                          <a:solidFill>
                            <a:srgbClr val="3D4F6A"/>
                          </a:solidFill>
                          <a:latin typeface="Arial"/>
                        </a:rPr>
                        <a:t>Pool</a:t>
                      </a:r>
                    </a:p>
                  </a:txBody>
                  <a:tcPr marL="73152" marR="73152" marT="27432" marB="27432" anchor="ctr">
                    <a:solidFill>
                      <a:srgbClr val="F5EDD8"/>
                    </a:solidFill>
                  </a:tcPr>
                </a:tc>
                <a:tc>
                  <a:txBody>
                    <a:bodyPr wrap="square"/>
                    <a:lstStyle/>
                    <a:p>
                      <a:r>
                        <a:rPr sz="1100" b="0">
                          <a:solidFill>
                            <a:srgbClr val="3D4F6A"/>
                          </a:solidFill>
                          <a:latin typeface="Arial"/>
                        </a:rPr>
                        <a:t>B (day)</a:t>
                      </a:r>
                    </a:p>
                  </a:txBody>
                  <a:tcPr marL="73152" marR="73152" marT="27432" marB="27432" anchor="ctr">
                    <a:solidFill>
                      <a:srgbClr val="DDE6F5"/>
                    </a:solidFill>
                  </a:tcPr>
                </a:tc>
                <a:tc>
                  <a:txBody>
                    <a:bodyPr wrap="square"/>
                    <a:lstStyle/>
                    <a:p>
                      <a:r>
                        <a:rPr sz="1100" b="0">
                          <a:solidFill>
                            <a:srgbClr val="3D4F6A"/>
                          </a:solidFill>
                          <a:latin typeface="Arial"/>
                        </a:rPr>
                        <a:t>Pool</a:t>
                      </a:r>
                    </a:p>
                  </a:txBody>
                  <a:tcPr marL="73152" marR="73152" marT="27432" marB="27432" anchor="ctr">
                    <a:solidFill>
                      <a:srgbClr val="F5EDD8"/>
                    </a:solidFill>
                  </a:tcPr>
                </a:tc>
              </a:tr>
            </a:tbl>
          </a:graphicData>
        </a:graphic>
      </p:graphicFrame>
      <p:sp>
        <p:nvSpPr>
          <p:cNvPr id="9" name="TextBox 8"/>
          <p:cNvSpPr txBox="1"/>
          <p:nvPr/>
        </p:nvSpPr>
        <p:spPr>
          <a:xfrm>
            <a:off x="7040880" y="2606040"/>
            <a:ext cx="4709160" cy="329184"/>
          </a:xfrm>
          <a:prstGeom prst="rect">
            <a:avLst/>
          </a:prstGeom>
          <a:noFill/>
        </p:spPr>
        <p:txBody>
          <a:bodyPr wrap="square" anchor="t" lIns="73152" rIns="73152" tIns="36576" bIns="36576">
            <a:spAutoFit/>
          </a:bodyPr>
          <a:lstStyle/>
          <a:p>
            <a:pPr algn="l">
              <a:spcAft>
                <a:spcPts val="400"/>
              </a:spcAft>
            </a:pPr>
            <a:r>
              <a:rPr sz="1000" b="0" i="0">
                <a:solidFill>
                  <a:srgbClr val="6B7A99"/>
                </a:solidFill>
                <a:latin typeface="Arial"/>
              </a:rPr>
              <a:t>A = lead part-timer. B = new part-timer (Jan). Pool = 20, per session.</a:t>
            </a:r>
          </a:p>
        </p:txBody>
      </p:sp>
      <p:sp>
        <p:nvSpPr>
          <p:cNvPr id="10" name="Rounded Rectangle 9"/>
          <p:cNvSpPr/>
          <p:nvPr/>
        </p:nvSpPr>
        <p:spPr>
          <a:xfrm>
            <a:off x="7040880" y="3017520"/>
            <a:ext cx="228600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1E2A3A"/>
                </a:solidFill>
                <a:latin typeface="Georgia"/>
              </a:rPr>
              <a:t>74%</a:t>
            </a:r>
          </a:p>
          <a:p>
            <a:pPr algn="l">
              <a:spcAft>
                <a:spcPts val="200"/>
              </a:spcAft>
            </a:pPr>
            <a:r>
              <a:rPr sz="1000" b="0" i="0">
                <a:solidFill>
                  <a:srgbClr val="3D4F6A"/>
                </a:solidFill>
                <a:latin typeface="Arial"/>
              </a:rPr>
              <a:t>busiest load on the 2 part-timers (healthy: 60-80%)</a:t>
            </a:r>
          </a:p>
        </p:txBody>
      </p:sp>
      <p:sp>
        <p:nvSpPr>
          <p:cNvPr id="11" name="Rounded Rectangle 10"/>
          <p:cNvSpPr/>
          <p:nvPr/>
        </p:nvSpPr>
        <p:spPr>
          <a:xfrm>
            <a:off x="9464040" y="3017520"/>
            <a:ext cx="228600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9B3809"/>
                </a:solidFill>
                <a:latin typeface="Georgia"/>
              </a:rPr>
              <a:t>54</a:t>
            </a:r>
          </a:p>
          <a:p>
            <a:pPr algn="l">
              <a:spcAft>
                <a:spcPts val="200"/>
              </a:spcAft>
            </a:pPr>
            <a:r>
              <a:rPr sz="1000" b="0" i="0">
                <a:solidFill>
                  <a:srgbClr val="3D4F6A"/>
                </a:solidFill>
                <a:latin typeface="Arial"/>
              </a:rPr>
              <a:t>sessions a month at peak (B2C + EAP)</a:t>
            </a:r>
          </a:p>
        </p:txBody>
      </p:sp>
      <p:sp>
        <p:nvSpPr>
          <p:cNvPr id="12" name="Rounded Rectangle 11"/>
          <p:cNvSpPr/>
          <p:nvPr/>
        </p:nvSpPr>
        <p:spPr>
          <a:xfrm>
            <a:off x="7040880" y="4297680"/>
            <a:ext cx="4709160" cy="20116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400" b="1" i="0">
                <a:solidFill>
                  <a:srgbClr val="1E2A3A"/>
                </a:solidFill>
                <a:latin typeface="Georgia"/>
              </a:rPr>
              <a:t>Rules for good availability</a:t>
            </a:r>
          </a:p>
          <a:p>
            <a:pPr algn="l">
              <a:spcAft>
                <a:spcPts val="400"/>
              </a:spcAft>
            </a:pPr>
            <a:r>
              <a:rPr sz="1200" b="1" i="0">
                <a:solidFill>
                  <a:srgbClr val="9B3809"/>
                </a:solidFill>
                <a:latin typeface="Arial"/>
              </a:rPr>
              <a:t>•  </a:t>
            </a:r>
            <a:r>
              <a:rPr sz="1200" b="0" i="0">
                <a:solidFill>
                  <a:srgbClr val="3D4F6A"/>
                </a:solidFill>
                <a:latin typeface="Arial"/>
              </a:rPr>
              <a:t>Every new client gets a slot within 48 hours</a:t>
            </a:r>
          </a:p>
          <a:p>
            <a:pPr algn="l">
              <a:spcAft>
                <a:spcPts val="400"/>
              </a:spcAft>
            </a:pPr>
            <a:r>
              <a:rPr sz="1200" b="1" i="0">
                <a:solidFill>
                  <a:srgbClr val="9B3809"/>
                </a:solidFill>
                <a:latin typeface="Arial"/>
              </a:rPr>
              <a:t>•  </a:t>
            </a:r>
            <a:r>
              <a:rPr sz="1200" b="0" i="0">
                <a:solidFill>
                  <a:srgbClr val="3D4F6A"/>
                </a:solidFill>
                <a:latin typeface="Arial"/>
              </a:rPr>
              <a:t>WhatsApp reply within 1 hour; booking link open 24/7 on Theta</a:t>
            </a:r>
          </a:p>
          <a:p>
            <a:pPr algn="l">
              <a:spcAft>
                <a:spcPts val="400"/>
              </a:spcAft>
            </a:pPr>
            <a:r>
              <a:rPr sz="1200" b="1" i="0">
                <a:solidFill>
                  <a:srgbClr val="9B3809"/>
                </a:solidFill>
                <a:latin typeface="Arial"/>
              </a:rPr>
              <a:t>•  </a:t>
            </a:r>
            <a:r>
              <a:rPr sz="1200" b="0" i="0">
                <a:solidFill>
                  <a:srgbClr val="3D4F6A"/>
                </a:solidFill>
                <a:latin typeface="Arial"/>
              </a:rPr>
              <a:t>Each pool member opens at least 8 hours a month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Risks and </a:t>
            </a:r>
            <a:r>
              <a:rPr sz="2800" b="1" i="0">
                <a:solidFill>
                  <a:srgbClr val="9B3809"/>
                </a:solidFill>
                <a:latin typeface="Georgia"/>
              </a:rPr>
              <a:t>how we respond</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Ways to respond: reduce the risk, share it (for example insurance), accept it, or stop the activity.</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Chance and impact are our own judgement. Review this list every 3 months.</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37</a:t>
            </a:r>
          </a:p>
        </p:txBody>
      </p:sp>
      <p:graphicFrame>
        <p:nvGraphicFramePr>
          <p:cNvPr id="7" name="Table 6"/>
          <p:cNvGraphicFramePr>
            <a:graphicFrameLocks noGrp="1"/>
          </p:cNvGraphicFramePr>
          <p:nvPr/>
        </p:nvGraphicFramePr>
        <p:xfrm>
          <a:off x="457200" y="1371600"/>
          <a:ext cx="11247120" cy="4242816"/>
        </p:xfrm>
        <a:graphic>
          <a:graphicData uri="http://schemas.openxmlformats.org/drawingml/2006/table">
            <a:tbl>
              <a:tblPr firstRow="1" bandRow="1">
                <a:tableStyleId>{5C22544A-7EE6-4342-B048-85BDC9FD1C3A}</a:tableStyleId>
              </a:tblPr>
              <a:tblGrid>
                <a:gridCol w="2377440"/>
                <a:gridCol w="868680"/>
                <a:gridCol w="822960"/>
                <a:gridCol w="1234440"/>
                <a:gridCol w="3657600"/>
                <a:gridCol w="2286000"/>
              </a:tblGrid>
              <a:tr h="530352">
                <a:tc>
                  <a:txBody>
                    <a:bodyPr wrap="square"/>
                    <a:lstStyle/>
                    <a:p>
                      <a:r>
                        <a:rPr sz="1100" b="1">
                          <a:solidFill>
                            <a:srgbClr val="FFFFFF"/>
                          </a:solidFill>
                          <a:latin typeface="Arial"/>
                        </a:rPr>
                        <a:t>Risk</a:t>
                      </a:r>
                    </a:p>
                  </a:txBody>
                  <a:tcPr marL="73152" marR="73152" marT="27432" marB="27432" anchor="ctr">
                    <a:solidFill>
                      <a:srgbClr val="1E2A3A"/>
                    </a:solidFill>
                  </a:tcPr>
                </a:tc>
                <a:tc>
                  <a:txBody>
                    <a:bodyPr wrap="square"/>
                    <a:lstStyle/>
                    <a:p>
                      <a:r>
                        <a:rPr sz="1100" b="1">
                          <a:solidFill>
                            <a:srgbClr val="FFFFFF"/>
                          </a:solidFill>
                          <a:latin typeface="Arial"/>
                        </a:rPr>
                        <a:t>Chance</a:t>
                      </a:r>
                    </a:p>
                  </a:txBody>
                  <a:tcPr marL="73152" marR="73152" marT="27432" marB="27432" anchor="ctr">
                    <a:solidFill>
                      <a:srgbClr val="1E2A3A"/>
                    </a:solidFill>
                  </a:tcPr>
                </a:tc>
                <a:tc>
                  <a:txBody>
                    <a:bodyPr wrap="square"/>
                    <a:lstStyle/>
                    <a:p>
                      <a:r>
                        <a:rPr sz="1100" b="1">
                          <a:solidFill>
                            <a:srgbClr val="FFFFFF"/>
                          </a:solidFill>
                          <a:latin typeface="Arial"/>
                        </a:rPr>
                        <a:t>Impact</a:t>
                      </a:r>
                    </a:p>
                  </a:txBody>
                  <a:tcPr marL="73152" marR="73152" marT="27432" marB="27432" anchor="ctr">
                    <a:solidFill>
                      <a:srgbClr val="1E2A3A"/>
                    </a:solidFill>
                  </a:tcPr>
                </a:tc>
                <a:tc>
                  <a:txBody>
                    <a:bodyPr wrap="square"/>
                    <a:lstStyle/>
                    <a:p>
                      <a:r>
                        <a:rPr sz="1100" b="1">
                          <a:solidFill>
                            <a:srgbClr val="FFFFFF"/>
                          </a:solidFill>
                          <a:latin typeface="Arial"/>
                        </a:rPr>
                        <a:t>Response</a:t>
                      </a:r>
                    </a:p>
                  </a:txBody>
                  <a:tcPr marL="73152" marR="73152" marT="27432" marB="27432" anchor="ctr">
                    <a:solidFill>
                      <a:srgbClr val="1E2A3A"/>
                    </a:solidFill>
                  </a:tcPr>
                </a:tc>
                <a:tc>
                  <a:txBody>
                    <a:bodyPr wrap="square"/>
                    <a:lstStyle/>
                    <a:p>
                      <a:r>
                        <a:rPr sz="1100" b="1">
                          <a:solidFill>
                            <a:srgbClr val="FFFFFF"/>
                          </a:solidFill>
                          <a:latin typeface="Arial"/>
                        </a:rPr>
                        <a:t>Action</a:t>
                      </a:r>
                    </a:p>
                  </a:txBody>
                  <a:tcPr marL="73152" marR="73152" marT="27432" marB="27432" anchor="ctr">
                    <a:solidFill>
                      <a:srgbClr val="1E2A3A"/>
                    </a:solidFill>
                  </a:tcPr>
                </a:tc>
                <a:tc>
                  <a:txBody>
                    <a:bodyPr wrap="square"/>
                    <a:lstStyle/>
                    <a:p>
                      <a:r>
                        <a:rPr sz="1100" b="1">
                          <a:solidFill>
                            <a:srgbClr val="FFFFFF"/>
                          </a:solidFill>
                          <a:latin typeface="Arial"/>
                        </a:rPr>
                        <a:t>Who watches, and when to act</a:t>
                      </a:r>
                    </a:p>
                  </a:txBody>
                  <a:tcPr marL="73152" marR="73152" marT="27432" marB="27432" anchor="ctr">
                    <a:solidFill>
                      <a:srgbClr val="1E2A3A"/>
                    </a:solidFill>
                  </a:tcPr>
                </a:tc>
              </a:tr>
              <a:tr h="530352">
                <a:tc>
                  <a:txBody>
                    <a:bodyPr wrap="square"/>
                    <a:lstStyle/>
                    <a:p>
                      <a:r>
                        <a:rPr sz="1100" b="1">
                          <a:solidFill>
                            <a:srgbClr val="1E2A3A"/>
                          </a:solidFill>
                          <a:latin typeface="Arial"/>
                        </a:rPr>
                        <a:t>We start selling too late and miss budget windows</a:t>
                      </a:r>
                    </a:p>
                  </a:txBody>
                  <a:tcPr marL="73152" marR="73152" marT="27432" marB="27432" anchor="ctr">
                    <a:solidFill>
                      <a:srgbClr val="FFFFFF"/>
                    </a:solidFill>
                  </a:tcPr>
                </a:tc>
                <a:tc>
                  <a:txBody>
                    <a:bodyPr wrap="square"/>
                    <a:lstStyle/>
                    <a:p>
                      <a:r>
                        <a:rPr sz="1100" b="0">
                          <a:solidFill>
                            <a:srgbClr val="3D4F6A"/>
                          </a:solidFill>
                          <a:latin typeface="Arial"/>
                        </a:rPr>
                        <a:t>High</a:t>
                      </a:r>
                    </a:p>
                  </a:txBody>
                  <a:tcPr marL="73152" marR="73152" marT="27432" marB="27432" anchor="ctr">
                    <a:solidFill>
                      <a:srgbClr val="F7DDD2"/>
                    </a:solidFill>
                  </a:tcPr>
                </a:tc>
                <a:tc>
                  <a:txBody>
                    <a:bodyPr wrap="square"/>
                    <a:lstStyle/>
                    <a:p>
                      <a:r>
                        <a:rPr sz="1100" b="0">
                          <a:solidFill>
                            <a:srgbClr val="3D4F6A"/>
                          </a:solidFill>
                          <a:latin typeface="Arial"/>
                        </a:rPr>
                        <a:t>High</a:t>
                      </a:r>
                    </a:p>
                  </a:txBody>
                  <a:tcPr marL="73152" marR="73152" marT="27432" marB="27432" anchor="ctr">
                    <a:solidFill>
                      <a:srgbClr val="F7DDD2"/>
                    </a:solidFill>
                  </a:tcPr>
                </a:tc>
                <a:tc>
                  <a:txBody>
                    <a:bodyPr wrap="square"/>
                    <a:lstStyle/>
                    <a:p>
                      <a:r>
                        <a:rPr sz="1100" b="0">
                          <a:solidFill>
                            <a:srgbClr val="3D4F6A"/>
                          </a:solidFill>
                          <a:latin typeface="Arial"/>
                        </a:rPr>
                        <a:t>Reduce</a:t>
                      </a:r>
                    </a:p>
                  </a:txBody>
                  <a:tcPr marL="73152" marR="73152" marT="27432" marB="27432" anchor="ctr">
                    <a:solidFill>
                      <a:srgbClr val="FFFFFF"/>
                    </a:solidFill>
                  </a:tcPr>
                </a:tc>
                <a:tc>
                  <a:txBody>
                    <a:bodyPr wrap="square"/>
                    <a:lstStyle/>
                    <a:p>
                      <a:r>
                        <a:rPr sz="1100" b="0">
                          <a:solidFill>
                            <a:srgbClr val="3D4F6A"/>
                          </a:solidFill>
                          <a:latin typeface="Arial"/>
                        </a:rPr>
                        <a:t>Stop dates: BI proposal by 17 Oct; no EAP 2 by 15 Dec = delay the April pay step; no BI work order by 31 Jan = March slips</a:t>
                      </a:r>
                    </a:p>
                  </a:txBody>
                  <a:tcPr marL="73152" marR="73152" marT="27432" marB="27432" anchor="ctr">
                    <a:solidFill>
                      <a:srgbClr val="FFFFFF"/>
                    </a:solidFill>
                  </a:tcPr>
                </a:tc>
                <a:tc>
                  <a:txBody>
                    <a:bodyPr wrap="square"/>
                    <a:lstStyle/>
                    <a:p>
                      <a:r>
                        <a:rPr sz="1100" b="0">
                          <a:solidFill>
                            <a:srgbClr val="3D4F6A"/>
                          </a:solidFill>
                          <a:latin typeface="Arial"/>
                        </a:rPr>
                        <a:t>Kia and Galih; Roadmap sheet monthly</a:t>
                      </a:r>
                    </a:p>
                  </a:txBody>
                  <a:tcPr marL="73152" marR="73152" marT="27432" marB="27432" anchor="ctr">
                    <a:solidFill>
                      <a:srgbClr val="FFFFFF"/>
                    </a:solidFill>
                  </a:tcPr>
                </a:tc>
              </a:tr>
              <a:tr h="530352">
                <a:tc>
                  <a:txBody>
                    <a:bodyPr wrap="square"/>
                    <a:lstStyle/>
                    <a:p>
                      <a:r>
                        <a:rPr sz="1100" b="1">
                          <a:solidFill>
                            <a:srgbClr val="1E2A3A"/>
                          </a:solidFill>
                          <a:latin typeface="Arial"/>
                        </a:rPr>
                        <a:t>One project manager has too much work</a:t>
                      </a:r>
                    </a:p>
                  </a:txBody>
                  <a:tcPr marL="73152" marR="73152" marT="27432" marB="27432" anchor="ctr">
                    <a:solidFill>
                      <a:srgbClr val="F6F2EA"/>
                    </a:solidFill>
                  </a:tcPr>
                </a:tc>
                <a:tc>
                  <a:txBody>
                    <a:bodyPr wrap="square"/>
                    <a:lstStyle/>
                    <a:p>
                      <a:r>
                        <a:rPr sz="1100" b="0">
                          <a:solidFill>
                            <a:srgbClr val="3D4F6A"/>
                          </a:solidFill>
                          <a:latin typeface="Arial"/>
                        </a:rPr>
                        <a:t>High</a:t>
                      </a:r>
                    </a:p>
                  </a:txBody>
                  <a:tcPr marL="73152" marR="73152" marT="27432" marB="27432" anchor="ctr">
                    <a:solidFill>
                      <a:srgbClr val="F7DDD2"/>
                    </a:solidFill>
                  </a:tcPr>
                </a:tc>
                <a:tc>
                  <a:txBody>
                    <a:bodyPr wrap="square"/>
                    <a:lstStyle/>
                    <a:p>
                      <a:r>
                        <a:rPr sz="1100" b="0">
                          <a:solidFill>
                            <a:srgbClr val="3D4F6A"/>
                          </a:solidFill>
                          <a:latin typeface="Arial"/>
                        </a:rPr>
                        <a:t>High</a:t>
                      </a:r>
                    </a:p>
                  </a:txBody>
                  <a:tcPr marL="73152" marR="73152" marT="27432" marB="27432" anchor="ctr">
                    <a:solidFill>
                      <a:srgbClr val="F7DDD2"/>
                    </a:solidFill>
                  </a:tcPr>
                </a:tc>
                <a:tc>
                  <a:txBody>
                    <a:bodyPr wrap="square"/>
                    <a:lstStyle/>
                    <a:p>
                      <a:r>
                        <a:rPr sz="1100" b="0">
                          <a:solidFill>
                            <a:srgbClr val="3D4F6A"/>
                          </a:solidFill>
                          <a:latin typeface="Arial"/>
                        </a:rPr>
                        <a:t>Reduce</a:t>
                      </a:r>
                    </a:p>
                  </a:txBody>
                  <a:tcPr marL="73152" marR="73152" marT="27432" marB="27432" anchor="ctr">
                    <a:solidFill>
                      <a:srgbClr val="F6F2EA"/>
                    </a:solidFill>
                  </a:tcPr>
                </a:tc>
                <a:tc>
                  <a:txBody>
                    <a:bodyPr wrap="square"/>
                    <a:lstStyle/>
                    <a:p>
                      <a:r>
                        <a:rPr sz="1100" b="0">
                          <a:solidFill>
                            <a:srgbClr val="3D4F6A"/>
                          </a:solidFill>
                          <a:latin typeface="Arial"/>
                        </a:rPr>
                        <a:t>Standby project manager, Rp2M a project, booked by May (slide 23)</a:t>
                      </a:r>
                    </a:p>
                  </a:txBody>
                  <a:tcPr marL="73152" marR="73152" marT="27432" marB="27432" anchor="ctr">
                    <a:solidFill>
                      <a:srgbClr val="F6F2EA"/>
                    </a:solidFill>
                  </a:tcPr>
                </a:tc>
                <a:tc>
                  <a:txBody>
                    <a:bodyPr wrap="square"/>
                    <a:lstStyle/>
                    <a:p>
                      <a:r>
                        <a:rPr sz="1100" b="0">
                          <a:solidFill>
                            <a:srgbClr val="3D4F6A"/>
                          </a:solidFill>
                          <a:latin typeface="Arial"/>
                        </a:rPr>
                        <a:t>Kia; 3 or more projects in a month</a:t>
                      </a:r>
                    </a:p>
                  </a:txBody>
                  <a:tcPr marL="73152" marR="73152" marT="27432" marB="27432" anchor="ctr">
                    <a:solidFill>
                      <a:srgbClr val="F6F2EA"/>
                    </a:solidFill>
                  </a:tcPr>
                </a:tc>
              </a:tr>
              <a:tr h="530352">
                <a:tc>
                  <a:txBody>
                    <a:bodyPr wrap="square"/>
                    <a:lstStyle/>
                    <a:p>
                      <a:r>
                        <a:rPr sz="1100" b="1">
                          <a:solidFill>
                            <a:srgbClr val="1E2A3A"/>
                          </a:solidFill>
                          <a:latin typeface="Arial"/>
                        </a:rPr>
                        <a:t>A certified trainer leaves</a:t>
                      </a:r>
                    </a:p>
                  </a:txBody>
                  <a:tcPr marL="73152" marR="73152" marT="27432" marB="27432" anchor="ctr">
                    <a:solidFill>
                      <a:srgbClr val="FFFFFF"/>
                    </a:solidFill>
                  </a:tcPr>
                </a:tc>
                <a:tc>
                  <a:txBody>
                    <a:bodyPr wrap="square"/>
                    <a:lstStyle/>
                    <a:p>
                      <a:r>
                        <a:rPr sz="1100" b="0">
                          <a:solidFill>
                            <a:srgbClr val="3D4F6A"/>
                          </a:solidFill>
                          <a:latin typeface="Arial"/>
                        </a:rPr>
                        <a:t>Medium</a:t>
                      </a:r>
                    </a:p>
                  </a:txBody>
                  <a:tcPr marL="73152" marR="73152" marT="27432" marB="27432" anchor="ctr">
                    <a:solidFill>
                      <a:srgbClr val="FFFFFF"/>
                    </a:solidFill>
                  </a:tcPr>
                </a:tc>
                <a:tc>
                  <a:txBody>
                    <a:bodyPr wrap="square"/>
                    <a:lstStyle/>
                    <a:p>
                      <a:r>
                        <a:rPr sz="1100" b="0">
                          <a:solidFill>
                            <a:srgbClr val="3D4F6A"/>
                          </a:solidFill>
                          <a:latin typeface="Arial"/>
                        </a:rPr>
                        <a:t>High</a:t>
                      </a:r>
                    </a:p>
                  </a:txBody>
                  <a:tcPr marL="73152" marR="73152" marT="27432" marB="27432" anchor="ctr">
                    <a:solidFill>
                      <a:srgbClr val="FFFFFF"/>
                    </a:solidFill>
                  </a:tcPr>
                </a:tc>
                <a:tc>
                  <a:txBody>
                    <a:bodyPr wrap="square"/>
                    <a:lstStyle/>
                    <a:p>
                      <a:r>
                        <a:rPr sz="1100" b="0">
                          <a:solidFill>
                            <a:srgbClr val="3D4F6A"/>
                          </a:solidFill>
                          <a:latin typeface="Arial"/>
                        </a:rPr>
                        <a:t>Reduce</a:t>
                      </a:r>
                    </a:p>
                  </a:txBody>
                  <a:tcPr marL="73152" marR="73152" marT="27432" marB="27432" anchor="ctr">
                    <a:solidFill>
                      <a:srgbClr val="FFFFFF"/>
                    </a:solidFill>
                  </a:tcPr>
                </a:tc>
                <a:tc>
                  <a:txBody>
                    <a:bodyPr wrap="square"/>
                    <a:lstStyle/>
                    <a:p>
                      <a:r>
                        <a:rPr sz="1100" b="0">
                          <a:solidFill>
                            <a:srgbClr val="3D4F6A"/>
                          </a:solidFill>
                          <a:latin typeface="Arial"/>
                        </a:rPr>
                        <a:t>Yearly agreement; trainer repays training cost; train up to 8</a:t>
                      </a:r>
                    </a:p>
                  </a:txBody>
                  <a:tcPr marL="73152" marR="73152" marT="27432" marB="27432" anchor="ctr">
                    <a:solidFill>
                      <a:srgbClr val="FFFFFF"/>
                    </a:solidFill>
                  </a:tcPr>
                </a:tc>
                <a:tc>
                  <a:txBody>
                    <a:bodyPr wrap="square"/>
                    <a:lstStyle/>
                    <a:p>
                      <a:r>
                        <a:rPr sz="1100" b="0">
                          <a:solidFill>
                            <a:srgbClr val="3D4F6A"/>
                          </a:solidFill>
                          <a:latin typeface="Arial"/>
                        </a:rPr>
                        <a:t>Galih; fewer trainers than the busiest month needs + 1</a:t>
                      </a:r>
                    </a:p>
                  </a:txBody>
                  <a:tcPr marL="73152" marR="73152" marT="27432" marB="27432" anchor="ctr">
                    <a:solidFill>
                      <a:srgbClr val="FFFFFF"/>
                    </a:solidFill>
                  </a:tcPr>
                </a:tc>
              </a:tr>
              <a:tr h="530352">
                <a:tc>
                  <a:txBody>
                    <a:bodyPr wrap="square"/>
                    <a:lstStyle/>
                    <a:p>
                      <a:r>
                        <a:rPr sz="1100" b="1">
                          <a:solidFill>
                            <a:srgbClr val="1E2A3A"/>
                          </a:solidFill>
                          <a:latin typeface="Arial"/>
                        </a:rPr>
                        <a:t>A client hires our trainer directly</a:t>
                      </a:r>
                    </a:p>
                  </a:txBody>
                  <a:tcPr marL="73152" marR="73152" marT="27432" marB="27432" anchor="ctr">
                    <a:solidFill>
                      <a:srgbClr val="F6F2EA"/>
                    </a:solidFill>
                  </a:tcPr>
                </a:tc>
                <a:tc>
                  <a:txBody>
                    <a:bodyPr wrap="square"/>
                    <a:lstStyle/>
                    <a:p>
                      <a:r>
                        <a:rPr sz="1100" b="0">
                          <a:solidFill>
                            <a:srgbClr val="3D4F6A"/>
                          </a:solidFill>
                          <a:latin typeface="Arial"/>
                        </a:rPr>
                        <a:t>Medium</a:t>
                      </a:r>
                    </a:p>
                  </a:txBody>
                  <a:tcPr marL="73152" marR="73152" marT="27432" marB="27432" anchor="ctr">
                    <a:solidFill>
                      <a:srgbClr val="F6F2EA"/>
                    </a:solidFill>
                  </a:tcPr>
                </a:tc>
                <a:tc>
                  <a:txBody>
                    <a:bodyPr wrap="square"/>
                    <a:lstStyle/>
                    <a:p>
                      <a:r>
                        <a:rPr sz="1100" b="0">
                          <a:solidFill>
                            <a:srgbClr val="3D4F6A"/>
                          </a:solidFill>
                          <a:latin typeface="Arial"/>
                        </a:rPr>
                        <a:t>Medium</a:t>
                      </a:r>
                    </a:p>
                  </a:txBody>
                  <a:tcPr marL="73152" marR="73152" marT="27432" marB="27432" anchor="ctr">
                    <a:solidFill>
                      <a:srgbClr val="F6F2EA"/>
                    </a:solidFill>
                  </a:tcPr>
                </a:tc>
                <a:tc>
                  <a:txBody>
                    <a:bodyPr wrap="square"/>
                    <a:lstStyle/>
                    <a:p>
                      <a:r>
                        <a:rPr sz="1100" b="0">
                          <a:solidFill>
                            <a:srgbClr val="3D4F6A"/>
                          </a:solidFill>
                          <a:latin typeface="Arial"/>
                        </a:rPr>
                        <a:t>Reduce</a:t>
                      </a:r>
                    </a:p>
                  </a:txBody>
                  <a:tcPr marL="73152" marR="73152" marT="27432" marB="27432" anchor="ctr">
                    <a:solidFill>
                      <a:srgbClr val="F6F2EA"/>
                    </a:solidFill>
                  </a:tcPr>
                </a:tc>
                <a:tc>
                  <a:txBody>
                    <a:bodyPr wrap="square"/>
                    <a:lstStyle/>
                    <a:p>
                      <a:r>
                        <a:rPr sz="1100" b="0">
                          <a:solidFill>
                            <a:srgbClr val="3D4F6A"/>
                          </a:solidFill>
                          <a:latin typeface="Arial"/>
                        </a:rPr>
                        <a:t>No direct work with our clients for 12 months; we own the material</a:t>
                      </a:r>
                    </a:p>
                  </a:txBody>
                  <a:tcPr marL="73152" marR="73152" marT="27432" marB="27432" anchor="ctr">
                    <a:solidFill>
                      <a:srgbClr val="F6F2EA"/>
                    </a:solidFill>
                  </a:tcPr>
                </a:tc>
                <a:tc>
                  <a:txBody>
                    <a:bodyPr wrap="square"/>
                    <a:lstStyle/>
                    <a:p>
                      <a:r>
                        <a:rPr sz="1100" b="0">
                          <a:solidFill>
                            <a:srgbClr val="3D4F6A"/>
                          </a:solidFill>
                          <a:latin typeface="Arial"/>
                        </a:rPr>
                        <a:t>Co-founder; any direct approach</a:t>
                      </a:r>
                    </a:p>
                  </a:txBody>
                  <a:tcPr marL="73152" marR="73152" marT="27432" marB="27432" anchor="ctr">
                    <a:solidFill>
                      <a:srgbClr val="F6F2EA"/>
                    </a:solidFill>
                  </a:tcPr>
                </a:tc>
              </a:tr>
              <a:tr h="530352">
                <a:tc>
                  <a:txBody>
                    <a:bodyPr wrap="square"/>
                    <a:lstStyle/>
                    <a:p>
                      <a:r>
                        <a:rPr sz="1100" b="1">
                          <a:solidFill>
                            <a:srgbClr val="1E2A3A"/>
                          </a:solidFill>
                          <a:latin typeface="Arial"/>
                        </a:rPr>
                        <a:t>A clinical or ethics problem</a:t>
                      </a:r>
                    </a:p>
                  </a:txBody>
                  <a:tcPr marL="73152" marR="73152" marT="27432" marB="27432" anchor="ctr">
                    <a:solidFill>
                      <a:srgbClr val="FFFFFF"/>
                    </a:solidFill>
                  </a:tcPr>
                </a:tc>
                <a:tc>
                  <a:txBody>
                    <a:bodyPr wrap="square"/>
                    <a:lstStyle/>
                    <a:p>
                      <a:r>
                        <a:rPr sz="1100" b="0">
                          <a:solidFill>
                            <a:srgbClr val="3D4F6A"/>
                          </a:solidFill>
                          <a:latin typeface="Arial"/>
                        </a:rPr>
                        <a:t>Low</a:t>
                      </a:r>
                    </a:p>
                  </a:txBody>
                  <a:tcPr marL="73152" marR="73152" marT="27432" marB="27432" anchor="ctr">
                    <a:solidFill>
                      <a:srgbClr val="FFFFFF"/>
                    </a:solidFill>
                  </a:tcPr>
                </a:tc>
                <a:tc>
                  <a:txBody>
                    <a:bodyPr wrap="square"/>
                    <a:lstStyle/>
                    <a:p>
                      <a:r>
                        <a:rPr sz="1100" b="0">
                          <a:solidFill>
                            <a:srgbClr val="3D4F6A"/>
                          </a:solidFill>
                          <a:latin typeface="Arial"/>
                        </a:rPr>
                        <a:t>High</a:t>
                      </a:r>
                    </a:p>
                  </a:txBody>
                  <a:tcPr marL="73152" marR="73152" marT="27432" marB="27432" anchor="ctr">
                    <a:solidFill>
                      <a:srgbClr val="FFFFFF"/>
                    </a:solidFill>
                  </a:tcPr>
                </a:tc>
                <a:tc>
                  <a:txBody>
                    <a:bodyPr wrap="square"/>
                    <a:lstStyle/>
                    <a:p>
                      <a:r>
                        <a:rPr sz="1100" b="0">
                          <a:solidFill>
                            <a:srgbClr val="3D4F6A"/>
                          </a:solidFill>
                          <a:latin typeface="Arial"/>
                        </a:rPr>
                        <a:t>Share + reduce</a:t>
                      </a:r>
                    </a:p>
                  </a:txBody>
                  <a:tcPr marL="73152" marR="73152" marT="27432" marB="27432" anchor="ctr">
                    <a:solidFill>
                      <a:srgbClr val="FFFFFF"/>
                    </a:solidFill>
                  </a:tcPr>
                </a:tc>
                <a:tc>
                  <a:txBody>
                    <a:bodyPr wrap="square"/>
                    <a:lstStyle/>
                    <a:p>
                      <a:r>
                        <a:rPr sz="1100" b="0">
                          <a:solidFill>
                            <a:srgbClr val="3D4F6A"/>
                          </a:solidFill>
                          <a:latin typeface="Arial"/>
                        </a:rPr>
                        <a:t>Insurance; senior supervision; clear steps to escalate</a:t>
                      </a:r>
                    </a:p>
                  </a:txBody>
                  <a:tcPr marL="73152" marR="73152" marT="27432" marB="27432" anchor="ctr">
                    <a:solidFill>
                      <a:srgbClr val="FFFFFF"/>
                    </a:solidFill>
                  </a:tcPr>
                </a:tc>
                <a:tc>
                  <a:txBody>
                    <a:bodyPr wrap="square"/>
                    <a:lstStyle/>
                    <a:p>
                      <a:r>
                        <a:rPr sz="1100" b="0">
                          <a:solidFill>
                            <a:srgbClr val="3D4F6A"/>
                          </a:solidFill>
                          <a:latin typeface="Arial"/>
                        </a:rPr>
                        <a:t>Lead psychologist; any case</a:t>
                      </a:r>
                    </a:p>
                  </a:txBody>
                  <a:tcPr marL="73152" marR="73152" marT="27432" marB="27432" anchor="ctr">
                    <a:solidFill>
                      <a:srgbClr val="FFFFFF"/>
                    </a:solidFill>
                  </a:tcPr>
                </a:tc>
              </a:tr>
              <a:tr h="530352">
                <a:tc>
                  <a:txBody>
                    <a:bodyPr wrap="square"/>
                    <a:lstStyle/>
                    <a:p>
                      <a:r>
                        <a:rPr sz="1100" b="1">
                          <a:solidFill>
                            <a:srgbClr val="1E2A3A"/>
                          </a:solidFill>
                          <a:latin typeface="Arial"/>
                        </a:rPr>
                        <a:t>Staff data leaks (EAP, Theta)</a:t>
                      </a:r>
                    </a:p>
                  </a:txBody>
                  <a:tcPr marL="73152" marR="73152" marT="27432" marB="27432" anchor="ctr">
                    <a:solidFill>
                      <a:srgbClr val="F6F2EA"/>
                    </a:solidFill>
                  </a:tcPr>
                </a:tc>
                <a:tc>
                  <a:txBody>
                    <a:bodyPr wrap="square"/>
                    <a:lstStyle/>
                    <a:p>
                      <a:r>
                        <a:rPr sz="1100" b="0">
                          <a:solidFill>
                            <a:srgbClr val="3D4F6A"/>
                          </a:solidFill>
                          <a:latin typeface="Arial"/>
                        </a:rPr>
                        <a:t>Low</a:t>
                      </a:r>
                    </a:p>
                  </a:txBody>
                  <a:tcPr marL="73152" marR="73152" marT="27432" marB="27432" anchor="ctr">
                    <a:solidFill>
                      <a:srgbClr val="F6F2EA"/>
                    </a:solidFill>
                  </a:tcPr>
                </a:tc>
                <a:tc>
                  <a:txBody>
                    <a:bodyPr wrap="square"/>
                    <a:lstStyle/>
                    <a:p>
                      <a:r>
                        <a:rPr sz="1100" b="0">
                          <a:solidFill>
                            <a:srgbClr val="3D4F6A"/>
                          </a:solidFill>
                          <a:latin typeface="Arial"/>
                        </a:rPr>
                        <a:t>High</a:t>
                      </a:r>
                    </a:p>
                  </a:txBody>
                  <a:tcPr marL="73152" marR="73152" marT="27432" marB="27432" anchor="ctr">
                    <a:solidFill>
                      <a:srgbClr val="F6F2EA"/>
                    </a:solidFill>
                  </a:tcPr>
                </a:tc>
                <a:tc>
                  <a:txBody>
                    <a:bodyPr wrap="square"/>
                    <a:lstStyle/>
                    <a:p>
                      <a:r>
                        <a:rPr sz="1100" b="0">
                          <a:solidFill>
                            <a:srgbClr val="3D4F6A"/>
                          </a:solidFill>
                          <a:latin typeface="Arial"/>
                        </a:rPr>
                        <a:t>Reduce</a:t>
                      </a:r>
                    </a:p>
                  </a:txBody>
                  <a:tcPr marL="73152" marR="73152" marT="27432" marB="27432" anchor="ctr">
                    <a:solidFill>
                      <a:srgbClr val="F6F2EA"/>
                    </a:solidFill>
                  </a:tcPr>
                </a:tc>
                <a:tc>
                  <a:txBody>
                    <a:bodyPr wrap="square"/>
                    <a:lstStyle/>
                    <a:p>
                      <a:r>
                        <a:rPr sz="1100" b="0">
                          <a:solidFill>
                            <a:srgbClr val="3D4F6A"/>
                          </a:solidFill>
                          <a:latin typeface="Arial"/>
                        </a:rPr>
                        <a:t>Consent, access control, data agreement (data protection law)</a:t>
                      </a:r>
                    </a:p>
                  </a:txBody>
                  <a:tcPr marL="73152" marR="73152" marT="27432" marB="27432" anchor="ctr">
                    <a:solidFill>
                      <a:srgbClr val="F6F2EA"/>
                    </a:solidFill>
                  </a:tcPr>
                </a:tc>
                <a:tc>
                  <a:txBody>
                    <a:bodyPr wrap="square"/>
                    <a:lstStyle/>
                    <a:p>
                      <a:r>
                        <a:rPr sz="1100" b="0">
                          <a:solidFill>
                            <a:srgbClr val="3D4F6A"/>
                          </a:solidFill>
                          <a:latin typeface="Arial"/>
                        </a:rPr>
                        <a:t>CTO; check every 3 months</a:t>
                      </a:r>
                    </a:p>
                  </a:txBody>
                  <a:tcPr marL="73152" marR="73152" marT="27432" marB="27432" anchor="ctr">
                    <a:solidFill>
                      <a:srgbClr val="F6F2EA"/>
                    </a:solidFill>
                  </a:tcPr>
                </a:tc>
              </a:tr>
              <a:tr h="530352">
                <a:tc>
                  <a:txBody>
                    <a:bodyPr wrap="square"/>
                    <a:lstStyle/>
                    <a:p>
                      <a:r>
                        <a:rPr sz="1100" b="1">
                          <a:solidFill>
                            <a:srgbClr val="1E2A3A"/>
                          </a:solidFill>
                          <a:latin typeface="Arial"/>
                        </a:rPr>
                        <a:t>BI cuts its budget</a:t>
                      </a:r>
                    </a:p>
                  </a:txBody>
                  <a:tcPr marL="73152" marR="73152" marT="27432" marB="27432" anchor="ctr">
                    <a:solidFill>
                      <a:srgbClr val="FFFFFF"/>
                    </a:solidFill>
                  </a:tcPr>
                </a:tc>
                <a:tc>
                  <a:txBody>
                    <a:bodyPr wrap="square"/>
                    <a:lstStyle/>
                    <a:p>
                      <a:r>
                        <a:rPr sz="1100" b="0">
                          <a:solidFill>
                            <a:srgbClr val="3D4F6A"/>
                          </a:solidFill>
                          <a:latin typeface="Arial"/>
                        </a:rPr>
                        <a:t>Medium</a:t>
                      </a:r>
                    </a:p>
                  </a:txBody>
                  <a:tcPr marL="73152" marR="73152" marT="27432" marB="27432" anchor="ctr">
                    <a:solidFill>
                      <a:srgbClr val="FFFFFF"/>
                    </a:solidFill>
                  </a:tcPr>
                </a:tc>
                <a:tc>
                  <a:txBody>
                    <a:bodyPr wrap="square"/>
                    <a:lstStyle/>
                    <a:p>
                      <a:r>
                        <a:rPr sz="1100" b="0">
                          <a:solidFill>
                            <a:srgbClr val="3D4F6A"/>
                          </a:solidFill>
                          <a:latin typeface="Arial"/>
                        </a:rPr>
                        <a:t>High</a:t>
                      </a:r>
                    </a:p>
                  </a:txBody>
                  <a:tcPr marL="73152" marR="73152" marT="27432" marB="27432" anchor="ctr">
                    <a:solidFill>
                      <a:srgbClr val="FFFFFF"/>
                    </a:solidFill>
                  </a:tcPr>
                </a:tc>
                <a:tc>
                  <a:txBody>
                    <a:bodyPr wrap="square"/>
                    <a:lstStyle/>
                    <a:p>
                      <a:r>
                        <a:rPr sz="1100" b="0">
                          <a:solidFill>
                            <a:srgbClr val="3D4F6A"/>
                          </a:solidFill>
                          <a:latin typeface="Arial"/>
                        </a:rPr>
                        <a:t>Reduce</a:t>
                      </a:r>
                    </a:p>
                  </a:txBody>
                  <a:tcPr marL="73152" marR="73152" marT="27432" marB="27432" anchor="ctr">
                    <a:solidFill>
                      <a:srgbClr val="FFFFFF"/>
                    </a:solidFill>
                  </a:tcPr>
                </a:tc>
                <a:tc>
                  <a:txBody>
                    <a:bodyPr wrap="square"/>
                    <a:lstStyle/>
                    <a:p>
                      <a:r>
                        <a:rPr sz="1100" b="0">
                          <a:solidFill>
                            <a:srgbClr val="3D4F6A"/>
                          </a:solidFill>
                          <a:latin typeface="Arial"/>
                        </a:rPr>
                        <a:t>Grow EAP and banks: BI share of sales from 61% to 38%</a:t>
                      </a:r>
                    </a:p>
                  </a:txBody>
                  <a:tcPr marL="73152" marR="73152" marT="27432" marB="27432" anchor="ctr">
                    <a:solidFill>
                      <a:srgbClr val="FFFFFF"/>
                    </a:solidFill>
                  </a:tcPr>
                </a:tc>
                <a:tc>
                  <a:txBody>
                    <a:bodyPr wrap="square"/>
                    <a:lstStyle/>
                    <a:p>
                      <a:r>
                        <a:rPr sz="1100" b="0">
                          <a:solidFill>
                            <a:srgbClr val="3D4F6A"/>
                          </a:solidFill>
                          <a:latin typeface="Arial"/>
                        </a:rPr>
                        <a:t>Kia; BI below plan for 2 months</a:t>
                      </a:r>
                    </a:p>
                  </a:txBody>
                  <a:tcPr marL="73152" marR="73152" marT="27432" marB="27432" anchor="ctr">
                    <a:solidFill>
                      <a:srgbClr val="FFFFFF"/>
                    </a:solidFill>
                  </a:tcPr>
                </a:tc>
              </a:tr>
            </a:tbl>
          </a:graphicData>
        </a:graphic>
      </p:graphicFrame>
      <p:sp>
        <p:nvSpPr>
          <p:cNvPr id="8" name="Rounded Rectangle 7"/>
          <p:cNvSpPr/>
          <p:nvPr/>
        </p:nvSpPr>
        <p:spPr>
          <a:xfrm>
            <a:off x="457200" y="5760720"/>
            <a:ext cx="11247120" cy="5486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Conservative estimate: </a:t>
            </a:r>
            <a:r>
              <a:rPr sz="1200" b="0" i="0">
                <a:solidFill>
                  <a:srgbClr val="3D4F6A"/>
                </a:solidFill>
                <a:latin typeface="Arial"/>
              </a:rPr>
              <a:t>BI buys 30% less and no bank deal. Margin 16.6%, lowest cash Rp67M. If BI falls below plan, do not start the July steps.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
            </a:r>
            <a:r>
              <a:rPr sz="2800" b="1" i="0">
                <a:solidFill>
                  <a:srgbClr val="9B3809"/>
                </a:solidFill>
                <a:latin typeface="Georgia"/>
              </a:rPr>
              <a:t>Word list</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The business words in this deck, in simple terms.</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Example numbers use one EAP contract: the client pays Rp15M a month and the work costs us Rp5M.</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38</a:t>
            </a:r>
          </a:p>
        </p:txBody>
      </p:sp>
      <p:graphicFrame>
        <p:nvGraphicFramePr>
          <p:cNvPr id="7" name="Table 6"/>
          <p:cNvGraphicFramePr>
            <a:graphicFrameLocks noGrp="1"/>
          </p:cNvGraphicFramePr>
          <p:nvPr/>
        </p:nvGraphicFramePr>
        <p:xfrm>
          <a:off x="457200" y="1371600"/>
          <a:ext cx="5486399" cy="4754880"/>
        </p:xfrm>
        <a:graphic>
          <a:graphicData uri="http://schemas.openxmlformats.org/drawingml/2006/table">
            <a:tbl>
              <a:tblPr firstRow="1" bandRow="1">
                <a:tableStyleId>{5C22544A-7EE6-4342-B048-85BDC9FD1C3A}</a:tableStyleId>
              </a:tblPr>
              <a:tblGrid>
                <a:gridCol w="1737360"/>
                <a:gridCol w="3749039"/>
              </a:tblGrid>
              <a:tr h="475488">
                <a:tc>
                  <a:txBody>
                    <a:bodyPr wrap="square"/>
                    <a:lstStyle/>
                    <a:p>
                      <a:r>
                        <a:rPr sz="1200" b="1">
                          <a:solidFill>
                            <a:srgbClr val="FFFFFF"/>
                          </a:solidFill>
                          <a:latin typeface="Arial"/>
                        </a:rPr>
                        <a:t>Word</a:t>
                      </a:r>
                    </a:p>
                  </a:txBody>
                  <a:tcPr marL="73152" marR="73152" marT="27432" marB="27432" anchor="ctr">
                    <a:solidFill>
                      <a:srgbClr val="1E2A3A"/>
                    </a:solidFill>
                  </a:tcPr>
                </a:tc>
                <a:tc>
                  <a:txBody>
                    <a:bodyPr wrap="square"/>
                    <a:lstStyle/>
                    <a:p>
                      <a:r>
                        <a:rPr sz="1200" b="1">
                          <a:solidFill>
                            <a:srgbClr val="FFFFFF"/>
                          </a:solidFill>
                          <a:latin typeface="Arial"/>
                        </a:rPr>
                        <a:t>What it means</a:t>
                      </a:r>
                    </a:p>
                  </a:txBody>
                  <a:tcPr marL="73152" marR="73152" marT="27432" marB="27432" anchor="ctr">
                    <a:solidFill>
                      <a:srgbClr val="1E2A3A"/>
                    </a:solidFill>
                  </a:tcPr>
                </a:tc>
              </a:tr>
              <a:tr h="475488">
                <a:tc>
                  <a:txBody>
                    <a:bodyPr wrap="square"/>
                    <a:lstStyle/>
                    <a:p>
                      <a:r>
                        <a:rPr sz="1200" b="1">
                          <a:solidFill>
                            <a:srgbClr val="1E2A3A"/>
                          </a:solidFill>
                          <a:latin typeface="Arial"/>
                        </a:rPr>
                        <a:t>Sales (revenue)</a:t>
                      </a:r>
                    </a:p>
                  </a:txBody>
                  <a:tcPr marL="73152" marR="73152" marT="27432" marB="27432" anchor="ctr">
                    <a:solidFill>
                      <a:srgbClr val="FFFFFF"/>
                    </a:solidFill>
                  </a:tcPr>
                </a:tc>
                <a:tc>
                  <a:txBody>
                    <a:bodyPr wrap="square"/>
                    <a:lstStyle/>
                    <a:p>
                      <a:r>
                        <a:rPr sz="1200" b="0">
                          <a:solidFill>
                            <a:srgbClr val="3D4F6A"/>
                          </a:solidFill>
                          <a:latin typeface="Arial"/>
                        </a:rPr>
                        <a:t>All the money clients pay us</a:t>
                      </a:r>
                    </a:p>
                  </a:txBody>
                  <a:tcPr marL="73152" marR="73152" marT="27432" marB="27432" anchor="ctr">
                    <a:solidFill>
                      <a:srgbClr val="FFFFFF"/>
                    </a:solidFill>
                  </a:tcPr>
                </a:tc>
              </a:tr>
              <a:tr h="475488">
                <a:tc>
                  <a:txBody>
                    <a:bodyPr wrap="square"/>
                    <a:lstStyle/>
                    <a:p>
                      <a:r>
                        <a:rPr sz="1200" b="1">
                          <a:solidFill>
                            <a:srgbClr val="1E2A3A"/>
                          </a:solidFill>
                          <a:latin typeface="Arial"/>
                        </a:rPr>
                        <a:t>Delivery cost</a:t>
                      </a:r>
                    </a:p>
                  </a:txBody>
                  <a:tcPr marL="73152" marR="73152" marT="27432" marB="27432" anchor="ctr">
                    <a:solidFill>
                      <a:srgbClr val="F6F2EA"/>
                    </a:solidFill>
                  </a:tcPr>
                </a:tc>
                <a:tc>
                  <a:txBody>
                    <a:bodyPr wrap="square"/>
                    <a:lstStyle/>
                    <a:p>
                      <a:r>
                        <a:rPr sz="1200" b="0">
                          <a:solidFill>
                            <a:srgbClr val="3D4F6A"/>
                          </a:solidFill>
                          <a:latin typeface="Arial"/>
                        </a:rPr>
                        <a:t>What one job costs us: psychologist and trainer fees, materials</a:t>
                      </a:r>
                    </a:p>
                  </a:txBody>
                  <a:tcPr marL="73152" marR="73152" marT="27432" marB="27432" anchor="ctr">
                    <a:solidFill>
                      <a:srgbClr val="F6F2EA"/>
                    </a:solidFill>
                  </a:tcPr>
                </a:tc>
              </a:tr>
              <a:tr h="475488">
                <a:tc>
                  <a:txBody>
                    <a:bodyPr wrap="square"/>
                    <a:lstStyle/>
                    <a:p>
                      <a:r>
                        <a:rPr sz="1200" b="1">
                          <a:solidFill>
                            <a:srgbClr val="1E2A3A"/>
                          </a:solidFill>
                          <a:latin typeface="Arial"/>
                        </a:rPr>
                        <a:t>Gross profit</a:t>
                      </a:r>
                    </a:p>
                  </a:txBody>
                  <a:tcPr marL="73152" marR="73152" marT="27432" marB="27432" anchor="ctr">
                    <a:solidFill>
                      <a:srgbClr val="FFFFFF"/>
                    </a:solidFill>
                  </a:tcPr>
                </a:tc>
                <a:tc>
                  <a:txBody>
                    <a:bodyPr wrap="square"/>
                    <a:lstStyle/>
                    <a:p>
                      <a:r>
                        <a:rPr sz="1200" b="0">
                          <a:solidFill>
                            <a:srgbClr val="3D4F6A"/>
                          </a:solidFill>
                          <a:latin typeface="Arial"/>
                        </a:rPr>
                        <a:t>Sales minus delivery cost. One EAP contract: 15 - 5 = Rp10M a month</a:t>
                      </a:r>
                    </a:p>
                  </a:txBody>
                  <a:tcPr marL="73152" marR="73152" marT="27432" marB="27432" anchor="ctr">
                    <a:solidFill>
                      <a:srgbClr val="FFFFFF"/>
                    </a:solidFill>
                  </a:tcPr>
                </a:tc>
              </a:tr>
              <a:tr h="475488">
                <a:tc>
                  <a:txBody>
                    <a:bodyPr wrap="square"/>
                    <a:lstStyle/>
                    <a:p>
                      <a:r>
                        <a:rPr sz="1200" b="1">
                          <a:solidFill>
                            <a:srgbClr val="1E2A3A"/>
                          </a:solidFill>
                          <a:latin typeface="Arial"/>
                        </a:rPr>
                        <a:t>Fixed cost</a:t>
                      </a:r>
                    </a:p>
                  </a:txBody>
                  <a:tcPr marL="73152" marR="73152" marT="27432" marB="27432" anchor="ctr">
                    <a:solidFill>
                      <a:srgbClr val="F6F2EA"/>
                    </a:solidFill>
                  </a:tcPr>
                </a:tc>
                <a:tc>
                  <a:txBody>
                    <a:bodyPr wrap="square"/>
                    <a:lstStyle/>
                    <a:p>
                      <a:r>
                        <a:rPr sz="1200" b="0">
                          <a:solidFill>
                            <a:srgbClr val="3D4F6A"/>
                          </a:solidFill>
                          <a:latin typeface="Arial"/>
                        </a:rPr>
                        <a:t>What we pay every month, even with no work: salaries, office, software</a:t>
                      </a:r>
                    </a:p>
                  </a:txBody>
                  <a:tcPr marL="73152" marR="73152" marT="27432" marB="27432" anchor="ctr">
                    <a:solidFill>
                      <a:srgbClr val="F6F2EA"/>
                    </a:solidFill>
                  </a:tcPr>
                </a:tc>
              </a:tr>
              <a:tr h="475488">
                <a:tc>
                  <a:txBody>
                    <a:bodyPr wrap="square"/>
                    <a:lstStyle/>
                    <a:p>
                      <a:r>
                        <a:rPr sz="1200" b="1">
                          <a:solidFill>
                            <a:srgbClr val="1E2A3A"/>
                          </a:solidFill>
                          <a:latin typeface="Arial"/>
                        </a:rPr>
                        <a:t>Net profit</a:t>
                      </a:r>
                    </a:p>
                  </a:txBody>
                  <a:tcPr marL="73152" marR="73152" marT="27432" marB="27432" anchor="ctr">
                    <a:solidFill>
                      <a:srgbClr val="FFFFFF"/>
                    </a:solidFill>
                  </a:tcPr>
                </a:tc>
                <a:tc>
                  <a:txBody>
                    <a:bodyPr wrap="square"/>
                    <a:lstStyle/>
                    <a:p>
                      <a:r>
                        <a:rPr sz="1200" b="0">
                          <a:solidFill>
                            <a:srgbClr val="3D4F6A"/>
                          </a:solidFill>
                          <a:latin typeface="Arial"/>
                        </a:rPr>
                        <a:t>Gross profit minus fixed cost and tax: what we really keep</a:t>
                      </a:r>
                    </a:p>
                  </a:txBody>
                  <a:tcPr marL="73152" marR="73152" marT="27432" marB="27432" anchor="ctr">
                    <a:solidFill>
                      <a:srgbClr val="FFFFFF"/>
                    </a:solidFill>
                  </a:tcPr>
                </a:tc>
              </a:tr>
              <a:tr h="475488">
                <a:tc>
                  <a:txBody>
                    <a:bodyPr wrap="square"/>
                    <a:lstStyle/>
                    <a:p>
                      <a:r>
                        <a:rPr sz="1200" b="1">
                          <a:solidFill>
                            <a:srgbClr val="1E2A3A"/>
                          </a:solidFill>
                          <a:latin typeface="Arial"/>
                        </a:rPr>
                        <a:t>Net margin</a:t>
                      </a:r>
                    </a:p>
                  </a:txBody>
                  <a:tcPr marL="73152" marR="73152" marT="27432" marB="27432" anchor="ctr">
                    <a:solidFill>
                      <a:srgbClr val="F6F2EA"/>
                    </a:solidFill>
                  </a:tcPr>
                </a:tc>
                <a:tc>
                  <a:txBody>
                    <a:bodyPr wrap="square"/>
                    <a:lstStyle/>
                    <a:p>
                      <a:r>
                        <a:rPr sz="1200" b="0">
                          <a:solidFill>
                            <a:srgbClr val="3D4F6A"/>
                          </a:solidFill>
                          <a:latin typeface="Arial"/>
                        </a:rPr>
                        <a:t>Net profit as a share of sales. 15% = we keep Rp15 of every Rp100</a:t>
                      </a:r>
                    </a:p>
                  </a:txBody>
                  <a:tcPr marL="73152" marR="73152" marT="27432" marB="27432" anchor="ctr">
                    <a:solidFill>
                      <a:srgbClr val="F6F2EA"/>
                    </a:solidFill>
                  </a:tcPr>
                </a:tc>
              </a:tr>
              <a:tr h="475488">
                <a:tc>
                  <a:txBody>
                    <a:bodyPr wrap="square"/>
                    <a:lstStyle/>
                    <a:p>
                      <a:r>
                        <a:rPr sz="1200" b="1">
                          <a:solidFill>
                            <a:srgbClr val="1E2A3A"/>
                          </a:solidFill>
                          <a:latin typeface="Arial"/>
                        </a:rPr>
                        <a:t>Running cost</a:t>
                      </a:r>
                    </a:p>
                  </a:txBody>
                  <a:tcPr marL="73152" marR="73152" marT="27432" marB="27432" anchor="ctr">
                    <a:solidFill>
                      <a:srgbClr val="FFFFFF"/>
                    </a:solidFill>
                  </a:tcPr>
                </a:tc>
                <a:tc>
                  <a:txBody>
                    <a:bodyPr wrap="square"/>
                    <a:lstStyle/>
                    <a:p>
                      <a:r>
                        <a:rPr sz="1200" b="0">
                          <a:solidFill>
                            <a:srgbClr val="3D4F6A"/>
                          </a:solidFill>
                          <a:latin typeface="Arial"/>
                        </a:rPr>
                        <a:t>All fixed costs in one month: pay, office, software, ads</a:t>
                      </a:r>
                    </a:p>
                  </a:txBody>
                  <a:tcPr marL="73152" marR="73152" marT="27432" marB="27432" anchor="ctr">
                    <a:solidFill>
                      <a:srgbClr val="FFFFFF"/>
                    </a:solidFill>
                  </a:tcPr>
                </a:tc>
              </a:tr>
              <a:tr h="475488">
                <a:tc>
                  <a:txBody>
                    <a:bodyPr wrap="square"/>
                    <a:lstStyle/>
                    <a:p>
                      <a:r>
                        <a:rPr sz="1200" b="1">
                          <a:solidFill>
                            <a:srgbClr val="1E2A3A"/>
                          </a:solidFill>
                          <a:latin typeface="Arial"/>
                        </a:rPr>
                        <a:t>Cash</a:t>
                      </a:r>
                    </a:p>
                  </a:txBody>
                  <a:tcPr marL="73152" marR="73152" marT="27432" marB="27432" anchor="ctr">
                    <a:solidFill>
                      <a:srgbClr val="F6F2EA"/>
                    </a:solidFill>
                  </a:tcPr>
                </a:tc>
                <a:tc>
                  <a:txBody>
                    <a:bodyPr wrap="square"/>
                    <a:lstStyle/>
                    <a:p>
                      <a:r>
                        <a:rPr sz="1200" b="0">
                          <a:solidFill>
                            <a:srgbClr val="3D4F6A"/>
                          </a:solidFill>
                          <a:latin typeface="Arial"/>
                        </a:rPr>
                        <a:t>Money in the bank today. Profit is not cash until the client pays</a:t>
                      </a:r>
                    </a:p>
                  </a:txBody>
                  <a:tcPr marL="73152" marR="73152" marT="27432" marB="27432" anchor="ctr">
                    <a:solidFill>
                      <a:srgbClr val="F6F2EA"/>
                    </a:solidFill>
                  </a:tcPr>
                </a:tc>
              </a:tr>
              <a:tr h="475488">
                <a:tc>
                  <a:txBody>
                    <a:bodyPr wrap="square"/>
                    <a:lstStyle/>
                    <a:p>
                      <a:r>
                        <a:rPr sz="1200" b="1">
                          <a:solidFill>
                            <a:srgbClr val="1E2A3A"/>
                          </a:solidFill>
                          <a:latin typeface="Arial"/>
                        </a:rPr>
                        <a:t>Cash cushion</a:t>
                      </a:r>
                    </a:p>
                  </a:txBody>
                  <a:tcPr marL="73152" marR="73152" marT="27432" marB="27432" anchor="ctr">
                    <a:solidFill>
                      <a:srgbClr val="FFFFFF"/>
                    </a:solidFill>
                  </a:tcPr>
                </a:tc>
                <a:tc>
                  <a:txBody>
                    <a:bodyPr wrap="square"/>
                    <a:lstStyle/>
                    <a:p>
                      <a:r>
                        <a:rPr sz="1200" b="0">
                          <a:solidFill>
                            <a:srgbClr val="3D4F6A"/>
                          </a:solidFill>
                          <a:latin typeface="Arial"/>
                        </a:rPr>
                        <a:t>Money we keep for bad times: 6 months of fixed cost</a:t>
                      </a:r>
                    </a:p>
                  </a:txBody>
                  <a:tcPr marL="73152" marR="73152" marT="27432" marB="27432" anchor="ctr">
                    <a:solidFill>
                      <a:srgbClr val="FFFFFF"/>
                    </a:solidFill>
                  </a:tcPr>
                </a:tc>
              </a:tr>
            </a:tbl>
          </a:graphicData>
        </a:graphic>
      </p:graphicFrame>
      <p:graphicFrame>
        <p:nvGraphicFramePr>
          <p:cNvPr id="8" name="Table 7"/>
          <p:cNvGraphicFramePr>
            <a:graphicFrameLocks noGrp="1"/>
          </p:cNvGraphicFramePr>
          <p:nvPr/>
        </p:nvGraphicFramePr>
        <p:xfrm>
          <a:off x="6217920" y="1371600"/>
          <a:ext cx="5486399" cy="4754880"/>
        </p:xfrm>
        <a:graphic>
          <a:graphicData uri="http://schemas.openxmlformats.org/drawingml/2006/table">
            <a:tbl>
              <a:tblPr firstRow="1" bandRow="1">
                <a:tableStyleId>{5C22544A-7EE6-4342-B048-85BDC9FD1C3A}</a:tableStyleId>
              </a:tblPr>
              <a:tblGrid>
                <a:gridCol w="1737360"/>
                <a:gridCol w="3749039"/>
              </a:tblGrid>
              <a:tr h="475488">
                <a:tc>
                  <a:txBody>
                    <a:bodyPr wrap="square"/>
                    <a:lstStyle/>
                    <a:p>
                      <a:r>
                        <a:rPr sz="1200" b="1">
                          <a:solidFill>
                            <a:srgbClr val="FFFFFF"/>
                          </a:solidFill>
                          <a:latin typeface="Arial"/>
                        </a:rPr>
                        <a:t>Word</a:t>
                      </a:r>
                    </a:p>
                  </a:txBody>
                  <a:tcPr marL="73152" marR="73152" marT="27432" marB="27432" anchor="ctr">
                    <a:solidFill>
                      <a:srgbClr val="1E2A3A"/>
                    </a:solidFill>
                  </a:tcPr>
                </a:tc>
                <a:tc>
                  <a:txBody>
                    <a:bodyPr wrap="square"/>
                    <a:lstStyle/>
                    <a:p>
                      <a:r>
                        <a:rPr sz="1200" b="1">
                          <a:solidFill>
                            <a:srgbClr val="FFFFFF"/>
                          </a:solidFill>
                          <a:latin typeface="Arial"/>
                        </a:rPr>
                        <a:t>What it means</a:t>
                      </a:r>
                    </a:p>
                  </a:txBody>
                  <a:tcPr marL="73152" marR="73152" marT="27432" marB="27432" anchor="ctr">
                    <a:solidFill>
                      <a:srgbClr val="1E2A3A"/>
                    </a:solidFill>
                  </a:tcPr>
                </a:tc>
              </a:tr>
              <a:tr h="475488">
                <a:tc>
                  <a:txBody>
                    <a:bodyPr wrap="square"/>
                    <a:lstStyle/>
                    <a:p>
                      <a:r>
                        <a:rPr sz="1200" b="1">
                          <a:solidFill>
                            <a:srgbClr val="1E2A3A"/>
                          </a:solidFill>
                          <a:latin typeface="Arial"/>
                        </a:rPr>
                        <a:t>Conservative, current, aggressive</a:t>
                      </a:r>
                    </a:p>
                  </a:txBody>
                  <a:tcPr marL="73152" marR="73152" marT="27432" marB="27432" anchor="ctr">
                    <a:solidFill>
                      <a:srgbClr val="FFFFFF"/>
                    </a:solidFill>
                  </a:tcPr>
                </a:tc>
                <a:tc>
                  <a:txBody>
                    <a:bodyPr wrap="square"/>
                    <a:lstStyle/>
                    <a:p>
                      <a:r>
                        <a:rPr sz="1200" b="0">
                          <a:solidFill>
                            <a:srgbClr val="3D4F6A"/>
                          </a:solidFill>
                          <a:latin typeface="Arial"/>
                        </a:rPr>
                        <a:t>Three estimates: a bad year, our plan, a good year</a:t>
                      </a:r>
                    </a:p>
                  </a:txBody>
                  <a:tcPr marL="73152" marR="73152" marT="27432" marB="27432" anchor="ctr">
                    <a:solidFill>
                      <a:srgbClr val="FFFFFF"/>
                    </a:solidFill>
                  </a:tcPr>
                </a:tc>
              </a:tr>
              <a:tr h="475488">
                <a:tc>
                  <a:txBody>
                    <a:bodyPr wrap="square"/>
                    <a:lstStyle/>
                    <a:p>
                      <a:r>
                        <a:rPr sz="1200" b="1">
                          <a:solidFill>
                            <a:srgbClr val="1E2A3A"/>
                          </a:solidFill>
                          <a:latin typeface="Arial"/>
                        </a:rPr>
                        <a:t>Fair pay</a:t>
                      </a:r>
                    </a:p>
                  </a:txBody>
                  <a:tcPr marL="73152" marR="73152" marT="27432" marB="27432" anchor="ctr">
                    <a:solidFill>
                      <a:srgbClr val="F6F2EA"/>
                    </a:solidFill>
                  </a:tcPr>
                </a:tc>
                <a:tc>
                  <a:txBody>
                    <a:bodyPr wrap="square"/>
                    <a:lstStyle/>
                    <a:p>
                      <a:r>
                        <a:rPr sz="1200" b="0">
                          <a:solidFill>
                            <a:srgbClr val="3D4F6A"/>
                          </a:solidFill>
                          <a:latin typeface="Arial"/>
                        </a:rPr>
                        <a:t>At least the minimum wage, plus BPJS and THR, for full-time staff</a:t>
                      </a:r>
                    </a:p>
                  </a:txBody>
                  <a:tcPr marL="73152" marR="73152" marT="27432" marB="27432" anchor="ctr">
                    <a:solidFill>
                      <a:srgbClr val="F6F2EA"/>
                    </a:solidFill>
                  </a:tcPr>
                </a:tc>
              </a:tr>
              <a:tr h="475488">
                <a:tc>
                  <a:txBody>
                    <a:bodyPr wrap="square"/>
                    <a:lstStyle/>
                    <a:p>
                      <a:r>
                        <a:rPr sz="1200" b="1">
                          <a:solidFill>
                            <a:srgbClr val="1E2A3A"/>
                          </a:solidFill>
                          <a:latin typeface="Arial"/>
                        </a:rPr>
                        <a:t>UMP, BPJS, THR</a:t>
                      </a:r>
                    </a:p>
                  </a:txBody>
                  <a:tcPr marL="73152" marR="73152" marT="27432" marB="27432" anchor="ctr">
                    <a:solidFill>
                      <a:srgbClr val="FFFFFF"/>
                    </a:solidFill>
                  </a:tcPr>
                </a:tc>
                <a:tc>
                  <a:txBody>
                    <a:bodyPr wrap="square"/>
                    <a:lstStyle/>
                    <a:p>
                      <a:r>
                        <a:rPr sz="1200" b="0">
                          <a:solidFill>
                            <a:srgbClr val="3D4F6A"/>
                          </a:solidFill>
                          <a:latin typeface="Arial"/>
                        </a:rPr>
                        <a:t>Minimum wage; state health and work insurance; holiday bonus</a:t>
                      </a:r>
                    </a:p>
                  </a:txBody>
                  <a:tcPr marL="73152" marR="73152" marT="27432" marB="27432" anchor="ctr">
                    <a:solidFill>
                      <a:srgbClr val="FFFFFF"/>
                    </a:solidFill>
                  </a:tcPr>
                </a:tc>
              </a:tr>
              <a:tr h="475488">
                <a:tc>
                  <a:txBody>
                    <a:bodyPr wrap="square"/>
                    <a:lstStyle/>
                    <a:p>
                      <a:r>
                        <a:rPr sz="1200" b="1">
                          <a:solidFill>
                            <a:srgbClr val="1E2A3A"/>
                          </a:solidFill>
                          <a:latin typeface="Arial"/>
                        </a:rPr>
                        <a:t>EAP</a:t>
                      </a:r>
                    </a:p>
                  </a:txBody>
                  <a:tcPr marL="73152" marR="73152" marT="27432" marB="27432" anchor="ctr">
                    <a:solidFill>
                      <a:srgbClr val="F6F2EA"/>
                    </a:solidFill>
                  </a:tcPr>
                </a:tc>
                <a:tc>
                  <a:txBody>
                    <a:bodyPr wrap="square"/>
                    <a:lstStyle/>
                    <a:p>
                      <a:r>
                        <a:rPr sz="1200" b="0">
                          <a:solidFill>
                            <a:srgbClr val="3D4F6A"/>
                          </a:solidFill>
                          <a:latin typeface="Arial"/>
                        </a:rPr>
                        <a:t>A company pays us monthly; we support its staff with counseling</a:t>
                      </a:r>
                    </a:p>
                  </a:txBody>
                  <a:tcPr marL="73152" marR="73152" marT="27432" marB="27432" anchor="ctr">
                    <a:solidFill>
                      <a:srgbClr val="F6F2EA"/>
                    </a:solidFill>
                  </a:tcPr>
                </a:tc>
              </a:tr>
              <a:tr h="475488">
                <a:tc>
                  <a:txBody>
                    <a:bodyPr wrap="square"/>
                    <a:lstStyle/>
                    <a:p>
                      <a:r>
                        <a:rPr sz="1200" b="1">
                          <a:solidFill>
                            <a:srgbClr val="1E2A3A"/>
                          </a:solidFill>
                          <a:latin typeface="Arial"/>
                        </a:rPr>
                        <a:t>Recurring income</a:t>
                      </a:r>
                    </a:p>
                  </a:txBody>
                  <a:tcPr marL="73152" marR="73152" marT="27432" marB="27432" anchor="ctr">
                    <a:solidFill>
                      <a:srgbClr val="FFFFFF"/>
                    </a:solidFill>
                  </a:tcPr>
                </a:tc>
                <a:tc>
                  <a:txBody>
                    <a:bodyPr wrap="square"/>
                    <a:lstStyle/>
                    <a:p>
                      <a:r>
                        <a:rPr sz="1200" b="0">
                          <a:solidFill>
                            <a:srgbClr val="3D4F6A"/>
                          </a:solidFill>
                          <a:latin typeface="Arial"/>
                        </a:rPr>
                        <a:t>Money that comes every month without a new sale, like EAP</a:t>
                      </a:r>
                    </a:p>
                  </a:txBody>
                  <a:tcPr marL="73152" marR="73152" marT="27432" marB="27432" anchor="ctr">
                    <a:solidFill>
                      <a:srgbClr val="FFFFFF"/>
                    </a:solidFill>
                  </a:tcPr>
                </a:tc>
              </a:tr>
              <a:tr h="475488">
                <a:tc>
                  <a:txBody>
                    <a:bodyPr wrap="square"/>
                    <a:lstStyle/>
                    <a:p>
                      <a:r>
                        <a:rPr sz="1200" b="1">
                          <a:solidFill>
                            <a:srgbClr val="1E2A3A"/>
                          </a:solidFill>
                          <a:latin typeface="Arial"/>
                        </a:rPr>
                        <a:t>Trigger</a:t>
                      </a:r>
                    </a:p>
                  </a:txBody>
                  <a:tcPr marL="73152" marR="73152" marT="27432" marB="27432" anchor="ctr">
                    <a:solidFill>
                      <a:srgbClr val="F6F2EA"/>
                    </a:solidFill>
                  </a:tcPr>
                </a:tc>
                <a:tc>
                  <a:txBody>
                    <a:bodyPr wrap="square"/>
                    <a:lstStyle/>
                    <a:p>
                      <a:r>
                        <a:rPr sz="1200" b="0">
                          <a:solidFill>
                            <a:srgbClr val="3D4F6A"/>
                          </a:solidFill>
                          <a:latin typeface="Arial"/>
                        </a:rPr>
                        <a:t>The event that tells us it is time to hire</a:t>
                      </a:r>
                    </a:p>
                  </a:txBody>
                  <a:tcPr marL="73152" marR="73152" marT="27432" marB="27432" anchor="ctr">
                    <a:solidFill>
                      <a:srgbClr val="F6F2EA"/>
                    </a:solidFill>
                  </a:tcPr>
                </a:tc>
              </a:tr>
              <a:tr h="475488">
                <a:tc>
                  <a:txBody>
                    <a:bodyPr wrap="square"/>
                    <a:lstStyle/>
                    <a:p>
                      <a:r>
                        <a:rPr sz="1200" b="1">
                          <a:solidFill>
                            <a:srgbClr val="1E2A3A"/>
                          </a:solidFill>
                          <a:latin typeface="Arial"/>
                        </a:rPr>
                        <a:t>Co-founder, shares</a:t>
                      </a:r>
                    </a:p>
                  </a:txBody>
                  <a:tcPr marL="73152" marR="73152" marT="27432" marB="27432" anchor="ctr">
                    <a:solidFill>
                      <a:srgbClr val="FFFFFF"/>
                    </a:solidFill>
                  </a:tcPr>
                </a:tc>
                <a:tc>
                  <a:txBody>
                    <a:bodyPr wrap="square"/>
                    <a:lstStyle/>
                    <a:p>
                      <a:r>
                        <a:rPr sz="1200" b="0">
                          <a:solidFill>
                            <a:srgbClr val="3D4F6A"/>
                          </a:solidFill>
                          <a:latin typeface="Arial"/>
                        </a:rPr>
                        <a:t>A partner who owns part of the company; shares are earned over years</a:t>
                      </a:r>
                    </a:p>
                  </a:txBody>
                  <a:tcPr marL="73152" marR="73152" marT="27432" marB="27432" anchor="ctr">
                    <a:solidFill>
                      <a:srgbClr val="FFFFFF"/>
                    </a:solidFill>
                  </a:tcPr>
                </a:tc>
              </a:tr>
              <a:tr h="475488">
                <a:tc>
                  <a:txBody>
                    <a:bodyPr wrap="square"/>
                    <a:lstStyle/>
                    <a:p>
                      <a:r>
                        <a:rPr sz="1200" b="1">
                          <a:solidFill>
                            <a:srgbClr val="1E2A3A"/>
                          </a:solidFill>
                          <a:latin typeface="Arial"/>
                        </a:rPr>
                        <a:t>Business unit</a:t>
                      </a:r>
                    </a:p>
                  </a:txBody>
                  <a:tcPr marL="73152" marR="73152" marT="27432" marB="27432" anchor="ctr">
                    <a:solidFill>
                      <a:srgbClr val="F6F2EA"/>
                    </a:solidFill>
                  </a:tcPr>
                </a:tc>
                <a:tc>
                  <a:txBody>
                    <a:bodyPr wrap="square"/>
                    <a:lstStyle/>
                    <a:p>
                      <a:r>
                        <a:rPr sz="1200" b="0">
                          <a:solidFill>
                            <a:srgbClr val="3D4F6A"/>
                          </a:solidFill>
                          <a:latin typeface="Arial"/>
                        </a:rPr>
                        <a:t>A separate part of the business, for example Theta or Coreitera</a:t>
                      </a:r>
                    </a:p>
                  </a:txBody>
                  <a:tcPr marL="73152" marR="73152" marT="27432" marB="27432" anchor="ctr">
                    <a:solidFill>
                      <a:srgbClr val="F6F2EA"/>
                    </a:solidFill>
                  </a:tcPr>
                </a:tc>
              </a:tr>
              <a:tr h="475488">
                <a:tc>
                  <a:txBody>
                    <a:bodyPr wrap="square"/>
                    <a:lstStyle/>
                    <a:p>
                      <a:r>
                        <a:rPr sz="1200" b="1">
                          <a:solidFill>
                            <a:srgbClr val="1E2A3A"/>
                          </a:solidFill>
                          <a:latin typeface="Arial"/>
                        </a:rPr>
                        <a:t>Framework, SPK</a:t>
                      </a:r>
                    </a:p>
                  </a:txBody>
                  <a:tcPr marL="73152" marR="73152" marT="27432" marB="27432" anchor="ctr">
                    <a:solidFill>
                      <a:srgbClr val="FFFFFF"/>
                    </a:solidFill>
                  </a:tcPr>
                </a:tc>
                <a:tc>
                  <a:txBody>
                    <a:bodyPr wrap="square"/>
                    <a:lstStyle/>
                    <a:p>
                      <a:r>
                        <a:rPr sz="1200" b="0">
                          <a:solidFill>
                            <a:srgbClr val="3D4F6A"/>
                          </a:solidFill>
                          <a:latin typeface="Arial"/>
                        </a:rPr>
                        <a:t>A yearly agreement with a client; a work order for one job under it</a:t>
                      </a:r>
                    </a:p>
                  </a:txBody>
                  <a:tcPr marL="73152" marR="73152" marT="27432" marB="27432"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What the model includes, and </a:t>
            </a:r>
            <a:r>
              <a:rPr sz="2800" b="1" i="0">
                <a:solidFill>
                  <a:srgbClr val="9B3809"/>
                </a:solidFill>
                <a:latin typeface="Georgia"/>
              </a:rPr>
              <a:t>what to confirm</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Every estimate below changes a number in this deck. Replace it with the real number when we have it.</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Review of our financial model and the projection guide, 5 October 2026.</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39</a:t>
            </a:r>
          </a:p>
        </p:txBody>
      </p:sp>
      <p:sp>
        <p:nvSpPr>
          <p:cNvPr id="7" name="Rounded Rectangle 6"/>
          <p:cNvSpPr/>
          <p:nvPr/>
        </p:nvSpPr>
        <p:spPr>
          <a:xfrm>
            <a:off x="457200" y="1371600"/>
            <a:ext cx="4206240" cy="49377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500" b="1" i="0">
                <a:solidFill>
                  <a:srgbClr val="1E2A3A"/>
                </a:solidFill>
                <a:latin typeface="Georgia"/>
              </a:rPr>
              <a:t>The model now includes</a:t>
            </a:r>
          </a:p>
          <a:p>
            <a:pPr algn="l">
              <a:spcAft>
                <a:spcPts val="400"/>
              </a:spcAft>
            </a:pPr>
            <a:r>
              <a:rPr sz="1200" b="0" i="0">
                <a:solidFill>
                  <a:srgbClr val="3D4F6A"/>
                </a:solidFill>
                <a:latin typeface="Arial"/>
              </a:rPr>
              <a:t>Real timing: no new events before March 2027</a:t>
            </a:r>
          </a:p>
          <a:p>
            <a:pPr algn="l">
              <a:spcAft>
                <a:spcPts val="400"/>
              </a:spcAft>
            </a:pPr>
            <a:r>
              <a:rPr sz="1200" b="0" i="0">
                <a:solidFill>
                  <a:srgbClr val="3D4F6A"/>
                </a:solidFill>
                <a:latin typeface="Arial"/>
              </a:rPr>
              <a:t>Pay set month by month, with BPJS and THR</a:t>
            </a:r>
          </a:p>
          <a:p>
            <a:pPr algn="l">
              <a:spcAft>
                <a:spcPts val="400"/>
              </a:spcAft>
            </a:pPr>
            <a:r>
              <a:rPr sz="1200" b="0" i="0">
                <a:solidFill>
                  <a:srgbClr val="3D4F6A"/>
                </a:solidFill>
                <a:latin typeface="Arial"/>
              </a:rPr>
              <a:t>New EAP, co-founder and bank days</a:t>
            </a:r>
          </a:p>
          <a:p>
            <a:pPr algn="l">
              <a:spcAft>
                <a:spcPts val="400"/>
              </a:spcAft>
            </a:pPr>
            <a:r>
              <a:rPr sz="1200" b="0" i="0">
                <a:solidFill>
                  <a:srgbClr val="3D4F6A"/>
                </a:solidFill>
                <a:latin typeface="Arial"/>
              </a:rPr>
              <a:t>Sales, costs and cash in one chart</a:t>
            </a:r>
          </a:p>
          <a:p>
            <a:pPr algn="l">
              <a:spcAft>
                <a:spcPts val="400"/>
              </a:spcAft>
            </a:pPr>
            <a:r>
              <a:rPr sz="1200" b="0" i="0">
                <a:solidFill>
                  <a:srgbClr val="3D4F6A"/>
                </a:solidFill>
                <a:latin typeface="Arial"/>
              </a:rPr>
              <a:t>A roadmap: the latest start for each deal and hire</a:t>
            </a:r>
          </a:p>
          <a:p>
            <a:pPr algn="l">
              <a:spcAft>
                <a:spcPts val="400"/>
              </a:spcAft>
            </a:pPr>
            <a:r>
              <a:rPr sz="600" b="0" i="0">
                <a:solidFill>
                  <a:srgbClr val="3D4F6A"/>
                </a:solidFill>
                <a:latin typeface="Arial"/>
              </a:rPr>
              <a:t/>
            </a:r>
          </a:p>
          <a:p>
            <a:pPr algn="l">
              <a:spcAft>
                <a:spcPts val="400"/>
              </a:spcAft>
            </a:pPr>
            <a:r>
              <a:rPr sz="1500" b="1" i="0">
                <a:solidFill>
                  <a:srgbClr val="9B3809"/>
                </a:solidFill>
                <a:latin typeface="Georgia"/>
              </a:rPr>
              <a:t>Still open</a:t>
            </a:r>
          </a:p>
          <a:p>
            <a:pPr algn="l">
              <a:spcAft>
                <a:spcPts val="400"/>
              </a:spcAft>
            </a:pPr>
            <a:r>
              <a:rPr sz="1200" b="0" i="0">
                <a:solidFill>
                  <a:srgbClr val="3D4F6A"/>
                </a:solidFill>
                <a:latin typeface="Arial"/>
              </a:rPr>
              <a:t>Owners: Kia and Galih for now (proposal)</a:t>
            </a:r>
          </a:p>
          <a:p>
            <a:pPr algn="l">
              <a:spcAft>
                <a:spcPts val="400"/>
              </a:spcAft>
            </a:pPr>
            <a:r>
              <a:rPr sz="1200" b="0" i="0">
                <a:solidFill>
                  <a:srgbClr val="3D4F6A"/>
                </a:solidFill>
                <a:latin typeface="Arial"/>
              </a:rPr>
              <a:t>Theta and CTO costs are in no model</a:t>
            </a:r>
          </a:p>
          <a:p>
            <a:pPr algn="l">
              <a:spcAft>
                <a:spcPts val="400"/>
              </a:spcAft>
            </a:pPr>
            <a:r>
              <a:rPr sz="1200" b="0" i="0">
                <a:solidFill>
                  <a:srgbClr val="3D4F6A"/>
                </a:solidFill>
                <a:latin typeface="Arial"/>
              </a:rPr>
              <a:t>Is our current EAP contract still active?</a:t>
            </a:r>
          </a:p>
          <a:p>
            <a:pPr algn="l">
              <a:spcAft>
                <a:spcPts val="400"/>
              </a:spcAft>
            </a:pPr>
            <a:r>
              <a:rPr sz="1200" b="0" i="0">
                <a:solidFill>
                  <a:srgbClr val="3D4F6A"/>
                </a:solidFill>
                <a:latin typeface="Arial"/>
              </a:rPr>
              <a:t>Will BI accept the new 2027 prices?</a:t>
            </a:r>
          </a:p>
          <a:p>
            <a:pPr algn="l">
              <a:spcAft>
                <a:spcPts val="400"/>
              </a:spcAft>
            </a:pPr>
            <a:r>
              <a:rPr sz="1200" b="0" i="0">
                <a:solidFill>
                  <a:srgbClr val="3D4F6A"/>
                </a:solidFill>
                <a:latin typeface="Arial"/>
              </a:rPr>
              <a:t>Does the 0.5% small-business tax still apply?</a:t>
            </a:r>
          </a:p>
        </p:txBody>
      </p:sp>
      <p:graphicFrame>
        <p:nvGraphicFramePr>
          <p:cNvPr id="8" name="Table 7"/>
          <p:cNvGraphicFramePr>
            <a:graphicFrameLocks noGrp="1"/>
          </p:cNvGraphicFramePr>
          <p:nvPr/>
        </p:nvGraphicFramePr>
        <p:xfrm>
          <a:off x="4846320" y="1371600"/>
          <a:ext cx="6858000" cy="4937760"/>
        </p:xfrm>
        <a:graphic>
          <a:graphicData uri="http://schemas.openxmlformats.org/drawingml/2006/table">
            <a:tbl>
              <a:tblPr firstRow="1" bandRow="1">
                <a:tableStyleId>{5C22544A-7EE6-4342-B048-85BDC9FD1C3A}</a:tableStyleId>
              </a:tblPr>
              <a:tblGrid>
                <a:gridCol w="2468880"/>
                <a:gridCol w="2377440"/>
                <a:gridCol w="2011680"/>
              </a:tblGrid>
              <a:tr h="411480">
                <a:tc>
                  <a:txBody>
                    <a:bodyPr wrap="square"/>
                    <a:lstStyle/>
                    <a:p>
                      <a:r>
                        <a:rPr sz="1200" b="1">
                          <a:solidFill>
                            <a:srgbClr val="FFFFFF"/>
                          </a:solidFill>
                          <a:latin typeface="Arial"/>
                        </a:rPr>
                        <a:t>Estimate</a:t>
                      </a:r>
                    </a:p>
                  </a:txBody>
                  <a:tcPr marL="73152" marR="73152" marT="27432" marB="27432" anchor="ctr">
                    <a:solidFill>
                      <a:srgbClr val="1E2A3A"/>
                    </a:solidFill>
                  </a:tcPr>
                </a:tc>
                <a:tc>
                  <a:txBody>
                    <a:bodyPr wrap="square"/>
                    <a:lstStyle/>
                    <a:p>
                      <a:r>
                        <a:rPr sz="1200" b="1">
                          <a:solidFill>
                            <a:srgbClr val="FFFFFF"/>
                          </a:solidFill>
                          <a:latin typeface="Arial"/>
                        </a:rPr>
                        <a:t>Value we used</a:t>
                      </a:r>
                    </a:p>
                  </a:txBody>
                  <a:tcPr marL="73152" marR="73152" marT="27432" marB="27432" anchor="ctr">
                    <a:solidFill>
                      <a:srgbClr val="1E2A3A"/>
                    </a:solidFill>
                  </a:tcPr>
                </a:tc>
                <a:tc>
                  <a:txBody>
                    <a:bodyPr wrap="square"/>
                    <a:lstStyle/>
                    <a:p>
                      <a:r>
                        <a:rPr sz="1200" b="1">
                          <a:solidFill>
                            <a:srgbClr val="FFFFFF"/>
                          </a:solidFill>
                          <a:latin typeface="Arial"/>
                        </a:rPr>
                        <a:t>How to check</a:t>
                      </a:r>
                    </a:p>
                  </a:txBody>
                  <a:tcPr marL="73152" marR="73152" marT="27432" marB="27432" anchor="ctr">
                    <a:solidFill>
                      <a:srgbClr val="1E2A3A"/>
                    </a:solidFill>
                  </a:tcPr>
                </a:tc>
              </a:tr>
              <a:tr h="411480">
                <a:tc>
                  <a:txBody>
                    <a:bodyPr wrap="square"/>
                    <a:lstStyle/>
                    <a:p>
                      <a:r>
                        <a:rPr sz="1200" b="1">
                          <a:solidFill>
                            <a:srgbClr val="1E2A3A"/>
                          </a:solidFill>
                          <a:latin typeface="Arial"/>
                        </a:rPr>
                        <a:t>Second founder's pay</a:t>
                      </a:r>
                    </a:p>
                  </a:txBody>
                  <a:tcPr marL="73152" marR="73152" marT="27432" marB="27432" anchor="ctr">
                    <a:solidFill>
                      <a:srgbClr val="FFFFFF"/>
                    </a:solidFill>
                  </a:tcPr>
                </a:tc>
                <a:tc>
                  <a:txBody>
                    <a:bodyPr wrap="square"/>
                    <a:lstStyle/>
                    <a:p>
                      <a:r>
                        <a:rPr sz="1200" b="0">
                          <a:solidFill>
                            <a:srgbClr val="3D4F6A"/>
                          </a:solidFill>
                          <a:latin typeface="Arial"/>
                        </a:rPr>
                        <a:t>Rp15M a month from March (room)</a:t>
                      </a:r>
                    </a:p>
                  </a:txBody>
                  <a:tcPr marL="73152" marR="73152" marT="27432" marB="27432" anchor="ctr">
                    <a:solidFill>
                      <a:srgbClr val="FFFFFF"/>
                    </a:solidFill>
                  </a:tcPr>
                </a:tc>
                <a:tc>
                  <a:txBody>
                    <a:bodyPr wrap="square"/>
                    <a:lstStyle/>
                    <a:p>
                      <a:r>
                        <a:rPr sz="1200" b="0">
                          <a:solidFill>
                            <a:srgbClr val="3D4F6A"/>
                          </a:solidFill>
                          <a:latin typeface="Arial"/>
                        </a:rPr>
                        <a:t>Founders decide</a:t>
                      </a:r>
                    </a:p>
                  </a:txBody>
                  <a:tcPr marL="73152" marR="73152" marT="27432" marB="27432" anchor="ctr">
                    <a:solidFill>
                      <a:srgbClr val="FFFFFF"/>
                    </a:solidFill>
                  </a:tcPr>
                </a:tc>
              </a:tr>
              <a:tr h="411480">
                <a:tc>
                  <a:txBody>
                    <a:bodyPr wrap="square"/>
                    <a:lstStyle/>
                    <a:p>
                      <a:r>
                        <a:rPr sz="1200" b="1">
                          <a:solidFill>
                            <a:srgbClr val="1E2A3A"/>
                          </a:solidFill>
                          <a:latin typeface="Arial"/>
                        </a:rPr>
                        <a:t>BPJS and THR on top of pay</a:t>
                      </a:r>
                    </a:p>
                  </a:txBody>
                  <a:tcPr marL="73152" marR="73152" marT="27432" marB="27432" anchor="ctr">
                    <a:solidFill>
                      <a:srgbClr val="F6F2EA"/>
                    </a:solidFill>
                  </a:tcPr>
                </a:tc>
                <a:tc>
                  <a:txBody>
                    <a:bodyPr wrap="square"/>
                    <a:lstStyle/>
                    <a:p>
                      <a:r>
                        <a:rPr sz="1200" b="0">
                          <a:solidFill>
                            <a:srgbClr val="3D4F6A"/>
                          </a:solidFill>
                          <a:latin typeface="Arial"/>
                        </a:rPr>
                        <a:t>18% of pay</a:t>
                      </a:r>
                    </a:p>
                  </a:txBody>
                  <a:tcPr marL="73152" marR="73152" marT="27432" marB="27432" anchor="ctr">
                    <a:solidFill>
                      <a:srgbClr val="F6F2EA"/>
                    </a:solidFill>
                  </a:tcPr>
                </a:tc>
                <a:tc>
                  <a:txBody>
                    <a:bodyPr wrap="square"/>
                    <a:lstStyle/>
                    <a:p>
                      <a:r>
                        <a:rPr sz="1200" b="0">
                          <a:solidFill>
                            <a:srgbClr val="3D4F6A"/>
                          </a:solidFill>
                          <a:latin typeface="Arial"/>
                        </a:rPr>
                        <a:t>Payroll provider quote</a:t>
                      </a:r>
                    </a:p>
                  </a:txBody>
                  <a:tcPr marL="73152" marR="73152" marT="27432" marB="27432" anchor="ctr">
                    <a:solidFill>
                      <a:srgbClr val="F6F2EA"/>
                    </a:solidFill>
                  </a:tcPr>
                </a:tc>
              </a:tr>
              <a:tr h="411480">
                <a:tc>
                  <a:txBody>
                    <a:bodyPr wrap="square"/>
                    <a:lstStyle/>
                    <a:p>
                      <a:r>
                        <a:rPr sz="1200" b="1">
                          <a:solidFill>
                            <a:srgbClr val="1E2A3A"/>
                          </a:solidFill>
                          <a:latin typeface="Arial"/>
                        </a:rPr>
                        <a:t>Lead Partnership pay</a:t>
                      </a:r>
                    </a:p>
                  </a:txBody>
                  <a:tcPr marL="73152" marR="73152" marT="27432" marB="27432" anchor="ctr">
                    <a:solidFill>
                      <a:srgbClr val="FFFFFF"/>
                    </a:solidFill>
                  </a:tcPr>
                </a:tc>
                <a:tc>
                  <a:txBody>
                    <a:bodyPr wrap="square"/>
                    <a:lstStyle/>
                    <a:p>
                      <a:r>
                        <a:rPr sz="1200" b="0">
                          <a:solidFill>
                            <a:srgbClr val="3D4F6A"/>
                          </a:solidFill>
                          <a:latin typeface="Arial"/>
                        </a:rPr>
                        <a:t>Rp6M a month from Oct 2027</a:t>
                      </a:r>
                    </a:p>
                  </a:txBody>
                  <a:tcPr marL="73152" marR="73152" marT="27432" marB="27432" anchor="ctr">
                    <a:solidFill>
                      <a:srgbClr val="FFFFFF"/>
                    </a:solidFill>
                  </a:tcPr>
                </a:tc>
                <a:tc>
                  <a:txBody>
                    <a:bodyPr wrap="square"/>
                    <a:lstStyle/>
                    <a:p>
                      <a:r>
                        <a:rPr sz="1200" b="0">
                          <a:solidFill>
                            <a:srgbClr val="3D4F6A"/>
                          </a:solidFill>
                          <a:latin typeface="Arial"/>
                        </a:rPr>
                        <a:t>2 or 3 candidate talks</a:t>
                      </a:r>
                    </a:p>
                  </a:txBody>
                  <a:tcPr marL="73152" marR="73152" marT="27432" marB="27432" anchor="ctr">
                    <a:solidFill>
                      <a:srgbClr val="FFFFFF"/>
                    </a:solidFill>
                  </a:tcPr>
                </a:tc>
              </a:tr>
              <a:tr h="411480">
                <a:tc>
                  <a:txBody>
                    <a:bodyPr wrap="square"/>
                    <a:lstStyle/>
                    <a:p>
                      <a:r>
                        <a:rPr sz="1200" b="1">
                          <a:solidFill>
                            <a:srgbClr val="1E2A3A"/>
                          </a:solidFill>
                          <a:latin typeface="Arial"/>
                        </a:rPr>
                        <a:t>EAP price per employee</a:t>
                      </a:r>
                    </a:p>
                  </a:txBody>
                  <a:tcPr marL="73152" marR="73152" marT="27432" marB="27432" anchor="ctr">
                    <a:solidFill>
                      <a:srgbClr val="F6F2EA"/>
                    </a:solidFill>
                  </a:tcPr>
                </a:tc>
                <a:tc>
                  <a:txBody>
                    <a:bodyPr wrap="square"/>
                    <a:lstStyle/>
                    <a:p>
                      <a:r>
                        <a:rPr sz="1200" b="0">
                          <a:solidFill>
                            <a:srgbClr val="3D4F6A"/>
                          </a:solidFill>
                          <a:latin typeface="Arial"/>
                        </a:rPr>
                        <a:t>Rp30k a month, 500 staff</a:t>
                      </a:r>
                    </a:p>
                  </a:txBody>
                  <a:tcPr marL="73152" marR="73152" marT="27432" marB="27432" anchor="ctr">
                    <a:solidFill>
                      <a:srgbClr val="F6F2EA"/>
                    </a:solidFill>
                  </a:tcPr>
                </a:tc>
                <a:tc>
                  <a:txBody>
                    <a:bodyPr wrap="square"/>
                    <a:lstStyle/>
                    <a:p>
                      <a:r>
                        <a:rPr sz="1200" b="0">
                          <a:solidFill>
                            <a:srgbClr val="3D4F6A"/>
                          </a:solidFill>
                          <a:latin typeface="Arial"/>
                        </a:rPr>
                        <a:t>Ask 2 bank HR heads</a:t>
                      </a:r>
                    </a:p>
                  </a:txBody>
                  <a:tcPr marL="73152" marR="73152" marT="27432" marB="27432" anchor="ctr">
                    <a:solidFill>
                      <a:srgbClr val="F6F2EA"/>
                    </a:solidFill>
                  </a:tcPr>
                </a:tc>
              </a:tr>
              <a:tr h="411480">
                <a:tc>
                  <a:txBody>
                    <a:bodyPr wrap="square"/>
                    <a:lstStyle/>
                    <a:p>
                      <a:r>
                        <a:rPr sz="1200" b="1">
                          <a:solidFill>
                            <a:srgbClr val="1E2A3A"/>
                          </a:solidFill>
                          <a:latin typeface="Arial"/>
                        </a:rPr>
                        <a:t>EAP contract 2 start</a:t>
                      </a:r>
                    </a:p>
                  </a:txBody>
                  <a:tcPr marL="73152" marR="73152" marT="27432" marB="27432" anchor="ctr">
                    <a:solidFill>
                      <a:srgbClr val="FFFFFF"/>
                    </a:solidFill>
                  </a:tcPr>
                </a:tc>
                <a:tc>
                  <a:txBody>
                    <a:bodyPr wrap="square"/>
                    <a:lstStyle/>
                    <a:p>
                      <a:r>
                        <a:rPr sz="1200" b="0">
                          <a:solidFill>
                            <a:srgbClr val="3D4F6A"/>
                          </a:solidFill>
                          <a:latin typeface="Arial"/>
                        </a:rPr>
                        <a:t>February 2027</a:t>
                      </a:r>
                    </a:p>
                  </a:txBody>
                  <a:tcPr marL="73152" marR="73152" marT="27432" marB="27432" anchor="ctr">
                    <a:solidFill>
                      <a:srgbClr val="FFFFFF"/>
                    </a:solidFill>
                  </a:tcPr>
                </a:tc>
                <a:tc>
                  <a:txBody>
                    <a:bodyPr wrap="square"/>
                    <a:lstStyle/>
                    <a:p>
                      <a:r>
                        <a:rPr sz="1200" b="0">
                          <a:solidFill>
                            <a:srgbClr val="3D4F6A"/>
                          </a:solidFill>
                          <a:latin typeface="Arial"/>
                        </a:rPr>
                        <a:t>Signed by mid-January</a:t>
                      </a:r>
                    </a:p>
                  </a:txBody>
                  <a:tcPr marL="73152" marR="73152" marT="27432" marB="27432" anchor="ctr">
                    <a:solidFill>
                      <a:srgbClr val="FFFFFF"/>
                    </a:solidFill>
                  </a:tcPr>
                </a:tc>
              </a:tr>
              <a:tr h="411480">
                <a:tc>
                  <a:txBody>
                    <a:bodyPr wrap="square"/>
                    <a:lstStyle/>
                    <a:p>
                      <a:r>
                        <a:rPr sz="1200" b="1">
                          <a:solidFill>
                            <a:srgbClr val="1E2A3A"/>
                          </a:solidFill>
                          <a:latin typeface="Arial"/>
                        </a:rPr>
                        <a:t>Sales co-founder salary</a:t>
                      </a:r>
                    </a:p>
                  </a:txBody>
                  <a:tcPr marL="73152" marR="73152" marT="27432" marB="27432" anchor="ctr">
                    <a:solidFill>
                      <a:srgbClr val="F6F2EA"/>
                    </a:solidFill>
                  </a:tcPr>
                </a:tc>
                <a:tc>
                  <a:txBody>
                    <a:bodyPr wrap="square"/>
                    <a:lstStyle/>
                    <a:p>
                      <a:r>
                        <a:rPr sz="1200" b="0">
                          <a:solidFill>
                            <a:srgbClr val="3D4F6A"/>
                          </a:solidFill>
                          <a:latin typeface="Arial"/>
                        </a:rPr>
                        <a:t>Rp8M a month + shares</a:t>
                      </a:r>
                    </a:p>
                  </a:txBody>
                  <a:tcPr marL="73152" marR="73152" marT="27432" marB="27432" anchor="ctr">
                    <a:solidFill>
                      <a:srgbClr val="F6F2EA"/>
                    </a:solidFill>
                  </a:tcPr>
                </a:tc>
                <a:tc>
                  <a:txBody>
                    <a:bodyPr wrap="square"/>
                    <a:lstStyle/>
                    <a:p>
                      <a:r>
                        <a:rPr sz="1200" b="0">
                          <a:solidFill>
                            <a:srgbClr val="3D4F6A"/>
                          </a:solidFill>
                          <a:latin typeface="Arial"/>
                        </a:rPr>
                        <a:t>Talks with candidates</a:t>
                      </a:r>
                    </a:p>
                  </a:txBody>
                  <a:tcPr marL="73152" marR="73152" marT="27432" marB="27432" anchor="ctr">
                    <a:solidFill>
                      <a:srgbClr val="F6F2EA"/>
                    </a:solidFill>
                  </a:tcPr>
                </a:tc>
              </a:tr>
              <a:tr h="411480">
                <a:tc>
                  <a:txBody>
                    <a:bodyPr wrap="square"/>
                    <a:lstStyle/>
                    <a:p>
                      <a:r>
                        <a:rPr sz="1200" b="1">
                          <a:solidFill>
                            <a:srgbClr val="1E2A3A"/>
                          </a:solidFill>
                          <a:latin typeface="Arial"/>
                        </a:rPr>
                        <a:t>CTO salary</a:t>
                      </a:r>
                    </a:p>
                  </a:txBody>
                  <a:tcPr marL="73152" marR="73152" marT="27432" marB="27432" anchor="ctr">
                    <a:solidFill>
                      <a:srgbClr val="FFFFFF"/>
                    </a:solidFill>
                  </a:tcPr>
                </a:tc>
                <a:tc>
                  <a:txBody>
                    <a:bodyPr wrap="square"/>
                    <a:lstStyle/>
                    <a:p>
                      <a:r>
                        <a:rPr sz="1200" b="0">
                          <a:solidFill>
                            <a:srgbClr val="3D4F6A"/>
                          </a:solidFill>
                          <a:latin typeface="Arial"/>
                        </a:rPr>
                        <a:t>Rp10M a month</a:t>
                      </a:r>
                    </a:p>
                  </a:txBody>
                  <a:tcPr marL="73152" marR="73152" marT="27432" marB="27432" anchor="ctr">
                    <a:solidFill>
                      <a:srgbClr val="FFFFFF"/>
                    </a:solidFill>
                  </a:tcPr>
                </a:tc>
                <a:tc>
                  <a:txBody>
                    <a:bodyPr wrap="square"/>
                    <a:lstStyle/>
                    <a:p>
                      <a:r>
                        <a:rPr sz="1200" b="0">
                          <a:solidFill>
                            <a:srgbClr val="3D4F6A"/>
                          </a:solidFill>
                          <a:latin typeface="Arial"/>
                        </a:rPr>
                        <a:t>CTO's expectation</a:t>
                      </a:r>
                    </a:p>
                  </a:txBody>
                  <a:tcPr marL="73152" marR="73152" marT="27432" marB="27432" anchor="ctr">
                    <a:solidFill>
                      <a:srgbClr val="FFFFFF"/>
                    </a:solidFill>
                  </a:tcPr>
                </a:tc>
              </a:tr>
              <a:tr h="411480">
                <a:tc>
                  <a:txBody>
                    <a:bodyPr wrap="square"/>
                    <a:lstStyle/>
                    <a:p>
                      <a:r>
                        <a:rPr sz="1200" b="1">
                          <a:solidFill>
                            <a:srgbClr val="1E2A3A"/>
                          </a:solidFill>
                          <a:latin typeface="Arial"/>
                        </a:rPr>
                        <a:t>Bank deal</a:t>
                      </a:r>
                    </a:p>
                  </a:txBody>
                  <a:tcPr marL="73152" marR="73152" marT="27432" marB="27432" anchor="ctr">
                    <a:solidFill>
                      <a:srgbClr val="F6F2EA"/>
                    </a:solidFill>
                  </a:tcPr>
                </a:tc>
                <a:tc>
                  <a:txBody>
                    <a:bodyPr wrap="square"/>
                    <a:lstStyle/>
                    <a:p>
                      <a:r>
                        <a:rPr sz="1200" b="0">
                          <a:solidFill>
                            <a:srgbClr val="3D4F6A"/>
                          </a:solidFill>
                          <a:latin typeface="Arial"/>
                        </a:rPr>
                        <a:t>1 training day a month from Oct 2027</a:t>
                      </a:r>
                    </a:p>
                  </a:txBody>
                  <a:tcPr marL="73152" marR="73152" marT="27432" marB="27432" anchor="ctr">
                    <a:solidFill>
                      <a:srgbClr val="F6F2EA"/>
                    </a:solidFill>
                  </a:tcPr>
                </a:tc>
                <a:tc>
                  <a:txBody>
                    <a:bodyPr wrap="square"/>
                    <a:lstStyle/>
                    <a:p>
                      <a:r>
                        <a:rPr sz="1200" b="0">
                          <a:solidFill>
                            <a:srgbClr val="3D4F6A"/>
                          </a:solidFill>
                          <a:latin typeface="Arial"/>
                        </a:rPr>
                        <a:t>First bank proposal</a:t>
                      </a:r>
                    </a:p>
                  </a:txBody>
                  <a:tcPr marL="73152" marR="73152" marT="27432" marB="27432" anchor="ctr">
                    <a:solidFill>
                      <a:srgbClr val="F6F2EA"/>
                    </a:solidFill>
                  </a:tcPr>
                </a:tc>
              </a:tr>
              <a:tr h="411480">
                <a:tc>
                  <a:txBody>
                    <a:bodyPr wrap="square"/>
                    <a:lstStyle/>
                    <a:p>
                      <a:r>
                        <a:rPr sz="1200" b="1">
                          <a:solidFill>
                            <a:srgbClr val="1E2A3A"/>
                          </a:solidFill>
                          <a:latin typeface="Arial"/>
                        </a:rPr>
                        <a:t>Lead times to sign a client</a:t>
                      </a:r>
                    </a:p>
                  </a:txBody>
                  <a:tcPr marL="73152" marR="73152" marT="27432" marB="27432" anchor="ctr">
                    <a:solidFill>
                      <a:srgbClr val="FFFFFF"/>
                    </a:solidFill>
                  </a:tcPr>
                </a:tc>
                <a:tc>
                  <a:txBody>
                    <a:bodyPr wrap="square"/>
                    <a:lstStyle/>
                    <a:p>
                      <a:r>
                        <a:rPr sz="1200" b="0">
                          <a:solidFill>
                            <a:srgbClr val="3D4F6A"/>
                          </a:solidFill>
                          <a:latin typeface="Arial"/>
                        </a:rPr>
                        <a:t>2 weeks to 6 weeks of paperwork</a:t>
                      </a:r>
                    </a:p>
                  </a:txBody>
                  <a:tcPr marL="73152" marR="73152" marT="27432" marB="27432" anchor="ctr">
                    <a:solidFill>
                      <a:srgbClr val="FFFFFF"/>
                    </a:solidFill>
                  </a:tcPr>
                </a:tc>
                <a:tc>
                  <a:txBody>
                    <a:bodyPr wrap="square"/>
                    <a:lstStyle/>
                    <a:p>
                      <a:r>
                        <a:rPr sz="1200" b="0">
                          <a:solidFill>
                            <a:srgbClr val="3D4F6A"/>
                          </a:solidFill>
                          <a:latin typeface="Arial"/>
                        </a:rPr>
                        <a:t>Log real deals</a:t>
                      </a:r>
                    </a:p>
                  </a:txBody>
                  <a:tcPr marL="73152" marR="73152" marT="27432" marB="27432" anchor="ctr">
                    <a:solidFill>
                      <a:srgbClr val="FFFFFF"/>
                    </a:solidFill>
                  </a:tcPr>
                </a:tc>
              </a:tr>
              <a:tr h="411480">
                <a:tc>
                  <a:txBody>
                    <a:bodyPr wrap="square"/>
                    <a:lstStyle/>
                    <a:p>
                      <a:r>
                        <a:rPr sz="1200" b="1">
                          <a:solidFill>
                            <a:srgbClr val="1E2A3A"/>
                          </a:solidFill>
                          <a:latin typeface="Arial"/>
                        </a:rPr>
                        <a:t>Income tax</a:t>
                      </a:r>
                    </a:p>
                  </a:txBody>
                  <a:tcPr marL="73152" marR="73152" marT="27432" marB="27432" anchor="ctr">
                    <a:solidFill>
                      <a:srgbClr val="F6F2EA"/>
                    </a:solidFill>
                  </a:tcPr>
                </a:tc>
                <a:tc>
                  <a:txBody>
                    <a:bodyPr wrap="square"/>
                    <a:lstStyle/>
                    <a:p>
                      <a:r>
                        <a:rPr sz="1200" b="0">
                          <a:solidFill>
                            <a:srgbClr val="3D4F6A"/>
                          </a:solidFill>
                          <a:latin typeface="Arial"/>
                        </a:rPr>
                        <a:t>0.5% of sales</a:t>
                      </a:r>
                    </a:p>
                  </a:txBody>
                  <a:tcPr marL="73152" marR="73152" marT="27432" marB="27432" anchor="ctr">
                    <a:solidFill>
                      <a:srgbClr val="F6F2EA"/>
                    </a:solidFill>
                  </a:tcPr>
                </a:tc>
                <a:tc>
                  <a:txBody>
                    <a:bodyPr wrap="square"/>
                    <a:lstStyle/>
                    <a:p>
                      <a:r>
                        <a:rPr sz="1200" b="0">
                          <a:solidFill>
                            <a:srgbClr val="3D4F6A"/>
                          </a:solidFill>
                          <a:latin typeface="Arial"/>
                        </a:rPr>
                        <a:t>Tax consultant</a:t>
                      </a:r>
                    </a:p>
                  </a:txBody>
                  <a:tcPr marL="73152" marR="73152" marT="27432" marB="27432" anchor="ctr">
                    <a:solidFill>
                      <a:srgbClr val="F6F2EA"/>
                    </a:solidFill>
                  </a:tcPr>
                </a:tc>
              </a:tr>
              <a:tr h="411480">
                <a:tc>
                  <a:txBody>
                    <a:bodyPr wrap="square"/>
                    <a:lstStyle/>
                    <a:p>
                      <a:r>
                        <a:rPr sz="1200" b="1">
                          <a:solidFill>
                            <a:srgbClr val="1E2A3A"/>
                          </a:solidFill>
                          <a:latin typeface="Arial"/>
                        </a:rPr>
                        <a:t>People each trainee reaches</a:t>
                      </a:r>
                    </a:p>
                  </a:txBody>
                  <a:tcPr marL="73152" marR="73152" marT="27432" marB="27432" anchor="ctr">
                    <a:solidFill>
                      <a:srgbClr val="FFFFFF"/>
                    </a:solidFill>
                  </a:tcPr>
                </a:tc>
                <a:tc>
                  <a:txBody>
                    <a:bodyPr wrap="square"/>
                    <a:lstStyle/>
                    <a:p>
                      <a:r>
                        <a:rPr sz="1200" b="0">
                          <a:solidFill>
                            <a:srgbClr val="3D4F6A"/>
                          </a:solidFill>
                          <a:latin typeface="Arial"/>
                        </a:rPr>
                        <a:t>2 each</a:t>
                      </a:r>
                    </a:p>
                  </a:txBody>
                  <a:tcPr marL="73152" marR="73152" marT="27432" marB="27432" anchor="ctr">
                    <a:solidFill>
                      <a:srgbClr val="FFFFFF"/>
                    </a:solidFill>
                  </a:tcPr>
                </a:tc>
                <a:tc>
                  <a:txBody>
                    <a:bodyPr wrap="square"/>
                    <a:lstStyle/>
                    <a:p>
                      <a:r>
                        <a:rPr sz="1200" b="0">
                          <a:solidFill>
                            <a:srgbClr val="3D4F6A"/>
                          </a:solidFill>
                          <a:latin typeface="Arial"/>
                        </a:rPr>
                        <a:t>BI ambassador reports</a:t>
                      </a:r>
                    </a:p>
                  </a:txBody>
                  <a:tcPr marL="73152" marR="73152" marT="27432" marB="27432"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Bonus: Magang Nasional gives us </a:t>
            </a:r>
            <a:r>
              <a:rPr sz="2800" b="1" i="0">
                <a:solidFill>
                  <a:srgbClr val="9B3809"/>
                </a:solidFill>
                <a:latin typeface="Georgia"/>
              </a:rPr>
              <a:t>one paid intern</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The government pays the intern. Not in our numbers: if approved, it is a bonus.</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Kemnaker MagangHub (maganghub.kemnaker.go.id); Antara and Kompas, May 2026. Programme for 2027 not yet confirmed.</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40</a:t>
            </a:r>
          </a:p>
        </p:txBody>
      </p:sp>
      <p:sp>
        <p:nvSpPr>
          <p:cNvPr id="7" name="Rounded Rectangle 6"/>
          <p:cNvSpPr/>
          <p:nvPr/>
        </p:nvSpPr>
        <p:spPr>
          <a:xfrm>
            <a:off x="457200" y="1417320"/>
            <a:ext cx="3611880" cy="54864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What it is</a:t>
            </a:r>
          </a:p>
        </p:txBody>
      </p:sp>
      <p:sp>
        <p:nvSpPr>
          <p:cNvPr id="8" name="Rounded Rectangle 7"/>
          <p:cNvSpPr/>
          <p:nvPr/>
        </p:nvSpPr>
        <p:spPr>
          <a:xfrm>
            <a:off x="457200" y="2057400"/>
            <a:ext cx="3611880" cy="3474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0"/>
              </a:spcAft>
            </a:pPr>
            <a:r>
              <a:rPr sz="1300" b="1" i="0">
                <a:solidFill>
                  <a:srgbClr val="9B3809"/>
                </a:solidFill>
                <a:latin typeface="Arial"/>
              </a:rPr>
              <a:t>•  </a:t>
            </a:r>
            <a:r>
              <a:rPr sz="1300" b="0" i="0">
                <a:solidFill>
                  <a:srgbClr val="3D4F6A"/>
                </a:solidFill>
                <a:latin typeface="Arial"/>
              </a:rPr>
              <a:t>Kemnaker's national internship (MagangHub)</a:t>
            </a:r>
          </a:p>
          <a:p>
            <a:pPr algn="l">
              <a:spcAft>
                <a:spcPts val="1000"/>
              </a:spcAft>
            </a:pPr>
            <a:r>
              <a:rPr sz="1300" b="1" i="0">
                <a:solidFill>
                  <a:srgbClr val="9B3809"/>
                </a:solidFill>
                <a:latin typeface="Arial"/>
              </a:rPr>
              <a:t>•  </a:t>
            </a:r>
            <a:r>
              <a:rPr sz="1300" b="0" i="0">
                <a:solidFill>
                  <a:srgbClr val="3D4F6A"/>
                </a:solidFill>
                <a:latin typeface="Arial"/>
              </a:rPr>
              <a:t>For people who graduated in the last 12 months</a:t>
            </a:r>
          </a:p>
          <a:p>
            <a:pPr algn="l">
              <a:spcAft>
                <a:spcPts val="1000"/>
              </a:spcAft>
            </a:pPr>
            <a:r>
              <a:rPr sz="1300" b="1" i="0">
                <a:solidFill>
                  <a:srgbClr val="9B3809"/>
                </a:solidFill>
                <a:latin typeface="Arial"/>
              </a:rPr>
              <a:t>•  </a:t>
            </a:r>
            <a:r>
              <a:rPr sz="1300" b="0" i="0">
                <a:solidFill>
                  <a:srgbClr val="3D4F6A"/>
                </a:solidFill>
                <a:latin typeface="Arial"/>
              </a:rPr>
              <a:t>In 2026 the state pays about the minimum wage (about Rp5.7M)</a:t>
            </a:r>
          </a:p>
        </p:txBody>
      </p:sp>
      <p:sp>
        <p:nvSpPr>
          <p:cNvPr id="9" name="Rounded Rectangle 8"/>
          <p:cNvSpPr/>
          <p:nvPr/>
        </p:nvSpPr>
        <p:spPr>
          <a:xfrm>
            <a:off x="4251960" y="1417320"/>
            <a:ext cx="3611880" cy="5486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What we need</a:t>
            </a:r>
          </a:p>
        </p:txBody>
      </p:sp>
      <p:sp>
        <p:nvSpPr>
          <p:cNvPr id="10" name="Rounded Rectangle 9"/>
          <p:cNvSpPr/>
          <p:nvPr/>
        </p:nvSpPr>
        <p:spPr>
          <a:xfrm>
            <a:off x="4251960" y="2057400"/>
            <a:ext cx="3611880" cy="3474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0"/>
              </a:spcAft>
            </a:pPr>
            <a:r>
              <a:rPr sz="1300" b="1" i="0">
                <a:solidFill>
                  <a:srgbClr val="9B3809"/>
                </a:solidFill>
                <a:latin typeface="Arial"/>
              </a:rPr>
              <a:t>•  </a:t>
            </a:r>
            <a:r>
              <a:rPr sz="1300" b="0" i="0">
                <a:solidFill>
                  <a:srgbClr val="3D4F6A"/>
                </a:solidFill>
                <a:latin typeface="Arial"/>
              </a:rPr>
              <a:t>A PT with NIB or WLKP, and a company NPWP</a:t>
            </a:r>
          </a:p>
          <a:p>
            <a:pPr algn="l">
              <a:spcAft>
                <a:spcPts val="1000"/>
              </a:spcAft>
            </a:pPr>
            <a:r>
              <a:rPr sz="1300" b="1" i="0">
                <a:solidFill>
                  <a:srgbClr val="9B3809"/>
                </a:solidFill>
                <a:latin typeface="Arial"/>
              </a:rPr>
              <a:t>•  </a:t>
            </a:r>
            <a:r>
              <a:rPr sz="1300" b="0" i="0">
                <a:solidFill>
                  <a:srgbClr val="3D4F6A"/>
                </a:solidFill>
                <a:latin typeface="Arial"/>
              </a:rPr>
              <a:t>A SIAPkerja account and an agreement with Kemnaker</a:t>
            </a:r>
          </a:p>
          <a:p>
            <a:pPr algn="l">
              <a:spcAft>
                <a:spcPts val="1000"/>
              </a:spcAft>
            </a:pPr>
            <a:r>
              <a:rPr sz="1300" b="1" i="0">
                <a:solidFill>
                  <a:srgbClr val="9B3809"/>
                </a:solidFill>
                <a:latin typeface="Arial"/>
              </a:rPr>
              <a:t>•  </a:t>
            </a:r>
            <a:r>
              <a:rPr sz="1300" b="0" i="0">
                <a:solidFill>
                  <a:srgbClr val="3D4F6A"/>
                </a:solidFill>
                <a:latin typeface="Arial"/>
              </a:rPr>
              <a:t>A mentor and a real learning plan</a:t>
            </a:r>
          </a:p>
          <a:p>
            <a:pPr algn="l">
              <a:spcAft>
                <a:spcPts val="1000"/>
              </a:spcAft>
            </a:pPr>
            <a:r>
              <a:rPr sz="1300" b="1" i="0">
                <a:solidFill>
                  <a:srgbClr val="9B3809"/>
                </a:solidFill>
                <a:latin typeface="Arial"/>
              </a:rPr>
              <a:t>•  </a:t>
            </a:r>
            <a:r>
              <a:rPr sz="1300" b="0" i="0">
                <a:solidFill>
                  <a:srgbClr val="3D4F6A"/>
                </a:solidFill>
                <a:latin typeface="Arial"/>
              </a:rPr>
              <a:t>Max 20% of our employees: 1 person</a:t>
            </a:r>
          </a:p>
        </p:txBody>
      </p:sp>
      <p:sp>
        <p:nvSpPr>
          <p:cNvPr id="11" name="Rounded Rectangle 10"/>
          <p:cNvSpPr/>
          <p:nvPr/>
        </p:nvSpPr>
        <p:spPr>
          <a:xfrm>
            <a:off x="8046720" y="1417320"/>
            <a:ext cx="3611880" cy="54864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How we use it</a:t>
            </a:r>
          </a:p>
        </p:txBody>
      </p:sp>
      <p:sp>
        <p:nvSpPr>
          <p:cNvPr id="12" name="Rounded Rectangle 11"/>
          <p:cNvSpPr/>
          <p:nvPr/>
        </p:nvSpPr>
        <p:spPr>
          <a:xfrm>
            <a:off x="8046720" y="2057400"/>
            <a:ext cx="3611880" cy="3474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0"/>
              </a:spcAft>
            </a:pPr>
            <a:r>
              <a:rPr sz="1300" b="1" i="0">
                <a:solidFill>
                  <a:srgbClr val="9B3809"/>
                </a:solidFill>
                <a:latin typeface="Arial"/>
              </a:rPr>
              <a:t>•  </a:t>
            </a:r>
            <a:r>
              <a:rPr sz="1300" b="0" i="0">
                <a:solidFill>
                  <a:srgbClr val="3D4F6A"/>
                </a:solidFill>
                <a:latin typeface="Arial"/>
              </a:rPr>
              <a:t>1 new psychology graduate for content and assessment admin</a:t>
            </a:r>
          </a:p>
          <a:p>
            <a:pPr algn="l">
              <a:spcAft>
                <a:spcPts val="1000"/>
              </a:spcAft>
            </a:pPr>
            <a:r>
              <a:rPr sz="1300" b="1" i="0">
                <a:solidFill>
                  <a:srgbClr val="9B3809"/>
                </a:solidFill>
                <a:latin typeface="Arial"/>
              </a:rPr>
              <a:t>•  </a:t>
            </a:r>
            <a:r>
              <a:rPr sz="1300" b="0" i="0">
                <a:solidFill>
                  <a:srgbClr val="3D4F6A"/>
                </a:solidFill>
                <a:latin typeface="Arial"/>
              </a:rPr>
              <a:t>Support to a paid person, never a replacement</a:t>
            </a:r>
          </a:p>
          <a:p>
            <a:pPr algn="l">
              <a:spcAft>
                <a:spcPts val="1000"/>
              </a:spcAft>
            </a:pPr>
            <a:r>
              <a:rPr sz="1300" b="1" i="0">
                <a:solidFill>
                  <a:srgbClr val="9B3809"/>
                </a:solidFill>
                <a:latin typeface="Arial"/>
              </a:rPr>
              <a:t>•  </a:t>
            </a:r>
            <a:r>
              <a:rPr sz="1300" b="0" i="0">
                <a:solidFill>
                  <a:srgbClr val="3D4F6A"/>
                </a:solidFill>
                <a:latin typeface="Arial"/>
              </a:rPr>
              <a:t>Not for counseling: that needs a licensed psychologist</a:t>
            </a:r>
          </a:p>
        </p:txBody>
      </p:sp>
      <p:sp>
        <p:nvSpPr>
          <p:cNvPr id="13" name="Rounded Rectangle 12"/>
          <p:cNvSpPr/>
          <p:nvPr/>
        </p:nvSpPr>
        <p:spPr>
          <a:xfrm>
            <a:off x="457200" y="5669280"/>
            <a:ext cx="11247120" cy="6400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Next step: </a:t>
            </a:r>
            <a:r>
              <a:rPr sz="1200" b="0" i="0">
                <a:solidFill>
                  <a:srgbClr val="3D4F6A"/>
                </a:solidFill>
                <a:latin typeface="Arial"/>
              </a:rPr>
              <a:t>register on MagangHub this month, then apply for the next batch. Other interns stay true learning roles with a written agreement, an allowance and BPJS work-accident cover.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